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notesSlides/notesSlide14.xml" ContentType="application/vnd.openxmlformats-officedocument.presentationml.notesSlide+xml"/>
  <Override PartName="/ppt/tags/tag12.xml" ContentType="application/vnd.openxmlformats-officedocument.presentationml.tags+xml"/>
  <Override PartName="/ppt/notesSlides/notesSlide15.xml" ContentType="application/vnd.openxmlformats-officedocument.presentationml.notesSlide+xml"/>
  <Override PartName="/ppt/tags/tag13.xml" ContentType="application/vnd.openxmlformats-officedocument.presentationml.tags+xml"/>
  <Override PartName="/ppt/notesSlides/notesSlide16.xml" ContentType="application/vnd.openxmlformats-officedocument.presentationml.notesSlide+xml"/>
  <Override PartName="/ppt/tags/tag14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626" r:id="rId5"/>
    <p:sldId id="757" r:id="rId6"/>
    <p:sldId id="775" r:id="rId7"/>
    <p:sldId id="754" r:id="rId8"/>
    <p:sldId id="761" r:id="rId9"/>
    <p:sldId id="762" r:id="rId10"/>
    <p:sldId id="776" r:id="rId11"/>
    <p:sldId id="763" r:id="rId12"/>
    <p:sldId id="764" r:id="rId13"/>
    <p:sldId id="765" r:id="rId14"/>
    <p:sldId id="767" r:id="rId15"/>
    <p:sldId id="766" r:id="rId16"/>
    <p:sldId id="769" r:id="rId17"/>
    <p:sldId id="760" r:id="rId18"/>
    <p:sldId id="770" r:id="rId19"/>
    <p:sldId id="771" r:id="rId20"/>
    <p:sldId id="772" r:id="rId21"/>
    <p:sldId id="753" r:id="rId22"/>
    <p:sldId id="755" r:id="rId23"/>
  </p:sldIdLst>
  <p:sldSz cx="12192000" cy="6858000"/>
  <p:notesSz cx="6858000" cy="9313863"/>
  <p:custDataLst>
    <p:tags r:id="rId26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3" userDrawn="1">
          <p15:clr>
            <a:srgbClr val="A4A3A4"/>
          </p15:clr>
        </p15:guide>
        <p15:guide id="2" pos="3793" userDrawn="1">
          <p15:clr>
            <a:srgbClr val="A4A3A4"/>
          </p15:clr>
        </p15:guide>
        <p15:guide id="3" orient="horz" pos="2196" userDrawn="1">
          <p15:clr>
            <a:srgbClr val="A4A3A4"/>
          </p15:clr>
        </p15:guide>
        <p15:guide id="4" pos="39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B89"/>
    <a:srgbClr val="F1FFEF"/>
    <a:srgbClr val="FEF3F0"/>
    <a:srgbClr val="F3EBE9"/>
    <a:srgbClr val="777777"/>
    <a:srgbClr val="7B7B7B"/>
    <a:srgbClr val="A9D18E"/>
    <a:srgbClr val="AC75D5"/>
    <a:srgbClr val="1C7094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48" autoAdjust="0"/>
    <p:restoredTop sz="89810" autoAdjust="0"/>
  </p:normalViewPr>
  <p:slideViewPr>
    <p:cSldViewPr snapToGrid="0" snapToObjects="1" showGuides="1">
      <p:cViewPr varScale="1">
        <p:scale>
          <a:sx n="80" d="100"/>
          <a:sy n="80" d="100"/>
        </p:scale>
        <p:origin x="309" y="62"/>
      </p:cViewPr>
      <p:guideLst>
        <p:guide orient="horz" pos="2113"/>
        <p:guide pos="3793"/>
        <p:guide orient="horz" pos="2196"/>
        <p:guide pos="392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28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#1">
  <dgm:title val=""/>
  <dgm:desc val=""/>
  <dgm:catLst>
    <dgm:cat type="accent3" pri="11100"/>
  </dgm:catLst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C984AC-901D-462F-93E9-54409E788C70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12468A4B-9104-4FAD-8EAB-5DA7B696234D}">
      <dgm:prSet phldrT="[文本]" phldr="0" custT="1"/>
      <dgm:spPr/>
      <dgm:t>
        <a:bodyPr/>
        <a:lstStyle/>
        <a:p>
          <a:pPr algn="ctr">
            <a:lnSpc>
              <a:spcPct val="100000"/>
            </a:lnSpc>
            <a:spcAft>
              <a:spcPts val="0"/>
            </a:spcAft>
          </a:pPr>
          <a:r>
            <a:rPr lang="zh-CN" altLang="en-US" sz="1000" b="1" dirty="0"/>
            <a:t>第一代</a:t>
          </a:r>
          <a:endParaRPr lang="en-US" altLang="zh-CN" sz="1000" b="1" dirty="0"/>
        </a:p>
        <a:p>
          <a:pPr algn="ctr">
            <a:lnSpc>
              <a:spcPct val="100000"/>
            </a:lnSpc>
            <a:spcAft>
              <a:spcPts val="0"/>
            </a:spcAft>
          </a:pPr>
          <a:r>
            <a:rPr lang="zh-CN" altLang="en-US" sz="1000" b="1" dirty="0"/>
            <a:t>单点光纤</a:t>
          </a:r>
          <a:endParaRPr lang="en-US" altLang="zh-CN" sz="1000" b="1" dirty="0"/>
        </a:p>
      </dgm:t>
    </dgm:pt>
    <dgm:pt modelId="{462477D9-E35B-4814-952C-221663A5FFED}" type="parTrans" cxnId="{86817D36-6635-40FD-B934-79220F025CF4}">
      <dgm:prSet/>
      <dgm:spPr/>
      <dgm:t>
        <a:bodyPr/>
        <a:lstStyle/>
        <a:p>
          <a:endParaRPr lang="zh-CN" altLang="en-US" sz="2400"/>
        </a:p>
      </dgm:t>
    </dgm:pt>
    <dgm:pt modelId="{61817285-55B1-4877-BBFE-4C0DE231C828}" type="sibTrans" cxnId="{86817D36-6635-40FD-B934-79220F025CF4}">
      <dgm:prSet/>
      <dgm:spPr/>
      <dgm:t>
        <a:bodyPr/>
        <a:lstStyle/>
        <a:p>
          <a:endParaRPr lang="zh-CN" altLang="en-US" sz="2400"/>
        </a:p>
      </dgm:t>
    </dgm:pt>
    <dgm:pt modelId="{473D3574-B740-44CF-B099-107E44C80ED4}">
      <dgm:prSet phldrT="[文本]" custT="1"/>
      <dgm:spPr/>
      <dgm:t>
        <a:bodyPr/>
        <a:lstStyle/>
        <a:p>
          <a:pPr marL="0" lvl="0" algn="ct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Microsoft YaHei"/>
              <a:cs typeface="+mn-cs"/>
            </a:rPr>
            <a:t>第二代</a:t>
          </a:r>
          <a:endParaRPr lang="en-US" altLang="zh-CN" sz="10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Microsoft YaHei"/>
            <a:cs typeface="+mn-cs"/>
          </a:endParaRPr>
        </a:p>
        <a:p>
          <a:pPr marL="0" lvl="0" algn="ct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Microsoft YaHei"/>
              <a:cs typeface="+mn-cs"/>
            </a:rPr>
            <a:t>分布式光纤</a:t>
          </a:r>
          <a:endParaRPr lang="en-US" altLang="zh-CN" sz="10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Microsoft YaHei"/>
            <a:cs typeface="+mn-cs"/>
          </a:endParaRPr>
        </a:p>
      </dgm:t>
    </dgm:pt>
    <dgm:pt modelId="{1B275FDE-E4F0-40FB-9B4F-61CC816E008D}" type="parTrans" cxnId="{8E98AA21-F968-4840-B87E-4B466D51DFFD}">
      <dgm:prSet/>
      <dgm:spPr/>
      <dgm:t>
        <a:bodyPr/>
        <a:lstStyle/>
        <a:p>
          <a:endParaRPr lang="zh-CN" altLang="en-US" sz="2400"/>
        </a:p>
      </dgm:t>
    </dgm:pt>
    <dgm:pt modelId="{B10A647F-1806-47E0-BC2C-CF251DDCA6C8}" type="sibTrans" cxnId="{8E98AA21-F968-4840-B87E-4B466D51DFFD}">
      <dgm:prSet/>
      <dgm:spPr/>
      <dgm:t>
        <a:bodyPr/>
        <a:lstStyle/>
        <a:p>
          <a:endParaRPr lang="zh-CN" altLang="en-US" sz="2400"/>
        </a:p>
      </dgm:t>
    </dgm:pt>
    <dgm:pt modelId="{C07E289C-8E10-4549-BC28-09A88513C7E5}">
      <dgm:prSet phldrT="[文本]" custT="1"/>
      <dgm:spPr/>
      <dgm:t>
        <a:bodyPr/>
        <a:lstStyle/>
        <a:p>
          <a:pPr marL="0" lvl="0" algn="ct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000" b="1" kern="1200" dirty="0">
              <a:solidFill>
                <a:srgbClr val="C00000"/>
              </a:solidFill>
              <a:latin typeface="Arial"/>
              <a:ea typeface="Microsoft YaHei"/>
              <a:cs typeface="+mn-cs"/>
            </a:rPr>
            <a:t>第三代</a:t>
          </a:r>
          <a:endParaRPr lang="en-US" altLang="zh-CN" sz="1000" b="1" kern="1200" dirty="0">
            <a:solidFill>
              <a:srgbClr val="C00000"/>
            </a:solidFill>
            <a:latin typeface="Arial"/>
            <a:ea typeface="Microsoft YaHei"/>
            <a:cs typeface="+mn-cs"/>
          </a:endParaRPr>
        </a:p>
        <a:p>
          <a:pPr marL="0" lvl="0" algn="ct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000" b="1" kern="1200" dirty="0">
              <a:solidFill>
                <a:srgbClr val="C00000"/>
              </a:solidFill>
              <a:latin typeface="Arial"/>
              <a:ea typeface="Microsoft YaHei"/>
              <a:cs typeface="+mn-cs"/>
            </a:rPr>
            <a:t>阵列光纤</a:t>
          </a:r>
          <a:endParaRPr lang="en-US" altLang="zh-CN" sz="1000" b="1" kern="1200" dirty="0">
            <a:solidFill>
              <a:srgbClr val="C00000"/>
            </a:solidFill>
            <a:latin typeface="Arial"/>
            <a:ea typeface="Microsoft YaHei"/>
            <a:cs typeface="+mn-cs"/>
          </a:endParaRPr>
        </a:p>
        <a:p>
          <a:pPr marL="0" lvl="0" algn="ctr" defTabSz="355600">
            <a:lnSpc>
              <a:spcPct val="7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800" b="1" kern="1200" dirty="0">
              <a:solidFill>
                <a:srgbClr val="C00000"/>
              </a:solidFill>
              <a:latin typeface="Arial"/>
              <a:ea typeface="Microsoft YaHei"/>
              <a:cs typeface="+mn-cs"/>
            </a:rPr>
            <a:t>未来主流：数据神经</a:t>
          </a:r>
        </a:p>
      </dgm:t>
    </dgm:pt>
    <dgm:pt modelId="{E29519D3-6EDD-4645-AF79-D168206D5C91}" type="parTrans" cxnId="{3C2A9AC6-A24E-4A78-A348-380C4E2EACCA}">
      <dgm:prSet/>
      <dgm:spPr/>
      <dgm:t>
        <a:bodyPr/>
        <a:lstStyle/>
        <a:p>
          <a:endParaRPr lang="zh-CN" altLang="en-US" sz="2400"/>
        </a:p>
      </dgm:t>
    </dgm:pt>
    <dgm:pt modelId="{21093DFF-F0A3-4B7B-937A-B83628A1A456}" type="sibTrans" cxnId="{3C2A9AC6-A24E-4A78-A348-380C4E2EACCA}">
      <dgm:prSet/>
      <dgm:spPr/>
      <dgm:t>
        <a:bodyPr/>
        <a:lstStyle/>
        <a:p>
          <a:endParaRPr lang="zh-CN" altLang="en-US" sz="2400"/>
        </a:p>
      </dgm:t>
    </dgm:pt>
    <dgm:pt modelId="{A64CAECC-AE64-456C-9D8C-879E2520FFE8}" type="pres">
      <dgm:prSet presAssocID="{BAC984AC-901D-462F-93E9-54409E788C70}" presName="Name0" presStyleCnt="0">
        <dgm:presLayoutVars>
          <dgm:dir/>
          <dgm:animOne val="branch"/>
          <dgm:animLvl val="lvl"/>
        </dgm:presLayoutVars>
      </dgm:prSet>
      <dgm:spPr/>
    </dgm:pt>
    <dgm:pt modelId="{B14D95A6-87D6-4502-BC2D-9112E065C94F}" type="pres">
      <dgm:prSet presAssocID="{12468A4B-9104-4FAD-8EAB-5DA7B696234D}" presName="chaos" presStyleCnt="0"/>
      <dgm:spPr/>
    </dgm:pt>
    <dgm:pt modelId="{22EB43DD-3EB5-4265-903C-38AACA24F368}" type="pres">
      <dgm:prSet presAssocID="{12468A4B-9104-4FAD-8EAB-5DA7B696234D}" presName="parTx1" presStyleLbl="revTx" presStyleIdx="0" presStyleCnt="2"/>
      <dgm:spPr/>
    </dgm:pt>
    <dgm:pt modelId="{02298AD5-F7ED-4742-9F30-6B79F3D9E8FE}" type="pres">
      <dgm:prSet presAssocID="{12468A4B-9104-4FAD-8EAB-5DA7B696234D}" presName="c1" presStyleLbl="node1" presStyleIdx="0" presStyleCnt="19"/>
      <dgm:spPr/>
    </dgm:pt>
    <dgm:pt modelId="{31B067AF-A2E1-47B1-A4F6-1389483D0498}" type="pres">
      <dgm:prSet presAssocID="{12468A4B-9104-4FAD-8EAB-5DA7B696234D}" presName="c2" presStyleLbl="node1" presStyleIdx="1" presStyleCnt="19"/>
      <dgm:spPr/>
    </dgm:pt>
    <dgm:pt modelId="{7B0E16F2-7EE3-4921-9A6F-8507128B4939}" type="pres">
      <dgm:prSet presAssocID="{12468A4B-9104-4FAD-8EAB-5DA7B696234D}" presName="c3" presStyleLbl="node1" presStyleIdx="2" presStyleCnt="19"/>
      <dgm:spPr/>
    </dgm:pt>
    <dgm:pt modelId="{CB633771-067B-498C-A3A5-4E452071680E}" type="pres">
      <dgm:prSet presAssocID="{12468A4B-9104-4FAD-8EAB-5DA7B696234D}" presName="c4" presStyleLbl="node1" presStyleIdx="3" presStyleCnt="19"/>
      <dgm:spPr/>
    </dgm:pt>
    <dgm:pt modelId="{BE0BC614-932D-490C-B1AD-79404F10F1FE}" type="pres">
      <dgm:prSet presAssocID="{12468A4B-9104-4FAD-8EAB-5DA7B696234D}" presName="c5" presStyleLbl="node1" presStyleIdx="4" presStyleCnt="19"/>
      <dgm:spPr/>
    </dgm:pt>
    <dgm:pt modelId="{B2F2F45B-1E0E-4D49-80FF-C26B338F23A0}" type="pres">
      <dgm:prSet presAssocID="{12468A4B-9104-4FAD-8EAB-5DA7B696234D}" presName="c6" presStyleLbl="node1" presStyleIdx="5" presStyleCnt="19"/>
      <dgm:spPr/>
    </dgm:pt>
    <dgm:pt modelId="{EB022D93-DF78-453E-89EF-49CF07601A81}" type="pres">
      <dgm:prSet presAssocID="{12468A4B-9104-4FAD-8EAB-5DA7B696234D}" presName="c7" presStyleLbl="node1" presStyleIdx="6" presStyleCnt="19"/>
      <dgm:spPr/>
    </dgm:pt>
    <dgm:pt modelId="{F02565FF-73DC-4586-B565-C2353850CD44}" type="pres">
      <dgm:prSet presAssocID="{12468A4B-9104-4FAD-8EAB-5DA7B696234D}" presName="c8" presStyleLbl="node1" presStyleIdx="7" presStyleCnt="19"/>
      <dgm:spPr/>
    </dgm:pt>
    <dgm:pt modelId="{BBE23EEA-183D-4212-8CCF-07DCE26EC50F}" type="pres">
      <dgm:prSet presAssocID="{12468A4B-9104-4FAD-8EAB-5DA7B696234D}" presName="c9" presStyleLbl="node1" presStyleIdx="8" presStyleCnt="19"/>
      <dgm:spPr/>
    </dgm:pt>
    <dgm:pt modelId="{E0112121-286B-492B-967F-091DD11370B4}" type="pres">
      <dgm:prSet presAssocID="{12468A4B-9104-4FAD-8EAB-5DA7B696234D}" presName="c10" presStyleLbl="node1" presStyleIdx="9" presStyleCnt="19"/>
      <dgm:spPr/>
    </dgm:pt>
    <dgm:pt modelId="{5CF34469-57EF-410F-A3E1-DEDCEBBD563E}" type="pres">
      <dgm:prSet presAssocID="{12468A4B-9104-4FAD-8EAB-5DA7B696234D}" presName="c11" presStyleLbl="node1" presStyleIdx="10" presStyleCnt="19"/>
      <dgm:spPr/>
    </dgm:pt>
    <dgm:pt modelId="{B4CED430-3993-476D-9318-3E69B311900B}" type="pres">
      <dgm:prSet presAssocID="{12468A4B-9104-4FAD-8EAB-5DA7B696234D}" presName="c12" presStyleLbl="node1" presStyleIdx="11" presStyleCnt="19"/>
      <dgm:spPr/>
    </dgm:pt>
    <dgm:pt modelId="{4249D95B-E573-411E-9D09-462DCDD4827F}" type="pres">
      <dgm:prSet presAssocID="{12468A4B-9104-4FAD-8EAB-5DA7B696234D}" presName="c13" presStyleLbl="node1" presStyleIdx="12" presStyleCnt="19"/>
      <dgm:spPr/>
    </dgm:pt>
    <dgm:pt modelId="{E2ED323F-1844-4F94-A11D-105A54984176}" type="pres">
      <dgm:prSet presAssocID="{12468A4B-9104-4FAD-8EAB-5DA7B696234D}" presName="c14" presStyleLbl="node1" presStyleIdx="13" presStyleCnt="19"/>
      <dgm:spPr/>
    </dgm:pt>
    <dgm:pt modelId="{7004AFB7-107E-400F-9329-DA75A9B2E028}" type="pres">
      <dgm:prSet presAssocID="{12468A4B-9104-4FAD-8EAB-5DA7B696234D}" presName="c15" presStyleLbl="node1" presStyleIdx="14" presStyleCnt="19"/>
      <dgm:spPr/>
    </dgm:pt>
    <dgm:pt modelId="{B5D8A0A1-644A-4D9A-BE7F-9FF2BF831227}" type="pres">
      <dgm:prSet presAssocID="{12468A4B-9104-4FAD-8EAB-5DA7B696234D}" presName="c16" presStyleLbl="node1" presStyleIdx="15" presStyleCnt="19"/>
      <dgm:spPr/>
    </dgm:pt>
    <dgm:pt modelId="{B898C914-CDA2-4EEE-BAD2-5C3B3300CAA2}" type="pres">
      <dgm:prSet presAssocID="{12468A4B-9104-4FAD-8EAB-5DA7B696234D}" presName="c17" presStyleLbl="node1" presStyleIdx="16" presStyleCnt="19"/>
      <dgm:spPr/>
    </dgm:pt>
    <dgm:pt modelId="{192E1552-6AC9-489C-AED0-B1BC8631D045}" type="pres">
      <dgm:prSet presAssocID="{12468A4B-9104-4FAD-8EAB-5DA7B696234D}" presName="c18" presStyleLbl="node1" presStyleIdx="17" presStyleCnt="19"/>
      <dgm:spPr/>
    </dgm:pt>
    <dgm:pt modelId="{6844F392-8AE0-49FA-A63A-79DAC3327C3D}" type="pres">
      <dgm:prSet presAssocID="{61817285-55B1-4877-BBFE-4C0DE231C828}" presName="chevronComposite1" presStyleCnt="0"/>
      <dgm:spPr/>
    </dgm:pt>
    <dgm:pt modelId="{519F1256-7812-4430-9F0A-23480B488287}" type="pres">
      <dgm:prSet presAssocID="{61817285-55B1-4877-BBFE-4C0DE231C828}" presName="chevron1" presStyleLbl="sibTrans2D1" presStyleIdx="0" presStyleCnt="2"/>
      <dgm:spPr/>
    </dgm:pt>
    <dgm:pt modelId="{1BB74A17-D85A-485C-A788-1328578A3C82}" type="pres">
      <dgm:prSet presAssocID="{61817285-55B1-4877-BBFE-4C0DE231C828}" presName="spChevron1" presStyleCnt="0"/>
      <dgm:spPr/>
    </dgm:pt>
    <dgm:pt modelId="{24D9303C-C404-4776-A9A1-DE8D595E581C}" type="pres">
      <dgm:prSet presAssocID="{473D3574-B740-44CF-B099-107E44C80ED4}" presName="middle" presStyleCnt="0"/>
      <dgm:spPr/>
    </dgm:pt>
    <dgm:pt modelId="{98C1FF81-9421-45CC-940E-52614CBAB059}" type="pres">
      <dgm:prSet presAssocID="{473D3574-B740-44CF-B099-107E44C80ED4}" presName="parTxMid" presStyleLbl="revTx" presStyleIdx="1" presStyleCnt="2"/>
      <dgm:spPr/>
    </dgm:pt>
    <dgm:pt modelId="{7C9239DB-3B74-4D09-8EE7-D6BA0C8DE715}" type="pres">
      <dgm:prSet presAssocID="{473D3574-B740-44CF-B099-107E44C80ED4}" presName="spMid" presStyleCnt="0"/>
      <dgm:spPr/>
    </dgm:pt>
    <dgm:pt modelId="{AF13A8BE-FD03-4342-BC83-DCFF787077FE}" type="pres">
      <dgm:prSet presAssocID="{B10A647F-1806-47E0-BC2C-CF251DDCA6C8}" presName="chevronComposite1" presStyleCnt="0"/>
      <dgm:spPr/>
    </dgm:pt>
    <dgm:pt modelId="{38E1479B-C9D7-490F-9834-F72A209E95D1}" type="pres">
      <dgm:prSet presAssocID="{B10A647F-1806-47E0-BC2C-CF251DDCA6C8}" presName="chevron1" presStyleLbl="sibTrans2D1" presStyleIdx="1" presStyleCnt="2"/>
      <dgm:spPr/>
    </dgm:pt>
    <dgm:pt modelId="{9BD86CE6-989C-4B2D-A224-B2080E912723}" type="pres">
      <dgm:prSet presAssocID="{B10A647F-1806-47E0-BC2C-CF251DDCA6C8}" presName="spChevron1" presStyleCnt="0"/>
      <dgm:spPr/>
    </dgm:pt>
    <dgm:pt modelId="{642B4809-881D-49DC-B567-F52EA96BDB0C}" type="pres">
      <dgm:prSet presAssocID="{C07E289C-8E10-4549-BC28-09A88513C7E5}" presName="last" presStyleCnt="0"/>
      <dgm:spPr/>
    </dgm:pt>
    <dgm:pt modelId="{4F69A646-601D-4B9E-BA9D-1DB5BD23BE61}" type="pres">
      <dgm:prSet presAssocID="{C07E289C-8E10-4549-BC28-09A88513C7E5}" presName="circleTx" presStyleLbl="node1" presStyleIdx="18" presStyleCnt="19"/>
      <dgm:spPr/>
    </dgm:pt>
    <dgm:pt modelId="{4356BA45-C364-43D8-A5FD-A93974E2DBDC}" type="pres">
      <dgm:prSet presAssocID="{C07E289C-8E10-4549-BC28-09A88513C7E5}" presName="spN" presStyleCnt="0"/>
      <dgm:spPr/>
    </dgm:pt>
  </dgm:ptLst>
  <dgm:cxnLst>
    <dgm:cxn modelId="{8E98AA21-F968-4840-B87E-4B466D51DFFD}" srcId="{BAC984AC-901D-462F-93E9-54409E788C70}" destId="{473D3574-B740-44CF-B099-107E44C80ED4}" srcOrd="1" destOrd="0" parTransId="{1B275FDE-E4F0-40FB-9B4F-61CC816E008D}" sibTransId="{B10A647F-1806-47E0-BC2C-CF251DDCA6C8}"/>
    <dgm:cxn modelId="{86817D36-6635-40FD-B934-79220F025CF4}" srcId="{BAC984AC-901D-462F-93E9-54409E788C70}" destId="{12468A4B-9104-4FAD-8EAB-5DA7B696234D}" srcOrd="0" destOrd="0" parTransId="{462477D9-E35B-4814-952C-221663A5FFED}" sibTransId="{61817285-55B1-4877-BBFE-4C0DE231C828}"/>
    <dgm:cxn modelId="{6C292038-8367-433B-B8A9-11EA0413BCCC}" type="presOf" srcId="{C07E289C-8E10-4549-BC28-09A88513C7E5}" destId="{4F69A646-601D-4B9E-BA9D-1DB5BD23BE61}" srcOrd="0" destOrd="0" presId="urn:microsoft.com/office/officeart/2009/3/layout/RandomtoResultProcess"/>
    <dgm:cxn modelId="{737F4C39-E578-4357-9971-9D8FB0BA912F}" type="presOf" srcId="{12468A4B-9104-4FAD-8EAB-5DA7B696234D}" destId="{22EB43DD-3EB5-4265-903C-38AACA24F368}" srcOrd="0" destOrd="0" presId="urn:microsoft.com/office/officeart/2009/3/layout/RandomtoResultProcess"/>
    <dgm:cxn modelId="{D0FA7079-3F25-4AF2-82C7-67ACFE5C1506}" type="presOf" srcId="{BAC984AC-901D-462F-93E9-54409E788C70}" destId="{A64CAECC-AE64-456C-9D8C-879E2520FFE8}" srcOrd="0" destOrd="0" presId="urn:microsoft.com/office/officeart/2009/3/layout/RandomtoResultProcess"/>
    <dgm:cxn modelId="{3C2A9AC6-A24E-4A78-A348-380C4E2EACCA}" srcId="{BAC984AC-901D-462F-93E9-54409E788C70}" destId="{C07E289C-8E10-4549-BC28-09A88513C7E5}" srcOrd="2" destOrd="0" parTransId="{E29519D3-6EDD-4645-AF79-D168206D5C91}" sibTransId="{21093DFF-F0A3-4B7B-937A-B83628A1A456}"/>
    <dgm:cxn modelId="{2AC52FC7-88E1-44FE-80FA-000EF812C35A}" type="presOf" srcId="{473D3574-B740-44CF-B099-107E44C80ED4}" destId="{98C1FF81-9421-45CC-940E-52614CBAB059}" srcOrd="0" destOrd="0" presId="urn:microsoft.com/office/officeart/2009/3/layout/RandomtoResultProcess"/>
    <dgm:cxn modelId="{82C6E154-4AEA-4698-B977-43BC0116357F}" type="presParOf" srcId="{A64CAECC-AE64-456C-9D8C-879E2520FFE8}" destId="{B14D95A6-87D6-4502-BC2D-9112E065C94F}" srcOrd="0" destOrd="0" presId="urn:microsoft.com/office/officeart/2009/3/layout/RandomtoResultProcess"/>
    <dgm:cxn modelId="{62E0970C-66E8-4657-B1ED-64E494D290A2}" type="presParOf" srcId="{B14D95A6-87D6-4502-BC2D-9112E065C94F}" destId="{22EB43DD-3EB5-4265-903C-38AACA24F368}" srcOrd="0" destOrd="0" presId="urn:microsoft.com/office/officeart/2009/3/layout/RandomtoResultProcess"/>
    <dgm:cxn modelId="{52644E2D-41B2-40F6-AAED-507C3F5F0951}" type="presParOf" srcId="{B14D95A6-87D6-4502-BC2D-9112E065C94F}" destId="{02298AD5-F7ED-4742-9F30-6B79F3D9E8FE}" srcOrd="1" destOrd="0" presId="urn:microsoft.com/office/officeart/2009/3/layout/RandomtoResultProcess"/>
    <dgm:cxn modelId="{99C2CFC0-912A-4FB5-8DC5-A5EFFD167716}" type="presParOf" srcId="{B14D95A6-87D6-4502-BC2D-9112E065C94F}" destId="{31B067AF-A2E1-47B1-A4F6-1389483D0498}" srcOrd="2" destOrd="0" presId="urn:microsoft.com/office/officeart/2009/3/layout/RandomtoResultProcess"/>
    <dgm:cxn modelId="{1E2C42BE-A361-4CB1-9368-5CC22905C53C}" type="presParOf" srcId="{B14D95A6-87D6-4502-BC2D-9112E065C94F}" destId="{7B0E16F2-7EE3-4921-9A6F-8507128B4939}" srcOrd="3" destOrd="0" presId="urn:microsoft.com/office/officeart/2009/3/layout/RandomtoResultProcess"/>
    <dgm:cxn modelId="{976DD1C7-FC61-484D-AB9E-A0EA887268F4}" type="presParOf" srcId="{B14D95A6-87D6-4502-BC2D-9112E065C94F}" destId="{CB633771-067B-498C-A3A5-4E452071680E}" srcOrd="4" destOrd="0" presId="urn:microsoft.com/office/officeart/2009/3/layout/RandomtoResultProcess"/>
    <dgm:cxn modelId="{D03A0408-E580-4194-ADE6-D796D9286868}" type="presParOf" srcId="{B14D95A6-87D6-4502-BC2D-9112E065C94F}" destId="{BE0BC614-932D-490C-B1AD-79404F10F1FE}" srcOrd="5" destOrd="0" presId="urn:microsoft.com/office/officeart/2009/3/layout/RandomtoResultProcess"/>
    <dgm:cxn modelId="{7E3D45B4-6ACC-401C-95C2-E0E7F0360F03}" type="presParOf" srcId="{B14D95A6-87D6-4502-BC2D-9112E065C94F}" destId="{B2F2F45B-1E0E-4D49-80FF-C26B338F23A0}" srcOrd="6" destOrd="0" presId="urn:microsoft.com/office/officeart/2009/3/layout/RandomtoResultProcess"/>
    <dgm:cxn modelId="{C87601E0-8EDC-4841-84C3-FC8C62708E22}" type="presParOf" srcId="{B14D95A6-87D6-4502-BC2D-9112E065C94F}" destId="{EB022D93-DF78-453E-89EF-49CF07601A81}" srcOrd="7" destOrd="0" presId="urn:microsoft.com/office/officeart/2009/3/layout/RandomtoResultProcess"/>
    <dgm:cxn modelId="{940B5DE9-9999-43AC-B0B1-7FCFCFD01510}" type="presParOf" srcId="{B14D95A6-87D6-4502-BC2D-9112E065C94F}" destId="{F02565FF-73DC-4586-B565-C2353850CD44}" srcOrd="8" destOrd="0" presId="urn:microsoft.com/office/officeart/2009/3/layout/RandomtoResultProcess"/>
    <dgm:cxn modelId="{642F8AAB-B2E4-48BF-8B3D-F9D59B066E4C}" type="presParOf" srcId="{B14D95A6-87D6-4502-BC2D-9112E065C94F}" destId="{BBE23EEA-183D-4212-8CCF-07DCE26EC50F}" srcOrd="9" destOrd="0" presId="urn:microsoft.com/office/officeart/2009/3/layout/RandomtoResultProcess"/>
    <dgm:cxn modelId="{64CC24BC-2681-40D8-884F-78B09ECB6585}" type="presParOf" srcId="{B14D95A6-87D6-4502-BC2D-9112E065C94F}" destId="{E0112121-286B-492B-967F-091DD11370B4}" srcOrd="10" destOrd="0" presId="urn:microsoft.com/office/officeart/2009/3/layout/RandomtoResultProcess"/>
    <dgm:cxn modelId="{67927049-7707-4E1F-809A-C6DFCED793FC}" type="presParOf" srcId="{B14D95A6-87D6-4502-BC2D-9112E065C94F}" destId="{5CF34469-57EF-410F-A3E1-DEDCEBBD563E}" srcOrd="11" destOrd="0" presId="urn:microsoft.com/office/officeart/2009/3/layout/RandomtoResultProcess"/>
    <dgm:cxn modelId="{4B701419-18FB-43AF-9DE0-A9FF2C9BCC20}" type="presParOf" srcId="{B14D95A6-87D6-4502-BC2D-9112E065C94F}" destId="{B4CED430-3993-476D-9318-3E69B311900B}" srcOrd="12" destOrd="0" presId="urn:microsoft.com/office/officeart/2009/3/layout/RandomtoResultProcess"/>
    <dgm:cxn modelId="{CEA8D96C-F169-4737-82AF-25616B40A38A}" type="presParOf" srcId="{B14D95A6-87D6-4502-BC2D-9112E065C94F}" destId="{4249D95B-E573-411E-9D09-462DCDD4827F}" srcOrd="13" destOrd="0" presId="urn:microsoft.com/office/officeart/2009/3/layout/RandomtoResultProcess"/>
    <dgm:cxn modelId="{3133C208-A309-441D-921E-0F8A43C80708}" type="presParOf" srcId="{B14D95A6-87D6-4502-BC2D-9112E065C94F}" destId="{E2ED323F-1844-4F94-A11D-105A54984176}" srcOrd="14" destOrd="0" presId="urn:microsoft.com/office/officeart/2009/3/layout/RandomtoResultProcess"/>
    <dgm:cxn modelId="{C408FE0F-733E-4A37-BFC7-1BFFBBC9017F}" type="presParOf" srcId="{B14D95A6-87D6-4502-BC2D-9112E065C94F}" destId="{7004AFB7-107E-400F-9329-DA75A9B2E028}" srcOrd="15" destOrd="0" presId="urn:microsoft.com/office/officeart/2009/3/layout/RandomtoResultProcess"/>
    <dgm:cxn modelId="{45548DED-02A4-4DC5-803C-379AAAEDEB8B}" type="presParOf" srcId="{B14D95A6-87D6-4502-BC2D-9112E065C94F}" destId="{B5D8A0A1-644A-4D9A-BE7F-9FF2BF831227}" srcOrd="16" destOrd="0" presId="urn:microsoft.com/office/officeart/2009/3/layout/RandomtoResultProcess"/>
    <dgm:cxn modelId="{5FF022B6-6A2A-45D2-9807-FDC4E6D93752}" type="presParOf" srcId="{B14D95A6-87D6-4502-BC2D-9112E065C94F}" destId="{B898C914-CDA2-4EEE-BAD2-5C3B3300CAA2}" srcOrd="17" destOrd="0" presId="urn:microsoft.com/office/officeart/2009/3/layout/RandomtoResultProcess"/>
    <dgm:cxn modelId="{A62DEE0F-6EE9-4D18-B2E7-4EA01BF77723}" type="presParOf" srcId="{B14D95A6-87D6-4502-BC2D-9112E065C94F}" destId="{192E1552-6AC9-489C-AED0-B1BC8631D045}" srcOrd="18" destOrd="0" presId="urn:microsoft.com/office/officeart/2009/3/layout/RandomtoResultProcess"/>
    <dgm:cxn modelId="{FCA59EE0-BF80-470B-A990-CE1222822875}" type="presParOf" srcId="{A64CAECC-AE64-456C-9D8C-879E2520FFE8}" destId="{6844F392-8AE0-49FA-A63A-79DAC3327C3D}" srcOrd="1" destOrd="0" presId="urn:microsoft.com/office/officeart/2009/3/layout/RandomtoResultProcess"/>
    <dgm:cxn modelId="{BB7FE09E-B2A1-4CB6-8728-2913CE6DC6E8}" type="presParOf" srcId="{6844F392-8AE0-49FA-A63A-79DAC3327C3D}" destId="{519F1256-7812-4430-9F0A-23480B488287}" srcOrd="0" destOrd="0" presId="urn:microsoft.com/office/officeart/2009/3/layout/RandomtoResultProcess"/>
    <dgm:cxn modelId="{6C168DE5-44A3-4BDA-9D68-94E57F3C53E0}" type="presParOf" srcId="{6844F392-8AE0-49FA-A63A-79DAC3327C3D}" destId="{1BB74A17-D85A-485C-A788-1328578A3C82}" srcOrd="1" destOrd="0" presId="urn:microsoft.com/office/officeart/2009/3/layout/RandomtoResultProcess"/>
    <dgm:cxn modelId="{6AB6DD0D-4162-480B-8453-4C94F63E2B4C}" type="presParOf" srcId="{A64CAECC-AE64-456C-9D8C-879E2520FFE8}" destId="{24D9303C-C404-4776-A9A1-DE8D595E581C}" srcOrd="2" destOrd="0" presId="urn:microsoft.com/office/officeart/2009/3/layout/RandomtoResultProcess"/>
    <dgm:cxn modelId="{EE5FFBFF-CB14-4AA9-A490-950E5BC532CB}" type="presParOf" srcId="{24D9303C-C404-4776-A9A1-DE8D595E581C}" destId="{98C1FF81-9421-45CC-940E-52614CBAB059}" srcOrd="0" destOrd="0" presId="urn:microsoft.com/office/officeart/2009/3/layout/RandomtoResultProcess"/>
    <dgm:cxn modelId="{FDAE3AD9-75ED-4081-A6EE-187065E2BD44}" type="presParOf" srcId="{24D9303C-C404-4776-A9A1-DE8D595E581C}" destId="{7C9239DB-3B74-4D09-8EE7-D6BA0C8DE715}" srcOrd="1" destOrd="0" presId="urn:microsoft.com/office/officeart/2009/3/layout/RandomtoResultProcess"/>
    <dgm:cxn modelId="{33FB9B99-4831-430F-ABBF-AC4613AAF24A}" type="presParOf" srcId="{A64CAECC-AE64-456C-9D8C-879E2520FFE8}" destId="{AF13A8BE-FD03-4342-BC83-DCFF787077FE}" srcOrd="3" destOrd="0" presId="urn:microsoft.com/office/officeart/2009/3/layout/RandomtoResultProcess"/>
    <dgm:cxn modelId="{BFB1ABAA-3EC9-47CC-9605-0084AB78A0C4}" type="presParOf" srcId="{AF13A8BE-FD03-4342-BC83-DCFF787077FE}" destId="{38E1479B-C9D7-490F-9834-F72A209E95D1}" srcOrd="0" destOrd="0" presId="urn:microsoft.com/office/officeart/2009/3/layout/RandomtoResultProcess"/>
    <dgm:cxn modelId="{C4434375-DEA5-4098-9394-716BDA7FD895}" type="presParOf" srcId="{AF13A8BE-FD03-4342-BC83-DCFF787077FE}" destId="{9BD86CE6-989C-4B2D-A224-B2080E912723}" srcOrd="1" destOrd="0" presId="urn:microsoft.com/office/officeart/2009/3/layout/RandomtoResultProcess"/>
    <dgm:cxn modelId="{1C9E891D-4A83-41D3-872B-148E210B2070}" type="presParOf" srcId="{A64CAECC-AE64-456C-9D8C-879E2520FFE8}" destId="{642B4809-881D-49DC-B567-F52EA96BDB0C}" srcOrd="4" destOrd="0" presId="urn:microsoft.com/office/officeart/2009/3/layout/RandomtoResultProcess"/>
    <dgm:cxn modelId="{325D1E66-E684-42A4-82F9-363D088D2BAC}" type="presParOf" srcId="{642B4809-881D-49DC-B567-F52EA96BDB0C}" destId="{4F69A646-601D-4B9E-BA9D-1DB5BD23BE61}" srcOrd="0" destOrd="0" presId="urn:microsoft.com/office/officeart/2009/3/layout/RandomtoResultProcess"/>
    <dgm:cxn modelId="{022FA4A9-EC89-4E15-AB05-F917A0F44220}" type="presParOf" srcId="{642B4809-881D-49DC-B567-F52EA96BDB0C}" destId="{4356BA45-C364-43D8-A5FD-A93974E2DBDC}" srcOrd="1" destOrd="0" presId="urn:microsoft.com/office/officeart/2009/3/layout/RandomtoResultProcess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2A915D-681F-4167-86E3-DB43D0AAEF6D}" type="doc">
      <dgm:prSet loTypeId="urn:microsoft.com/office/officeart/2005/8/layout/pList1#1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3B373306-0D51-4146-8A97-D91672575E95}">
      <dgm:prSet phldrT="[文本]" custT="1"/>
      <dgm:spPr>
        <a:xfrm>
          <a:off x="7900336" y="3645178"/>
          <a:ext cx="3589896" cy="1331851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 algn="ctr">
            <a:buNone/>
          </a:pPr>
          <a:r>
            <a:rPr lang="en-US" altLang="zh-CN" sz="1600" b="1" kern="1200" dirty="0">
              <a:solidFill>
                <a:srgbClr val="C00000"/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2025</a:t>
          </a:r>
          <a:r>
            <a:rPr lang="zh-CN" altLang="en-US" sz="1600" b="1" kern="1200" dirty="0">
              <a:solidFill>
                <a:srgbClr val="C00000"/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年北京顺义潮白河大桥事故</a:t>
          </a:r>
          <a:endParaRPr lang="en-US" altLang="zh-CN" sz="1600" b="1" kern="1200" dirty="0">
            <a:solidFill>
              <a:srgbClr val="C00000"/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  <a:p>
          <a:pPr algn="l">
            <a:buNone/>
          </a:pP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直接原因：</a:t>
          </a:r>
          <a:r>
            <a:rPr lang="zh-CN" altLang="en-US" sz="1400" b="0" i="0" kern="1200" dirty="0"/>
            <a:t>桥面电缆沟槽起火，导致核心受力构件（系杆）失效</a:t>
          </a:r>
          <a:endParaRPr lang="en-US" altLang="zh-CN" sz="14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  <a:p>
          <a:pPr algn="l">
            <a:buNone/>
          </a:pP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根本矛盾</a:t>
          </a:r>
          <a:r>
            <a:rPr lang="en-US" altLang="zh-CN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: </a:t>
          </a: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（</a:t>
          </a:r>
          <a:r>
            <a:rPr lang="en-US" altLang="zh-CN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1</a:t>
          </a: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）</a:t>
          </a:r>
          <a:r>
            <a:rPr lang="zh-CN" altLang="en-US" sz="1400" b="1" i="0" kern="1200" dirty="0"/>
            <a:t>安全投入被视作</a:t>
          </a:r>
          <a:r>
            <a:rPr lang="en-US" altLang="zh-CN" sz="1400" b="1" i="0" kern="1200" dirty="0"/>
            <a:t>“</a:t>
          </a:r>
          <a:r>
            <a:rPr lang="zh-CN" altLang="en-US" sz="1400" b="1" i="0" kern="1200" dirty="0"/>
            <a:t>成本</a:t>
          </a:r>
          <a:r>
            <a:rPr lang="en-US" altLang="zh-CN" sz="1400" b="1" i="0" kern="1200" dirty="0"/>
            <a:t>”</a:t>
          </a:r>
          <a:r>
            <a:rPr lang="zh-CN" altLang="en-US" sz="1400" b="0" i="0" kern="1200" dirty="0"/>
            <a:t>：为关键构件部署实时监测系统，在传统决策中被视为高昂的</a:t>
          </a:r>
          <a:r>
            <a:rPr lang="en-US" altLang="zh-CN" sz="1400" b="0" i="0" kern="1200" dirty="0"/>
            <a:t>“</a:t>
          </a:r>
          <a:r>
            <a:rPr lang="zh-CN" altLang="en-US" sz="1400" b="0" i="0" kern="1200" dirty="0"/>
            <a:t>非必要支出</a:t>
          </a:r>
          <a:r>
            <a:rPr lang="en-US" altLang="zh-CN" sz="1400" b="0" i="0" kern="1200" dirty="0"/>
            <a:t>”</a:t>
          </a:r>
          <a:r>
            <a:rPr lang="zh-CN" altLang="en-US" sz="1400" b="0" i="0" kern="1200" dirty="0"/>
            <a:t>；（</a:t>
          </a:r>
          <a:r>
            <a:rPr lang="en-US" altLang="zh-CN" sz="1400" b="0" i="0" kern="1200" dirty="0"/>
            <a:t>2</a:t>
          </a:r>
          <a:r>
            <a:rPr lang="zh-CN" altLang="en-US" sz="1400" b="0" i="0" kern="1200" dirty="0"/>
            <a:t>）</a:t>
          </a:r>
          <a:r>
            <a:rPr lang="zh-CN" altLang="en-US" sz="1400" b="1" i="0" kern="1200" dirty="0"/>
            <a:t>风险代价无法承受</a:t>
          </a:r>
          <a:r>
            <a:rPr lang="zh-CN" altLang="en-US" sz="1400" b="0" i="0" kern="1200" dirty="0"/>
            <a:t>：一次因日常养护无法发现的隐患，导致整桥坍塌，带来资产全损、交通中断、重建费用的灾难性损失。</a:t>
          </a:r>
          <a:endParaRPr lang="en-US" altLang="zh-CN" sz="1400" b="1" i="0" kern="1200" dirty="0"/>
        </a:p>
        <a:p>
          <a:pPr algn="l">
            <a:buNone/>
          </a:pP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核心结论</a:t>
          </a:r>
          <a:r>
            <a:rPr lang="zh-CN" altLang="en-US" sz="14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：</a:t>
          </a:r>
          <a:r>
            <a:rPr lang="zh-CN" altLang="en-US" sz="1400" b="0" i="0" kern="1200" dirty="0"/>
            <a:t>在</a:t>
          </a:r>
          <a:r>
            <a:rPr lang="en-US" altLang="zh-CN" sz="1400" b="0" i="0" kern="1200" dirty="0"/>
            <a:t>“</a:t>
          </a:r>
          <a:r>
            <a:rPr lang="zh-CN" altLang="en-US" sz="1400" b="0" i="0" kern="1200" dirty="0"/>
            <a:t>小额可计的预防成本（</a:t>
          </a:r>
          <a:r>
            <a:rPr lang="zh-CN" altLang="en-US" sz="1400" b="0" i="0" kern="1200" dirty="0">
              <a:solidFill>
                <a:srgbClr val="C00000"/>
              </a:solidFill>
            </a:rPr>
            <a:t>保险</a:t>
          </a:r>
          <a:r>
            <a:rPr lang="zh-CN" altLang="en-US" sz="1400" b="0" i="0" kern="1200" dirty="0"/>
            <a:t>）</a:t>
          </a:r>
          <a:r>
            <a:rPr lang="en-US" altLang="zh-CN" sz="1400" b="0" i="0" kern="1200" dirty="0"/>
            <a:t>”</a:t>
          </a:r>
          <a:r>
            <a:rPr lang="zh-CN" altLang="en-US" sz="1400" b="0" i="0" kern="1200" dirty="0"/>
            <a:t>与</a:t>
          </a:r>
          <a:r>
            <a:rPr lang="en-US" altLang="zh-CN" sz="1400" b="0" i="0" kern="1200" dirty="0"/>
            <a:t>“</a:t>
          </a:r>
          <a:r>
            <a:rPr lang="zh-CN" altLang="en-US" sz="1400" b="0" i="0" kern="1200" dirty="0"/>
            <a:t>无法估量的事故代价</a:t>
          </a:r>
          <a:r>
            <a:rPr lang="en-US" altLang="zh-CN" sz="1400" b="0" i="0" kern="1200" dirty="0"/>
            <a:t>”</a:t>
          </a:r>
          <a:r>
            <a:rPr lang="zh-CN" altLang="en-US" sz="1400" b="0" i="0" kern="1200" dirty="0"/>
            <a:t>之间，</a:t>
          </a:r>
          <a:r>
            <a:rPr lang="zh-CN" altLang="en-US" sz="1400" b="1" i="0" kern="1200" dirty="0"/>
            <a:t>让</a:t>
          </a:r>
          <a:r>
            <a:rPr lang="en-US" altLang="zh-CN" sz="1400" b="1" i="0" kern="1200" dirty="0"/>
            <a:t>“</a:t>
          </a:r>
          <a:r>
            <a:rPr lang="zh-CN" altLang="en-US" sz="1400" b="1" i="0" kern="1200" dirty="0"/>
            <a:t>预防</a:t>
          </a:r>
          <a:r>
            <a:rPr lang="en-US" altLang="zh-CN" sz="1400" b="1" i="0" kern="1200" dirty="0"/>
            <a:t>”</a:t>
          </a:r>
          <a:r>
            <a:rPr lang="zh-CN" altLang="en-US" sz="1400" b="1" i="0" kern="1200" dirty="0"/>
            <a:t>取代</a:t>
          </a:r>
          <a:r>
            <a:rPr lang="en-US" altLang="zh-CN" sz="1400" b="1" i="0" kern="1200" dirty="0"/>
            <a:t>“</a:t>
          </a:r>
          <a:r>
            <a:rPr lang="zh-CN" altLang="en-US" sz="1400" b="1" i="0" kern="1200" dirty="0"/>
            <a:t>补救</a:t>
          </a:r>
          <a:r>
            <a:rPr lang="en-US" altLang="zh-CN" sz="1400" b="1" i="0" kern="1200" dirty="0"/>
            <a:t>”</a:t>
          </a:r>
          <a:r>
            <a:rPr lang="zh-CN" altLang="en-US" sz="1400" b="1" i="0" kern="1200" dirty="0"/>
            <a:t>成为经济理性的选择。</a:t>
          </a:r>
          <a:endParaRPr lang="zh-CN" altLang="en-US" sz="14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</dgm:t>
    </dgm:pt>
    <dgm:pt modelId="{CB489973-8A53-4F3F-828D-CF67CF04BA56}" type="sibTrans" cxnId="{D9DB1F79-8A49-4541-A647-204D480B588C}">
      <dgm:prSet/>
      <dgm:spPr/>
      <dgm:t>
        <a:bodyPr/>
        <a:lstStyle/>
        <a:p>
          <a:endParaRPr lang="zh-CN" altLang="en-US"/>
        </a:p>
      </dgm:t>
    </dgm:pt>
    <dgm:pt modelId="{07EC9D5D-1C7D-43B3-A0F9-0DA51F758D37}" type="parTrans" cxnId="{D9DB1F79-8A49-4541-A647-204D480B588C}">
      <dgm:prSet/>
      <dgm:spPr/>
      <dgm:t>
        <a:bodyPr/>
        <a:lstStyle/>
        <a:p>
          <a:endParaRPr lang="zh-CN" altLang="en-US"/>
        </a:p>
      </dgm:t>
    </dgm:pt>
    <dgm:pt modelId="{EB8E2588-5301-4D01-A155-47AF7815B5EF}">
      <dgm:prSet phldrT="[文本]" custT="1"/>
      <dgm:spPr>
        <a:xfrm>
          <a:off x="2262" y="3645178"/>
          <a:ext cx="3589896" cy="1331851"/>
        </a:xfrm>
        <a:noFill/>
        <a:ln>
          <a:noFill/>
        </a:ln>
        <a:effectLst/>
      </dgm:spPr>
      <dgm:t>
        <a:bodyPr/>
        <a:lstStyle/>
        <a:p>
          <a:pPr algn="ctr">
            <a:buNone/>
          </a:pPr>
          <a:r>
            <a:rPr lang="en-US" altLang="zh-CN" sz="1600" b="1" kern="1200" dirty="0">
              <a:solidFill>
                <a:srgbClr val="C00000"/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2024</a:t>
          </a:r>
          <a:r>
            <a:rPr lang="zh-CN" altLang="en-US" sz="1600" b="1" kern="1200" dirty="0">
              <a:solidFill>
                <a:srgbClr val="C00000"/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年广东梅大高速路基塌方事故</a:t>
          </a:r>
          <a:endParaRPr lang="en-US" altLang="zh-CN" sz="1600" b="1" kern="1200" dirty="0">
            <a:solidFill>
              <a:srgbClr val="C00000"/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  <a:p>
          <a:pPr algn="l">
            <a:buNone/>
          </a:pPr>
          <a:r>
            <a:rPr lang="zh-CN" altLang="en-US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直接原因</a:t>
          </a:r>
          <a:r>
            <a:rPr lang="zh-CN" alt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：</a:t>
          </a:r>
          <a:r>
            <a:rPr lang="zh-CN" altLang="en-US" sz="1400" b="0" i="0" kern="1200" dirty="0"/>
            <a:t>导航地图可显示“道路拥堵”，却无法预警已发现的“路基排水病害”</a:t>
          </a:r>
          <a:endParaRPr lang="en-US" altLang="zh-CN" sz="1400" b="0" i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  <a:p>
          <a:pPr algn="l">
            <a:buNone/>
          </a:pP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根本矛盾：</a:t>
          </a:r>
          <a:r>
            <a:rPr lang="zh-CN" altLang="en-US" sz="14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（</a:t>
          </a:r>
          <a:r>
            <a:rPr lang="en-US" altLang="zh-CN" sz="14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1</a:t>
          </a:r>
          <a:r>
            <a:rPr lang="zh-CN" altLang="en-US" sz="14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）</a:t>
          </a:r>
          <a:r>
            <a:rPr lang="zh-CN" altLang="en-US" sz="1400" b="1" i="0" kern="1200" dirty="0"/>
            <a:t>数据价值被隔离</a:t>
          </a:r>
          <a:r>
            <a:rPr lang="zh-CN" altLang="en-US" sz="1400" b="0" i="0" kern="1200" dirty="0"/>
            <a:t>：将养护数据（如路基病害）打通至导航平台，被视为一项复杂且高昂的“技术集成成本”；（</a:t>
          </a:r>
          <a:r>
            <a:rPr lang="en-US" altLang="zh-CN" sz="1400" b="0" i="0" kern="1200" dirty="0"/>
            <a:t>2</a:t>
          </a:r>
          <a:r>
            <a:rPr lang="zh-CN" altLang="en-US" sz="1400" b="0" i="0" kern="1200" dirty="0"/>
            <a:t>）</a:t>
          </a:r>
          <a:r>
            <a:rPr lang="zh-CN" altLang="en-US" sz="1400" b="1" i="0" kern="1200" dirty="0"/>
            <a:t>系统能力被阉割</a:t>
          </a:r>
          <a:r>
            <a:rPr lang="zh-CN" altLang="en-US" sz="1400" b="0" i="0" kern="1200" dirty="0"/>
            <a:t>：最触达用户的导航系统，因数据缺失而停留在“表象预警”，无法实现关乎生命的“风险预警”。</a:t>
          </a:r>
          <a:endParaRPr lang="en-US" altLang="zh-CN" sz="1400" b="0" i="0" kern="1200" dirty="0"/>
        </a:p>
        <a:p>
          <a:pPr algn="l">
            <a:buFont typeface="+mj-lt"/>
            <a:buAutoNum type="arabicPeriod"/>
          </a:pP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核心结论</a:t>
          </a:r>
          <a:r>
            <a:rPr lang="zh-CN" altLang="en-US" sz="14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：</a:t>
          </a:r>
          <a:r>
            <a:rPr lang="zh-CN" altLang="en-US" sz="1400" b="0" i="0" kern="1200" dirty="0"/>
            <a:t>让基础设施深度结构安全数据</a:t>
          </a:r>
          <a:r>
            <a:rPr lang="zh-CN" altLang="en-US" sz="1400" b="0" i="0" kern="1200" dirty="0">
              <a:solidFill>
                <a:srgbClr val="C00000"/>
              </a:solidFill>
            </a:rPr>
            <a:t>上车</a:t>
          </a:r>
          <a:r>
            <a:rPr lang="zh-CN" altLang="en-US" sz="1400" b="0" i="0" kern="1200" dirty="0"/>
            <a:t>流动共享，转化为避免灾难的高质量数据</a:t>
          </a:r>
          <a:endParaRPr lang="zh-CN" altLang="en-US" sz="14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</dgm:t>
    </dgm:pt>
    <dgm:pt modelId="{A87CB845-DB76-437F-BFF3-B8BCAE39B013}" type="parTrans" cxnId="{E9E77184-EEE4-4F90-932F-399D85271BE1}">
      <dgm:prSet/>
      <dgm:spPr/>
      <dgm:t>
        <a:bodyPr/>
        <a:lstStyle/>
        <a:p>
          <a:endParaRPr lang="zh-CN" altLang="en-US"/>
        </a:p>
      </dgm:t>
    </dgm:pt>
    <dgm:pt modelId="{16B3B7BC-5A85-4049-9900-8B7C895E9CB6}" type="sibTrans" cxnId="{E9E77184-EEE4-4F90-932F-399D85271BE1}">
      <dgm:prSet/>
      <dgm:spPr/>
      <dgm:t>
        <a:bodyPr/>
        <a:lstStyle/>
        <a:p>
          <a:endParaRPr lang="zh-CN" altLang="en-US"/>
        </a:p>
      </dgm:t>
    </dgm:pt>
    <dgm:pt modelId="{16362435-B916-4510-9F17-23E75C1C0633}" type="pres">
      <dgm:prSet presAssocID="{9B2A915D-681F-4167-86E3-DB43D0AAEF6D}" presName="Name0" presStyleCnt="0">
        <dgm:presLayoutVars>
          <dgm:dir/>
          <dgm:resizeHandles val="exact"/>
        </dgm:presLayoutVars>
      </dgm:prSet>
      <dgm:spPr/>
    </dgm:pt>
    <dgm:pt modelId="{43EDD209-3406-4E11-8837-A8B47651A741}" type="pres">
      <dgm:prSet presAssocID="{3B373306-0D51-4146-8A97-D91672575E95}" presName="compNode" presStyleCnt="0"/>
      <dgm:spPr/>
    </dgm:pt>
    <dgm:pt modelId="{D5627322-A705-4462-946D-49AA2296EF65}" type="pres">
      <dgm:prSet presAssocID="{3B373306-0D51-4146-8A97-D91672575E95}" presName="pictRect" presStyleLbl="node1" presStyleIdx="0" presStyleCnt="2" custScaleY="71184"/>
      <dgm:spPr>
        <a:xfrm>
          <a:off x="7900336" y="1171739"/>
          <a:ext cx="3589896" cy="24734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</dgm:pt>
    <dgm:pt modelId="{DC9CE7B3-B080-4FD8-99DB-881511A5E6A0}" type="pres">
      <dgm:prSet presAssocID="{3B373306-0D51-4146-8A97-D91672575E95}" presName="textRect" presStyleLbl="revTx" presStyleIdx="0" presStyleCnt="2" custScaleY="149997" custLinFactNeighborX="253" custLinFactNeighborY="-6395">
        <dgm:presLayoutVars>
          <dgm:bulletEnabled val="1"/>
        </dgm:presLayoutVars>
      </dgm:prSet>
      <dgm:spPr/>
    </dgm:pt>
    <dgm:pt modelId="{9486FF89-5D4D-44DC-9588-0B733A38A90C}" type="pres">
      <dgm:prSet presAssocID="{CB489973-8A53-4F3F-828D-CF67CF04BA56}" presName="sibTrans" presStyleLbl="sibTrans2D1" presStyleIdx="0" presStyleCnt="0"/>
      <dgm:spPr/>
    </dgm:pt>
    <dgm:pt modelId="{AC3058AD-0416-44F7-B436-F30DC2ACE5EF}" type="pres">
      <dgm:prSet presAssocID="{EB8E2588-5301-4D01-A155-47AF7815B5EF}" presName="compNode" presStyleCnt="0"/>
      <dgm:spPr/>
    </dgm:pt>
    <dgm:pt modelId="{7828F969-9838-45EA-8482-E5824FF773AB}" type="pres">
      <dgm:prSet presAssocID="{EB8E2588-5301-4D01-A155-47AF7815B5EF}" presName="pictRect" presStyleLbl="node1" presStyleIdx="1" presStyleCnt="2" custScaleY="68910"/>
      <dgm:spPr>
        <a:prstGeom prst="rect">
          <a:avLst/>
        </a:prstGeom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</dgm:spPr>
    </dgm:pt>
    <dgm:pt modelId="{5CC7AE83-7AF0-4720-91FB-BD124C9CC549}" type="pres">
      <dgm:prSet presAssocID="{EB8E2588-5301-4D01-A155-47AF7815B5EF}" presName="textRect" presStyleLbl="revTx" presStyleIdx="1" presStyleCnt="2" custScaleY="150169" custLinFactNeighborY="-7436">
        <dgm:presLayoutVars>
          <dgm:bulletEnabled val="1"/>
        </dgm:presLayoutVars>
      </dgm:prSet>
      <dgm:spPr>
        <a:prstGeom prst="rect">
          <a:avLst/>
        </a:prstGeom>
      </dgm:spPr>
    </dgm:pt>
  </dgm:ptLst>
  <dgm:cxnLst>
    <dgm:cxn modelId="{75E7336C-CC74-44A7-A5AF-5E0339008552}" type="presOf" srcId="{CB489973-8A53-4F3F-828D-CF67CF04BA56}" destId="{9486FF89-5D4D-44DC-9588-0B733A38A90C}" srcOrd="0" destOrd="0" presId="urn:microsoft.com/office/officeart/2005/8/layout/pList1#1"/>
    <dgm:cxn modelId="{D9DB1F79-8A49-4541-A647-204D480B588C}" srcId="{9B2A915D-681F-4167-86E3-DB43D0AAEF6D}" destId="{3B373306-0D51-4146-8A97-D91672575E95}" srcOrd="0" destOrd="0" parTransId="{07EC9D5D-1C7D-43B3-A0F9-0DA51F758D37}" sibTransId="{CB489973-8A53-4F3F-828D-CF67CF04BA56}"/>
    <dgm:cxn modelId="{81308F59-A940-4FBA-AAD8-5F0BB6ACC942}" type="presOf" srcId="{9B2A915D-681F-4167-86E3-DB43D0AAEF6D}" destId="{16362435-B916-4510-9F17-23E75C1C0633}" srcOrd="0" destOrd="0" presId="urn:microsoft.com/office/officeart/2005/8/layout/pList1#1"/>
    <dgm:cxn modelId="{E9E77184-EEE4-4F90-932F-399D85271BE1}" srcId="{9B2A915D-681F-4167-86E3-DB43D0AAEF6D}" destId="{EB8E2588-5301-4D01-A155-47AF7815B5EF}" srcOrd="1" destOrd="0" parTransId="{A87CB845-DB76-437F-BFF3-B8BCAE39B013}" sibTransId="{16B3B7BC-5A85-4049-9900-8B7C895E9CB6}"/>
    <dgm:cxn modelId="{B003C1A5-6B0D-45FC-BF41-E94E0F030901}" type="presOf" srcId="{EB8E2588-5301-4D01-A155-47AF7815B5EF}" destId="{5CC7AE83-7AF0-4720-91FB-BD124C9CC549}" srcOrd="0" destOrd="0" presId="urn:microsoft.com/office/officeart/2005/8/layout/pList1#1"/>
    <dgm:cxn modelId="{D5CCC2E6-D034-4DDF-9D8C-F219FC980F01}" type="presOf" srcId="{3B373306-0D51-4146-8A97-D91672575E95}" destId="{DC9CE7B3-B080-4FD8-99DB-881511A5E6A0}" srcOrd="0" destOrd="0" presId="urn:microsoft.com/office/officeart/2005/8/layout/pList1#1"/>
    <dgm:cxn modelId="{1F4FA09E-980F-4BE7-85FF-5ABEA7641016}" type="presParOf" srcId="{16362435-B916-4510-9F17-23E75C1C0633}" destId="{43EDD209-3406-4E11-8837-A8B47651A741}" srcOrd="0" destOrd="0" presId="urn:microsoft.com/office/officeart/2005/8/layout/pList1#1"/>
    <dgm:cxn modelId="{E1819DC4-241F-4499-8D99-5DA27283B34D}" type="presParOf" srcId="{43EDD209-3406-4E11-8837-A8B47651A741}" destId="{D5627322-A705-4462-946D-49AA2296EF65}" srcOrd="0" destOrd="0" presId="urn:microsoft.com/office/officeart/2005/8/layout/pList1#1"/>
    <dgm:cxn modelId="{AEAD21CD-D6F4-4A75-94BF-BAE49405011C}" type="presParOf" srcId="{43EDD209-3406-4E11-8837-A8B47651A741}" destId="{DC9CE7B3-B080-4FD8-99DB-881511A5E6A0}" srcOrd="1" destOrd="0" presId="urn:microsoft.com/office/officeart/2005/8/layout/pList1#1"/>
    <dgm:cxn modelId="{2500C7C4-48F0-4011-8227-2BCCE55D11D4}" type="presParOf" srcId="{16362435-B916-4510-9F17-23E75C1C0633}" destId="{9486FF89-5D4D-44DC-9588-0B733A38A90C}" srcOrd="1" destOrd="0" presId="urn:microsoft.com/office/officeart/2005/8/layout/pList1#1"/>
    <dgm:cxn modelId="{7788B5DA-A75F-4550-AE11-FD2FD5633EF8}" type="presParOf" srcId="{16362435-B916-4510-9F17-23E75C1C0633}" destId="{AC3058AD-0416-44F7-B436-F30DC2ACE5EF}" srcOrd="2" destOrd="0" presId="urn:microsoft.com/office/officeart/2005/8/layout/pList1#1"/>
    <dgm:cxn modelId="{1BBFD18E-DBA7-40A7-AA04-12B740EF9278}" type="presParOf" srcId="{AC3058AD-0416-44F7-B436-F30DC2ACE5EF}" destId="{7828F969-9838-45EA-8482-E5824FF773AB}" srcOrd="0" destOrd="0" presId="urn:microsoft.com/office/officeart/2005/8/layout/pList1#1"/>
    <dgm:cxn modelId="{29C4E5A1-1FBD-4C55-8EF2-2D8D5CAAA437}" type="presParOf" srcId="{AC3058AD-0416-44F7-B436-F30DC2ACE5EF}" destId="{5CC7AE83-7AF0-4720-91FB-BD124C9CC549}" srcOrd="1" destOrd="0" presId="urn:microsoft.com/office/officeart/2005/8/layout/p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265055-0914-4DCA-A0C0-74AF6E875321}" type="doc">
      <dgm:prSet loTypeId="urn:microsoft.com/office/officeart/2005/8/layout/cycle5" loCatId="cycl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ECC12C18-9A20-48BF-A71A-C3CE271CBCA9}">
      <dgm:prSet phldrT="[文本]" custT="1"/>
      <dgm:spPr/>
      <dgm:t>
        <a:bodyPr/>
        <a:lstStyle/>
        <a:p>
          <a:r>
            <a:rPr lang="zh-CN" altLang="en-US" sz="1400" b="1" dirty="0">
              <a:solidFill>
                <a:schemeClr val="tx1"/>
              </a:solidFill>
            </a:rPr>
            <a:t>数据资产化</a:t>
          </a:r>
          <a:endParaRPr lang="en-US" altLang="zh-CN" sz="1400" b="1" dirty="0">
            <a:solidFill>
              <a:schemeClr val="tx1"/>
            </a:solidFill>
          </a:endParaRPr>
        </a:p>
        <a:p>
          <a:r>
            <a:rPr lang="zh-CN" altLang="en-US" sz="1400" b="0" dirty="0">
              <a:solidFill>
                <a:schemeClr val="tx1"/>
              </a:solidFill>
            </a:rPr>
            <a:t>抵押融资支持</a:t>
          </a:r>
          <a:endParaRPr lang="en-US" altLang="zh-CN" sz="1400" b="0" dirty="0">
            <a:solidFill>
              <a:schemeClr val="tx1"/>
            </a:solidFill>
          </a:endParaRPr>
        </a:p>
      </dgm:t>
    </dgm:pt>
    <dgm:pt modelId="{51BB9ECF-D805-4C42-93C2-6260F18B624C}" type="parTrans" cxnId="{FD278252-D34F-4D17-8B6B-F67DFBA31F7F}">
      <dgm:prSet/>
      <dgm:spPr/>
      <dgm:t>
        <a:bodyPr/>
        <a:lstStyle/>
        <a:p>
          <a:endParaRPr lang="zh-CN" altLang="en-US" sz="2000">
            <a:solidFill>
              <a:srgbClr val="0C4B89"/>
            </a:solidFill>
          </a:endParaRPr>
        </a:p>
      </dgm:t>
    </dgm:pt>
    <dgm:pt modelId="{EB010AF8-F99F-426C-A43D-025C827CC88C}" type="sibTrans" cxnId="{FD278252-D34F-4D17-8B6B-F67DFBA31F7F}">
      <dgm:prSet custT="1"/>
      <dgm:spPr>
        <a:solidFill>
          <a:srgbClr val="0C4B89"/>
        </a:solidFill>
        <a:ln w="19050">
          <a:solidFill>
            <a:srgbClr val="0C4B89"/>
          </a:solidFill>
        </a:ln>
      </dgm:spPr>
      <dgm:t>
        <a:bodyPr/>
        <a:lstStyle/>
        <a:p>
          <a:endParaRPr lang="zh-CN" altLang="en-US" sz="700">
            <a:solidFill>
              <a:srgbClr val="0C4B89"/>
            </a:solidFill>
          </a:endParaRPr>
        </a:p>
      </dgm:t>
    </dgm:pt>
    <dgm:pt modelId="{E1078282-5492-4289-B25C-EF60075E24F1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400" b="1" dirty="0">
              <a:solidFill>
                <a:schemeClr val="tx1"/>
              </a:solidFill>
            </a:rPr>
            <a:t>硬件投入</a:t>
          </a:r>
          <a:endParaRPr lang="en-US" altLang="zh-CN" sz="1400" b="1" dirty="0">
            <a:solidFill>
              <a:schemeClr val="tx1"/>
            </a:solidFill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400" dirty="0">
              <a:solidFill>
                <a:schemeClr val="tx1"/>
              </a:solidFill>
            </a:rPr>
            <a:t>阵列光纤产品</a:t>
          </a:r>
          <a:endParaRPr lang="en-US" altLang="zh-CN" sz="1400" dirty="0">
            <a:solidFill>
              <a:schemeClr val="tx1"/>
            </a:solidFill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400" dirty="0">
              <a:solidFill>
                <a:schemeClr val="tx1"/>
              </a:solidFill>
            </a:rPr>
            <a:t>结构安全融合产品</a:t>
          </a:r>
          <a:endParaRPr lang="en-US" altLang="zh-CN" sz="1400" dirty="0">
            <a:solidFill>
              <a:schemeClr val="tx1"/>
            </a:solidFill>
          </a:endParaRPr>
        </a:p>
      </dgm:t>
    </dgm:pt>
    <dgm:pt modelId="{AF9ACD49-4855-4A66-A5B5-DB95AC56E2E8}" type="parTrans" cxnId="{7286B786-3896-41F7-8D86-CB5D2057FDA3}">
      <dgm:prSet/>
      <dgm:spPr/>
      <dgm:t>
        <a:bodyPr/>
        <a:lstStyle/>
        <a:p>
          <a:endParaRPr lang="zh-CN" altLang="en-US" sz="2000"/>
        </a:p>
      </dgm:t>
    </dgm:pt>
    <dgm:pt modelId="{F73EF694-B1A4-4A0B-AF78-0A07F5C5B9FA}" type="sibTrans" cxnId="{7286B786-3896-41F7-8D86-CB5D2057FDA3}">
      <dgm:prSet custT="1"/>
      <dgm:spPr>
        <a:solidFill>
          <a:srgbClr val="0C4B89"/>
        </a:solidFill>
        <a:ln w="19050">
          <a:solidFill>
            <a:srgbClr val="0C4B89"/>
          </a:solidFill>
        </a:ln>
        <a:effectLst/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>
            <a:solidFill>
              <a:srgbClr val="0C4B89"/>
            </a:solidFill>
            <a:latin typeface="Arial"/>
            <a:ea typeface="Microsoft YaHei"/>
            <a:cs typeface="+mn-cs"/>
          </a:endParaRPr>
        </a:p>
      </dgm:t>
    </dgm:pt>
    <dgm:pt modelId="{CD961101-A1E7-4097-B949-E6D03BC1DF64}">
      <dgm:prSet phldrT="[文本]" custT="1"/>
      <dgm:spPr/>
      <dgm:t>
        <a:bodyPr/>
        <a:lstStyle/>
        <a:p>
          <a:r>
            <a:rPr lang="zh-CN" altLang="en-US" sz="1400" b="1" dirty="0">
              <a:solidFill>
                <a:schemeClr val="tx1"/>
              </a:solidFill>
            </a:rPr>
            <a:t>费用化投入</a:t>
          </a:r>
          <a:endParaRPr lang="en-US" altLang="zh-CN" sz="1400" b="1" dirty="0">
            <a:solidFill>
              <a:schemeClr val="tx1"/>
            </a:solidFill>
          </a:endParaRPr>
        </a:p>
        <a:p>
          <a:r>
            <a:rPr lang="zh-CN" altLang="en-US" sz="1400" dirty="0">
              <a:solidFill>
                <a:schemeClr val="tx1"/>
              </a:solidFill>
            </a:rPr>
            <a:t>年度运维成本</a:t>
          </a:r>
        </a:p>
      </dgm:t>
    </dgm:pt>
    <dgm:pt modelId="{DC1E4A20-E6EC-44E1-9FBC-07DD4BC3AC20}" type="sibTrans" cxnId="{C2A70290-183A-44F2-95AF-C774BDF6676E}">
      <dgm:prSet custT="1"/>
      <dgm:spPr>
        <a:solidFill>
          <a:schemeClr val="accent2"/>
        </a:solidFill>
        <a:ln w="28575">
          <a:solidFill>
            <a:srgbClr val="0C4B89"/>
          </a:solidFill>
        </a:ln>
      </dgm:spPr>
      <dgm:t>
        <a:bodyPr/>
        <a:lstStyle/>
        <a:p>
          <a:endParaRPr lang="zh-CN" altLang="en-US" sz="700">
            <a:solidFill>
              <a:srgbClr val="0C4B89"/>
            </a:solidFill>
          </a:endParaRPr>
        </a:p>
      </dgm:t>
    </dgm:pt>
    <dgm:pt modelId="{C656238F-F55D-4B2E-9B39-54B738F4D83A}" type="parTrans" cxnId="{C2A70290-183A-44F2-95AF-C774BDF6676E}">
      <dgm:prSet/>
      <dgm:spPr/>
      <dgm:t>
        <a:bodyPr/>
        <a:lstStyle/>
        <a:p>
          <a:endParaRPr lang="zh-CN" altLang="en-US" sz="2000">
            <a:solidFill>
              <a:srgbClr val="0C4B89"/>
            </a:solidFill>
          </a:endParaRPr>
        </a:p>
      </dgm:t>
    </dgm:pt>
    <dgm:pt modelId="{9739BF14-051A-4451-9867-423CCF352BE6}">
      <dgm:prSet phldrT="[文本]" custT="1"/>
      <dgm:spPr/>
      <dgm:t>
        <a:bodyPr/>
        <a:lstStyle/>
        <a:p>
          <a:pPr algn="ctr">
            <a:lnSpc>
              <a:spcPct val="100000"/>
            </a:lnSpc>
            <a:spcAft>
              <a:spcPts val="0"/>
            </a:spcAft>
          </a:pPr>
          <a:r>
            <a:rPr lang="zh-CN" altLang="en-US" sz="1400" b="1" dirty="0">
              <a:solidFill>
                <a:schemeClr val="tx1"/>
              </a:solidFill>
            </a:rPr>
            <a:t>数据产品收入</a:t>
          </a:r>
          <a:endParaRPr lang="en-US" altLang="zh-CN" sz="1400" b="1" dirty="0">
            <a:solidFill>
              <a:schemeClr val="tx1"/>
            </a:solidFill>
          </a:endParaRPr>
        </a:p>
        <a:p>
          <a:pPr algn="ctr">
            <a:lnSpc>
              <a:spcPct val="100000"/>
            </a:lnSpc>
            <a:spcAft>
              <a:spcPts val="0"/>
            </a:spcAft>
          </a:pPr>
          <a:r>
            <a:rPr lang="zh-CN" altLang="en-US" sz="1400" dirty="0">
              <a:solidFill>
                <a:schemeClr val="tx1"/>
              </a:solidFill>
            </a:rPr>
            <a:t>数据服务产品</a:t>
          </a:r>
          <a:endParaRPr lang="en-US" altLang="zh-CN" sz="1400" dirty="0">
            <a:solidFill>
              <a:schemeClr val="tx1"/>
            </a:solidFill>
          </a:endParaRPr>
        </a:p>
        <a:p>
          <a:pPr algn="ctr">
            <a:lnSpc>
              <a:spcPct val="100000"/>
            </a:lnSpc>
            <a:spcAft>
              <a:spcPts val="0"/>
            </a:spcAft>
          </a:pPr>
          <a:r>
            <a:rPr lang="zh-CN" altLang="en-US" sz="1400" dirty="0">
              <a:solidFill>
                <a:schemeClr val="tx1"/>
              </a:solidFill>
            </a:rPr>
            <a:t>安责险产品</a:t>
          </a:r>
          <a:endParaRPr lang="en-US" altLang="zh-CN" sz="1400" dirty="0">
            <a:solidFill>
              <a:schemeClr val="tx1"/>
            </a:solidFill>
          </a:endParaRPr>
        </a:p>
      </dgm:t>
    </dgm:pt>
    <dgm:pt modelId="{5BB98971-2A81-4136-B4D4-B508C07ABABC}" type="parTrans" cxnId="{122EB8D7-7E52-40BA-B2AF-844149C30355}">
      <dgm:prSet/>
      <dgm:spPr/>
      <dgm:t>
        <a:bodyPr/>
        <a:lstStyle/>
        <a:p>
          <a:endParaRPr lang="zh-CN" altLang="en-US"/>
        </a:p>
      </dgm:t>
    </dgm:pt>
    <dgm:pt modelId="{C4144D1A-BF89-46C9-BF54-44CB8DF740DF}" type="sibTrans" cxnId="{122EB8D7-7E52-40BA-B2AF-844149C30355}">
      <dgm:prSet/>
      <dgm:spPr>
        <a:ln w="19050">
          <a:solidFill>
            <a:srgbClr val="0C4B89"/>
          </a:solidFill>
        </a:ln>
      </dgm:spPr>
      <dgm:t>
        <a:bodyPr/>
        <a:lstStyle/>
        <a:p>
          <a:endParaRPr lang="zh-CN" altLang="en-US"/>
        </a:p>
      </dgm:t>
    </dgm:pt>
    <dgm:pt modelId="{B254AA08-9197-452E-ADB9-1F47DAB41E44}" type="pres">
      <dgm:prSet presAssocID="{36265055-0914-4DCA-A0C0-74AF6E875321}" presName="cycle" presStyleCnt="0">
        <dgm:presLayoutVars>
          <dgm:dir/>
          <dgm:resizeHandles val="exact"/>
        </dgm:presLayoutVars>
      </dgm:prSet>
      <dgm:spPr/>
    </dgm:pt>
    <dgm:pt modelId="{F8F28813-4E29-48DB-A185-F4710E199CB8}" type="pres">
      <dgm:prSet presAssocID="{CD961101-A1E7-4097-B949-E6D03BC1DF64}" presName="node" presStyleLbl="node1" presStyleIdx="0" presStyleCnt="4">
        <dgm:presLayoutVars>
          <dgm:bulletEnabled val="1"/>
        </dgm:presLayoutVars>
      </dgm:prSet>
      <dgm:spPr/>
    </dgm:pt>
    <dgm:pt modelId="{6701673E-E260-4E7C-A16A-F87D534AE609}" type="pres">
      <dgm:prSet presAssocID="{CD961101-A1E7-4097-B949-E6D03BC1DF64}" presName="spNode" presStyleCnt="0"/>
      <dgm:spPr/>
    </dgm:pt>
    <dgm:pt modelId="{E6B0C34F-8250-4661-8F57-5FE77418A9FC}" type="pres">
      <dgm:prSet presAssocID="{DC1E4A20-E6EC-44E1-9FBC-07DD4BC3AC20}" presName="sibTrans" presStyleLbl="sibTrans1D1" presStyleIdx="0" presStyleCnt="4"/>
      <dgm:spPr/>
    </dgm:pt>
    <dgm:pt modelId="{75701901-8F2C-4D29-B0C4-C44251FCF0D5}" type="pres">
      <dgm:prSet presAssocID="{ECC12C18-9A20-48BF-A71A-C3CE271CBCA9}" presName="node" presStyleLbl="node1" presStyleIdx="1" presStyleCnt="4">
        <dgm:presLayoutVars>
          <dgm:bulletEnabled val="1"/>
        </dgm:presLayoutVars>
      </dgm:prSet>
      <dgm:spPr/>
    </dgm:pt>
    <dgm:pt modelId="{02ECD8D9-FB30-4680-AC08-8C3B8B3451C6}" type="pres">
      <dgm:prSet presAssocID="{ECC12C18-9A20-48BF-A71A-C3CE271CBCA9}" presName="spNode" presStyleCnt="0"/>
      <dgm:spPr/>
    </dgm:pt>
    <dgm:pt modelId="{A937F8B2-EED2-4984-B49A-552AC68A32CE}" type="pres">
      <dgm:prSet presAssocID="{EB010AF8-F99F-426C-A43D-025C827CC88C}" presName="sibTrans" presStyleLbl="sibTrans1D1" presStyleIdx="1" presStyleCnt="4"/>
      <dgm:spPr/>
    </dgm:pt>
    <dgm:pt modelId="{6F331F19-29CA-48E1-AF0E-7A197FE11921}" type="pres">
      <dgm:prSet presAssocID="{9739BF14-051A-4451-9867-423CCF352BE6}" presName="node" presStyleLbl="node1" presStyleIdx="2" presStyleCnt="4">
        <dgm:presLayoutVars>
          <dgm:bulletEnabled val="1"/>
        </dgm:presLayoutVars>
      </dgm:prSet>
      <dgm:spPr/>
    </dgm:pt>
    <dgm:pt modelId="{3FCFCF09-2DAC-4F4B-940C-C8D36B3D0C0E}" type="pres">
      <dgm:prSet presAssocID="{9739BF14-051A-4451-9867-423CCF352BE6}" presName="spNode" presStyleCnt="0"/>
      <dgm:spPr/>
    </dgm:pt>
    <dgm:pt modelId="{6A136005-20E5-4E18-A045-7EB0DFD3E5D7}" type="pres">
      <dgm:prSet presAssocID="{C4144D1A-BF89-46C9-BF54-44CB8DF740DF}" presName="sibTrans" presStyleLbl="sibTrans1D1" presStyleIdx="2" presStyleCnt="4"/>
      <dgm:spPr/>
    </dgm:pt>
    <dgm:pt modelId="{4B71C0C1-141C-4046-9060-AD888BF96EED}" type="pres">
      <dgm:prSet presAssocID="{E1078282-5492-4289-B25C-EF60075E24F1}" presName="node" presStyleLbl="node1" presStyleIdx="3" presStyleCnt="4">
        <dgm:presLayoutVars>
          <dgm:bulletEnabled val="1"/>
        </dgm:presLayoutVars>
      </dgm:prSet>
      <dgm:spPr/>
    </dgm:pt>
    <dgm:pt modelId="{A64A567D-77BF-438A-A1D6-3CE66D571F11}" type="pres">
      <dgm:prSet presAssocID="{E1078282-5492-4289-B25C-EF60075E24F1}" presName="spNode" presStyleCnt="0"/>
      <dgm:spPr/>
    </dgm:pt>
    <dgm:pt modelId="{87F8D072-58CF-46A2-B74F-395C132EAF0A}" type="pres">
      <dgm:prSet presAssocID="{F73EF694-B1A4-4A0B-AF78-0A07F5C5B9FA}" presName="sibTrans" presStyleLbl="sibTrans1D1" presStyleIdx="3" presStyleCnt="4"/>
      <dgm:spPr/>
    </dgm:pt>
  </dgm:ptLst>
  <dgm:cxnLst>
    <dgm:cxn modelId="{40AB7631-06DA-4ABC-A216-3071DFC266BF}" type="presOf" srcId="{ECC12C18-9A20-48BF-A71A-C3CE271CBCA9}" destId="{75701901-8F2C-4D29-B0C4-C44251FCF0D5}" srcOrd="0" destOrd="0" presId="urn:microsoft.com/office/officeart/2005/8/layout/cycle5"/>
    <dgm:cxn modelId="{AE76A35E-698F-4E80-B1FB-9C24153C1634}" type="presOf" srcId="{DC1E4A20-E6EC-44E1-9FBC-07DD4BC3AC20}" destId="{E6B0C34F-8250-4661-8F57-5FE77418A9FC}" srcOrd="0" destOrd="0" presId="urn:microsoft.com/office/officeart/2005/8/layout/cycle5"/>
    <dgm:cxn modelId="{ACDB8049-A644-4B3D-9F6A-A0DBD9787946}" type="presOf" srcId="{F73EF694-B1A4-4A0B-AF78-0A07F5C5B9FA}" destId="{87F8D072-58CF-46A2-B74F-395C132EAF0A}" srcOrd="0" destOrd="0" presId="urn:microsoft.com/office/officeart/2005/8/layout/cycle5"/>
    <dgm:cxn modelId="{FD278252-D34F-4D17-8B6B-F67DFBA31F7F}" srcId="{36265055-0914-4DCA-A0C0-74AF6E875321}" destId="{ECC12C18-9A20-48BF-A71A-C3CE271CBCA9}" srcOrd="1" destOrd="0" parTransId="{51BB9ECF-D805-4C42-93C2-6260F18B624C}" sibTransId="{EB010AF8-F99F-426C-A43D-025C827CC88C}"/>
    <dgm:cxn modelId="{97E88977-F958-436A-B7D2-E2F591EEEA76}" type="presOf" srcId="{EB010AF8-F99F-426C-A43D-025C827CC88C}" destId="{A937F8B2-EED2-4984-B49A-552AC68A32CE}" srcOrd="0" destOrd="0" presId="urn:microsoft.com/office/officeart/2005/8/layout/cycle5"/>
    <dgm:cxn modelId="{BBEC3C58-0C26-4F7D-BCBF-1F4DF2F2B72A}" type="presOf" srcId="{36265055-0914-4DCA-A0C0-74AF6E875321}" destId="{B254AA08-9197-452E-ADB9-1F47DAB41E44}" srcOrd="0" destOrd="0" presId="urn:microsoft.com/office/officeart/2005/8/layout/cycle5"/>
    <dgm:cxn modelId="{7286B786-3896-41F7-8D86-CB5D2057FDA3}" srcId="{36265055-0914-4DCA-A0C0-74AF6E875321}" destId="{E1078282-5492-4289-B25C-EF60075E24F1}" srcOrd="3" destOrd="0" parTransId="{AF9ACD49-4855-4A66-A5B5-DB95AC56E2E8}" sibTransId="{F73EF694-B1A4-4A0B-AF78-0A07F5C5B9FA}"/>
    <dgm:cxn modelId="{C2A70290-183A-44F2-95AF-C774BDF6676E}" srcId="{36265055-0914-4DCA-A0C0-74AF6E875321}" destId="{CD961101-A1E7-4097-B949-E6D03BC1DF64}" srcOrd="0" destOrd="0" parTransId="{C656238F-F55D-4B2E-9B39-54B738F4D83A}" sibTransId="{DC1E4A20-E6EC-44E1-9FBC-07DD4BC3AC20}"/>
    <dgm:cxn modelId="{B1132CB3-9862-4F87-8BAF-1B687F5717EB}" type="presOf" srcId="{9739BF14-051A-4451-9867-423CCF352BE6}" destId="{6F331F19-29CA-48E1-AF0E-7A197FE11921}" srcOrd="0" destOrd="0" presId="urn:microsoft.com/office/officeart/2005/8/layout/cycle5"/>
    <dgm:cxn modelId="{6D0303BD-A931-4308-A00E-76CE83190478}" type="presOf" srcId="{E1078282-5492-4289-B25C-EF60075E24F1}" destId="{4B71C0C1-141C-4046-9060-AD888BF96EED}" srcOrd="0" destOrd="0" presId="urn:microsoft.com/office/officeart/2005/8/layout/cycle5"/>
    <dgm:cxn modelId="{A06E6CC7-A56E-41FD-A29F-625680F4FEA6}" type="presOf" srcId="{CD961101-A1E7-4097-B949-E6D03BC1DF64}" destId="{F8F28813-4E29-48DB-A185-F4710E199CB8}" srcOrd="0" destOrd="0" presId="urn:microsoft.com/office/officeart/2005/8/layout/cycle5"/>
    <dgm:cxn modelId="{122EB8D7-7E52-40BA-B2AF-844149C30355}" srcId="{36265055-0914-4DCA-A0C0-74AF6E875321}" destId="{9739BF14-051A-4451-9867-423CCF352BE6}" srcOrd="2" destOrd="0" parTransId="{5BB98971-2A81-4136-B4D4-B508C07ABABC}" sibTransId="{C4144D1A-BF89-46C9-BF54-44CB8DF740DF}"/>
    <dgm:cxn modelId="{D6A0DAE4-48BD-4821-A752-15A5F86FEA63}" type="presOf" srcId="{C4144D1A-BF89-46C9-BF54-44CB8DF740DF}" destId="{6A136005-20E5-4E18-A045-7EB0DFD3E5D7}" srcOrd="0" destOrd="0" presId="urn:microsoft.com/office/officeart/2005/8/layout/cycle5"/>
    <dgm:cxn modelId="{F0A3DD01-08EA-4452-8B3F-93029924ED51}" type="presParOf" srcId="{B254AA08-9197-452E-ADB9-1F47DAB41E44}" destId="{F8F28813-4E29-48DB-A185-F4710E199CB8}" srcOrd="0" destOrd="0" presId="urn:microsoft.com/office/officeart/2005/8/layout/cycle5"/>
    <dgm:cxn modelId="{22B5CAC5-4DDB-4F22-A34A-4B7F178F073C}" type="presParOf" srcId="{B254AA08-9197-452E-ADB9-1F47DAB41E44}" destId="{6701673E-E260-4E7C-A16A-F87D534AE609}" srcOrd="1" destOrd="0" presId="urn:microsoft.com/office/officeart/2005/8/layout/cycle5"/>
    <dgm:cxn modelId="{DEB5F526-3843-4CD8-81EB-95D15ABAEC8A}" type="presParOf" srcId="{B254AA08-9197-452E-ADB9-1F47DAB41E44}" destId="{E6B0C34F-8250-4661-8F57-5FE77418A9FC}" srcOrd="2" destOrd="0" presId="urn:microsoft.com/office/officeart/2005/8/layout/cycle5"/>
    <dgm:cxn modelId="{C07142D5-972D-4C07-B256-EF03FE5A0DA8}" type="presParOf" srcId="{B254AA08-9197-452E-ADB9-1F47DAB41E44}" destId="{75701901-8F2C-4D29-B0C4-C44251FCF0D5}" srcOrd="3" destOrd="0" presId="urn:microsoft.com/office/officeart/2005/8/layout/cycle5"/>
    <dgm:cxn modelId="{B6FED4A9-70C2-4C16-A109-E93682A12BFE}" type="presParOf" srcId="{B254AA08-9197-452E-ADB9-1F47DAB41E44}" destId="{02ECD8D9-FB30-4680-AC08-8C3B8B3451C6}" srcOrd="4" destOrd="0" presId="urn:microsoft.com/office/officeart/2005/8/layout/cycle5"/>
    <dgm:cxn modelId="{BB3D3520-F85E-4234-A036-634F0A0C0AB6}" type="presParOf" srcId="{B254AA08-9197-452E-ADB9-1F47DAB41E44}" destId="{A937F8B2-EED2-4984-B49A-552AC68A32CE}" srcOrd="5" destOrd="0" presId="urn:microsoft.com/office/officeart/2005/8/layout/cycle5"/>
    <dgm:cxn modelId="{05CF7E6B-A84B-4CAA-B65F-F43B2D72F5F6}" type="presParOf" srcId="{B254AA08-9197-452E-ADB9-1F47DAB41E44}" destId="{6F331F19-29CA-48E1-AF0E-7A197FE11921}" srcOrd="6" destOrd="0" presId="urn:microsoft.com/office/officeart/2005/8/layout/cycle5"/>
    <dgm:cxn modelId="{85EF527C-60D9-4ECB-9235-87A7780BB5BF}" type="presParOf" srcId="{B254AA08-9197-452E-ADB9-1F47DAB41E44}" destId="{3FCFCF09-2DAC-4F4B-940C-C8D36B3D0C0E}" srcOrd="7" destOrd="0" presId="urn:microsoft.com/office/officeart/2005/8/layout/cycle5"/>
    <dgm:cxn modelId="{14FD2746-3375-4514-B547-CE510B0617B9}" type="presParOf" srcId="{B254AA08-9197-452E-ADB9-1F47DAB41E44}" destId="{6A136005-20E5-4E18-A045-7EB0DFD3E5D7}" srcOrd="8" destOrd="0" presId="urn:microsoft.com/office/officeart/2005/8/layout/cycle5"/>
    <dgm:cxn modelId="{DBAC53E3-69E9-4CC5-9338-8D2348B01B94}" type="presParOf" srcId="{B254AA08-9197-452E-ADB9-1F47DAB41E44}" destId="{4B71C0C1-141C-4046-9060-AD888BF96EED}" srcOrd="9" destOrd="0" presId="urn:microsoft.com/office/officeart/2005/8/layout/cycle5"/>
    <dgm:cxn modelId="{880FFF52-3938-438C-A734-642F849C82EA}" type="presParOf" srcId="{B254AA08-9197-452E-ADB9-1F47DAB41E44}" destId="{A64A567D-77BF-438A-A1D6-3CE66D571F11}" srcOrd="10" destOrd="0" presId="urn:microsoft.com/office/officeart/2005/8/layout/cycle5"/>
    <dgm:cxn modelId="{10203FF8-87B7-4D5C-B07C-41F7113F843D}" type="presParOf" srcId="{B254AA08-9197-452E-ADB9-1F47DAB41E44}" destId="{87F8D072-58CF-46A2-B74F-395C132EAF0A}" srcOrd="11" destOrd="0" presId="urn:microsoft.com/office/officeart/2005/8/layout/cycle5"/>
  </dgm:cxnLst>
  <dgm:bg>
    <a:noFill/>
  </dgm:bg>
  <dgm:whole>
    <a:ln w="28575"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1587286-D232-493B-83F3-BAEA3CA3A57F}" type="doc">
      <dgm:prSet loTypeId="urn:microsoft.com/office/officeart/2005/8/layout/hList6" loCatId="list" qsTypeId="urn:microsoft.com/office/officeart/2005/8/quickstyle/simple1#2" qsCatId="simple" csTypeId="urn:microsoft.com/office/officeart/2005/8/colors/accent3_1#1" csCatId="accent3" phldr="1"/>
      <dgm:spPr/>
      <dgm:t>
        <a:bodyPr/>
        <a:lstStyle/>
        <a:p>
          <a:endParaRPr lang="zh-CN" altLang="en-US"/>
        </a:p>
      </dgm:t>
    </dgm:pt>
    <dgm:pt modelId="{1D842991-5D6E-4DFC-B0D6-0E87F4AAE748}">
      <dgm:prSet phldrT="[文本]" custT="1"/>
      <dgm:spPr/>
      <dgm:t>
        <a:bodyPr/>
        <a:lstStyle/>
        <a:p>
          <a:r>
            <a:rPr lang="zh-CN" altLang="en-US" sz="1400" b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charset="-122"/>
              <a:cs typeface="+mn-cs"/>
            </a:rPr>
            <a:t>道路提升改造</a:t>
          </a:r>
          <a:r>
            <a:rPr lang="zh-CN" altLang="en-US" sz="1400" b="1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charset="-122"/>
              <a:cs typeface="+mn-cs"/>
            </a:rPr>
            <a:t>投融资</a:t>
          </a:r>
          <a:r>
            <a:rPr lang="zh-CN" altLang="en-US" sz="1400" dirty="0"/>
            <a:t>需求</a:t>
          </a:r>
        </a:p>
      </dgm:t>
    </dgm:pt>
    <dgm:pt modelId="{3114CCA1-A257-4332-996D-30238AE33855}" type="parTrans" cxnId="{3B27D985-BE8A-4731-873E-9E725F76C533}">
      <dgm:prSet/>
      <dgm:spPr/>
      <dgm:t>
        <a:bodyPr/>
        <a:lstStyle/>
        <a:p>
          <a:endParaRPr lang="zh-CN" altLang="en-US" sz="4400"/>
        </a:p>
      </dgm:t>
    </dgm:pt>
    <dgm:pt modelId="{1A001671-0232-44FB-9DCC-03FBE8A7D7A8}" type="sibTrans" cxnId="{3B27D985-BE8A-4731-873E-9E725F76C533}">
      <dgm:prSet/>
      <dgm:spPr/>
      <dgm:t>
        <a:bodyPr/>
        <a:lstStyle/>
        <a:p>
          <a:endParaRPr lang="zh-CN" altLang="en-US" sz="4400"/>
        </a:p>
      </dgm:t>
    </dgm:pt>
    <dgm:pt modelId="{1F61CCBA-4035-4DB0-88B7-369E9FDBD828}">
      <dgm:prSet phldrT="[文本]" custT="1"/>
      <dgm:spPr/>
      <dgm:t>
        <a:bodyPr/>
        <a:lstStyle/>
        <a:p>
          <a:r>
            <a:rPr lang="zh-CN" altLang="en-US" sz="1400" dirty="0"/>
            <a:t>运营</a:t>
          </a:r>
          <a:r>
            <a:rPr lang="zh-CN" altLang="en-US" sz="1400" b="1" dirty="0"/>
            <a:t>预算</a:t>
          </a:r>
          <a:r>
            <a:rPr lang="zh-CN" altLang="en-US" sz="1400" dirty="0"/>
            <a:t>需求</a:t>
          </a:r>
        </a:p>
      </dgm:t>
    </dgm:pt>
    <dgm:pt modelId="{F2FE3B65-FFB0-4975-9BE2-EA4614712EB9}" type="parTrans" cxnId="{4BA7709D-45DC-4208-986A-5480826AB8CF}">
      <dgm:prSet/>
      <dgm:spPr/>
      <dgm:t>
        <a:bodyPr/>
        <a:lstStyle/>
        <a:p>
          <a:endParaRPr lang="zh-CN" altLang="en-US"/>
        </a:p>
      </dgm:t>
    </dgm:pt>
    <dgm:pt modelId="{98531F6A-EF56-4545-83CF-5A3B350FB9CE}" type="sibTrans" cxnId="{4BA7709D-45DC-4208-986A-5480826AB8CF}">
      <dgm:prSet/>
      <dgm:spPr/>
      <dgm:t>
        <a:bodyPr/>
        <a:lstStyle/>
        <a:p>
          <a:endParaRPr lang="zh-CN" altLang="en-US"/>
        </a:p>
      </dgm:t>
    </dgm:pt>
    <dgm:pt modelId="{D6CC24E0-9ADF-4DC9-91B4-7CAFF633EFE8}">
      <dgm:prSet phldrT="[文本]" custT="1"/>
      <dgm:spPr/>
      <dgm:t>
        <a:bodyPr/>
        <a:lstStyle/>
        <a:p>
          <a:r>
            <a:rPr lang="zh-CN" altLang="en-US" sz="1400" b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charset="-122"/>
              <a:cs typeface="+mn-cs"/>
            </a:rPr>
            <a:t>基础设施</a:t>
          </a:r>
          <a:r>
            <a:rPr lang="zh-CN" altLang="en-US" sz="1400" b="1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charset="-122"/>
              <a:cs typeface="+mn-cs"/>
            </a:rPr>
            <a:t>安全</a:t>
          </a:r>
          <a:r>
            <a:rPr lang="zh-CN" altLang="en-US" sz="1400" b="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charset="-122"/>
              <a:cs typeface="+mn-cs"/>
            </a:rPr>
            <a:t>需求</a:t>
          </a:r>
          <a:endParaRPr lang="zh-CN" altLang="en-US" sz="1400" dirty="0"/>
        </a:p>
      </dgm:t>
    </dgm:pt>
    <dgm:pt modelId="{79FAD58C-BE63-44A9-8AF7-749E0C85CE97}" type="parTrans" cxnId="{4EA27969-9E52-4858-8ADB-02560923DC0E}">
      <dgm:prSet/>
      <dgm:spPr/>
      <dgm:t>
        <a:bodyPr/>
        <a:lstStyle/>
        <a:p>
          <a:endParaRPr lang="zh-CN" altLang="en-US"/>
        </a:p>
      </dgm:t>
    </dgm:pt>
    <dgm:pt modelId="{13CC8A6A-BB4F-4576-8357-74334F22D9E9}" type="sibTrans" cxnId="{4EA27969-9E52-4858-8ADB-02560923DC0E}">
      <dgm:prSet/>
      <dgm:spPr/>
      <dgm:t>
        <a:bodyPr/>
        <a:lstStyle/>
        <a:p>
          <a:endParaRPr lang="zh-CN" altLang="en-US"/>
        </a:p>
      </dgm:t>
    </dgm:pt>
    <dgm:pt modelId="{0B09A8DA-DE18-412C-968C-7483FD391742}">
      <dgm:prSet phldrT="[文本]" custT="1"/>
      <dgm:spPr/>
      <dgm:t>
        <a:bodyPr/>
        <a:lstStyle/>
        <a:p>
          <a:r>
            <a:rPr lang="zh-CN" altLang="en-US" sz="1400" b="0" dirty="0"/>
            <a:t>全域智驾</a:t>
          </a:r>
          <a:r>
            <a:rPr lang="zh-CN" altLang="en-US" sz="1400" b="1" dirty="0"/>
            <a:t>产业</a:t>
          </a:r>
          <a:r>
            <a:rPr lang="zh-CN" altLang="en-US" sz="1400" dirty="0"/>
            <a:t>需求</a:t>
          </a:r>
        </a:p>
      </dgm:t>
    </dgm:pt>
    <dgm:pt modelId="{83243A23-54AB-4EAB-943D-D90B8AEE3C08}" type="parTrans" cxnId="{DFAC6CEB-9629-4995-A3C2-35BB6FC65BA7}">
      <dgm:prSet/>
      <dgm:spPr/>
      <dgm:t>
        <a:bodyPr/>
        <a:lstStyle/>
        <a:p>
          <a:endParaRPr lang="zh-CN" altLang="en-US"/>
        </a:p>
      </dgm:t>
    </dgm:pt>
    <dgm:pt modelId="{93428417-6206-463A-ABC8-E97247D586E8}" type="sibTrans" cxnId="{DFAC6CEB-9629-4995-A3C2-35BB6FC65BA7}">
      <dgm:prSet/>
      <dgm:spPr/>
      <dgm:t>
        <a:bodyPr/>
        <a:lstStyle/>
        <a:p>
          <a:endParaRPr lang="zh-CN" altLang="en-US"/>
        </a:p>
      </dgm:t>
    </dgm:pt>
    <dgm:pt modelId="{10A692A2-5501-4668-A2F4-AEF8ED9AC04E}" type="pres">
      <dgm:prSet presAssocID="{41587286-D232-493B-83F3-BAEA3CA3A57F}" presName="Name0" presStyleCnt="0">
        <dgm:presLayoutVars>
          <dgm:dir/>
          <dgm:resizeHandles val="exact"/>
        </dgm:presLayoutVars>
      </dgm:prSet>
      <dgm:spPr/>
    </dgm:pt>
    <dgm:pt modelId="{FB8C5FD8-5B6C-4579-AE7C-D11C7A42405C}" type="pres">
      <dgm:prSet presAssocID="{D6CC24E0-9ADF-4DC9-91B4-7CAFF633EFE8}" presName="node" presStyleLbl="node1" presStyleIdx="0" presStyleCnt="4">
        <dgm:presLayoutVars>
          <dgm:bulletEnabled val="1"/>
        </dgm:presLayoutVars>
      </dgm:prSet>
      <dgm:spPr/>
    </dgm:pt>
    <dgm:pt modelId="{049C32AC-7ED4-47A2-80C7-B9E5F1AF72A7}" type="pres">
      <dgm:prSet presAssocID="{13CC8A6A-BB4F-4576-8357-74334F22D9E9}" presName="sibTrans" presStyleCnt="0"/>
      <dgm:spPr/>
    </dgm:pt>
    <dgm:pt modelId="{B5196346-5873-42F3-8CFB-3B825AA56BD6}" type="pres">
      <dgm:prSet presAssocID="{1F61CCBA-4035-4DB0-88B7-369E9FDBD828}" presName="node" presStyleLbl="node1" presStyleIdx="1" presStyleCnt="4">
        <dgm:presLayoutVars>
          <dgm:bulletEnabled val="1"/>
        </dgm:presLayoutVars>
      </dgm:prSet>
      <dgm:spPr/>
    </dgm:pt>
    <dgm:pt modelId="{BCB45C16-4BA6-4740-9DC5-9016C6A54E68}" type="pres">
      <dgm:prSet presAssocID="{98531F6A-EF56-4545-83CF-5A3B350FB9CE}" presName="sibTrans" presStyleCnt="0"/>
      <dgm:spPr/>
    </dgm:pt>
    <dgm:pt modelId="{A078F4FA-D51E-42F1-9324-9CACD304559C}" type="pres">
      <dgm:prSet presAssocID="{1D842991-5D6E-4DFC-B0D6-0E87F4AAE748}" presName="node" presStyleLbl="node1" presStyleIdx="2" presStyleCnt="4">
        <dgm:presLayoutVars>
          <dgm:bulletEnabled val="1"/>
        </dgm:presLayoutVars>
      </dgm:prSet>
      <dgm:spPr/>
    </dgm:pt>
    <dgm:pt modelId="{E63BF1A7-6062-4AEF-BE08-1753C1688310}" type="pres">
      <dgm:prSet presAssocID="{1A001671-0232-44FB-9DCC-03FBE8A7D7A8}" presName="sibTrans" presStyleCnt="0"/>
      <dgm:spPr/>
    </dgm:pt>
    <dgm:pt modelId="{CFCC6CE9-61E7-4F32-88DF-DED3F75F76DA}" type="pres">
      <dgm:prSet presAssocID="{0B09A8DA-DE18-412C-968C-7483FD391742}" presName="node" presStyleLbl="node1" presStyleIdx="3" presStyleCnt="4">
        <dgm:presLayoutVars>
          <dgm:bulletEnabled val="1"/>
        </dgm:presLayoutVars>
      </dgm:prSet>
      <dgm:spPr/>
    </dgm:pt>
  </dgm:ptLst>
  <dgm:cxnLst>
    <dgm:cxn modelId="{CEC3CD10-F02C-46A9-9AB3-F3036F969D80}" type="presOf" srcId="{1F61CCBA-4035-4DB0-88B7-369E9FDBD828}" destId="{B5196346-5873-42F3-8CFB-3B825AA56BD6}" srcOrd="0" destOrd="0" presId="urn:microsoft.com/office/officeart/2005/8/layout/hList6"/>
    <dgm:cxn modelId="{D92BF817-83F9-41E7-B3CB-7542D8EFBA2C}" type="presOf" srcId="{0B09A8DA-DE18-412C-968C-7483FD391742}" destId="{CFCC6CE9-61E7-4F32-88DF-DED3F75F76DA}" srcOrd="0" destOrd="0" presId="urn:microsoft.com/office/officeart/2005/8/layout/hList6"/>
    <dgm:cxn modelId="{4EA27969-9E52-4858-8ADB-02560923DC0E}" srcId="{41587286-D232-493B-83F3-BAEA3CA3A57F}" destId="{D6CC24E0-9ADF-4DC9-91B4-7CAFF633EFE8}" srcOrd="0" destOrd="0" parTransId="{79FAD58C-BE63-44A9-8AF7-749E0C85CE97}" sibTransId="{13CC8A6A-BB4F-4576-8357-74334F22D9E9}"/>
    <dgm:cxn modelId="{3B38CC58-AC65-4C70-B96D-F4AD369B61EB}" type="presOf" srcId="{D6CC24E0-9ADF-4DC9-91B4-7CAFF633EFE8}" destId="{FB8C5FD8-5B6C-4579-AE7C-D11C7A42405C}" srcOrd="0" destOrd="0" presId="urn:microsoft.com/office/officeart/2005/8/layout/hList6"/>
    <dgm:cxn modelId="{6C48FA81-CE9F-4E3B-8573-23B59C47DAB9}" type="presOf" srcId="{1D842991-5D6E-4DFC-B0D6-0E87F4AAE748}" destId="{A078F4FA-D51E-42F1-9324-9CACD304559C}" srcOrd="0" destOrd="0" presId="urn:microsoft.com/office/officeart/2005/8/layout/hList6"/>
    <dgm:cxn modelId="{3B27D985-BE8A-4731-873E-9E725F76C533}" srcId="{41587286-D232-493B-83F3-BAEA3CA3A57F}" destId="{1D842991-5D6E-4DFC-B0D6-0E87F4AAE748}" srcOrd="2" destOrd="0" parTransId="{3114CCA1-A257-4332-996D-30238AE33855}" sibTransId="{1A001671-0232-44FB-9DCC-03FBE8A7D7A8}"/>
    <dgm:cxn modelId="{4BA7709D-45DC-4208-986A-5480826AB8CF}" srcId="{41587286-D232-493B-83F3-BAEA3CA3A57F}" destId="{1F61CCBA-4035-4DB0-88B7-369E9FDBD828}" srcOrd="1" destOrd="0" parTransId="{F2FE3B65-FFB0-4975-9BE2-EA4614712EB9}" sibTransId="{98531F6A-EF56-4545-83CF-5A3B350FB9CE}"/>
    <dgm:cxn modelId="{7A9317E9-4DC2-47CD-9FE3-2D9ED31FEB34}" type="presOf" srcId="{41587286-D232-493B-83F3-BAEA3CA3A57F}" destId="{10A692A2-5501-4668-A2F4-AEF8ED9AC04E}" srcOrd="0" destOrd="0" presId="urn:microsoft.com/office/officeart/2005/8/layout/hList6"/>
    <dgm:cxn modelId="{DFAC6CEB-9629-4995-A3C2-35BB6FC65BA7}" srcId="{41587286-D232-493B-83F3-BAEA3CA3A57F}" destId="{0B09A8DA-DE18-412C-968C-7483FD391742}" srcOrd="3" destOrd="0" parTransId="{83243A23-54AB-4EAB-943D-D90B8AEE3C08}" sibTransId="{93428417-6206-463A-ABC8-E97247D586E8}"/>
    <dgm:cxn modelId="{97941F3C-B96C-448D-B5A4-ED3F057493C0}" type="presParOf" srcId="{10A692A2-5501-4668-A2F4-AEF8ED9AC04E}" destId="{FB8C5FD8-5B6C-4579-AE7C-D11C7A42405C}" srcOrd="0" destOrd="0" presId="urn:microsoft.com/office/officeart/2005/8/layout/hList6"/>
    <dgm:cxn modelId="{4684AE7A-0721-49FD-9F23-B9051D77FEF8}" type="presParOf" srcId="{10A692A2-5501-4668-A2F4-AEF8ED9AC04E}" destId="{049C32AC-7ED4-47A2-80C7-B9E5F1AF72A7}" srcOrd="1" destOrd="0" presId="urn:microsoft.com/office/officeart/2005/8/layout/hList6"/>
    <dgm:cxn modelId="{BE6563EF-5080-435E-8FBD-7105DA8A7E6E}" type="presParOf" srcId="{10A692A2-5501-4668-A2F4-AEF8ED9AC04E}" destId="{B5196346-5873-42F3-8CFB-3B825AA56BD6}" srcOrd="2" destOrd="0" presId="urn:microsoft.com/office/officeart/2005/8/layout/hList6"/>
    <dgm:cxn modelId="{F228F959-FAE9-48BC-9815-0037ADE037CC}" type="presParOf" srcId="{10A692A2-5501-4668-A2F4-AEF8ED9AC04E}" destId="{BCB45C16-4BA6-4740-9DC5-9016C6A54E68}" srcOrd="3" destOrd="0" presId="urn:microsoft.com/office/officeart/2005/8/layout/hList6"/>
    <dgm:cxn modelId="{3E82F814-549C-4E86-80D1-E5F88E9727DB}" type="presParOf" srcId="{10A692A2-5501-4668-A2F4-AEF8ED9AC04E}" destId="{A078F4FA-D51E-42F1-9324-9CACD304559C}" srcOrd="4" destOrd="0" presId="urn:microsoft.com/office/officeart/2005/8/layout/hList6"/>
    <dgm:cxn modelId="{7268FE0B-043F-4F9A-9A2E-7157EDF2C281}" type="presParOf" srcId="{10A692A2-5501-4668-A2F4-AEF8ED9AC04E}" destId="{E63BF1A7-6062-4AEF-BE08-1753C1688310}" srcOrd="5" destOrd="0" presId="urn:microsoft.com/office/officeart/2005/8/layout/hList6"/>
    <dgm:cxn modelId="{ADDD8CB7-A040-45A2-97DD-62BA13EBB087}" type="presParOf" srcId="{10A692A2-5501-4668-A2F4-AEF8ED9AC04E}" destId="{CFCC6CE9-61E7-4F32-88DF-DED3F75F76DA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265055-0914-4DCA-A0C0-74AF6E875321}" type="doc">
      <dgm:prSet loTypeId="urn:microsoft.com/office/officeart/2005/8/layout/cycle5" loCatId="cycl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ECC12C18-9A20-48BF-A71A-C3CE271CBCA9}">
      <dgm:prSet phldrT="[文本]" custT="1"/>
      <dgm:spPr/>
      <dgm:t>
        <a:bodyPr/>
        <a:lstStyle/>
        <a:p>
          <a:r>
            <a:rPr lang="zh-CN" altLang="en-US" sz="1400" b="1" dirty="0">
              <a:solidFill>
                <a:schemeClr val="tx1"/>
              </a:solidFill>
            </a:rPr>
            <a:t>数据资产化</a:t>
          </a:r>
          <a:endParaRPr lang="en-US" altLang="zh-CN" sz="1400" b="1" dirty="0">
            <a:solidFill>
              <a:schemeClr val="tx1"/>
            </a:solidFill>
          </a:endParaRPr>
        </a:p>
        <a:p>
          <a:r>
            <a:rPr lang="zh-CN" altLang="en-US" sz="1400" b="0" dirty="0">
              <a:solidFill>
                <a:schemeClr val="tx1"/>
              </a:solidFill>
            </a:rPr>
            <a:t>抵押融资支持</a:t>
          </a:r>
          <a:endParaRPr lang="en-US" altLang="zh-CN" sz="1400" b="0" dirty="0">
            <a:solidFill>
              <a:schemeClr val="tx1"/>
            </a:solidFill>
          </a:endParaRPr>
        </a:p>
      </dgm:t>
    </dgm:pt>
    <dgm:pt modelId="{51BB9ECF-D805-4C42-93C2-6260F18B624C}" type="parTrans" cxnId="{FD278252-D34F-4D17-8B6B-F67DFBA31F7F}">
      <dgm:prSet/>
      <dgm:spPr/>
      <dgm:t>
        <a:bodyPr/>
        <a:lstStyle/>
        <a:p>
          <a:endParaRPr lang="zh-CN" altLang="en-US" sz="2000">
            <a:solidFill>
              <a:srgbClr val="0C4B89"/>
            </a:solidFill>
          </a:endParaRPr>
        </a:p>
      </dgm:t>
    </dgm:pt>
    <dgm:pt modelId="{EB010AF8-F99F-426C-A43D-025C827CC88C}" type="sibTrans" cxnId="{FD278252-D34F-4D17-8B6B-F67DFBA31F7F}">
      <dgm:prSet custT="1"/>
      <dgm:spPr>
        <a:solidFill>
          <a:srgbClr val="0C4B89"/>
        </a:solidFill>
        <a:ln w="19050">
          <a:solidFill>
            <a:srgbClr val="0C4B89"/>
          </a:solidFill>
        </a:ln>
      </dgm:spPr>
      <dgm:t>
        <a:bodyPr/>
        <a:lstStyle/>
        <a:p>
          <a:endParaRPr lang="zh-CN" altLang="en-US" sz="700">
            <a:solidFill>
              <a:srgbClr val="0C4B89"/>
            </a:solidFill>
          </a:endParaRPr>
        </a:p>
      </dgm:t>
    </dgm:pt>
    <dgm:pt modelId="{E1078282-5492-4289-B25C-EF60075E24F1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400" b="1" dirty="0">
              <a:solidFill>
                <a:schemeClr val="tx1"/>
              </a:solidFill>
            </a:rPr>
            <a:t>硬件投入</a:t>
          </a:r>
          <a:endParaRPr lang="en-US" altLang="zh-CN" sz="1400" b="1" dirty="0">
            <a:solidFill>
              <a:schemeClr val="tx1"/>
            </a:solidFill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400" dirty="0">
              <a:solidFill>
                <a:schemeClr val="tx1"/>
              </a:solidFill>
            </a:rPr>
            <a:t>阵列光纤产品</a:t>
          </a:r>
          <a:endParaRPr lang="en-US" altLang="zh-CN" sz="1400" dirty="0">
            <a:solidFill>
              <a:schemeClr val="tx1"/>
            </a:solidFill>
          </a:endParaRPr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400" dirty="0">
              <a:solidFill>
                <a:schemeClr val="tx1"/>
              </a:solidFill>
            </a:rPr>
            <a:t>结构安全融合产品</a:t>
          </a:r>
          <a:endParaRPr lang="en-US" altLang="zh-CN" sz="1400" dirty="0">
            <a:solidFill>
              <a:schemeClr val="tx1"/>
            </a:solidFill>
          </a:endParaRPr>
        </a:p>
      </dgm:t>
    </dgm:pt>
    <dgm:pt modelId="{AF9ACD49-4855-4A66-A5B5-DB95AC56E2E8}" type="parTrans" cxnId="{7286B786-3896-41F7-8D86-CB5D2057FDA3}">
      <dgm:prSet/>
      <dgm:spPr/>
      <dgm:t>
        <a:bodyPr/>
        <a:lstStyle/>
        <a:p>
          <a:endParaRPr lang="zh-CN" altLang="en-US" sz="2000"/>
        </a:p>
      </dgm:t>
    </dgm:pt>
    <dgm:pt modelId="{F73EF694-B1A4-4A0B-AF78-0A07F5C5B9FA}" type="sibTrans" cxnId="{7286B786-3896-41F7-8D86-CB5D2057FDA3}">
      <dgm:prSet custT="1"/>
      <dgm:spPr>
        <a:solidFill>
          <a:srgbClr val="0C4B89"/>
        </a:solidFill>
        <a:ln w="19050">
          <a:solidFill>
            <a:srgbClr val="0C4B89"/>
          </a:solidFill>
        </a:ln>
        <a:effectLst/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>
            <a:solidFill>
              <a:srgbClr val="0C4B89"/>
            </a:solidFill>
            <a:latin typeface="Arial"/>
            <a:ea typeface="Microsoft YaHei"/>
            <a:cs typeface="+mn-cs"/>
          </a:endParaRPr>
        </a:p>
      </dgm:t>
    </dgm:pt>
    <dgm:pt modelId="{CD961101-A1E7-4097-B949-E6D03BC1DF64}">
      <dgm:prSet phldrT="[文本]" custT="1"/>
      <dgm:spPr/>
      <dgm:t>
        <a:bodyPr/>
        <a:lstStyle/>
        <a:p>
          <a:r>
            <a:rPr lang="zh-CN" altLang="en-US" sz="1400" b="1" dirty="0">
              <a:solidFill>
                <a:schemeClr val="tx1"/>
              </a:solidFill>
            </a:rPr>
            <a:t>费用化投入</a:t>
          </a:r>
          <a:endParaRPr lang="en-US" altLang="zh-CN" sz="1400" b="1" dirty="0">
            <a:solidFill>
              <a:schemeClr val="tx1"/>
            </a:solidFill>
          </a:endParaRPr>
        </a:p>
        <a:p>
          <a:r>
            <a:rPr lang="zh-CN" altLang="en-US" sz="1400" dirty="0">
              <a:solidFill>
                <a:schemeClr val="tx1"/>
              </a:solidFill>
            </a:rPr>
            <a:t>年度运维成本</a:t>
          </a:r>
        </a:p>
      </dgm:t>
    </dgm:pt>
    <dgm:pt modelId="{DC1E4A20-E6EC-44E1-9FBC-07DD4BC3AC20}" type="sibTrans" cxnId="{C2A70290-183A-44F2-95AF-C774BDF6676E}">
      <dgm:prSet custT="1"/>
      <dgm:spPr>
        <a:solidFill>
          <a:schemeClr val="accent2"/>
        </a:solidFill>
        <a:ln w="28575">
          <a:solidFill>
            <a:srgbClr val="0C4B89"/>
          </a:solidFill>
        </a:ln>
      </dgm:spPr>
      <dgm:t>
        <a:bodyPr/>
        <a:lstStyle/>
        <a:p>
          <a:endParaRPr lang="zh-CN" altLang="en-US" sz="700">
            <a:solidFill>
              <a:srgbClr val="0C4B89"/>
            </a:solidFill>
          </a:endParaRPr>
        </a:p>
      </dgm:t>
    </dgm:pt>
    <dgm:pt modelId="{C656238F-F55D-4B2E-9B39-54B738F4D83A}" type="parTrans" cxnId="{C2A70290-183A-44F2-95AF-C774BDF6676E}">
      <dgm:prSet/>
      <dgm:spPr/>
      <dgm:t>
        <a:bodyPr/>
        <a:lstStyle/>
        <a:p>
          <a:endParaRPr lang="zh-CN" altLang="en-US" sz="2000">
            <a:solidFill>
              <a:srgbClr val="0C4B89"/>
            </a:solidFill>
          </a:endParaRPr>
        </a:p>
      </dgm:t>
    </dgm:pt>
    <dgm:pt modelId="{9739BF14-051A-4451-9867-423CCF352BE6}">
      <dgm:prSet phldrT="[文本]" custT="1"/>
      <dgm:spPr/>
      <dgm:t>
        <a:bodyPr/>
        <a:lstStyle/>
        <a:p>
          <a:pPr algn="ctr">
            <a:lnSpc>
              <a:spcPct val="100000"/>
            </a:lnSpc>
            <a:spcAft>
              <a:spcPts val="0"/>
            </a:spcAft>
          </a:pPr>
          <a:r>
            <a:rPr lang="zh-CN" altLang="en-US" sz="1400" b="1" dirty="0">
              <a:solidFill>
                <a:schemeClr val="tx1"/>
              </a:solidFill>
            </a:rPr>
            <a:t>数据产品收入</a:t>
          </a:r>
          <a:endParaRPr lang="en-US" altLang="zh-CN" sz="1400" b="1" dirty="0">
            <a:solidFill>
              <a:schemeClr val="tx1"/>
            </a:solidFill>
          </a:endParaRPr>
        </a:p>
        <a:p>
          <a:pPr algn="ctr">
            <a:lnSpc>
              <a:spcPct val="100000"/>
            </a:lnSpc>
            <a:spcAft>
              <a:spcPts val="0"/>
            </a:spcAft>
          </a:pPr>
          <a:r>
            <a:rPr lang="zh-CN" altLang="en-US" sz="1400" dirty="0">
              <a:solidFill>
                <a:schemeClr val="tx1"/>
              </a:solidFill>
            </a:rPr>
            <a:t>数据服务产品</a:t>
          </a:r>
          <a:endParaRPr lang="en-US" altLang="zh-CN" sz="1400" dirty="0">
            <a:solidFill>
              <a:schemeClr val="tx1"/>
            </a:solidFill>
          </a:endParaRPr>
        </a:p>
        <a:p>
          <a:pPr algn="ctr">
            <a:lnSpc>
              <a:spcPct val="100000"/>
            </a:lnSpc>
            <a:spcAft>
              <a:spcPts val="0"/>
            </a:spcAft>
          </a:pPr>
          <a:r>
            <a:rPr lang="zh-CN" altLang="en-US" sz="1400" dirty="0">
              <a:solidFill>
                <a:schemeClr val="tx1"/>
              </a:solidFill>
            </a:rPr>
            <a:t>数据金融产品</a:t>
          </a:r>
          <a:endParaRPr lang="en-US" altLang="zh-CN" sz="1400" dirty="0">
            <a:solidFill>
              <a:schemeClr val="tx1"/>
            </a:solidFill>
          </a:endParaRPr>
        </a:p>
      </dgm:t>
    </dgm:pt>
    <dgm:pt modelId="{5BB98971-2A81-4136-B4D4-B508C07ABABC}" type="parTrans" cxnId="{122EB8D7-7E52-40BA-B2AF-844149C30355}">
      <dgm:prSet/>
      <dgm:spPr/>
      <dgm:t>
        <a:bodyPr/>
        <a:lstStyle/>
        <a:p>
          <a:endParaRPr lang="zh-CN" altLang="en-US"/>
        </a:p>
      </dgm:t>
    </dgm:pt>
    <dgm:pt modelId="{C4144D1A-BF89-46C9-BF54-44CB8DF740DF}" type="sibTrans" cxnId="{122EB8D7-7E52-40BA-B2AF-844149C30355}">
      <dgm:prSet/>
      <dgm:spPr>
        <a:ln w="19050">
          <a:solidFill>
            <a:srgbClr val="0C4B89"/>
          </a:solidFill>
        </a:ln>
      </dgm:spPr>
      <dgm:t>
        <a:bodyPr/>
        <a:lstStyle/>
        <a:p>
          <a:endParaRPr lang="zh-CN" altLang="en-US"/>
        </a:p>
      </dgm:t>
    </dgm:pt>
    <dgm:pt modelId="{B254AA08-9197-452E-ADB9-1F47DAB41E44}" type="pres">
      <dgm:prSet presAssocID="{36265055-0914-4DCA-A0C0-74AF6E875321}" presName="cycle" presStyleCnt="0">
        <dgm:presLayoutVars>
          <dgm:dir/>
          <dgm:resizeHandles val="exact"/>
        </dgm:presLayoutVars>
      </dgm:prSet>
      <dgm:spPr/>
    </dgm:pt>
    <dgm:pt modelId="{F8F28813-4E29-48DB-A185-F4710E199CB8}" type="pres">
      <dgm:prSet presAssocID="{CD961101-A1E7-4097-B949-E6D03BC1DF64}" presName="node" presStyleLbl="node1" presStyleIdx="0" presStyleCnt="4">
        <dgm:presLayoutVars>
          <dgm:bulletEnabled val="1"/>
        </dgm:presLayoutVars>
      </dgm:prSet>
      <dgm:spPr/>
    </dgm:pt>
    <dgm:pt modelId="{6701673E-E260-4E7C-A16A-F87D534AE609}" type="pres">
      <dgm:prSet presAssocID="{CD961101-A1E7-4097-B949-E6D03BC1DF64}" presName="spNode" presStyleCnt="0"/>
      <dgm:spPr/>
    </dgm:pt>
    <dgm:pt modelId="{E6B0C34F-8250-4661-8F57-5FE77418A9FC}" type="pres">
      <dgm:prSet presAssocID="{DC1E4A20-E6EC-44E1-9FBC-07DD4BC3AC20}" presName="sibTrans" presStyleLbl="sibTrans1D1" presStyleIdx="0" presStyleCnt="4"/>
      <dgm:spPr/>
    </dgm:pt>
    <dgm:pt modelId="{75701901-8F2C-4D29-B0C4-C44251FCF0D5}" type="pres">
      <dgm:prSet presAssocID="{ECC12C18-9A20-48BF-A71A-C3CE271CBCA9}" presName="node" presStyleLbl="node1" presStyleIdx="1" presStyleCnt="4">
        <dgm:presLayoutVars>
          <dgm:bulletEnabled val="1"/>
        </dgm:presLayoutVars>
      </dgm:prSet>
      <dgm:spPr/>
    </dgm:pt>
    <dgm:pt modelId="{02ECD8D9-FB30-4680-AC08-8C3B8B3451C6}" type="pres">
      <dgm:prSet presAssocID="{ECC12C18-9A20-48BF-A71A-C3CE271CBCA9}" presName="spNode" presStyleCnt="0"/>
      <dgm:spPr/>
    </dgm:pt>
    <dgm:pt modelId="{A937F8B2-EED2-4984-B49A-552AC68A32CE}" type="pres">
      <dgm:prSet presAssocID="{EB010AF8-F99F-426C-A43D-025C827CC88C}" presName="sibTrans" presStyleLbl="sibTrans1D1" presStyleIdx="1" presStyleCnt="4"/>
      <dgm:spPr/>
    </dgm:pt>
    <dgm:pt modelId="{6F331F19-29CA-48E1-AF0E-7A197FE11921}" type="pres">
      <dgm:prSet presAssocID="{9739BF14-051A-4451-9867-423CCF352BE6}" presName="node" presStyleLbl="node1" presStyleIdx="2" presStyleCnt="4">
        <dgm:presLayoutVars>
          <dgm:bulletEnabled val="1"/>
        </dgm:presLayoutVars>
      </dgm:prSet>
      <dgm:spPr/>
    </dgm:pt>
    <dgm:pt modelId="{3FCFCF09-2DAC-4F4B-940C-C8D36B3D0C0E}" type="pres">
      <dgm:prSet presAssocID="{9739BF14-051A-4451-9867-423CCF352BE6}" presName="spNode" presStyleCnt="0"/>
      <dgm:spPr/>
    </dgm:pt>
    <dgm:pt modelId="{6A136005-20E5-4E18-A045-7EB0DFD3E5D7}" type="pres">
      <dgm:prSet presAssocID="{C4144D1A-BF89-46C9-BF54-44CB8DF740DF}" presName="sibTrans" presStyleLbl="sibTrans1D1" presStyleIdx="2" presStyleCnt="4"/>
      <dgm:spPr/>
    </dgm:pt>
    <dgm:pt modelId="{4B71C0C1-141C-4046-9060-AD888BF96EED}" type="pres">
      <dgm:prSet presAssocID="{E1078282-5492-4289-B25C-EF60075E24F1}" presName="node" presStyleLbl="node1" presStyleIdx="3" presStyleCnt="4">
        <dgm:presLayoutVars>
          <dgm:bulletEnabled val="1"/>
        </dgm:presLayoutVars>
      </dgm:prSet>
      <dgm:spPr/>
    </dgm:pt>
    <dgm:pt modelId="{A64A567D-77BF-438A-A1D6-3CE66D571F11}" type="pres">
      <dgm:prSet presAssocID="{E1078282-5492-4289-B25C-EF60075E24F1}" presName="spNode" presStyleCnt="0"/>
      <dgm:spPr/>
    </dgm:pt>
    <dgm:pt modelId="{87F8D072-58CF-46A2-B74F-395C132EAF0A}" type="pres">
      <dgm:prSet presAssocID="{F73EF694-B1A4-4A0B-AF78-0A07F5C5B9FA}" presName="sibTrans" presStyleLbl="sibTrans1D1" presStyleIdx="3" presStyleCnt="4"/>
      <dgm:spPr/>
    </dgm:pt>
  </dgm:ptLst>
  <dgm:cxnLst>
    <dgm:cxn modelId="{40AB7631-06DA-4ABC-A216-3071DFC266BF}" type="presOf" srcId="{ECC12C18-9A20-48BF-A71A-C3CE271CBCA9}" destId="{75701901-8F2C-4D29-B0C4-C44251FCF0D5}" srcOrd="0" destOrd="0" presId="urn:microsoft.com/office/officeart/2005/8/layout/cycle5"/>
    <dgm:cxn modelId="{AE76A35E-698F-4E80-B1FB-9C24153C1634}" type="presOf" srcId="{DC1E4A20-E6EC-44E1-9FBC-07DD4BC3AC20}" destId="{E6B0C34F-8250-4661-8F57-5FE77418A9FC}" srcOrd="0" destOrd="0" presId="urn:microsoft.com/office/officeart/2005/8/layout/cycle5"/>
    <dgm:cxn modelId="{ACDB8049-A644-4B3D-9F6A-A0DBD9787946}" type="presOf" srcId="{F73EF694-B1A4-4A0B-AF78-0A07F5C5B9FA}" destId="{87F8D072-58CF-46A2-B74F-395C132EAF0A}" srcOrd="0" destOrd="0" presId="urn:microsoft.com/office/officeart/2005/8/layout/cycle5"/>
    <dgm:cxn modelId="{FD278252-D34F-4D17-8B6B-F67DFBA31F7F}" srcId="{36265055-0914-4DCA-A0C0-74AF6E875321}" destId="{ECC12C18-9A20-48BF-A71A-C3CE271CBCA9}" srcOrd="1" destOrd="0" parTransId="{51BB9ECF-D805-4C42-93C2-6260F18B624C}" sibTransId="{EB010AF8-F99F-426C-A43D-025C827CC88C}"/>
    <dgm:cxn modelId="{97E88977-F958-436A-B7D2-E2F591EEEA76}" type="presOf" srcId="{EB010AF8-F99F-426C-A43D-025C827CC88C}" destId="{A937F8B2-EED2-4984-B49A-552AC68A32CE}" srcOrd="0" destOrd="0" presId="urn:microsoft.com/office/officeart/2005/8/layout/cycle5"/>
    <dgm:cxn modelId="{BBEC3C58-0C26-4F7D-BCBF-1F4DF2F2B72A}" type="presOf" srcId="{36265055-0914-4DCA-A0C0-74AF6E875321}" destId="{B254AA08-9197-452E-ADB9-1F47DAB41E44}" srcOrd="0" destOrd="0" presId="urn:microsoft.com/office/officeart/2005/8/layout/cycle5"/>
    <dgm:cxn modelId="{7286B786-3896-41F7-8D86-CB5D2057FDA3}" srcId="{36265055-0914-4DCA-A0C0-74AF6E875321}" destId="{E1078282-5492-4289-B25C-EF60075E24F1}" srcOrd="3" destOrd="0" parTransId="{AF9ACD49-4855-4A66-A5B5-DB95AC56E2E8}" sibTransId="{F73EF694-B1A4-4A0B-AF78-0A07F5C5B9FA}"/>
    <dgm:cxn modelId="{C2A70290-183A-44F2-95AF-C774BDF6676E}" srcId="{36265055-0914-4DCA-A0C0-74AF6E875321}" destId="{CD961101-A1E7-4097-B949-E6D03BC1DF64}" srcOrd="0" destOrd="0" parTransId="{C656238F-F55D-4B2E-9B39-54B738F4D83A}" sibTransId="{DC1E4A20-E6EC-44E1-9FBC-07DD4BC3AC20}"/>
    <dgm:cxn modelId="{B1132CB3-9862-4F87-8BAF-1B687F5717EB}" type="presOf" srcId="{9739BF14-051A-4451-9867-423CCF352BE6}" destId="{6F331F19-29CA-48E1-AF0E-7A197FE11921}" srcOrd="0" destOrd="0" presId="urn:microsoft.com/office/officeart/2005/8/layout/cycle5"/>
    <dgm:cxn modelId="{6D0303BD-A931-4308-A00E-76CE83190478}" type="presOf" srcId="{E1078282-5492-4289-B25C-EF60075E24F1}" destId="{4B71C0C1-141C-4046-9060-AD888BF96EED}" srcOrd="0" destOrd="0" presId="urn:microsoft.com/office/officeart/2005/8/layout/cycle5"/>
    <dgm:cxn modelId="{A06E6CC7-A56E-41FD-A29F-625680F4FEA6}" type="presOf" srcId="{CD961101-A1E7-4097-B949-E6D03BC1DF64}" destId="{F8F28813-4E29-48DB-A185-F4710E199CB8}" srcOrd="0" destOrd="0" presId="urn:microsoft.com/office/officeart/2005/8/layout/cycle5"/>
    <dgm:cxn modelId="{122EB8D7-7E52-40BA-B2AF-844149C30355}" srcId="{36265055-0914-4DCA-A0C0-74AF6E875321}" destId="{9739BF14-051A-4451-9867-423CCF352BE6}" srcOrd="2" destOrd="0" parTransId="{5BB98971-2A81-4136-B4D4-B508C07ABABC}" sibTransId="{C4144D1A-BF89-46C9-BF54-44CB8DF740DF}"/>
    <dgm:cxn modelId="{D6A0DAE4-48BD-4821-A752-15A5F86FEA63}" type="presOf" srcId="{C4144D1A-BF89-46C9-BF54-44CB8DF740DF}" destId="{6A136005-20E5-4E18-A045-7EB0DFD3E5D7}" srcOrd="0" destOrd="0" presId="urn:microsoft.com/office/officeart/2005/8/layout/cycle5"/>
    <dgm:cxn modelId="{F0A3DD01-08EA-4452-8B3F-93029924ED51}" type="presParOf" srcId="{B254AA08-9197-452E-ADB9-1F47DAB41E44}" destId="{F8F28813-4E29-48DB-A185-F4710E199CB8}" srcOrd="0" destOrd="0" presId="urn:microsoft.com/office/officeart/2005/8/layout/cycle5"/>
    <dgm:cxn modelId="{22B5CAC5-4DDB-4F22-A34A-4B7F178F073C}" type="presParOf" srcId="{B254AA08-9197-452E-ADB9-1F47DAB41E44}" destId="{6701673E-E260-4E7C-A16A-F87D534AE609}" srcOrd="1" destOrd="0" presId="urn:microsoft.com/office/officeart/2005/8/layout/cycle5"/>
    <dgm:cxn modelId="{DEB5F526-3843-4CD8-81EB-95D15ABAEC8A}" type="presParOf" srcId="{B254AA08-9197-452E-ADB9-1F47DAB41E44}" destId="{E6B0C34F-8250-4661-8F57-5FE77418A9FC}" srcOrd="2" destOrd="0" presId="urn:microsoft.com/office/officeart/2005/8/layout/cycle5"/>
    <dgm:cxn modelId="{C07142D5-972D-4C07-B256-EF03FE5A0DA8}" type="presParOf" srcId="{B254AA08-9197-452E-ADB9-1F47DAB41E44}" destId="{75701901-8F2C-4D29-B0C4-C44251FCF0D5}" srcOrd="3" destOrd="0" presId="urn:microsoft.com/office/officeart/2005/8/layout/cycle5"/>
    <dgm:cxn modelId="{B6FED4A9-70C2-4C16-A109-E93682A12BFE}" type="presParOf" srcId="{B254AA08-9197-452E-ADB9-1F47DAB41E44}" destId="{02ECD8D9-FB30-4680-AC08-8C3B8B3451C6}" srcOrd="4" destOrd="0" presId="urn:microsoft.com/office/officeart/2005/8/layout/cycle5"/>
    <dgm:cxn modelId="{BB3D3520-F85E-4234-A036-634F0A0C0AB6}" type="presParOf" srcId="{B254AA08-9197-452E-ADB9-1F47DAB41E44}" destId="{A937F8B2-EED2-4984-B49A-552AC68A32CE}" srcOrd="5" destOrd="0" presId="urn:microsoft.com/office/officeart/2005/8/layout/cycle5"/>
    <dgm:cxn modelId="{05CF7E6B-A84B-4CAA-B65F-F43B2D72F5F6}" type="presParOf" srcId="{B254AA08-9197-452E-ADB9-1F47DAB41E44}" destId="{6F331F19-29CA-48E1-AF0E-7A197FE11921}" srcOrd="6" destOrd="0" presId="urn:microsoft.com/office/officeart/2005/8/layout/cycle5"/>
    <dgm:cxn modelId="{85EF527C-60D9-4ECB-9235-87A7780BB5BF}" type="presParOf" srcId="{B254AA08-9197-452E-ADB9-1F47DAB41E44}" destId="{3FCFCF09-2DAC-4F4B-940C-C8D36B3D0C0E}" srcOrd="7" destOrd="0" presId="urn:microsoft.com/office/officeart/2005/8/layout/cycle5"/>
    <dgm:cxn modelId="{14FD2746-3375-4514-B547-CE510B0617B9}" type="presParOf" srcId="{B254AA08-9197-452E-ADB9-1F47DAB41E44}" destId="{6A136005-20E5-4E18-A045-7EB0DFD3E5D7}" srcOrd="8" destOrd="0" presId="urn:microsoft.com/office/officeart/2005/8/layout/cycle5"/>
    <dgm:cxn modelId="{DBAC53E3-69E9-4CC5-9338-8D2348B01B94}" type="presParOf" srcId="{B254AA08-9197-452E-ADB9-1F47DAB41E44}" destId="{4B71C0C1-141C-4046-9060-AD888BF96EED}" srcOrd="9" destOrd="0" presId="urn:microsoft.com/office/officeart/2005/8/layout/cycle5"/>
    <dgm:cxn modelId="{880FFF52-3938-438C-A734-642F849C82EA}" type="presParOf" srcId="{B254AA08-9197-452E-ADB9-1F47DAB41E44}" destId="{A64A567D-77BF-438A-A1D6-3CE66D571F11}" srcOrd="10" destOrd="0" presId="urn:microsoft.com/office/officeart/2005/8/layout/cycle5"/>
    <dgm:cxn modelId="{10203FF8-87B7-4D5C-B07C-41F7113F843D}" type="presParOf" srcId="{B254AA08-9197-452E-ADB9-1F47DAB41E44}" destId="{87F8D072-58CF-46A2-B74F-395C132EAF0A}" srcOrd="11" destOrd="0" presId="urn:microsoft.com/office/officeart/2005/8/layout/cycle5"/>
  </dgm:cxnLst>
  <dgm:bg>
    <a:noFill/>
  </dgm:bg>
  <dgm:whole>
    <a:ln w="28575"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EB43DD-3EB5-4265-903C-38AACA24F368}">
      <dsp:nvSpPr>
        <dsp:cNvPr id="0" name=""/>
        <dsp:cNvSpPr/>
      </dsp:nvSpPr>
      <dsp:spPr>
        <a:xfrm>
          <a:off x="103047" y="1531251"/>
          <a:ext cx="1532562" cy="505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000" b="1" kern="1200" dirty="0"/>
            <a:t>第一代</a:t>
          </a:r>
          <a:endParaRPr lang="en-US" altLang="zh-CN" sz="1000" b="1" kern="1200" dirty="0"/>
        </a:p>
        <a:p>
          <a:pPr marL="0" lvl="0" indent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000" b="1" kern="1200" dirty="0"/>
            <a:t>单点光纤</a:t>
          </a:r>
          <a:endParaRPr lang="en-US" altLang="zh-CN" sz="1000" b="1" kern="1200" dirty="0"/>
        </a:p>
      </dsp:txBody>
      <dsp:txXfrm>
        <a:off x="103047" y="1531251"/>
        <a:ext cx="1532562" cy="505048"/>
      </dsp:txXfrm>
    </dsp:sp>
    <dsp:sp modelId="{02298AD5-F7ED-4742-9F30-6B79F3D9E8FE}">
      <dsp:nvSpPr>
        <dsp:cNvPr id="0" name=""/>
        <dsp:cNvSpPr/>
      </dsp:nvSpPr>
      <dsp:spPr>
        <a:xfrm>
          <a:off x="101305" y="1377646"/>
          <a:ext cx="121908" cy="1219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067AF-A2E1-47B1-A4F6-1389483D0498}">
      <dsp:nvSpPr>
        <dsp:cNvPr id="0" name=""/>
        <dsp:cNvSpPr/>
      </dsp:nvSpPr>
      <dsp:spPr>
        <a:xfrm>
          <a:off x="186641" y="1206975"/>
          <a:ext cx="121908" cy="1219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E16F2-7EE3-4921-9A6F-8507128B4939}">
      <dsp:nvSpPr>
        <dsp:cNvPr id="0" name=""/>
        <dsp:cNvSpPr/>
      </dsp:nvSpPr>
      <dsp:spPr>
        <a:xfrm>
          <a:off x="391447" y="1241109"/>
          <a:ext cx="191570" cy="191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33771-067B-498C-A3A5-4E452071680E}">
      <dsp:nvSpPr>
        <dsp:cNvPr id="0" name=""/>
        <dsp:cNvSpPr/>
      </dsp:nvSpPr>
      <dsp:spPr>
        <a:xfrm>
          <a:off x="562119" y="1053370"/>
          <a:ext cx="121908" cy="1219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0BC614-932D-490C-B1AD-79404F10F1FE}">
      <dsp:nvSpPr>
        <dsp:cNvPr id="0" name=""/>
        <dsp:cNvSpPr/>
      </dsp:nvSpPr>
      <dsp:spPr>
        <a:xfrm>
          <a:off x="783992" y="985101"/>
          <a:ext cx="121908" cy="1219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2F45B-1E0E-4D49-80FF-C26B338F23A0}">
      <dsp:nvSpPr>
        <dsp:cNvPr id="0" name=""/>
        <dsp:cNvSpPr/>
      </dsp:nvSpPr>
      <dsp:spPr>
        <a:xfrm>
          <a:off x="1057067" y="1104572"/>
          <a:ext cx="121908" cy="1219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22D93-DF78-453E-89EF-49CF07601A81}">
      <dsp:nvSpPr>
        <dsp:cNvPr id="0" name=""/>
        <dsp:cNvSpPr/>
      </dsp:nvSpPr>
      <dsp:spPr>
        <a:xfrm>
          <a:off x="1227738" y="1189907"/>
          <a:ext cx="191570" cy="191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565FF-73DC-4586-B565-C2353850CD44}">
      <dsp:nvSpPr>
        <dsp:cNvPr id="0" name=""/>
        <dsp:cNvSpPr/>
      </dsp:nvSpPr>
      <dsp:spPr>
        <a:xfrm>
          <a:off x="1466679" y="1377646"/>
          <a:ext cx="121908" cy="1219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E23EEA-183D-4212-8CCF-07DCE26EC50F}">
      <dsp:nvSpPr>
        <dsp:cNvPr id="0" name=""/>
        <dsp:cNvSpPr/>
      </dsp:nvSpPr>
      <dsp:spPr>
        <a:xfrm>
          <a:off x="1569082" y="1565385"/>
          <a:ext cx="121908" cy="1219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12121-286B-492B-967F-091DD11370B4}">
      <dsp:nvSpPr>
        <dsp:cNvPr id="0" name=""/>
        <dsp:cNvSpPr/>
      </dsp:nvSpPr>
      <dsp:spPr>
        <a:xfrm>
          <a:off x="681589" y="1206975"/>
          <a:ext cx="313478" cy="31347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34469-57EF-410F-A3E1-DEDCEBBD563E}">
      <dsp:nvSpPr>
        <dsp:cNvPr id="0" name=""/>
        <dsp:cNvSpPr/>
      </dsp:nvSpPr>
      <dsp:spPr>
        <a:xfrm>
          <a:off x="15969" y="1855527"/>
          <a:ext cx="121908" cy="1219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ED430-3993-476D-9318-3E69B311900B}">
      <dsp:nvSpPr>
        <dsp:cNvPr id="0" name=""/>
        <dsp:cNvSpPr/>
      </dsp:nvSpPr>
      <dsp:spPr>
        <a:xfrm>
          <a:off x="118372" y="2009132"/>
          <a:ext cx="191570" cy="191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9D95B-E573-411E-9D09-462DCDD4827F}">
      <dsp:nvSpPr>
        <dsp:cNvPr id="0" name=""/>
        <dsp:cNvSpPr/>
      </dsp:nvSpPr>
      <dsp:spPr>
        <a:xfrm>
          <a:off x="374380" y="2145669"/>
          <a:ext cx="278647" cy="27864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D323F-1844-4F94-A11D-105A54984176}">
      <dsp:nvSpPr>
        <dsp:cNvPr id="0" name=""/>
        <dsp:cNvSpPr/>
      </dsp:nvSpPr>
      <dsp:spPr>
        <a:xfrm>
          <a:off x="732790" y="2367542"/>
          <a:ext cx="121908" cy="1219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4AFB7-107E-400F-9329-DA75A9B2E028}">
      <dsp:nvSpPr>
        <dsp:cNvPr id="0" name=""/>
        <dsp:cNvSpPr/>
      </dsp:nvSpPr>
      <dsp:spPr>
        <a:xfrm>
          <a:off x="801059" y="2145669"/>
          <a:ext cx="191570" cy="191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8A0A1-644A-4D9A-BE7F-9FF2BF831227}">
      <dsp:nvSpPr>
        <dsp:cNvPr id="0" name=""/>
        <dsp:cNvSpPr/>
      </dsp:nvSpPr>
      <dsp:spPr>
        <a:xfrm>
          <a:off x="971731" y="2384609"/>
          <a:ext cx="121908" cy="12190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8C914-CDA2-4EEE-BAD2-5C3B3300CAA2}">
      <dsp:nvSpPr>
        <dsp:cNvPr id="0" name=""/>
        <dsp:cNvSpPr/>
      </dsp:nvSpPr>
      <dsp:spPr>
        <a:xfrm>
          <a:off x="1125335" y="2111535"/>
          <a:ext cx="278647" cy="27864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2E1552-6AC9-489C-AED0-B1BC8631D045}">
      <dsp:nvSpPr>
        <dsp:cNvPr id="0" name=""/>
        <dsp:cNvSpPr/>
      </dsp:nvSpPr>
      <dsp:spPr>
        <a:xfrm>
          <a:off x="1500813" y="2043266"/>
          <a:ext cx="191570" cy="191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9F1256-7812-4430-9F0A-23480B488287}">
      <dsp:nvSpPr>
        <dsp:cNvPr id="0" name=""/>
        <dsp:cNvSpPr/>
      </dsp:nvSpPr>
      <dsp:spPr>
        <a:xfrm>
          <a:off x="1692383" y="1240825"/>
          <a:ext cx="562614" cy="1074092"/>
        </a:xfrm>
        <a:prstGeom prst="chevron">
          <a:avLst>
            <a:gd name="adj" fmla="val 6231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1FF81-9421-45CC-940E-52614CBAB059}">
      <dsp:nvSpPr>
        <dsp:cNvPr id="0" name=""/>
        <dsp:cNvSpPr/>
      </dsp:nvSpPr>
      <dsp:spPr>
        <a:xfrm>
          <a:off x="2254998" y="1241347"/>
          <a:ext cx="1534403" cy="10740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Microsoft YaHei"/>
              <a:cs typeface="+mn-cs"/>
            </a:rPr>
            <a:t>第二代</a:t>
          </a:r>
          <a:endParaRPr lang="en-US" altLang="zh-CN" sz="10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Microsoft YaHei"/>
            <a:cs typeface="+mn-cs"/>
          </a:endParaRPr>
        </a:p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0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/>
              <a:ea typeface="Microsoft YaHei"/>
              <a:cs typeface="+mn-cs"/>
            </a:rPr>
            <a:t>分布式光纤</a:t>
          </a:r>
          <a:endParaRPr lang="en-US" altLang="zh-CN" sz="10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/>
            <a:ea typeface="Microsoft YaHei"/>
            <a:cs typeface="+mn-cs"/>
          </a:endParaRPr>
        </a:p>
      </dsp:txBody>
      <dsp:txXfrm>
        <a:off x="2254998" y="1241347"/>
        <a:ext cx="1534403" cy="1074082"/>
      </dsp:txXfrm>
    </dsp:sp>
    <dsp:sp modelId="{38E1479B-C9D7-490F-9834-F72A209E95D1}">
      <dsp:nvSpPr>
        <dsp:cNvPr id="0" name=""/>
        <dsp:cNvSpPr/>
      </dsp:nvSpPr>
      <dsp:spPr>
        <a:xfrm>
          <a:off x="3789401" y="1240825"/>
          <a:ext cx="562614" cy="1074092"/>
        </a:xfrm>
        <a:prstGeom prst="chevron">
          <a:avLst>
            <a:gd name="adj" fmla="val 6231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9A646-601D-4B9E-BA9D-1DB5BD23BE61}">
      <dsp:nvSpPr>
        <dsp:cNvPr id="0" name=""/>
        <dsp:cNvSpPr/>
      </dsp:nvSpPr>
      <dsp:spPr>
        <a:xfrm>
          <a:off x="4413392" y="1152060"/>
          <a:ext cx="1304242" cy="13042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000" b="1" kern="1200" dirty="0">
              <a:solidFill>
                <a:srgbClr val="C00000"/>
              </a:solidFill>
              <a:latin typeface="Arial"/>
              <a:ea typeface="Microsoft YaHei"/>
              <a:cs typeface="+mn-cs"/>
            </a:rPr>
            <a:t>第三代</a:t>
          </a:r>
          <a:endParaRPr lang="en-US" altLang="zh-CN" sz="1000" b="1" kern="1200" dirty="0">
            <a:solidFill>
              <a:srgbClr val="C00000"/>
            </a:solidFill>
            <a:latin typeface="Arial"/>
            <a:ea typeface="Microsoft YaHei"/>
            <a:cs typeface="+mn-cs"/>
          </a:endParaRPr>
        </a:p>
        <a:p>
          <a:pPr marL="0" lvl="0" indent="0" algn="ct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000" b="1" kern="1200" dirty="0">
              <a:solidFill>
                <a:srgbClr val="C00000"/>
              </a:solidFill>
              <a:latin typeface="Arial"/>
              <a:ea typeface="Microsoft YaHei"/>
              <a:cs typeface="+mn-cs"/>
            </a:rPr>
            <a:t>阵列光纤</a:t>
          </a:r>
          <a:endParaRPr lang="en-US" altLang="zh-CN" sz="1000" b="1" kern="1200" dirty="0">
            <a:solidFill>
              <a:srgbClr val="C00000"/>
            </a:solidFill>
            <a:latin typeface="Arial"/>
            <a:ea typeface="Microsoft YaHei"/>
            <a:cs typeface="+mn-cs"/>
          </a:endParaRPr>
        </a:p>
        <a:p>
          <a:pPr marL="0" lvl="0" indent="0" algn="ctr" defTabSz="355600">
            <a:lnSpc>
              <a:spcPct val="7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800" b="1" kern="1200" dirty="0">
              <a:solidFill>
                <a:srgbClr val="C00000"/>
              </a:solidFill>
              <a:latin typeface="Arial"/>
              <a:ea typeface="Microsoft YaHei"/>
              <a:cs typeface="+mn-cs"/>
            </a:rPr>
            <a:t>未来主流：数据神经</a:t>
          </a:r>
        </a:p>
      </dsp:txBody>
      <dsp:txXfrm>
        <a:off x="4604394" y="1343062"/>
        <a:ext cx="922238" cy="9222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627322-A705-4462-946D-49AA2296EF65}">
      <dsp:nvSpPr>
        <dsp:cNvPr id="0" name=""/>
        <dsp:cNvSpPr/>
      </dsp:nvSpPr>
      <dsp:spPr>
        <a:xfrm>
          <a:off x="37251" y="2508"/>
          <a:ext cx="5186310" cy="25436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000" r="-9000"/>
          </a:stretch>
        </a:blip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9CE7B3-B080-4FD8-99DB-881511A5E6A0}">
      <dsp:nvSpPr>
        <dsp:cNvPr id="0" name=""/>
        <dsp:cNvSpPr/>
      </dsp:nvSpPr>
      <dsp:spPr bwMode="white">
        <a:xfrm>
          <a:off x="50372" y="2456977"/>
          <a:ext cx="5186310" cy="2886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b="1" kern="1200" dirty="0">
              <a:solidFill>
                <a:srgbClr val="C00000"/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2025</a:t>
          </a:r>
          <a:r>
            <a:rPr lang="zh-CN" altLang="en-US" sz="1600" b="1" kern="1200" dirty="0">
              <a:solidFill>
                <a:srgbClr val="C00000"/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年北京顺义潮白河大桥事故</a:t>
          </a:r>
          <a:endParaRPr lang="en-US" altLang="zh-CN" sz="1600" b="1" kern="1200" dirty="0">
            <a:solidFill>
              <a:srgbClr val="C00000"/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直接原因：</a:t>
          </a:r>
          <a:r>
            <a:rPr lang="zh-CN" altLang="en-US" sz="1400" b="0" i="0" kern="1200" dirty="0"/>
            <a:t>桥面电缆沟槽起火，导致核心受力构件（系杆）失效</a:t>
          </a:r>
          <a:endParaRPr lang="en-US" altLang="zh-CN" sz="14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根本矛盾</a:t>
          </a:r>
          <a:r>
            <a:rPr lang="en-US" altLang="zh-CN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: </a:t>
          </a: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（</a:t>
          </a:r>
          <a:r>
            <a:rPr lang="en-US" altLang="zh-CN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1</a:t>
          </a: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）</a:t>
          </a:r>
          <a:r>
            <a:rPr lang="zh-CN" altLang="en-US" sz="1400" b="1" i="0" kern="1200" dirty="0"/>
            <a:t>安全投入被视作</a:t>
          </a:r>
          <a:r>
            <a:rPr lang="en-US" altLang="zh-CN" sz="1400" b="1" i="0" kern="1200" dirty="0"/>
            <a:t>“</a:t>
          </a:r>
          <a:r>
            <a:rPr lang="zh-CN" altLang="en-US" sz="1400" b="1" i="0" kern="1200" dirty="0"/>
            <a:t>成本</a:t>
          </a:r>
          <a:r>
            <a:rPr lang="en-US" altLang="zh-CN" sz="1400" b="1" i="0" kern="1200" dirty="0"/>
            <a:t>”</a:t>
          </a:r>
          <a:r>
            <a:rPr lang="zh-CN" altLang="en-US" sz="1400" b="0" i="0" kern="1200" dirty="0"/>
            <a:t>：为关键构件部署实时监测系统，在传统决策中被视为高昂的</a:t>
          </a:r>
          <a:r>
            <a:rPr lang="en-US" altLang="zh-CN" sz="1400" b="0" i="0" kern="1200" dirty="0"/>
            <a:t>“</a:t>
          </a:r>
          <a:r>
            <a:rPr lang="zh-CN" altLang="en-US" sz="1400" b="0" i="0" kern="1200" dirty="0"/>
            <a:t>非必要支出</a:t>
          </a:r>
          <a:r>
            <a:rPr lang="en-US" altLang="zh-CN" sz="1400" b="0" i="0" kern="1200" dirty="0"/>
            <a:t>”</a:t>
          </a:r>
          <a:r>
            <a:rPr lang="zh-CN" altLang="en-US" sz="1400" b="0" i="0" kern="1200" dirty="0"/>
            <a:t>；（</a:t>
          </a:r>
          <a:r>
            <a:rPr lang="en-US" altLang="zh-CN" sz="1400" b="0" i="0" kern="1200" dirty="0"/>
            <a:t>2</a:t>
          </a:r>
          <a:r>
            <a:rPr lang="zh-CN" altLang="en-US" sz="1400" b="0" i="0" kern="1200" dirty="0"/>
            <a:t>）</a:t>
          </a:r>
          <a:r>
            <a:rPr lang="zh-CN" altLang="en-US" sz="1400" b="1" i="0" kern="1200" dirty="0"/>
            <a:t>风险代价无法承受</a:t>
          </a:r>
          <a:r>
            <a:rPr lang="zh-CN" altLang="en-US" sz="1400" b="0" i="0" kern="1200" dirty="0"/>
            <a:t>：一次因日常养护无法发现的隐患，导致整桥坍塌，带来资产全损、交通中断、重建费用的灾难性损失。</a:t>
          </a:r>
          <a:endParaRPr lang="en-US" altLang="zh-CN" sz="1400" b="1" i="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核心结论</a:t>
          </a:r>
          <a:r>
            <a:rPr lang="zh-CN" altLang="en-US" sz="14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：</a:t>
          </a:r>
          <a:r>
            <a:rPr lang="zh-CN" altLang="en-US" sz="1400" b="0" i="0" kern="1200" dirty="0"/>
            <a:t>在</a:t>
          </a:r>
          <a:r>
            <a:rPr lang="en-US" altLang="zh-CN" sz="1400" b="0" i="0" kern="1200" dirty="0"/>
            <a:t>“</a:t>
          </a:r>
          <a:r>
            <a:rPr lang="zh-CN" altLang="en-US" sz="1400" b="0" i="0" kern="1200" dirty="0"/>
            <a:t>小额可计的预防成本（</a:t>
          </a:r>
          <a:r>
            <a:rPr lang="zh-CN" altLang="en-US" sz="1400" b="0" i="0" kern="1200" dirty="0">
              <a:solidFill>
                <a:srgbClr val="C00000"/>
              </a:solidFill>
            </a:rPr>
            <a:t>保险</a:t>
          </a:r>
          <a:r>
            <a:rPr lang="zh-CN" altLang="en-US" sz="1400" b="0" i="0" kern="1200" dirty="0"/>
            <a:t>）</a:t>
          </a:r>
          <a:r>
            <a:rPr lang="en-US" altLang="zh-CN" sz="1400" b="0" i="0" kern="1200" dirty="0"/>
            <a:t>”</a:t>
          </a:r>
          <a:r>
            <a:rPr lang="zh-CN" altLang="en-US" sz="1400" b="0" i="0" kern="1200" dirty="0"/>
            <a:t>与</a:t>
          </a:r>
          <a:r>
            <a:rPr lang="en-US" altLang="zh-CN" sz="1400" b="0" i="0" kern="1200" dirty="0"/>
            <a:t>“</a:t>
          </a:r>
          <a:r>
            <a:rPr lang="zh-CN" altLang="en-US" sz="1400" b="0" i="0" kern="1200" dirty="0"/>
            <a:t>无法估量的事故代价</a:t>
          </a:r>
          <a:r>
            <a:rPr lang="en-US" altLang="zh-CN" sz="1400" b="0" i="0" kern="1200" dirty="0"/>
            <a:t>”</a:t>
          </a:r>
          <a:r>
            <a:rPr lang="zh-CN" altLang="en-US" sz="1400" b="0" i="0" kern="1200" dirty="0"/>
            <a:t>之间，</a:t>
          </a:r>
          <a:r>
            <a:rPr lang="zh-CN" altLang="en-US" sz="1400" b="1" i="0" kern="1200" dirty="0"/>
            <a:t>让</a:t>
          </a:r>
          <a:r>
            <a:rPr lang="en-US" altLang="zh-CN" sz="1400" b="1" i="0" kern="1200" dirty="0"/>
            <a:t>“</a:t>
          </a:r>
          <a:r>
            <a:rPr lang="zh-CN" altLang="en-US" sz="1400" b="1" i="0" kern="1200" dirty="0"/>
            <a:t>预防</a:t>
          </a:r>
          <a:r>
            <a:rPr lang="en-US" altLang="zh-CN" sz="1400" b="1" i="0" kern="1200" dirty="0"/>
            <a:t>”</a:t>
          </a:r>
          <a:r>
            <a:rPr lang="zh-CN" altLang="en-US" sz="1400" b="1" i="0" kern="1200" dirty="0"/>
            <a:t>取代</a:t>
          </a:r>
          <a:r>
            <a:rPr lang="en-US" altLang="zh-CN" sz="1400" b="1" i="0" kern="1200" dirty="0"/>
            <a:t>“</a:t>
          </a:r>
          <a:r>
            <a:rPr lang="zh-CN" altLang="en-US" sz="1400" b="1" i="0" kern="1200" dirty="0"/>
            <a:t>补救</a:t>
          </a:r>
          <a:r>
            <a:rPr lang="en-US" altLang="zh-CN" sz="1400" b="1" i="0" kern="1200" dirty="0"/>
            <a:t>”</a:t>
          </a:r>
          <a:r>
            <a:rPr lang="zh-CN" altLang="en-US" sz="1400" b="1" i="0" kern="1200" dirty="0"/>
            <a:t>成为经济理性的选择。</a:t>
          </a:r>
          <a:endParaRPr lang="zh-CN" altLang="en-US" sz="14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</dsp:txBody>
      <dsp:txXfrm>
        <a:off x="50372" y="2456977"/>
        <a:ext cx="5186310" cy="2886124"/>
      </dsp:txXfrm>
    </dsp:sp>
    <dsp:sp modelId="{7828F969-9838-45EA-8482-E5824FF773AB}">
      <dsp:nvSpPr>
        <dsp:cNvPr id="0" name=""/>
        <dsp:cNvSpPr/>
      </dsp:nvSpPr>
      <dsp:spPr>
        <a:xfrm>
          <a:off x="5742411" y="21996"/>
          <a:ext cx="5186310" cy="2462408"/>
        </a:xfrm>
        <a:prstGeom prst="rect">
          <a:avLst/>
        </a:prstGeom>
        <a:blipFill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7AE83-7AF0-4720-91FB-BD124C9CC549}">
      <dsp:nvSpPr>
        <dsp:cNvPr id="0" name=""/>
        <dsp:cNvSpPr/>
      </dsp:nvSpPr>
      <dsp:spPr bwMode="white">
        <a:xfrm>
          <a:off x="5742411" y="2414150"/>
          <a:ext cx="5186310" cy="2889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b="1" kern="1200" dirty="0">
              <a:solidFill>
                <a:srgbClr val="C00000"/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2024</a:t>
          </a:r>
          <a:r>
            <a:rPr lang="zh-CN" altLang="en-US" sz="1600" b="1" kern="1200" dirty="0">
              <a:solidFill>
                <a:srgbClr val="C00000"/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年广东梅大高速路基塌方事故</a:t>
          </a:r>
          <a:endParaRPr lang="en-US" altLang="zh-CN" sz="1600" b="1" kern="1200" dirty="0">
            <a:solidFill>
              <a:srgbClr val="C00000"/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直接原因</a:t>
          </a:r>
          <a:r>
            <a:rPr lang="zh-CN" alt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：</a:t>
          </a:r>
          <a:r>
            <a:rPr lang="zh-CN" altLang="en-US" sz="1400" b="0" i="0" kern="1200" dirty="0"/>
            <a:t>导航地图可显示“道路拥堵”，却无法预警已发现的“路基排水病害”</a:t>
          </a:r>
          <a:endParaRPr lang="en-US" altLang="zh-CN" sz="1400" b="0" i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根本矛盾：</a:t>
          </a:r>
          <a:r>
            <a:rPr lang="zh-CN" altLang="en-US" sz="14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（</a:t>
          </a:r>
          <a:r>
            <a:rPr lang="en-US" altLang="zh-CN" sz="14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1</a:t>
          </a:r>
          <a:r>
            <a:rPr lang="zh-CN" altLang="en-US" sz="14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）</a:t>
          </a:r>
          <a:r>
            <a:rPr lang="zh-CN" altLang="en-US" sz="1400" b="1" i="0" kern="1200" dirty="0"/>
            <a:t>数据价值被隔离</a:t>
          </a:r>
          <a:r>
            <a:rPr lang="zh-CN" altLang="en-US" sz="1400" b="0" i="0" kern="1200" dirty="0"/>
            <a:t>：将养护数据（如路基病害）打通至导航平台，被视为一项复杂且高昂的“技术集成成本”；（</a:t>
          </a:r>
          <a:r>
            <a:rPr lang="en-US" altLang="zh-CN" sz="1400" b="0" i="0" kern="1200" dirty="0"/>
            <a:t>2</a:t>
          </a:r>
          <a:r>
            <a:rPr lang="zh-CN" altLang="en-US" sz="1400" b="0" i="0" kern="1200" dirty="0"/>
            <a:t>）</a:t>
          </a:r>
          <a:r>
            <a:rPr lang="zh-CN" altLang="en-US" sz="1400" b="1" i="0" kern="1200" dirty="0"/>
            <a:t>系统能力被阉割</a:t>
          </a:r>
          <a:r>
            <a:rPr lang="zh-CN" altLang="en-US" sz="1400" b="0" i="0" kern="1200" dirty="0"/>
            <a:t>：最触达用户的导航系统，因数据缺失而停留在“表象预警”，无法实现关乎生命的“风险预警”。</a:t>
          </a:r>
          <a:endParaRPr lang="en-US" altLang="zh-CN" sz="1400" b="0" i="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zh-CN" altLang="en-US" sz="14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核心结论</a:t>
          </a:r>
          <a:r>
            <a:rPr lang="zh-CN" altLang="en-US" sz="1400" b="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entury Gothic" panose="020B0502020202020204"/>
              <a:ea typeface="微软雅黑" panose="020B0503020204020204" charset="-122"/>
              <a:cs typeface="+mn-cs"/>
            </a:rPr>
            <a:t>：</a:t>
          </a:r>
          <a:r>
            <a:rPr lang="zh-CN" altLang="en-US" sz="1400" b="0" i="0" kern="1200" dirty="0"/>
            <a:t>让基础设施深度结构安全数据</a:t>
          </a:r>
          <a:r>
            <a:rPr lang="zh-CN" altLang="en-US" sz="1400" b="0" i="0" kern="1200" dirty="0">
              <a:solidFill>
                <a:srgbClr val="C00000"/>
              </a:solidFill>
            </a:rPr>
            <a:t>上车</a:t>
          </a:r>
          <a:r>
            <a:rPr lang="zh-CN" altLang="en-US" sz="1400" b="0" i="0" kern="1200" dirty="0"/>
            <a:t>流动共享，转化为避免灾难的高质量数据</a:t>
          </a:r>
          <a:endParaRPr lang="zh-CN" altLang="en-US" sz="1400" b="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entury Gothic" panose="020B0502020202020204"/>
            <a:ea typeface="微软雅黑" panose="020B0503020204020204" charset="-122"/>
            <a:cs typeface="+mn-cs"/>
          </a:endParaRPr>
        </a:p>
      </dsp:txBody>
      <dsp:txXfrm>
        <a:off x="5742411" y="2414150"/>
        <a:ext cx="5186310" cy="28894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28813-4E29-48DB-A185-F4710E199CB8}">
      <dsp:nvSpPr>
        <dsp:cNvPr id="0" name=""/>
        <dsp:cNvSpPr/>
      </dsp:nvSpPr>
      <dsp:spPr>
        <a:xfrm>
          <a:off x="1934551" y="1698"/>
          <a:ext cx="1633620" cy="10618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chemeClr val="tx1"/>
              </a:solidFill>
            </a:rPr>
            <a:t>费用化投入</a:t>
          </a:r>
          <a:endParaRPr lang="en-US" altLang="zh-CN" sz="1400" b="1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solidFill>
                <a:schemeClr val="tx1"/>
              </a:solidFill>
            </a:rPr>
            <a:t>年度运维成本</a:t>
          </a:r>
        </a:p>
      </dsp:txBody>
      <dsp:txXfrm>
        <a:off x="1986386" y="53533"/>
        <a:ext cx="1529950" cy="958183"/>
      </dsp:txXfrm>
    </dsp:sp>
    <dsp:sp modelId="{E6B0C34F-8250-4661-8F57-5FE77418A9FC}">
      <dsp:nvSpPr>
        <dsp:cNvPr id="0" name=""/>
        <dsp:cNvSpPr/>
      </dsp:nvSpPr>
      <dsp:spPr>
        <a:xfrm>
          <a:off x="996056" y="532625"/>
          <a:ext cx="3510609" cy="3510609"/>
        </a:xfrm>
        <a:custGeom>
          <a:avLst/>
          <a:gdLst/>
          <a:ahLst/>
          <a:cxnLst/>
          <a:rect l="0" t="0" r="0" b="0"/>
          <a:pathLst>
            <a:path>
              <a:moveTo>
                <a:pt x="2797923" y="343199"/>
              </a:moveTo>
              <a:arcTo wR="1755304" hR="1755304" stAng="18386404" swAng="1634759"/>
            </a:path>
          </a:pathLst>
        </a:custGeom>
        <a:noFill/>
        <a:ln w="28575" cap="flat" cmpd="sng" algn="ctr">
          <a:solidFill>
            <a:srgbClr val="0C4B89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701901-8F2C-4D29-B0C4-C44251FCF0D5}">
      <dsp:nvSpPr>
        <dsp:cNvPr id="0" name=""/>
        <dsp:cNvSpPr/>
      </dsp:nvSpPr>
      <dsp:spPr>
        <a:xfrm>
          <a:off x="3689855" y="1757003"/>
          <a:ext cx="1633620" cy="10618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chemeClr val="tx1"/>
              </a:solidFill>
            </a:rPr>
            <a:t>数据资产化</a:t>
          </a:r>
          <a:endParaRPr lang="en-US" altLang="zh-CN" sz="1400" b="1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0" kern="1200" dirty="0">
              <a:solidFill>
                <a:schemeClr val="tx1"/>
              </a:solidFill>
            </a:rPr>
            <a:t>抵押融资支持</a:t>
          </a:r>
          <a:endParaRPr lang="en-US" altLang="zh-CN" sz="1400" b="0" kern="1200" dirty="0">
            <a:solidFill>
              <a:schemeClr val="tx1"/>
            </a:solidFill>
          </a:endParaRPr>
        </a:p>
      </dsp:txBody>
      <dsp:txXfrm>
        <a:off x="3741690" y="1808838"/>
        <a:ext cx="1529950" cy="958183"/>
      </dsp:txXfrm>
    </dsp:sp>
    <dsp:sp modelId="{A937F8B2-EED2-4984-B49A-552AC68A32CE}">
      <dsp:nvSpPr>
        <dsp:cNvPr id="0" name=""/>
        <dsp:cNvSpPr/>
      </dsp:nvSpPr>
      <dsp:spPr>
        <a:xfrm>
          <a:off x="996056" y="532625"/>
          <a:ext cx="3510609" cy="3510609"/>
        </a:xfrm>
        <a:custGeom>
          <a:avLst/>
          <a:gdLst/>
          <a:ahLst/>
          <a:cxnLst/>
          <a:rect l="0" t="0" r="0" b="0"/>
          <a:pathLst>
            <a:path>
              <a:moveTo>
                <a:pt x="3328721" y="2533412"/>
              </a:moveTo>
              <a:arcTo wR="1755304" hR="1755304" stAng="1578837" swAng="1634759"/>
            </a:path>
          </a:pathLst>
        </a:custGeom>
        <a:noFill/>
        <a:ln w="19050" cap="flat" cmpd="sng" algn="ctr">
          <a:solidFill>
            <a:srgbClr val="0C4B89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331F19-29CA-48E1-AF0E-7A197FE11921}">
      <dsp:nvSpPr>
        <dsp:cNvPr id="0" name=""/>
        <dsp:cNvSpPr/>
      </dsp:nvSpPr>
      <dsp:spPr>
        <a:xfrm>
          <a:off x="1934551" y="3512307"/>
          <a:ext cx="1633620" cy="10618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b="1" kern="1200" dirty="0">
              <a:solidFill>
                <a:schemeClr val="tx1"/>
              </a:solidFill>
            </a:rPr>
            <a:t>数据产品收入</a:t>
          </a:r>
          <a:endParaRPr lang="en-US" altLang="zh-CN" sz="1400" b="1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kern="1200" dirty="0">
              <a:solidFill>
                <a:schemeClr val="tx1"/>
              </a:solidFill>
            </a:rPr>
            <a:t>数据服务产品</a:t>
          </a:r>
          <a:endParaRPr lang="en-US" altLang="zh-CN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kern="1200" dirty="0">
              <a:solidFill>
                <a:schemeClr val="tx1"/>
              </a:solidFill>
            </a:rPr>
            <a:t>安责险产品</a:t>
          </a:r>
          <a:endParaRPr lang="en-US" altLang="zh-CN" sz="1400" kern="1200" dirty="0">
            <a:solidFill>
              <a:schemeClr val="tx1"/>
            </a:solidFill>
          </a:endParaRPr>
        </a:p>
      </dsp:txBody>
      <dsp:txXfrm>
        <a:off x="1986386" y="3564142"/>
        <a:ext cx="1529950" cy="958183"/>
      </dsp:txXfrm>
    </dsp:sp>
    <dsp:sp modelId="{6A136005-20E5-4E18-A045-7EB0DFD3E5D7}">
      <dsp:nvSpPr>
        <dsp:cNvPr id="0" name=""/>
        <dsp:cNvSpPr/>
      </dsp:nvSpPr>
      <dsp:spPr>
        <a:xfrm>
          <a:off x="996056" y="532625"/>
          <a:ext cx="3510609" cy="3510609"/>
        </a:xfrm>
        <a:custGeom>
          <a:avLst/>
          <a:gdLst/>
          <a:ahLst/>
          <a:cxnLst/>
          <a:rect l="0" t="0" r="0" b="0"/>
          <a:pathLst>
            <a:path>
              <a:moveTo>
                <a:pt x="712686" y="3167409"/>
              </a:moveTo>
              <a:arcTo wR="1755304" hR="1755304" stAng="7586404" swAng="1634759"/>
            </a:path>
          </a:pathLst>
        </a:custGeom>
        <a:noFill/>
        <a:ln w="19050" cap="flat" cmpd="sng" algn="ctr">
          <a:solidFill>
            <a:srgbClr val="0C4B89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71C0C1-141C-4046-9060-AD888BF96EED}">
      <dsp:nvSpPr>
        <dsp:cNvPr id="0" name=""/>
        <dsp:cNvSpPr/>
      </dsp:nvSpPr>
      <dsp:spPr>
        <a:xfrm>
          <a:off x="179246" y="1757003"/>
          <a:ext cx="1633620" cy="10618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b="1" kern="1200" dirty="0">
              <a:solidFill>
                <a:schemeClr val="tx1"/>
              </a:solidFill>
            </a:rPr>
            <a:t>硬件投入</a:t>
          </a:r>
          <a:endParaRPr lang="en-US" altLang="zh-CN" sz="1400" b="1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kern="1200" dirty="0">
              <a:solidFill>
                <a:schemeClr val="tx1"/>
              </a:solidFill>
            </a:rPr>
            <a:t>阵列光纤产品</a:t>
          </a:r>
          <a:endParaRPr lang="en-US" altLang="zh-CN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kern="1200" dirty="0">
              <a:solidFill>
                <a:schemeClr val="tx1"/>
              </a:solidFill>
            </a:rPr>
            <a:t>结构安全融合产品</a:t>
          </a:r>
          <a:endParaRPr lang="en-US" altLang="zh-CN" sz="1400" kern="1200" dirty="0">
            <a:solidFill>
              <a:schemeClr val="tx1"/>
            </a:solidFill>
          </a:endParaRPr>
        </a:p>
      </dsp:txBody>
      <dsp:txXfrm>
        <a:off x="231081" y="1808838"/>
        <a:ext cx="1529950" cy="958183"/>
      </dsp:txXfrm>
    </dsp:sp>
    <dsp:sp modelId="{87F8D072-58CF-46A2-B74F-395C132EAF0A}">
      <dsp:nvSpPr>
        <dsp:cNvPr id="0" name=""/>
        <dsp:cNvSpPr/>
      </dsp:nvSpPr>
      <dsp:spPr>
        <a:xfrm>
          <a:off x="996056" y="532625"/>
          <a:ext cx="3510609" cy="3510609"/>
        </a:xfrm>
        <a:custGeom>
          <a:avLst/>
          <a:gdLst/>
          <a:ahLst/>
          <a:cxnLst/>
          <a:rect l="0" t="0" r="0" b="0"/>
          <a:pathLst>
            <a:path>
              <a:moveTo>
                <a:pt x="181887" y="977196"/>
              </a:moveTo>
              <a:arcTo wR="1755304" hR="1755304" stAng="12378837" swAng="1634759"/>
            </a:path>
          </a:pathLst>
        </a:custGeom>
        <a:noFill/>
        <a:ln w="19050" cap="flat" cmpd="sng" algn="ctr">
          <a:solidFill>
            <a:srgbClr val="0C4B89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8C5FD8-5B6C-4579-AE7C-D11C7A42405C}">
      <dsp:nvSpPr>
        <dsp:cNvPr id="0" name=""/>
        <dsp:cNvSpPr/>
      </dsp:nvSpPr>
      <dsp:spPr>
        <a:xfrm rot="16200000">
          <a:off x="800402" y="-798128"/>
          <a:ext cx="635051" cy="2231307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charset="-122"/>
              <a:cs typeface="+mn-cs"/>
            </a:rPr>
            <a:t>基础设施</a:t>
          </a:r>
          <a:r>
            <a:rPr lang="zh-CN" altLang="en-U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charset="-122"/>
              <a:cs typeface="+mn-cs"/>
            </a:rPr>
            <a:t>安全</a:t>
          </a:r>
          <a:r>
            <a:rPr lang="zh-CN" altLang="en-US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charset="-122"/>
              <a:cs typeface="+mn-cs"/>
            </a:rPr>
            <a:t>需求</a:t>
          </a:r>
          <a:endParaRPr lang="zh-CN" altLang="en-US" sz="1400" kern="1200" dirty="0"/>
        </a:p>
      </dsp:txBody>
      <dsp:txXfrm rot="5400000">
        <a:off x="2274" y="127010"/>
        <a:ext cx="2231307" cy="381031"/>
      </dsp:txXfrm>
    </dsp:sp>
    <dsp:sp modelId="{B5196346-5873-42F3-8CFB-3B825AA56BD6}">
      <dsp:nvSpPr>
        <dsp:cNvPr id="0" name=""/>
        <dsp:cNvSpPr/>
      </dsp:nvSpPr>
      <dsp:spPr>
        <a:xfrm rot="16200000">
          <a:off x="3199057" y="-798128"/>
          <a:ext cx="635051" cy="2231307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/>
            <a:t>运营</a:t>
          </a:r>
          <a:r>
            <a:rPr lang="zh-CN" altLang="en-US" sz="1400" b="1" kern="1200" dirty="0"/>
            <a:t>预算</a:t>
          </a:r>
          <a:r>
            <a:rPr lang="zh-CN" altLang="en-US" sz="1400" kern="1200" dirty="0"/>
            <a:t>需求</a:t>
          </a:r>
        </a:p>
      </dsp:txBody>
      <dsp:txXfrm rot="5400000">
        <a:off x="2400929" y="127010"/>
        <a:ext cx="2231307" cy="381031"/>
      </dsp:txXfrm>
    </dsp:sp>
    <dsp:sp modelId="{A078F4FA-D51E-42F1-9324-9CACD304559C}">
      <dsp:nvSpPr>
        <dsp:cNvPr id="0" name=""/>
        <dsp:cNvSpPr/>
      </dsp:nvSpPr>
      <dsp:spPr>
        <a:xfrm rot="16200000">
          <a:off x="5597712" y="-798128"/>
          <a:ext cx="635051" cy="2231307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charset="-122"/>
              <a:cs typeface="+mn-cs"/>
            </a:rPr>
            <a:t>道路提升改造</a:t>
          </a:r>
          <a:r>
            <a:rPr lang="zh-CN" altLang="en-US" sz="14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/>
              <a:ea typeface="微软雅黑" panose="020B0503020204020204" charset="-122"/>
              <a:cs typeface="+mn-cs"/>
            </a:rPr>
            <a:t>投融资</a:t>
          </a:r>
          <a:r>
            <a:rPr lang="zh-CN" altLang="en-US" sz="1400" kern="1200" dirty="0"/>
            <a:t>需求</a:t>
          </a:r>
        </a:p>
      </dsp:txBody>
      <dsp:txXfrm rot="5400000">
        <a:off x="4799584" y="127010"/>
        <a:ext cx="2231307" cy="381031"/>
      </dsp:txXfrm>
    </dsp:sp>
    <dsp:sp modelId="{CFCC6CE9-61E7-4F32-88DF-DED3F75F76DA}">
      <dsp:nvSpPr>
        <dsp:cNvPr id="0" name=""/>
        <dsp:cNvSpPr/>
      </dsp:nvSpPr>
      <dsp:spPr>
        <a:xfrm rot="16200000">
          <a:off x="7996367" y="-798128"/>
          <a:ext cx="635051" cy="2231307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0" kern="1200" dirty="0"/>
            <a:t>全域智驾</a:t>
          </a:r>
          <a:r>
            <a:rPr lang="zh-CN" altLang="en-US" sz="1400" b="1" kern="1200" dirty="0"/>
            <a:t>产业</a:t>
          </a:r>
          <a:r>
            <a:rPr lang="zh-CN" altLang="en-US" sz="1400" kern="1200" dirty="0"/>
            <a:t>需求</a:t>
          </a:r>
        </a:p>
      </dsp:txBody>
      <dsp:txXfrm rot="5400000">
        <a:off x="7198239" y="127010"/>
        <a:ext cx="2231307" cy="3810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28813-4E29-48DB-A185-F4710E199CB8}">
      <dsp:nvSpPr>
        <dsp:cNvPr id="0" name=""/>
        <dsp:cNvSpPr/>
      </dsp:nvSpPr>
      <dsp:spPr>
        <a:xfrm>
          <a:off x="1934551" y="1698"/>
          <a:ext cx="1633620" cy="10618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chemeClr val="tx1"/>
              </a:solidFill>
            </a:rPr>
            <a:t>费用化投入</a:t>
          </a:r>
          <a:endParaRPr lang="en-US" altLang="zh-CN" sz="1400" b="1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kern="1200" dirty="0">
              <a:solidFill>
                <a:schemeClr val="tx1"/>
              </a:solidFill>
            </a:rPr>
            <a:t>年度运维成本</a:t>
          </a:r>
        </a:p>
      </dsp:txBody>
      <dsp:txXfrm>
        <a:off x="1986386" y="53533"/>
        <a:ext cx="1529950" cy="958183"/>
      </dsp:txXfrm>
    </dsp:sp>
    <dsp:sp modelId="{E6B0C34F-8250-4661-8F57-5FE77418A9FC}">
      <dsp:nvSpPr>
        <dsp:cNvPr id="0" name=""/>
        <dsp:cNvSpPr/>
      </dsp:nvSpPr>
      <dsp:spPr>
        <a:xfrm>
          <a:off x="996056" y="532625"/>
          <a:ext cx="3510609" cy="3510609"/>
        </a:xfrm>
        <a:custGeom>
          <a:avLst/>
          <a:gdLst/>
          <a:ahLst/>
          <a:cxnLst/>
          <a:rect l="0" t="0" r="0" b="0"/>
          <a:pathLst>
            <a:path>
              <a:moveTo>
                <a:pt x="2797923" y="343199"/>
              </a:moveTo>
              <a:arcTo wR="1755304" hR="1755304" stAng="18386404" swAng="1634759"/>
            </a:path>
          </a:pathLst>
        </a:custGeom>
        <a:noFill/>
        <a:ln w="28575" cap="flat" cmpd="sng" algn="ctr">
          <a:solidFill>
            <a:srgbClr val="0C4B89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701901-8F2C-4D29-B0C4-C44251FCF0D5}">
      <dsp:nvSpPr>
        <dsp:cNvPr id="0" name=""/>
        <dsp:cNvSpPr/>
      </dsp:nvSpPr>
      <dsp:spPr>
        <a:xfrm>
          <a:off x="3689855" y="1757003"/>
          <a:ext cx="1633620" cy="10618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chemeClr val="tx1"/>
              </a:solidFill>
            </a:rPr>
            <a:t>数据资产化</a:t>
          </a:r>
          <a:endParaRPr lang="en-US" altLang="zh-CN" sz="1400" b="1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0" kern="1200" dirty="0">
              <a:solidFill>
                <a:schemeClr val="tx1"/>
              </a:solidFill>
            </a:rPr>
            <a:t>抵押融资支持</a:t>
          </a:r>
          <a:endParaRPr lang="en-US" altLang="zh-CN" sz="1400" b="0" kern="1200" dirty="0">
            <a:solidFill>
              <a:schemeClr val="tx1"/>
            </a:solidFill>
          </a:endParaRPr>
        </a:p>
      </dsp:txBody>
      <dsp:txXfrm>
        <a:off x="3741690" y="1808838"/>
        <a:ext cx="1529950" cy="958183"/>
      </dsp:txXfrm>
    </dsp:sp>
    <dsp:sp modelId="{A937F8B2-EED2-4984-B49A-552AC68A32CE}">
      <dsp:nvSpPr>
        <dsp:cNvPr id="0" name=""/>
        <dsp:cNvSpPr/>
      </dsp:nvSpPr>
      <dsp:spPr>
        <a:xfrm>
          <a:off x="996056" y="532625"/>
          <a:ext cx="3510609" cy="3510609"/>
        </a:xfrm>
        <a:custGeom>
          <a:avLst/>
          <a:gdLst/>
          <a:ahLst/>
          <a:cxnLst/>
          <a:rect l="0" t="0" r="0" b="0"/>
          <a:pathLst>
            <a:path>
              <a:moveTo>
                <a:pt x="3328721" y="2533412"/>
              </a:moveTo>
              <a:arcTo wR="1755304" hR="1755304" stAng="1578837" swAng="1634759"/>
            </a:path>
          </a:pathLst>
        </a:custGeom>
        <a:noFill/>
        <a:ln w="19050" cap="flat" cmpd="sng" algn="ctr">
          <a:solidFill>
            <a:srgbClr val="0C4B89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331F19-29CA-48E1-AF0E-7A197FE11921}">
      <dsp:nvSpPr>
        <dsp:cNvPr id="0" name=""/>
        <dsp:cNvSpPr/>
      </dsp:nvSpPr>
      <dsp:spPr>
        <a:xfrm>
          <a:off x="1934551" y="3512307"/>
          <a:ext cx="1633620" cy="10618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b="1" kern="1200" dirty="0">
              <a:solidFill>
                <a:schemeClr val="tx1"/>
              </a:solidFill>
            </a:rPr>
            <a:t>数据产品收入</a:t>
          </a:r>
          <a:endParaRPr lang="en-US" altLang="zh-CN" sz="1400" b="1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kern="1200" dirty="0">
              <a:solidFill>
                <a:schemeClr val="tx1"/>
              </a:solidFill>
            </a:rPr>
            <a:t>数据服务产品</a:t>
          </a:r>
          <a:endParaRPr lang="en-US" altLang="zh-CN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kern="1200" dirty="0">
              <a:solidFill>
                <a:schemeClr val="tx1"/>
              </a:solidFill>
            </a:rPr>
            <a:t>数据金融产品</a:t>
          </a:r>
          <a:endParaRPr lang="en-US" altLang="zh-CN" sz="1400" kern="1200" dirty="0">
            <a:solidFill>
              <a:schemeClr val="tx1"/>
            </a:solidFill>
          </a:endParaRPr>
        </a:p>
      </dsp:txBody>
      <dsp:txXfrm>
        <a:off x="1986386" y="3564142"/>
        <a:ext cx="1529950" cy="958183"/>
      </dsp:txXfrm>
    </dsp:sp>
    <dsp:sp modelId="{6A136005-20E5-4E18-A045-7EB0DFD3E5D7}">
      <dsp:nvSpPr>
        <dsp:cNvPr id="0" name=""/>
        <dsp:cNvSpPr/>
      </dsp:nvSpPr>
      <dsp:spPr>
        <a:xfrm>
          <a:off x="996056" y="532625"/>
          <a:ext cx="3510609" cy="3510609"/>
        </a:xfrm>
        <a:custGeom>
          <a:avLst/>
          <a:gdLst/>
          <a:ahLst/>
          <a:cxnLst/>
          <a:rect l="0" t="0" r="0" b="0"/>
          <a:pathLst>
            <a:path>
              <a:moveTo>
                <a:pt x="712686" y="3167409"/>
              </a:moveTo>
              <a:arcTo wR="1755304" hR="1755304" stAng="7586404" swAng="1634759"/>
            </a:path>
          </a:pathLst>
        </a:custGeom>
        <a:noFill/>
        <a:ln w="19050" cap="flat" cmpd="sng" algn="ctr">
          <a:solidFill>
            <a:srgbClr val="0C4B89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71C0C1-141C-4046-9060-AD888BF96EED}">
      <dsp:nvSpPr>
        <dsp:cNvPr id="0" name=""/>
        <dsp:cNvSpPr/>
      </dsp:nvSpPr>
      <dsp:spPr>
        <a:xfrm>
          <a:off x="179246" y="1757003"/>
          <a:ext cx="1633620" cy="106185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b="1" kern="1200" dirty="0">
              <a:solidFill>
                <a:schemeClr val="tx1"/>
              </a:solidFill>
            </a:rPr>
            <a:t>硬件投入</a:t>
          </a:r>
          <a:endParaRPr lang="en-US" altLang="zh-CN" sz="1400" b="1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kern="1200" dirty="0">
              <a:solidFill>
                <a:schemeClr val="tx1"/>
              </a:solidFill>
            </a:rPr>
            <a:t>阵列光纤产品</a:t>
          </a:r>
          <a:endParaRPr lang="en-US" altLang="zh-CN" sz="1400" kern="1200" dirty="0">
            <a:solidFill>
              <a:schemeClr val="tx1"/>
            </a:solidFill>
          </a:endParaRP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400" kern="1200" dirty="0">
              <a:solidFill>
                <a:schemeClr val="tx1"/>
              </a:solidFill>
            </a:rPr>
            <a:t>结构安全融合产品</a:t>
          </a:r>
          <a:endParaRPr lang="en-US" altLang="zh-CN" sz="1400" kern="1200" dirty="0">
            <a:solidFill>
              <a:schemeClr val="tx1"/>
            </a:solidFill>
          </a:endParaRPr>
        </a:p>
      </dsp:txBody>
      <dsp:txXfrm>
        <a:off x="231081" y="1808838"/>
        <a:ext cx="1529950" cy="958183"/>
      </dsp:txXfrm>
    </dsp:sp>
    <dsp:sp modelId="{87F8D072-58CF-46A2-B74F-395C132EAF0A}">
      <dsp:nvSpPr>
        <dsp:cNvPr id="0" name=""/>
        <dsp:cNvSpPr/>
      </dsp:nvSpPr>
      <dsp:spPr>
        <a:xfrm>
          <a:off x="996056" y="532625"/>
          <a:ext cx="3510609" cy="3510609"/>
        </a:xfrm>
        <a:custGeom>
          <a:avLst/>
          <a:gdLst/>
          <a:ahLst/>
          <a:cxnLst/>
          <a:rect l="0" t="0" r="0" b="0"/>
          <a:pathLst>
            <a:path>
              <a:moveTo>
                <a:pt x="181887" y="977196"/>
              </a:moveTo>
              <a:arcTo wR="1755304" hR="1755304" stAng="12378837" swAng="1634759"/>
            </a:path>
          </a:pathLst>
        </a:custGeom>
        <a:noFill/>
        <a:ln w="19050" cap="flat" cmpd="sng" algn="ctr">
          <a:solidFill>
            <a:srgbClr val="0C4B89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1#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3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898CC2D-0638-1327-61C9-C4859D495A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DA0D3B-05A4-7547-B3C3-B670DAB040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35E99-AA03-4A7C-A00A-507B1F381A53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AEE0BB-8021-30E4-2946-6DF9D3AC6B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1194F9-5160-9BB5-8658-F0DF941883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D4DC48-A357-461D-A5C9-0C04E9FD42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4961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67310"/>
          </a:xfrm>
          <a:prstGeom prst="rect">
            <a:avLst/>
          </a:prstGeom>
        </p:spPr>
        <p:txBody>
          <a:bodyPr vert="horz" lIns="92398" tIns="46200" rIns="92398" bIns="4620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67310"/>
          </a:xfrm>
          <a:prstGeom prst="rect">
            <a:avLst/>
          </a:prstGeom>
        </p:spPr>
        <p:txBody>
          <a:bodyPr vert="horz" lIns="92398" tIns="46200" rIns="92398" bIns="46200" rtlCol="0"/>
          <a:lstStyle>
            <a:lvl1pPr algn="r">
              <a:defRPr sz="1200"/>
            </a:lvl1pPr>
          </a:lstStyle>
          <a:p>
            <a:fld id="{410A0B01-929E-43BF-AAF7-4D6CF4624A78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98" tIns="46200" rIns="92398" bIns="4620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82297"/>
            <a:ext cx="5486400" cy="3667334"/>
          </a:xfrm>
          <a:prstGeom prst="rect">
            <a:avLst/>
          </a:prstGeom>
        </p:spPr>
        <p:txBody>
          <a:bodyPr vert="horz" lIns="92398" tIns="46200" rIns="92398" bIns="4620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46554"/>
            <a:ext cx="2971800" cy="467309"/>
          </a:xfrm>
          <a:prstGeom prst="rect">
            <a:avLst/>
          </a:prstGeom>
        </p:spPr>
        <p:txBody>
          <a:bodyPr vert="horz" lIns="92398" tIns="46200" rIns="92398" bIns="4620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846554"/>
            <a:ext cx="2971800" cy="467309"/>
          </a:xfrm>
          <a:prstGeom prst="rect">
            <a:avLst/>
          </a:prstGeom>
        </p:spPr>
        <p:txBody>
          <a:bodyPr vert="horz" lIns="92398" tIns="46200" rIns="92398" bIns="46200" rtlCol="0" anchor="b"/>
          <a:lstStyle>
            <a:lvl1pPr algn="r">
              <a:defRPr sz="1200"/>
            </a:lvl1pPr>
          </a:lstStyle>
          <a:p>
            <a:fld id="{EEFF44CF-BF84-4EB0-8B51-D93BB99A60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EFF44CF-BF84-4EB0-8B51-D93BB99A6054}" type="slidenum">
              <a:rPr kumimoji="0" lang="zh-CN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44CF-BF84-4EB0-8B51-D93BB99A60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318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AC3B-2D25-307E-3399-973E1012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F78C73-87E9-BD59-9FED-101CC0D2F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E90E20-EDE3-B4D9-0211-88FBEBC63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2A48EB-FDCC-42B0-28CF-7FCF4DAB5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F44CF-BF84-4EB0-8B51-D93BB99A605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612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11313-46D6-81C6-A32D-D250A157D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6FD008-CB7C-7AFB-82FE-93CDFF802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72389A-1E99-19A0-701F-2B9884CC8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0854F8-21F7-10A1-2D67-EBCD7128F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44CF-BF84-4EB0-8B51-D93BB99A60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812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B82E5-8069-912E-577C-1FF5006B2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C9E665-1DFB-E449-D58A-500202B3B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356C58-17CC-BB2B-D3D9-A01707F20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721389-F8F3-9E6C-BC0A-7A01684A0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44CF-BF84-4EB0-8B51-D93BB99A605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70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6D2E-485C-4F24-41E0-F83A391D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9120FC-9216-1065-CCDC-C400FD54F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674457-208A-8F74-6E89-711806902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C2AD2-4B8A-D2A1-8A79-6CC33B5F7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FF44CF-BF84-4EB0-8B51-D93BB99A605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482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44CF-BF84-4EB0-8B51-D93BB99A60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123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15950">
              <a:defRPr/>
            </a:pPr>
            <a:fld id="{EEFF44CF-BF84-4EB0-8B51-D93BB99A605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9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7531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AFFDD-E5AA-4824-1987-21FE1ED3B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3B8D89-CEE3-5F18-63B0-B1C487EB2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B60834-D987-B4E5-0364-DCDF14139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4D26B1-55B3-AD17-CBEC-5D9B2EAA9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15950">
              <a:defRPr/>
            </a:pPr>
            <a:fld id="{EEFF44CF-BF84-4EB0-8B51-D93BB99A605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10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998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165225">
              <a:defRPr/>
            </a:pPr>
            <a:endParaRPr lang="en-US" altLang="zh-CN" sz="15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615950">
              <a:defRPr/>
            </a:pPr>
            <a:fld id="{EEFF44CF-BF84-4EB0-8B51-D93BB99A6054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11</a:t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47204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ED2AF-4DBD-93BD-4B3E-7FAACC6A0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FF0026-2014-98C9-BCEB-B8478191F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59BE07-A7C3-2273-2B1B-90E40B61C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6C4C55-2D59-B9C6-697A-56068E6A3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44CF-BF84-4EB0-8B51-D93BB99A605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305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6D2E-485C-4F24-41E0-F83A391D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9120FC-9216-1065-CCDC-C400FD54F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674457-208A-8F74-6E89-711806902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C2AD2-4B8A-D2A1-8A79-6CC33B5F7D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44CF-BF84-4EB0-8B51-D93BB99A605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334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D881E-7960-C333-B9C5-FF1B310A8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FBF1B6-2B23-4D3F-F33F-1B2C06930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678F924-366C-497E-C754-DA805C3CF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0402C1-E2E1-0CF7-23B8-2F12932E2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44CF-BF84-4EB0-8B51-D93BB99A605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523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57A1E-15D0-AAFC-9964-CD296EE8E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E24457-B51D-E9A6-CEA1-214FFF165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7B71BF-794C-9BAA-2CAB-2E835AB5C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D51832-ED10-79AF-6BA3-017C3BC1CA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44CF-BF84-4EB0-8B51-D93BB99A60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92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9763-77FB-9A29-803E-4F4334277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7B3EEF-3C2E-CC5B-EB09-13F6498CA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D5F0B5-D3F4-7276-A8AE-1101F19BE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506071-89DF-5213-4D29-86FDDABBB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44CF-BF84-4EB0-8B51-D93BB99A605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711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32AB-EA9B-B208-7139-DF19F051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04422F-F177-5E6D-068B-C0B615285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E6CB91-9F39-4C58-7B3E-141395A2D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B49F82-0ADD-161C-DCCA-EF2B412A1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44CF-BF84-4EB0-8B51-D93BB99A605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036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4F07-60DC-6A5F-B106-1F6E86000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CFA710-02A9-D5F0-1786-520AE8A5B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988A6E-15C3-C12A-8562-B739328EE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BC2584-3F3E-6757-99EB-69743CA23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F44CF-BF84-4EB0-8B51-D93BB99A605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194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/>
        </p:nvSpPr>
        <p:spPr>
          <a:xfrm>
            <a:off x="9814541" y="1"/>
            <a:ext cx="2377460" cy="2343149"/>
          </a:xfrm>
          <a:custGeom>
            <a:avLst/>
            <a:gdLst>
              <a:gd name="connsiteX0" fmla="*/ 445381 w 3890269"/>
              <a:gd name="connsiteY0" fmla="*/ 0 h 3834125"/>
              <a:gd name="connsiteX1" fmla="*/ 3890269 w 3890269"/>
              <a:gd name="connsiteY1" fmla="*/ 0 h 3834125"/>
              <a:gd name="connsiteX2" fmla="*/ 3890269 w 3890269"/>
              <a:gd name="connsiteY2" fmla="*/ 3346761 h 3834125"/>
              <a:gd name="connsiteX3" fmla="*/ 3794341 w 3890269"/>
              <a:gd name="connsiteY3" fmla="*/ 3418494 h 3834125"/>
              <a:gd name="connsiteX4" fmla="*/ 2433659 w 3890269"/>
              <a:gd name="connsiteY4" fmla="*/ 3834125 h 3834125"/>
              <a:gd name="connsiteX5" fmla="*/ 0 w 3890269"/>
              <a:gd name="connsiteY5" fmla="*/ 1400466 h 3834125"/>
              <a:gd name="connsiteX6" fmla="*/ 415631 w 3890269"/>
              <a:gd name="connsiteY6" fmla="*/ 39784 h 383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90269" h="3834125">
                <a:moveTo>
                  <a:pt x="445381" y="0"/>
                </a:moveTo>
                <a:lnTo>
                  <a:pt x="3890269" y="0"/>
                </a:lnTo>
                <a:lnTo>
                  <a:pt x="3890269" y="3346761"/>
                </a:lnTo>
                <a:lnTo>
                  <a:pt x="3794341" y="3418494"/>
                </a:lnTo>
                <a:cubicBezTo>
                  <a:pt x="3405926" y="3680902"/>
                  <a:pt x="2937686" y="3834125"/>
                  <a:pt x="2433659" y="3834125"/>
                </a:cubicBezTo>
                <a:cubicBezTo>
                  <a:pt x="1089586" y="3834125"/>
                  <a:pt x="0" y="2744539"/>
                  <a:pt x="0" y="1400466"/>
                </a:cubicBezTo>
                <a:cubicBezTo>
                  <a:pt x="0" y="896439"/>
                  <a:pt x="153223" y="428199"/>
                  <a:pt x="415631" y="3978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89198"/>
            <a:ext cx="11261726" cy="74294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0" y="0"/>
            <a:ext cx="763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kern="1700" dirty="0">
                <a:solidFill>
                  <a:srgbClr val="C00000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团队背景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市场痛点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解决方案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商业模式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竞争优势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实施计划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财务预测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融资需求</a:t>
            </a:r>
            <a:endParaRPr lang="zh-CN" altLang="en-US" sz="1100" b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2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/>
        </p:nvSpPr>
        <p:spPr>
          <a:xfrm>
            <a:off x="9814541" y="1"/>
            <a:ext cx="2377460" cy="2343149"/>
          </a:xfrm>
          <a:custGeom>
            <a:avLst/>
            <a:gdLst>
              <a:gd name="connsiteX0" fmla="*/ 445381 w 3890269"/>
              <a:gd name="connsiteY0" fmla="*/ 0 h 3834125"/>
              <a:gd name="connsiteX1" fmla="*/ 3890269 w 3890269"/>
              <a:gd name="connsiteY1" fmla="*/ 0 h 3834125"/>
              <a:gd name="connsiteX2" fmla="*/ 3890269 w 3890269"/>
              <a:gd name="connsiteY2" fmla="*/ 3346761 h 3834125"/>
              <a:gd name="connsiteX3" fmla="*/ 3794341 w 3890269"/>
              <a:gd name="connsiteY3" fmla="*/ 3418494 h 3834125"/>
              <a:gd name="connsiteX4" fmla="*/ 2433659 w 3890269"/>
              <a:gd name="connsiteY4" fmla="*/ 3834125 h 3834125"/>
              <a:gd name="connsiteX5" fmla="*/ 0 w 3890269"/>
              <a:gd name="connsiteY5" fmla="*/ 1400466 h 3834125"/>
              <a:gd name="connsiteX6" fmla="*/ 415631 w 3890269"/>
              <a:gd name="connsiteY6" fmla="*/ 39784 h 383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90269" h="3834125">
                <a:moveTo>
                  <a:pt x="445381" y="0"/>
                </a:moveTo>
                <a:lnTo>
                  <a:pt x="3890269" y="0"/>
                </a:lnTo>
                <a:lnTo>
                  <a:pt x="3890269" y="3346761"/>
                </a:lnTo>
                <a:lnTo>
                  <a:pt x="3794341" y="3418494"/>
                </a:lnTo>
                <a:cubicBezTo>
                  <a:pt x="3405926" y="3680902"/>
                  <a:pt x="2937686" y="3834125"/>
                  <a:pt x="2433659" y="3834125"/>
                </a:cubicBezTo>
                <a:cubicBezTo>
                  <a:pt x="1089586" y="3834125"/>
                  <a:pt x="0" y="2744539"/>
                  <a:pt x="0" y="1400466"/>
                </a:cubicBezTo>
                <a:cubicBezTo>
                  <a:pt x="0" y="896439"/>
                  <a:pt x="153223" y="428199"/>
                  <a:pt x="415631" y="3978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89198"/>
            <a:ext cx="11261726" cy="74294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C2E0AD-A219-2E7E-C100-DB952EA248DC}"/>
              </a:ext>
            </a:extLst>
          </p:cNvPr>
          <p:cNvSpPr txBox="1"/>
          <p:nvPr userDrawn="1"/>
        </p:nvSpPr>
        <p:spPr>
          <a:xfrm>
            <a:off x="0" y="0"/>
            <a:ext cx="763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cs typeface="+mn-cs"/>
                <a:sym typeface="微软雅黑" panose="020B0503020204020204" charset="-122"/>
              </a:rPr>
              <a:t>团队背景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200" b="1" kern="1700" dirty="0">
                <a:solidFill>
                  <a:srgbClr val="C00000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cs typeface="+mn-cs"/>
                <a:sym typeface="微软雅黑" panose="020B0503020204020204" charset="-122"/>
              </a:rPr>
              <a:t>市场痛点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解决方案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商业模式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竞争优势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实施计划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财务预测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融资需求</a:t>
            </a:r>
            <a:endParaRPr lang="zh-CN" altLang="en-US" sz="1100" b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3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/>
        </p:nvSpPr>
        <p:spPr>
          <a:xfrm>
            <a:off x="9814541" y="1"/>
            <a:ext cx="2377460" cy="2343149"/>
          </a:xfrm>
          <a:custGeom>
            <a:avLst/>
            <a:gdLst>
              <a:gd name="connsiteX0" fmla="*/ 445381 w 3890269"/>
              <a:gd name="connsiteY0" fmla="*/ 0 h 3834125"/>
              <a:gd name="connsiteX1" fmla="*/ 3890269 w 3890269"/>
              <a:gd name="connsiteY1" fmla="*/ 0 h 3834125"/>
              <a:gd name="connsiteX2" fmla="*/ 3890269 w 3890269"/>
              <a:gd name="connsiteY2" fmla="*/ 3346761 h 3834125"/>
              <a:gd name="connsiteX3" fmla="*/ 3794341 w 3890269"/>
              <a:gd name="connsiteY3" fmla="*/ 3418494 h 3834125"/>
              <a:gd name="connsiteX4" fmla="*/ 2433659 w 3890269"/>
              <a:gd name="connsiteY4" fmla="*/ 3834125 h 3834125"/>
              <a:gd name="connsiteX5" fmla="*/ 0 w 3890269"/>
              <a:gd name="connsiteY5" fmla="*/ 1400466 h 3834125"/>
              <a:gd name="connsiteX6" fmla="*/ 415631 w 3890269"/>
              <a:gd name="connsiteY6" fmla="*/ 39784 h 383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90269" h="3834125">
                <a:moveTo>
                  <a:pt x="445381" y="0"/>
                </a:moveTo>
                <a:lnTo>
                  <a:pt x="3890269" y="0"/>
                </a:lnTo>
                <a:lnTo>
                  <a:pt x="3890269" y="3346761"/>
                </a:lnTo>
                <a:lnTo>
                  <a:pt x="3794341" y="3418494"/>
                </a:lnTo>
                <a:cubicBezTo>
                  <a:pt x="3405926" y="3680902"/>
                  <a:pt x="2937686" y="3834125"/>
                  <a:pt x="2433659" y="3834125"/>
                </a:cubicBezTo>
                <a:cubicBezTo>
                  <a:pt x="1089586" y="3834125"/>
                  <a:pt x="0" y="2744539"/>
                  <a:pt x="0" y="1400466"/>
                </a:cubicBezTo>
                <a:cubicBezTo>
                  <a:pt x="0" y="896439"/>
                  <a:pt x="153223" y="428199"/>
                  <a:pt x="415631" y="3978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89198"/>
            <a:ext cx="11261726" cy="74294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CA82E1-3657-3BEE-45FD-E9E5C55AE28B}"/>
              </a:ext>
            </a:extLst>
          </p:cNvPr>
          <p:cNvSpPr txBox="1"/>
          <p:nvPr userDrawn="1"/>
        </p:nvSpPr>
        <p:spPr>
          <a:xfrm>
            <a:off x="0" y="0"/>
            <a:ext cx="763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0" kern="1700" dirty="0">
                <a:solidFill>
                  <a:schemeClr val="tx1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团队背景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市场痛点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200" b="1" kern="1700" dirty="0">
                <a:solidFill>
                  <a:srgbClr val="C00000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解决方案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商业模式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竞争优势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实施计划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财务预测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融资需求</a:t>
            </a:r>
            <a:endParaRPr lang="zh-CN" altLang="en-US" sz="1100" b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4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/>
        </p:nvSpPr>
        <p:spPr>
          <a:xfrm>
            <a:off x="9814541" y="1"/>
            <a:ext cx="2377460" cy="2343149"/>
          </a:xfrm>
          <a:custGeom>
            <a:avLst/>
            <a:gdLst>
              <a:gd name="connsiteX0" fmla="*/ 445381 w 3890269"/>
              <a:gd name="connsiteY0" fmla="*/ 0 h 3834125"/>
              <a:gd name="connsiteX1" fmla="*/ 3890269 w 3890269"/>
              <a:gd name="connsiteY1" fmla="*/ 0 h 3834125"/>
              <a:gd name="connsiteX2" fmla="*/ 3890269 w 3890269"/>
              <a:gd name="connsiteY2" fmla="*/ 3346761 h 3834125"/>
              <a:gd name="connsiteX3" fmla="*/ 3794341 w 3890269"/>
              <a:gd name="connsiteY3" fmla="*/ 3418494 h 3834125"/>
              <a:gd name="connsiteX4" fmla="*/ 2433659 w 3890269"/>
              <a:gd name="connsiteY4" fmla="*/ 3834125 h 3834125"/>
              <a:gd name="connsiteX5" fmla="*/ 0 w 3890269"/>
              <a:gd name="connsiteY5" fmla="*/ 1400466 h 3834125"/>
              <a:gd name="connsiteX6" fmla="*/ 415631 w 3890269"/>
              <a:gd name="connsiteY6" fmla="*/ 39784 h 383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90269" h="3834125">
                <a:moveTo>
                  <a:pt x="445381" y="0"/>
                </a:moveTo>
                <a:lnTo>
                  <a:pt x="3890269" y="0"/>
                </a:lnTo>
                <a:lnTo>
                  <a:pt x="3890269" y="3346761"/>
                </a:lnTo>
                <a:lnTo>
                  <a:pt x="3794341" y="3418494"/>
                </a:lnTo>
                <a:cubicBezTo>
                  <a:pt x="3405926" y="3680902"/>
                  <a:pt x="2937686" y="3834125"/>
                  <a:pt x="2433659" y="3834125"/>
                </a:cubicBezTo>
                <a:cubicBezTo>
                  <a:pt x="1089586" y="3834125"/>
                  <a:pt x="0" y="2744539"/>
                  <a:pt x="0" y="1400466"/>
                </a:cubicBezTo>
                <a:cubicBezTo>
                  <a:pt x="0" y="896439"/>
                  <a:pt x="153223" y="428199"/>
                  <a:pt x="415631" y="3978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89198"/>
            <a:ext cx="11261726" cy="74294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E9114F-8D72-0F0F-BBBB-E6C631FB746A}"/>
              </a:ext>
            </a:extLst>
          </p:cNvPr>
          <p:cNvSpPr txBox="1"/>
          <p:nvPr userDrawn="1"/>
        </p:nvSpPr>
        <p:spPr>
          <a:xfrm>
            <a:off x="0" y="0"/>
            <a:ext cx="763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0" kern="1700" dirty="0">
                <a:solidFill>
                  <a:schemeClr val="tx1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团队背景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市场痛点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解决方案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200" b="1" kern="1700" dirty="0">
                <a:solidFill>
                  <a:srgbClr val="C00000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商业模式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竞争优势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实施计划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财务预测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融资需求</a:t>
            </a:r>
            <a:endParaRPr lang="zh-CN" altLang="en-US" sz="1100" b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5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/>
        </p:nvSpPr>
        <p:spPr>
          <a:xfrm>
            <a:off x="9814541" y="1"/>
            <a:ext cx="2377460" cy="2343149"/>
          </a:xfrm>
          <a:custGeom>
            <a:avLst/>
            <a:gdLst>
              <a:gd name="connsiteX0" fmla="*/ 445381 w 3890269"/>
              <a:gd name="connsiteY0" fmla="*/ 0 h 3834125"/>
              <a:gd name="connsiteX1" fmla="*/ 3890269 w 3890269"/>
              <a:gd name="connsiteY1" fmla="*/ 0 h 3834125"/>
              <a:gd name="connsiteX2" fmla="*/ 3890269 w 3890269"/>
              <a:gd name="connsiteY2" fmla="*/ 3346761 h 3834125"/>
              <a:gd name="connsiteX3" fmla="*/ 3794341 w 3890269"/>
              <a:gd name="connsiteY3" fmla="*/ 3418494 h 3834125"/>
              <a:gd name="connsiteX4" fmla="*/ 2433659 w 3890269"/>
              <a:gd name="connsiteY4" fmla="*/ 3834125 h 3834125"/>
              <a:gd name="connsiteX5" fmla="*/ 0 w 3890269"/>
              <a:gd name="connsiteY5" fmla="*/ 1400466 h 3834125"/>
              <a:gd name="connsiteX6" fmla="*/ 415631 w 3890269"/>
              <a:gd name="connsiteY6" fmla="*/ 39784 h 383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90269" h="3834125">
                <a:moveTo>
                  <a:pt x="445381" y="0"/>
                </a:moveTo>
                <a:lnTo>
                  <a:pt x="3890269" y="0"/>
                </a:lnTo>
                <a:lnTo>
                  <a:pt x="3890269" y="3346761"/>
                </a:lnTo>
                <a:lnTo>
                  <a:pt x="3794341" y="3418494"/>
                </a:lnTo>
                <a:cubicBezTo>
                  <a:pt x="3405926" y="3680902"/>
                  <a:pt x="2937686" y="3834125"/>
                  <a:pt x="2433659" y="3834125"/>
                </a:cubicBezTo>
                <a:cubicBezTo>
                  <a:pt x="1089586" y="3834125"/>
                  <a:pt x="0" y="2744539"/>
                  <a:pt x="0" y="1400466"/>
                </a:cubicBezTo>
                <a:cubicBezTo>
                  <a:pt x="0" y="896439"/>
                  <a:pt x="153223" y="428199"/>
                  <a:pt x="415631" y="3978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89198"/>
            <a:ext cx="11261726" cy="74294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2188AB-35EF-9DDD-5000-568CE31B0A38}"/>
              </a:ext>
            </a:extLst>
          </p:cNvPr>
          <p:cNvSpPr txBox="1"/>
          <p:nvPr userDrawn="1"/>
        </p:nvSpPr>
        <p:spPr>
          <a:xfrm>
            <a:off x="0" y="0"/>
            <a:ext cx="763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0" kern="1700" dirty="0">
                <a:solidFill>
                  <a:schemeClr val="tx1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团队背景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市场痛点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解决方案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商业模式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200" b="1" kern="1700" dirty="0">
                <a:solidFill>
                  <a:srgbClr val="C00000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竞争优势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实施计划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财务预测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融资需求</a:t>
            </a:r>
            <a:endParaRPr lang="zh-CN" altLang="en-US" sz="1100" b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6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/>
        </p:nvSpPr>
        <p:spPr>
          <a:xfrm>
            <a:off x="9814541" y="1"/>
            <a:ext cx="2377460" cy="2343149"/>
          </a:xfrm>
          <a:custGeom>
            <a:avLst/>
            <a:gdLst>
              <a:gd name="connsiteX0" fmla="*/ 445381 w 3890269"/>
              <a:gd name="connsiteY0" fmla="*/ 0 h 3834125"/>
              <a:gd name="connsiteX1" fmla="*/ 3890269 w 3890269"/>
              <a:gd name="connsiteY1" fmla="*/ 0 h 3834125"/>
              <a:gd name="connsiteX2" fmla="*/ 3890269 w 3890269"/>
              <a:gd name="connsiteY2" fmla="*/ 3346761 h 3834125"/>
              <a:gd name="connsiteX3" fmla="*/ 3794341 w 3890269"/>
              <a:gd name="connsiteY3" fmla="*/ 3418494 h 3834125"/>
              <a:gd name="connsiteX4" fmla="*/ 2433659 w 3890269"/>
              <a:gd name="connsiteY4" fmla="*/ 3834125 h 3834125"/>
              <a:gd name="connsiteX5" fmla="*/ 0 w 3890269"/>
              <a:gd name="connsiteY5" fmla="*/ 1400466 h 3834125"/>
              <a:gd name="connsiteX6" fmla="*/ 415631 w 3890269"/>
              <a:gd name="connsiteY6" fmla="*/ 39784 h 383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90269" h="3834125">
                <a:moveTo>
                  <a:pt x="445381" y="0"/>
                </a:moveTo>
                <a:lnTo>
                  <a:pt x="3890269" y="0"/>
                </a:lnTo>
                <a:lnTo>
                  <a:pt x="3890269" y="3346761"/>
                </a:lnTo>
                <a:lnTo>
                  <a:pt x="3794341" y="3418494"/>
                </a:lnTo>
                <a:cubicBezTo>
                  <a:pt x="3405926" y="3680902"/>
                  <a:pt x="2937686" y="3834125"/>
                  <a:pt x="2433659" y="3834125"/>
                </a:cubicBezTo>
                <a:cubicBezTo>
                  <a:pt x="1089586" y="3834125"/>
                  <a:pt x="0" y="2744539"/>
                  <a:pt x="0" y="1400466"/>
                </a:cubicBezTo>
                <a:cubicBezTo>
                  <a:pt x="0" y="896439"/>
                  <a:pt x="153223" y="428199"/>
                  <a:pt x="415631" y="3978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89198"/>
            <a:ext cx="11261726" cy="74294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866476-E0CC-2547-E2E7-D409B78A6386}"/>
              </a:ext>
            </a:extLst>
          </p:cNvPr>
          <p:cNvSpPr txBox="1"/>
          <p:nvPr userDrawn="1"/>
        </p:nvSpPr>
        <p:spPr>
          <a:xfrm>
            <a:off x="0" y="0"/>
            <a:ext cx="763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0" kern="1700" dirty="0">
                <a:solidFill>
                  <a:schemeClr val="tx1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团队背景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市场痛点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解决方案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商业模式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竞争优势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200" b="1" kern="1700" dirty="0">
                <a:solidFill>
                  <a:srgbClr val="C00000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实施计划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财务预测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融资需求</a:t>
            </a:r>
            <a:endParaRPr lang="zh-CN" altLang="en-US" sz="1100" b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7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/>
        </p:nvSpPr>
        <p:spPr>
          <a:xfrm>
            <a:off x="9814541" y="1"/>
            <a:ext cx="2377460" cy="2343149"/>
          </a:xfrm>
          <a:custGeom>
            <a:avLst/>
            <a:gdLst>
              <a:gd name="connsiteX0" fmla="*/ 445381 w 3890269"/>
              <a:gd name="connsiteY0" fmla="*/ 0 h 3834125"/>
              <a:gd name="connsiteX1" fmla="*/ 3890269 w 3890269"/>
              <a:gd name="connsiteY1" fmla="*/ 0 h 3834125"/>
              <a:gd name="connsiteX2" fmla="*/ 3890269 w 3890269"/>
              <a:gd name="connsiteY2" fmla="*/ 3346761 h 3834125"/>
              <a:gd name="connsiteX3" fmla="*/ 3794341 w 3890269"/>
              <a:gd name="connsiteY3" fmla="*/ 3418494 h 3834125"/>
              <a:gd name="connsiteX4" fmla="*/ 2433659 w 3890269"/>
              <a:gd name="connsiteY4" fmla="*/ 3834125 h 3834125"/>
              <a:gd name="connsiteX5" fmla="*/ 0 w 3890269"/>
              <a:gd name="connsiteY5" fmla="*/ 1400466 h 3834125"/>
              <a:gd name="connsiteX6" fmla="*/ 415631 w 3890269"/>
              <a:gd name="connsiteY6" fmla="*/ 39784 h 383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90269" h="3834125">
                <a:moveTo>
                  <a:pt x="445381" y="0"/>
                </a:moveTo>
                <a:lnTo>
                  <a:pt x="3890269" y="0"/>
                </a:lnTo>
                <a:lnTo>
                  <a:pt x="3890269" y="3346761"/>
                </a:lnTo>
                <a:lnTo>
                  <a:pt x="3794341" y="3418494"/>
                </a:lnTo>
                <a:cubicBezTo>
                  <a:pt x="3405926" y="3680902"/>
                  <a:pt x="2937686" y="3834125"/>
                  <a:pt x="2433659" y="3834125"/>
                </a:cubicBezTo>
                <a:cubicBezTo>
                  <a:pt x="1089586" y="3834125"/>
                  <a:pt x="0" y="2744539"/>
                  <a:pt x="0" y="1400466"/>
                </a:cubicBezTo>
                <a:cubicBezTo>
                  <a:pt x="0" y="896439"/>
                  <a:pt x="153223" y="428199"/>
                  <a:pt x="415631" y="3978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89198"/>
            <a:ext cx="11261726" cy="74294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866476-E0CC-2547-E2E7-D409B78A6386}"/>
              </a:ext>
            </a:extLst>
          </p:cNvPr>
          <p:cNvSpPr txBox="1"/>
          <p:nvPr userDrawn="1"/>
        </p:nvSpPr>
        <p:spPr>
          <a:xfrm>
            <a:off x="0" y="0"/>
            <a:ext cx="763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0" kern="1700" dirty="0">
                <a:solidFill>
                  <a:schemeClr val="tx1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团队背景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市场痛点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解决方案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商业模式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竞争优势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b="0" kern="1700" dirty="0">
                <a:solidFill>
                  <a:schemeClr val="tx1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实施计划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200" b="1" kern="1700" dirty="0">
                <a:solidFill>
                  <a:srgbClr val="C00000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财务预测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融资需求</a:t>
            </a:r>
            <a:endParaRPr lang="zh-CN" altLang="en-US" sz="1100" b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434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8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/>
          <p:cNvSpPr/>
          <p:nvPr userDrawn="1"/>
        </p:nvSpPr>
        <p:spPr>
          <a:xfrm>
            <a:off x="9814541" y="1"/>
            <a:ext cx="2377460" cy="2343149"/>
          </a:xfrm>
          <a:custGeom>
            <a:avLst/>
            <a:gdLst>
              <a:gd name="connsiteX0" fmla="*/ 445381 w 3890269"/>
              <a:gd name="connsiteY0" fmla="*/ 0 h 3834125"/>
              <a:gd name="connsiteX1" fmla="*/ 3890269 w 3890269"/>
              <a:gd name="connsiteY1" fmla="*/ 0 h 3834125"/>
              <a:gd name="connsiteX2" fmla="*/ 3890269 w 3890269"/>
              <a:gd name="connsiteY2" fmla="*/ 3346761 h 3834125"/>
              <a:gd name="connsiteX3" fmla="*/ 3794341 w 3890269"/>
              <a:gd name="connsiteY3" fmla="*/ 3418494 h 3834125"/>
              <a:gd name="connsiteX4" fmla="*/ 2433659 w 3890269"/>
              <a:gd name="connsiteY4" fmla="*/ 3834125 h 3834125"/>
              <a:gd name="connsiteX5" fmla="*/ 0 w 3890269"/>
              <a:gd name="connsiteY5" fmla="*/ 1400466 h 3834125"/>
              <a:gd name="connsiteX6" fmla="*/ 415631 w 3890269"/>
              <a:gd name="connsiteY6" fmla="*/ 39784 h 3834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90269" h="3834125">
                <a:moveTo>
                  <a:pt x="445381" y="0"/>
                </a:moveTo>
                <a:lnTo>
                  <a:pt x="3890269" y="0"/>
                </a:lnTo>
                <a:lnTo>
                  <a:pt x="3890269" y="3346761"/>
                </a:lnTo>
                <a:lnTo>
                  <a:pt x="3794341" y="3418494"/>
                </a:lnTo>
                <a:cubicBezTo>
                  <a:pt x="3405926" y="3680902"/>
                  <a:pt x="2937686" y="3834125"/>
                  <a:pt x="2433659" y="3834125"/>
                </a:cubicBezTo>
                <a:cubicBezTo>
                  <a:pt x="1089586" y="3834125"/>
                  <a:pt x="0" y="2744539"/>
                  <a:pt x="0" y="1400466"/>
                </a:cubicBezTo>
                <a:cubicBezTo>
                  <a:pt x="0" y="896439"/>
                  <a:pt x="153223" y="428199"/>
                  <a:pt x="415631" y="3978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89198"/>
            <a:ext cx="11261726" cy="74294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866476-E0CC-2547-E2E7-D409B78A6386}"/>
              </a:ext>
            </a:extLst>
          </p:cNvPr>
          <p:cNvSpPr txBox="1"/>
          <p:nvPr userDrawn="1"/>
        </p:nvSpPr>
        <p:spPr>
          <a:xfrm>
            <a:off x="0" y="0"/>
            <a:ext cx="76327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0" kern="1700" dirty="0">
                <a:solidFill>
                  <a:schemeClr val="tx1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团队背景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市场痛点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解决方案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商业模式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竞争优势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b="0" kern="1700" dirty="0">
                <a:solidFill>
                  <a:schemeClr val="tx1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实施计划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财务预测 </a:t>
            </a:r>
            <a:r>
              <a:rPr lang="en-US" altLang="zh-CN" sz="11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1200" b="1" kern="1700" dirty="0">
                <a:solidFill>
                  <a:srgbClr val="C00000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融资需求</a:t>
            </a:r>
            <a:endParaRPr lang="zh-CN" altLang="en-US" sz="1100" b="1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5904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/>
        </p:nvSpPr>
        <p:spPr>
          <a:xfrm>
            <a:off x="0" y="579798"/>
            <a:ext cx="12192000" cy="3980394"/>
          </a:xfrm>
          <a:custGeom>
            <a:avLst/>
            <a:gdLst>
              <a:gd name="connsiteX0" fmla="*/ 239417 w 12192000"/>
              <a:gd name="connsiteY0" fmla="*/ 3566696 h 3980394"/>
              <a:gd name="connsiteX1" fmla="*/ 245258 w 12192000"/>
              <a:gd name="connsiteY1" fmla="*/ 3569546 h 3980394"/>
              <a:gd name="connsiteX2" fmla="*/ 251098 w 12192000"/>
              <a:gd name="connsiteY2" fmla="*/ 3566696 h 3980394"/>
              <a:gd name="connsiteX3" fmla="*/ 239417 w 12192000"/>
              <a:gd name="connsiteY3" fmla="*/ 3566696 h 3980394"/>
              <a:gd name="connsiteX4" fmla="*/ 128419 w 12192000"/>
              <a:gd name="connsiteY4" fmla="*/ 3509724 h 3980394"/>
              <a:gd name="connsiteX5" fmla="*/ 122577 w 12192000"/>
              <a:gd name="connsiteY5" fmla="*/ 3523967 h 3980394"/>
              <a:gd name="connsiteX6" fmla="*/ 99212 w 12192000"/>
              <a:gd name="connsiteY6" fmla="*/ 3512572 h 3980394"/>
              <a:gd name="connsiteX7" fmla="*/ 128419 w 12192000"/>
              <a:gd name="connsiteY7" fmla="*/ 3509724 h 3980394"/>
              <a:gd name="connsiteX8" fmla="*/ 615436 w 12192000"/>
              <a:gd name="connsiteY8" fmla="*/ 3482306 h 3980394"/>
              <a:gd name="connsiteX9" fmla="*/ 624929 w 12192000"/>
              <a:gd name="connsiteY9" fmla="*/ 3484086 h 3980394"/>
              <a:gd name="connsiteX10" fmla="*/ 613247 w 12192000"/>
              <a:gd name="connsiteY10" fmla="*/ 3498329 h 3980394"/>
              <a:gd name="connsiteX11" fmla="*/ 443849 w 12192000"/>
              <a:gd name="connsiteY11" fmla="*/ 3575242 h 3980394"/>
              <a:gd name="connsiteX12" fmla="*/ 344549 w 12192000"/>
              <a:gd name="connsiteY12" fmla="*/ 3620820 h 3980394"/>
              <a:gd name="connsiteX13" fmla="*/ 256930 w 12192000"/>
              <a:gd name="connsiteY13" fmla="*/ 3652155 h 3980394"/>
              <a:gd name="connsiteX14" fmla="*/ 379597 w 12192000"/>
              <a:gd name="connsiteY14" fmla="*/ 3580939 h 3980394"/>
              <a:gd name="connsiteX15" fmla="*/ 543151 w 12192000"/>
              <a:gd name="connsiteY15" fmla="*/ 3509724 h 3980394"/>
              <a:gd name="connsiteX16" fmla="*/ 601564 w 12192000"/>
              <a:gd name="connsiteY16" fmla="*/ 3486935 h 3980394"/>
              <a:gd name="connsiteX17" fmla="*/ 615436 w 12192000"/>
              <a:gd name="connsiteY17" fmla="*/ 3482306 h 3980394"/>
              <a:gd name="connsiteX18" fmla="*/ 367923 w 12192000"/>
              <a:gd name="connsiteY18" fmla="*/ 3478390 h 3980394"/>
              <a:gd name="connsiteX19" fmla="*/ 356240 w 12192000"/>
              <a:gd name="connsiteY19" fmla="*/ 3484087 h 3980394"/>
              <a:gd name="connsiteX20" fmla="*/ 338717 w 12192000"/>
              <a:gd name="connsiteY20" fmla="*/ 3489785 h 3980394"/>
              <a:gd name="connsiteX21" fmla="*/ 338717 w 12192000"/>
              <a:gd name="connsiteY21" fmla="*/ 3492633 h 3980394"/>
              <a:gd name="connsiteX22" fmla="*/ 344559 w 12192000"/>
              <a:gd name="connsiteY22" fmla="*/ 3492633 h 3980394"/>
              <a:gd name="connsiteX23" fmla="*/ 367923 w 12192000"/>
              <a:gd name="connsiteY23" fmla="*/ 3478390 h 3980394"/>
              <a:gd name="connsiteX24" fmla="*/ 490577 w 12192000"/>
              <a:gd name="connsiteY24" fmla="*/ 3381537 h 3980394"/>
              <a:gd name="connsiteX25" fmla="*/ 519784 w 12192000"/>
              <a:gd name="connsiteY25" fmla="*/ 3387233 h 3980394"/>
              <a:gd name="connsiteX26" fmla="*/ 502259 w 12192000"/>
              <a:gd name="connsiteY26" fmla="*/ 3395779 h 3980394"/>
              <a:gd name="connsiteX27" fmla="*/ 467213 w 12192000"/>
              <a:gd name="connsiteY27" fmla="*/ 3404327 h 3980394"/>
              <a:gd name="connsiteX28" fmla="*/ 478894 w 12192000"/>
              <a:gd name="connsiteY28" fmla="*/ 3390083 h 3980394"/>
              <a:gd name="connsiteX29" fmla="*/ 478894 w 12192000"/>
              <a:gd name="connsiteY29" fmla="*/ 3387233 h 3980394"/>
              <a:gd name="connsiteX30" fmla="*/ 490577 w 12192000"/>
              <a:gd name="connsiteY30" fmla="*/ 3381537 h 3980394"/>
              <a:gd name="connsiteX31" fmla="*/ 1366766 w 12192000"/>
              <a:gd name="connsiteY31" fmla="*/ 3202077 h 3980394"/>
              <a:gd name="connsiteX32" fmla="*/ 1314195 w 12192000"/>
              <a:gd name="connsiteY32" fmla="*/ 3230561 h 3980394"/>
              <a:gd name="connsiteX33" fmla="*/ 1290831 w 12192000"/>
              <a:gd name="connsiteY33" fmla="*/ 3239105 h 3980394"/>
              <a:gd name="connsiteX34" fmla="*/ 1284989 w 12192000"/>
              <a:gd name="connsiteY34" fmla="*/ 3239105 h 3980394"/>
              <a:gd name="connsiteX35" fmla="*/ 1279148 w 12192000"/>
              <a:gd name="connsiteY35" fmla="*/ 3241958 h 3980394"/>
              <a:gd name="connsiteX36" fmla="*/ 1255783 w 12192000"/>
              <a:gd name="connsiteY36" fmla="*/ 3250502 h 3980394"/>
              <a:gd name="connsiteX37" fmla="*/ 1197370 w 12192000"/>
              <a:gd name="connsiteY37" fmla="*/ 3259046 h 3980394"/>
              <a:gd name="connsiteX38" fmla="*/ 1267464 w 12192000"/>
              <a:gd name="connsiteY38" fmla="*/ 3233412 h 3980394"/>
              <a:gd name="connsiteX39" fmla="*/ 1279148 w 12192000"/>
              <a:gd name="connsiteY39" fmla="*/ 3230561 h 3980394"/>
              <a:gd name="connsiteX40" fmla="*/ 1366766 w 12192000"/>
              <a:gd name="connsiteY40" fmla="*/ 3202077 h 3980394"/>
              <a:gd name="connsiteX41" fmla="*/ 1460226 w 12192000"/>
              <a:gd name="connsiteY41" fmla="*/ 3167890 h 3980394"/>
              <a:gd name="connsiteX42" fmla="*/ 1436861 w 12192000"/>
              <a:gd name="connsiteY42" fmla="*/ 3187831 h 3980394"/>
              <a:gd name="connsiteX43" fmla="*/ 1425179 w 12192000"/>
              <a:gd name="connsiteY43" fmla="*/ 3190680 h 3980394"/>
              <a:gd name="connsiteX44" fmla="*/ 1413496 w 12192000"/>
              <a:gd name="connsiteY44" fmla="*/ 3182135 h 3980394"/>
              <a:gd name="connsiteX45" fmla="*/ 1425179 w 12192000"/>
              <a:gd name="connsiteY45" fmla="*/ 3179285 h 3980394"/>
              <a:gd name="connsiteX46" fmla="*/ 1460226 w 12192000"/>
              <a:gd name="connsiteY46" fmla="*/ 3167890 h 3980394"/>
              <a:gd name="connsiteX47" fmla="*/ 1233894 w 12192000"/>
              <a:gd name="connsiteY47" fmla="*/ 3134070 h 3980394"/>
              <a:gd name="connsiteX48" fmla="*/ 1203227 w 12192000"/>
              <a:gd name="connsiteY48" fmla="*/ 3139412 h 3980394"/>
              <a:gd name="connsiteX49" fmla="*/ 1133133 w 12192000"/>
              <a:gd name="connsiteY49" fmla="*/ 3167898 h 3980394"/>
              <a:gd name="connsiteX50" fmla="*/ 1004626 w 12192000"/>
              <a:gd name="connsiteY50" fmla="*/ 3222021 h 3980394"/>
              <a:gd name="connsiteX51" fmla="*/ 992944 w 12192000"/>
              <a:gd name="connsiteY51" fmla="*/ 3224868 h 3980394"/>
              <a:gd name="connsiteX52" fmla="*/ 992944 w 12192000"/>
              <a:gd name="connsiteY52" fmla="*/ 3230568 h 3980394"/>
              <a:gd name="connsiteX53" fmla="*/ 1039673 w 12192000"/>
              <a:gd name="connsiteY53" fmla="*/ 3222021 h 3980394"/>
              <a:gd name="connsiteX54" fmla="*/ 1045514 w 12192000"/>
              <a:gd name="connsiteY54" fmla="*/ 3219173 h 3980394"/>
              <a:gd name="connsiteX55" fmla="*/ 1033832 w 12192000"/>
              <a:gd name="connsiteY55" fmla="*/ 3216323 h 3980394"/>
              <a:gd name="connsiteX56" fmla="*/ 1209069 w 12192000"/>
              <a:gd name="connsiteY56" fmla="*/ 3150807 h 3980394"/>
              <a:gd name="connsiteX57" fmla="*/ 1255798 w 12192000"/>
              <a:gd name="connsiteY57" fmla="*/ 3139412 h 3980394"/>
              <a:gd name="connsiteX58" fmla="*/ 1233894 w 12192000"/>
              <a:gd name="connsiteY58" fmla="*/ 3134070 h 3980394"/>
              <a:gd name="connsiteX59" fmla="*/ 9264125 w 12192000"/>
              <a:gd name="connsiteY59" fmla="*/ 3062497 h 3980394"/>
              <a:gd name="connsiteX60" fmla="*/ 9269967 w 12192000"/>
              <a:gd name="connsiteY60" fmla="*/ 3065346 h 3980394"/>
              <a:gd name="connsiteX61" fmla="*/ 9281648 w 12192000"/>
              <a:gd name="connsiteY61" fmla="*/ 3068196 h 3980394"/>
              <a:gd name="connsiteX62" fmla="*/ 9264125 w 12192000"/>
              <a:gd name="connsiteY62" fmla="*/ 3062497 h 3980394"/>
              <a:gd name="connsiteX63" fmla="*/ 309511 w 12192000"/>
              <a:gd name="connsiteY63" fmla="*/ 3062497 h 3980394"/>
              <a:gd name="connsiteX64" fmla="*/ 303671 w 12192000"/>
              <a:gd name="connsiteY64" fmla="*/ 3065346 h 3980394"/>
              <a:gd name="connsiteX65" fmla="*/ 309511 w 12192000"/>
              <a:gd name="connsiteY65" fmla="*/ 3065346 h 3980394"/>
              <a:gd name="connsiteX66" fmla="*/ 309511 w 12192000"/>
              <a:gd name="connsiteY66" fmla="*/ 3062497 h 3980394"/>
              <a:gd name="connsiteX67" fmla="*/ 2622632 w 12192000"/>
              <a:gd name="connsiteY67" fmla="*/ 2888726 h 3980394"/>
              <a:gd name="connsiteX68" fmla="*/ 2628473 w 12192000"/>
              <a:gd name="connsiteY68" fmla="*/ 2888726 h 3980394"/>
              <a:gd name="connsiteX69" fmla="*/ 2622632 w 12192000"/>
              <a:gd name="connsiteY69" fmla="*/ 2894424 h 3980394"/>
              <a:gd name="connsiteX70" fmla="*/ 2622632 w 12192000"/>
              <a:gd name="connsiteY70" fmla="*/ 2888726 h 3980394"/>
              <a:gd name="connsiteX71" fmla="*/ 9258282 w 12192000"/>
              <a:gd name="connsiteY71" fmla="*/ 2663689 h 3980394"/>
              <a:gd name="connsiteX72" fmla="*/ 9340061 w 12192000"/>
              <a:gd name="connsiteY72" fmla="*/ 2672235 h 3980394"/>
              <a:gd name="connsiteX73" fmla="*/ 9421837 w 12192000"/>
              <a:gd name="connsiteY73" fmla="*/ 2689326 h 3980394"/>
              <a:gd name="connsiteX74" fmla="*/ 9608756 w 12192000"/>
              <a:gd name="connsiteY74" fmla="*/ 2732056 h 3980394"/>
              <a:gd name="connsiteX75" fmla="*/ 9678852 w 12192000"/>
              <a:gd name="connsiteY75" fmla="*/ 2746300 h 3980394"/>
              <a:gd name="connsiteX76" fmla="*/ 9760630 w 12192000"/>
              <a:gd name="connsiteY76" fmla="*/ 2766240 h 3980394"/>
              <a:gd name="connsiteX77" fmla="*/ 10011803 w 12192000"/>
              <a:gd name="connsiteY77" fmla="*/ 2831756 h 3980394"/>
              <a:gd name="connsiteX78" fmla="*/ 9918344 w 12192000"/>
              <a:gd name="connsiteY78" fmla="*/ 2823213 h 3980394"/>
              <a:gd name="connsiteX79" fmla="*/ 9848248 w 12192000"/>
              <a:gd name="connsiteY79" fmla="*/ 2803272 h 3980394"/>
              <a:gd name="connsiteX80" fmla="*/ 9731423 w 12192000"/>
              <a:gd name="connsiteY80" fmla="*/ 2777633 h 3980394"/>
              <a:gd name="connsiteX81" fmla="*/ 9643804 w 12192000"/>
              <a:gd name="connsiteY81" fmla="*/ 2760543 h 3980394"/>
              <a:gd name="connsiteX82" fmla="*/ 9509456 w 12192000"/>
              <a:gd name="connsiteY82" fmla="*/ 2729207 h 3980394"/>
              <a:gd name="connsiteX83" fmla="*/ 9451043 w 12192000"/>
              <a:gd name="connsiteY83" fmla="*/ 2720663 h 3980394"/>
              <a:gd name="connsiteX84" fmla="*/ 9404314 w 12192000"/>
              <a:gd name="connsiteY84" fmla="*/ 2703569 h 3980394"/>
              <a:gd name="connsiteX85" fmla="*/ 9410155 w 12192000"/>
              <a:gd name="connsiteY85" fmla="*/ 2700721 h 3980394"/>
              <a:gd name="connsiteX86" fmla="*/ 9328378 w 12192000"/>
              <a:gd name="connsiteY86" fmla="*/ 2683629 h 3980394"/>
              <a:gd name="connsiteX87" fmla="*/ 9258282 w 12192000"/>
              <a:gd name="connsiteY87" fmla="*/ 2663689 h 3980394"/>
              <a:gd name="connsiteX88" fmla="*/ 2616789 w 12192000"/>
              <a:gd name="connsiteY88" fmla="*/ 2657988 h 3980394"/>
              <a:gd name="connsiteX89" fmla="*/ 2640154 w 12192000"/>
              <a:gd name="connsiteY89" fmla="*/ 2657988 h 3980394"/>
              <a:gd name="connsiteX90" fmla="*/ 2628471 w 12192000"/>
              <a:gd name="connsiteY90" fmla="*/ 2666533 h 3980394"/>
              <a:gd name="connsiteX91" fmla="*/ 2593424 w 12192000"/>
              <a:gd name="connsiteY91" fmla="*/ 2672231 h 3980394"/>
              <a:gd name="connsiteX92" fmla="*/ 2558376 w 12192000"/>
              <a:gd name="connsiteY92" fmla="*/ 2695019 h 3980394"/>
              <a:gd name="connsiteX93" fmla="*/ 2523328 w 12192000"/>
              <a:gd name="connsiteY93" fmla="*/ 2703565 h 3980394"/>
              <a:gd name="connsiteX94" fmla="*/ 2400664 w 12192000"/>
              <a:gd name="connsiteY94" fmla="*/ 2737749 h 3980394"/>
              <a:gd name="connsiteX95" fmla="*/ 2365615 w 12192000"/>
              <a:gd name="connsiteY95" fmla="*/ 2746295 h 3980394"/>
              <a:gd name="connsiteX96" fmla="*/ 2424028 w 12192000"/>
              <a:gd name="connsiteY96" fmla="*/ 2720658 h 3980394"/>
              <a:gd name="connsiteX97" fmla="*/ 2470757 w 12192000"/>
              <a:gd name="connsiteY97" fmla="*/ 2703565 h 3980394"/>
              <a:gd name="connsiteX98" fmla="*/ 2424028 w 12192000"/>
              <a:gd name="connsiteY98" fmla="*/ 2712112 h 3980394"/>
              <a:gd name="connsiteX99" fmla="*/ 2371457 w 12192000"/>
              <a:gd name="connsiteY99" fmla="*/ 2712112 h 3980394"/>
              <a:gd name="connsiteX100" fmla="*/ 2429869 w 12192000"/>
              <a:gd name="connsiteY100" fmla="*/ 2692171 h 3980394"/>
              <a:gd name="connsiteX101" fmla="*/ 2494122 w 12192000"/>
              <a:gd name="connsiteY101" fmla="*/ 2677928 h 3980394"/>
              <a:gd name="connsiteX102" fmla="*/ 2616789 w 12192000"/>
              <a:gd name="connsiteY102" fmla="*/ 2657988 h 3980394"/>
              <a:gd name="connsiteX103" fmla="*/ 10052693 w 12192000"/>
              <a:gd name="connsiteY103" fmla="*/ 2655145 h 3980394"/>
              <a:gd name="connsiteX104" fmla="*/ 10116947 w 12192000"/>
              <a:gd name="connsiteY104" fmla="*/ 2669387 h 3980394"/>
              <a:gd name="connsiteX105" fmla="*/ 10122788 w 12192000"/>
              <a:gd name="connsiteY105" fmla="*/ 2666540 h 3980394"/>
              <a:gd name="connsiteX106" fmla="*/ 10052693 w 12192000"/>
              <a:gd name="connsiteY106" fmla="*/ 2655145 h 3980394"/>
              <a:gd name="connsiteX107" fmla="*/ 9150220 w 12192000"/>
              <a:gd name="connsiteY107" fmla="*/ 2637339 h 3980394"/>
              <a:gd name="connsiteX108" fmla="*/ 9158982 w 12192000"/>
              <a:gd name="connsiteY108" fmla="*/ 2638052 h 3980394"/>
              <a:gd name="connsiteX109" fmla="*/ 9176506 w 12192000"/>
              <a:gd name="connsiteY109" fmla="*/ 2646597 h 3980394"/>
              <a:gd name="connsiteX110" fmla="*/ 9158982 w 12192000"/>
              <a:gd name="connsiteY110" fmla="*/ 2649446 h 3980394"/>
              <a:gd name="connsiteX111" fmla="*/ 9141458 w 12192000"/>
              <a:gd name="connsiteY111" fmla="*/ 2640900 h 3980394"/>
              <a:gd name="connsiteX112" fmla="*/ 9150220 w 12192000"/>
              <a:gd name="connsiteY112" fmla="*/ 2637339 h 3980394"/>
              <a:gd name="connsiteX113" fmla="*/ 8452192 w 12192000"/>
              <a:gd name="connsiteY113" fmla="*/ 2632357 h 3980394"/>
              <a:gd name="connsiteX114" fmla="*/ 8434669 w 12192000"/>
              <a:gd name="connsiteY114" fmla="*/ 2635204 h 3980394"/>
              <a:gd name="connsiteX115" fmla="*/ 8452192 w 12192000"/>
              <a:gd name="connsiteY115" fmla="*/ 2638053 h 3980394"/>
              <a:gd name="connsiteX116" fmla="*/ 8452192 w 12192000"/>
              <a:gd name="connsiteY116" fmla="*/ 2632357 h 3980394"/>
              <a:gd name="connsiteX117" fmla="*/ 7190483 w 12192000"/>
              <a:gd name="connsiteY117" fmla="*/ 2601021 h 3980394"/>
              <a:gd name="connsiteX118" fmla="*/ 7190483 w 12192000"/>
              <a:gd name="connsiteY118" fmla="*/ 2609568 h 3980394"/>
              <a:gd name="connsiteX119" fmla="*/ 7295627 w 12192000"/>
              <a:gd name="connsiteY119" fmla="*/ 2626659 h 3980394"/>
              <a:gd name="connsiteX120" fmla="*/ 7307307 w 12192000"/>
              <a:gd name="connsiteY120" fmla="*/ 2629507 h 3980394"/>
              <a:gd name="connsiteX121" fmla="*/ 7318990 w 12192000"/>
              <a:gd name="connsiteY121" fmla="*/ 2629507 h 3980394"/>
              <a:gd name="connsiteX122" fmla="*/ 7552640 w 12192000"/>
              <a:gd name="connsiteY122" fmla="*/ 2660842 h 3980394"/>
              <a:gd name="connsiteX123" fmla="*/ 7722037 w 12192000"/>
              <a:gd name="connsiteY123" fmla="*/ 2686481 h 3980394"/>
              <a:gd name="connsiteX124" fmla="*/ 7838862 w 12192000"/>
              <a:gd name="connsiteY124" fmla="*/ 2703573 h 3980394"/>
              <a:gd name="connsiteX125" fmla="*/ 7850544 w 12192000"/>
              <a:gd name="connsiteY125" fmla="*/ 2697875 h 3980394"/>
              <a:gd name="connsiteX126" fmla="*/ 7967369 w 12192000"/>
              <a:gd name="connsiteY126" fmla="*/ 2720664 h 3980394"/>
              <a:gd name="connsiteX127" fmla="*/ 8236066 w 12192000"/>
              <a:gd name="connsiteY127" fmla="*/ 2771938 h 3980394"/>
              <a:gd name="connsiteX128" fmla="*/ 8387938 w 12192000"/>
              <a:gd name="connsiteY128" fmla="*/ 2803274 h 3980394"/>
              <a:gd name="connsiteX129" fmla="*/ 8586540 w 12192000"/>
              <a:gd name="connsiteY129" fmla="*/ 2843154 h 3980394"/>
              <a:gd name="connsiteX130" fmla="*/ 8609906 w 12192000"/>
              <a:gd name="connsiteY130" fmla="*/ 2854548 h 3980394"/>
              <a:gd name="connsiteX131" fmla="*/ 8621588 w 12192000"/>
              <a:gd name="connsiteY131" fmla="*/ 2857396 h 3980394"/>
              <a:gd name="connsiteX132" fmla="*/ 8855238 w 12192000"/>
              <a:gd name="connsiteY132" fmla="*/ 2914368 h 3980394"/>
              <a:gd name="connsiteX133" fmla="*/ 8925333 w 12192000"/>
              <a:gd name="connsiteY133" fmla="*/ 2928612 h 3980394"/>
              <a:gd name="connsiteX134" fmla="*/ 8995428 w 12192000"/>
              <a:gd name="connsiteY134" fmla="*/ 2948553 h 3980394"/>
              <a:gd name="connsiteX135" fmla="*/ 9030475 w 12192000"/>
              <a:gd name="connsiteY135" fmla="*/ 2957099 h 3980394"/>
              <a:gd name="connsiteX136" fmla="*/ 9077206 w 12192000"/>
              <a:gd name="connsiteY136" fmla="*/ 2965646 h 3980394"/>
              <a:gd name="connsiteX137" fmla="*/ 9094729 w 12192000"/>
              <a:gd name="connsiteY137" fmla="*/ 2968494 h 3980394"/>
              <a:gd name="connsiteX138" fmla="*/ 9123935 w 12192000"/>
              <a:gd name="connsiteY138" fmla="*/ 2974191 h 3980394"/>
              <a:gd name="connsiteX139" fmla="*/ 9141458 w 12192000"/>
              <a:gd name="connsiteY139" fmla="*/ 2979890 h 3980394"/>
              <a:gd name="connsiteX140" fmla="*/ 9153142 w 12192000"/>
              <a:gd name="connsiteY140" fmla="*/ 2974191 h 3980394"/>
              <a:gd name="connsiteX141" fmla="*/ 9176506 w 12192000"/>
              <a:gd name="connsiteY141" fmla="*/ 2977039 h 3980394"/>
              <a:gd name="connsiteX142" fmla="*/ 9147300 w 12192000"/>
              <a:gd name="connsiteY142" fmla="*/ 2965646 h 3980394"/>
              <a:gd name="connsiteX143" fmla="*/ 9106411 w 12192000"/>
              <a:gd name="connsiteY143" fmla="*/ 2957099 h 3980394"/>
              <a:gd name="connsiteX144" fmla="*/ 9053841 w 12192000"/>
              <a:gd name="connsiteY144" fmla="*/ 2945704 h 3980394"/>
              <a:gd name="connsiteX145" fmla="*/ 9047999 w 12192000"/>
              <a:gd name="connsiteY145" fmla="*/ 2945704 h 3980394"/>
              <a:gd name="connsiteX146" fmla="*/ 8995428 w 12192000"/>
              <a:gd name="connsiteY146" fmla="*/ 2934310 h 3980394"/>
              <a:gd name="connsiteX147" fmla="*/ 8972062 w 12192000"/>
              <a:gd name="connsiteY147" fmla="*/ 2928612 h 3980394"/>
              <a:gd name="connsiteX148" fmla="*/ 8972062 w 12192000"/>
              <a:gd name="connsiteY148" fmla="*/ 2925763 h 3980394"/>
              <a:gd name="connsiteX149" fmla="*/ 8966221 w 12192000"/>
              <a:gd name="connsiteY149" fmla="*/ 2925763 h 3980394"/>
              <a:gd name="connsiteX150" fmla="*/ 8937016 w 12192000"/>
              <a:gd name="connsiteY150" fmla="*/ 2917217 h 3980394"/>
              <a:gd name="connsiteX151" fmla="*/ 8931174 w 12192000"/>
              <a:gd name="connsiteY151" fmla="*/ 2920067 h 3980394"/>
              <a:gd name="connsiteX152" fmla="*/ 8901968 w 12192000"/>
              <a:gd name="connsiteY152" fmla="*/ 2917217 h 3980394"/>
              <a:gd name="connsiteX153" fmla="*/ 8656636 w 12192000"/>
              <a:gd name="connsiteY153" fmla="*/ 2863093 h 3980394"/>
              <a:gd name="connsiteX154" fmla="*/ 8533969 w 12192000"/>
              <a:gd name="connsiteY154" fmla="*/ 2826061 h 3980394"/>
              <a:gd name="connsiteX155" fmla="*/ 8533969 w 12192000"/>
              <a:gd name="connsiteY155" fmla="*/ 2820364 h 3980394"/>
              <a:gd name="connsiteX156" fmla="*/ 8522286 w 12192000"/>
              <a:gd name="connsiteY156" fmla="*/ 2817519 h 3980394"/>
              <a:gd name="connsiteX157" fmla="*/ 8434669 w 12192000"/>
              <a:gd name="connsiteY157" fmla="*/ 2797578 h 3980394"/>
              <a:gd name="connsiteX158" fmla="*/ 8399621 w 12192000"/>
              <a:gd name="connsiteY158" fmla="*/ 2791879 h 3980394"/>
              <a:gd name="connsiteX159" fmla="*/ 8347050 w 12192000"/>
              <a:gd name="connsiteY159" fmla="*/ 2780485 h 3980394"/>
              <a:gd name="connsiteX160" fmla="*/ 8084193 w 12192000"/>
              <a:gd name="connsiteY160" fmla="*/ 2729209 h 3980394"/>
              <a:gd name="connsiteX161" fmla="*/ 8031623 w 12192000"/>
              <a:gd name="connsiteY161" fmla="*/ 2714967 h 3980394"/>
              <a:gd name="connsiteX162" fmla="*/ 8008257 w 12192000"/>
              <a:gd name="connsiteY162" fmla="*/ 2712118 h 3980394"/>
              <a:gd name="connsiteX163" fmla="*/ 7944003 w 12192000"/>
              <a:gd name="connsiteY163" fmla="*/ 2703573 h 3980394"/>
              <a:gd name="connsiteX164" fmla="*/ 7757083 w 12192000"/>
              <a:gd name="connsiteY164" fmla="*/ 2675085 h 3980394"/>
              <a:gd name="connsiteX165" fmla="*/ 7698671 w 12192000"/>
              <a:gd name="connsiteY165" fmla="*/ 2663692 h 3980394"/>
              <a:gd name="connsiteX166" fmla="*/ 7517594 w 12192000"/>
              <a:gd name="connsiteY166" fmla="*/ 2640901 h 3980394"/>
              <a:gd name="connsiteX167" fmla="*/ 7505911 w 12192000"/>
              <a:gd name="connsiteY167" fmla="*/ 2640901 h 3980394"/>
              <a:gd name="connsiteX168" fmla="*/ 7190483 w 12192000"/>
              <a:gd name="connsiteY168" fmla="*/ 2601021 h 3980394"/>
              <a:gd name="connsiteX169" fmla="*/ 9562028 w 12192000"/>
              <a:gd name="connsiteY169" fmla="*/ 2575384 h 3980394"/>
              <a:gd name="connsiteX170" fmla="*/ 9550345 w 12192000"/>
              <a:gd name="connsiteY170" fmla="*/ 2578231 h 3980394"/>
              <a:gd name="connsiteX171" fmla="*/ 9544504 w 12192000"/>
              <a:gd name="connsiteY171" fmla="*/ 2581080 h 3980394"/>
              <a:gd name="connsiteX172" fmla="*/ 9526981 w 12192000"/>
              <a:gd name="connsiteY172" fmla="*/ 2583929 h 3980394"/>
              <a:gd name="connsiteX173" fmla="*/ 9526981 w 12192000"/>
              <a:gd name="connsiteY173" fmla="*/ 2589626 h 3980394"/>
              <a:gd name="connsiteX174" fmla="*/ 9515299 w 12192000"/>
              <a:gd name="connsiteY174" fmla="*/ 2586777 h 3980394"/>
              <a:gd name="connsiteX175" fmla="*/ 9515299 w 12192000"/>
              <a:gd name="connsiteY175" fmla="*/ 2589626 h 3980394"/>
              <a:gd name="connsiteX176" fmla="*/ 9526981 w 12192000"/>
              <a:gd name="connsiteY176" fmla="*/ 2589626 h 3980394"/>
              <a:gd name="connsiteX177" fmla="*/ 9538664 w 12192000"/>
              <a:gd name="connsiteY177" fmla="*/ 2620961 h 3980394"/>
              <a:gd name="connsiteX178" fmla="*/ 9556187 w 12192000"/>
              <a:gd name="connsiteY178" fmla="*/ 2620961 h 3980394"/>
              <a:gd name="connsiteX179" fmla="*/ 9608758 w 12192000"/>
              <a:gd name="connsiteY179" fmla="*/ 2586777 h 3980394"/>
              <a:gd name="connsiteX180" fmla="*/ 9573711 w 12192000"/>
              <a:gd name="connsiteY180" fmla="*/ 2575384 h 3980394"/>
              <a:gd name="connsiteX181" fmla="*/ 9562028 w 12192000"/>
              <a:gd name="connsiteY181" fmla="*/ 2575384 h 3980394"/>
              <a:gd name="connsiteX182" fmla="*/ 8985660 w 12192000"/>
              <a:gd name="connsiteY182" fmla="*/ 2566256 h 3980394"/>
              <a:gd name="connsiteX183" fmla="*/ 9007110 w 12192000"/>
              <a:gd name="connsiteY183" fmla="*/ 2566835 h 3980394"/>
              <a:gd name="connsiteX184" fmla="*/ 9077204 w 12192000"/>
              <a:gd name="connsiteY184" fmla="*/ 2581078 h 3980394"/>
              <a:gd name="connsiteX185" fmla="*/ 9053840 w 12192000"/>
              <a:gd name="connsiteY185" fmla="*/ 2586775 h 3980394"/>
              <a:gd name="connsiteX186" fmla="*/ 9001269 w 12192000"/>
              <a:gd name="connsiteY186" fmla="*/ 2581078 h 3980394"/>
              <a:gd name="connsiteX187" fmla="*/ 8985660 w 12192000"/>
              <a:gd name="connsiteY187" fmla="*/ 2566256 h 3980394"/>
              <a:gd name="connsiteX188" fmla="*/ 7467943 w 12192000"/>
              <a:gd name="connsiteY188" fmla="*/ 2525890 h 3980394"/>
              <a:gd name="connsiteX189" fmla="*/ 7453339 w 12192000"/>
              <a:gd name="connsiteY189" fmla="*/ 2526957 h 3980394"/>
              <a:gd name="connsiteX190" fmla="*/ 7482545 w 12192000"/>
              <a:gd name="connsiteY190" fmla="*/ 2526957 h 3980394"/>
              <a:gd name="connsiteX191" fmla="*/ 7467943 w 12192000"/>
              <a:gd name="connsiteY191" fmla="*/ 2525890 h 3980394"/>
              <a:gd name="connsiteX192" fmla="*/ 969578 w 12192000"/>
              <a:gd name="connsiteY192" fmla="*/ 2512714 h 3980394"/>
              <a:gd name="connsiteX193" fmla="*/ 957897 w 12192000"/>
              <a:gd name="connsiteY193" fmla="*/ 2521259 h 3980394"/>
              <a:gd name="connsiteX194" fmla="*/ 963738 w 12192000"/>
              <a:gd name="connsiteY194" fmla="*/ 2518411 h 3980394"/>
              <a:gd name="connsiteX195" fmla="*/ 969578 w 12192000"/>
              <a:gd name="connsiteY195" fmla="*/ 2512714 h 3980394"/>
              <a:gd name="connsiteX196" fmla="*/ 8498921 w 12192000"/>
              <a:gd name="connsiteY196" fmla="*/ 2507014 h 3980394"/>
              <a:gd name="connsiteX197" fmla="*/ 8510604 w 12192000"/>
              <a:gd name="connsiteY197" fmla="*/ 2518408 h 3980394"/>
              <a:gd name="connsiteX198" fmla="*/ 8498921 w 12192000"/>
              <a:gd name="connsiteY198" fmla="*/ 2507014 h 3980394"/>
              <a:gd name="connsiteX199" fmla="*/ 8558155 w 12192000"/>
              <a:gd name="connsiteY199" fmla="*/ 2479240 h 3980394"/>
              <a:gd name="connsiteX200" fmla="*/ 8597493 w 12192000"/>
              <a:gd name="connsiteY200" fmla="*/ 2480664 h 3980394"/>
              <a:gd name="connsiteX201" fmla="*/ 8662476 w 12192000"/>
              <a:gd name="connsiteY201" fmla="*/ 2498468 h 3980394"/>
              <a:gd name="connsiteX202" fmla="*/ 8703365 w 12192000"/>
              <a:gd name="connsiteY202" fmla="*/ 2501317 h 3980394"/>
              <a:gd name="connsiteX203" fmla="*/ 8750095 w 12192000"/>
              <a:gd name="connsiteY203" fmla="*/ 2501317 h 3980394"/>
              <a:gd name="connsiteX204" fmla="*/ 8796824 w 12192000"/>
              <a:gd name="connsiteY204" fmla="*/ 2509862 h 3980394"/>
              <a:gd name="connsiteX205" fmla="*/ 8831872 w 12192000"/>
              <a:gd name="connsiteY205" fmla="*/ 2518408 h 3980394"/>
              <a:gd name="connsiteX206" fmla="*/ 8855237 w 12192000"/>
              <a:gd name="connsiteY206" fmla="*/ 2498468 h 3980394"/>
              <a:gd name="connsiteX207" fmla="*/ 8866919 w 12192000"/>
              <a:gd name="connsiteY207" fmla="*/ 2501317 h 3980394"/>
              <a:gd name="connsiteX208" fmla="*/ 8901968 w 12192000"/>
              <a:gd name="connsiteY208" fmla="*/ 2515559 h 3980394"/>
              <a:gd name="connsiteX209" fmla="*/ 8901968 w 12192000"/>
              <a:gd name="connsiteY209" fmla="*/ 2518408 h 3980394"/>
              <a:gd name="connsiteX210" fmla="*/ 8937014 w 12192000"/>
              <a:gd name="connsiteY210" fmla="*/ 2538348 h 3980394"/>
              <a:gd name="connsiteX211" fmla="*/ 8919490 w 12192000"/>
              <a:gd name="connsiteY211" fmla="*/ 2541197 h 3980394"/>
              <a:gd name="connsiteX212" fmla="*/ 8890285 w 12192000"/>
              <a:gd name="connsiteY212" fmla="*/ 2561137 h 3980394"/>
              <a:gd name="connsiteX213" fmla="*/ 8849395 w 12192000"/>
              <a:gd name="connsiteY213" fmla="*/ 2535500 h 3980394"/>
              <a:gd name="connsiteX214" fmla="*/ 8767618 w 12192000"/>
              <a:gd name="connsiteY214" fmla="*/ 2535500 h 3980394"/>
              <a:gd name="connsiteX215" fmla="*/ 8750095 w 12192000"/>
              <a:gd name="connsiteY215" fmla="*/ 2535500 h 3980394"/>
              <a:gd name="connsiteX216" fmla="*/ 8761778 w 12192000"/>
              <a:gd name="connsiteY216" fmla="*/ 2538348 h 3980394"/>
              <a:gd name="connsiteX217" fmla="*/ 8773460 w 12192000"/>
              <a:gd name="connsiteY217" fmla="*/ 2541197 h 3980394"/>
              <a:gd name="connsiteX218" fmla="*/ 8785141 w 12192000"/>
              <a:gd name="connsiteY218" fmla="*/ 2546893 h 3980394"/>
              <a:gd name="connsiteX219" fmla="*/ 8796824 w 12192000"/>
              <a:gd name="connsiteY219" fmla="*/ 2549742 h 3980394"/>
              <a:gd name="connsiteX220" fmla="*/ 8802666 w 12192000"/>
              <a:gd name="connsiteY220" fmla="*/ 2563985 h 3980394"/>
              <a:gd name="connsiteX221" fmla="*/ 8796824 w 12192000"/>
              <a:gd name="connsiteY221" fmla="*/ 2566834 h 3980394"/>
              <a:gd name="connsiteX222" fmla="*/ 8785141 w 12192000"/>
              <a:gd name="connsiteY222" fmla="*/ 2563985 h 3980394"/>
              <a:gd name="connsiteX223" fmla="*/ 8592380 w 12192000"/>
              <a:gd name="connsiteY223" fmla="*/ 2512711 h 3980394"/>
              <a:gd name="connsiteX224" fmla="*/ 8557334 w 12192000"/>
              <a:gd name="connsiteY224" fmla="*/ 2512711 h 3980394"/>
              <a:gd name="connsiteX225" fmla="*/ 8539809 w 12192000"/>
              <a:gd name="connsiteY225" fmla="*/ 2498468 h 3980394"/>
              <a:gd name="connsiteX226" fmla="*/ 8528128 w 12192000"/>
              <a:gd name="connsiteY226" fmla="*/ 2484225 h 3980394"/>
              <a:gd name="connsiteX227" fmla="*/ 8558155 w 12192000"/>
              <a:gd name="connsiteY227" fmla="*/ 2479240 h 3980394"/>
              <a:gd name="connsiteX228" fmla="*/ 8744253 w 12192000"/>
              <a:gd name="connsiteY228" fmla="*/ 2469980 h 3980394"/>
              <a:gd name="connsiteX229" fmla="*/ 8796824 w 12192000"/>
              <a:gd name="connsiteY229" fmla="*/ 2504163 h 3980394"/>
              <a:gd name="connsiteX230" fmla="*/ 8744253 w 12192000"/>
              <a:gd name="connsiteY230" fmla="*/ 2469980 h 3980394"/>
              <a:gd name="connsiteX231" fmla="*/ 7949844 w 12192000"/>
              <a:gd name="connsiteY231" fmla="*/ 2467135 h 3980394"/>
              <a:gd name="connsiteX232" fmla="*/ 7961528 w 12192000"/>
              <a:gd name="connsiteY232" fmla="*/ 2469983 h 3980394"/>
              <a:gd name="connsiteX233" fmla="*/ 7961528 w 12192000"/>
              <a:gd name="connsiteY233" fmla="*/ 2467135 h 3980394"/>
              <a:gd name="connsiteX234" fmla="*/ 7949844 w 12192000"/>
              <a:gd name="connsiteY234" fmla="*/ 2467135 h 3980394"/>
              <a:gd name="connsiteX235" fmla="*/ 9135618 w 12192000"/>
              <a:gd name="connsiteY235" fmla="*/ 2447195 h 3980394"/>
              <a:gd name="connsiteX236" fmla="*/ 9129777 w 12192000"/>
              <a:gd name="connsiteY236" fmla="*/ 2450043 h 3980394"/>
              <a:gd name="connsiteX237" fmla="*/ 9141458 w 12192000"/>
              <a:gd name="connsiteY237" fmla="*/ 2452892 h 3980394"/>
              <a:gd name="connsiteX238" fmla="*/ 9153142 w 12192000"/>
              <a:gd name="connsiteY238" fmla="*/ 2472833 h 3980394"/>
              <a:gd name="connsiteX239" fmla="*/ 9153142 w 12192000"/>
              <a:gd name="connsiteY239" fmla="*/ 2475681 h 3980394"/>
              <a:gd name="connsiteX240" fmla="*/ 9164823 w 12192000"/>
              <a:gd name="connsiteY240" fmla="*/ 2472833 h 3980394"/>
              <a:gd name="connsiteX241" fmla="*/ 9188189 w 12192000"/>
              <a:gd name="connsiteY241" fmla="*/ 2478529 h 3980394"/>
              <a:gd name="connsiteX242" fmla="*/ 9199871 w 12192000"/>
              <a:gd name="connsiteY242" fmla="*/ 2487075 h 3980394"/>
              <a:gd name="connsiteX243" fmla="*/ 9217394 w 12192000"/>
              <a:gd name="connsiteY243" fmla="*/ 2487075 h 3980394"/>
              <a:gd name="connsiteX244" fmla="*/ 9234919 w 12192000"/>
              <a:gd name="connsiteY244" fmla="*/ 2489923 h 3980394"/>
              <a:gd name="connsiteX245" fmla="*/ 9252442 w 12192000"/>
              <a:gd name="connsiteY245" fmla="*/ 2498471 h 3980394"/>
              <a:gd name="connsiteX246" fmla="*/ 9281648 w 12192000"/>
              <a:gd name="connsiteY246" fmla="*/ 2481379 h 3980394"/>
              <a:gd name="connsiteX247" fmla="*/ 9264125 w 12192000"/>
              <a:gd name="connsiteY247" fmla="*/ 2469983 h 3980394"/>
              <a:gd name="connsiteX248" fmla="*/ 9246602 w 12192000"/>
              <a:gd name="connsiteY248" fmla="*/ 2467135 h 3980394"/>
              <a:gd name="connsiteX249" fmla="*/ 9135618 w 12192000"/>
              <a:gd name="connsiteY249" fmla="*/ 2447195 h 3980394"/>
              <a:gd name="connsiteX250" fmla="*/ 1571225 w 12192000"/>
              <a:gd name="connsiteY250" fmla="*/ 2430103 h 3980394"/>
              <a:gd name="connsiteX251" fmla="*/ 1553700 w 12192000"/>
              <a:gd name="connsiteY251" fmla="*/ 2432952 h 3980394"/>
              <a:gd name="connsiteX252" fmla="*/ 1553700 w 12192000"/>
              <a:gd name="connsiteY252" fmla="*/ 2435801 h 3980394"/>
              <a:gd name="connsiteX253" fmla="*/ 1571225 w 12192000"/>
              <a:gd name="connsiteY253" fmla="*/ 2430103 h 3980394"/>
              <a:gd name="connsiteX254" fmla="*/ 8583619 w 12192000"/>
              <a:gd name="connsiteY254" fmla="*/ 2407666 h 3980394"/>
              <a:gd name="connsiteX255" fmla="*/ 8604063 w 12192000"/>
              <a:gd name="connsiteY255" fmla="*/ 2424403 h 3980394"/>
              <a:gd name="connsiteX256" fmla="*/ 8574857 w 12192000"/>
              <a:gd name="connsiteY256" fmla="*/ 2424403 h 3980394"/>
              <a:gd name="connsiteX257" fmla="*/ 8545651 w 12192000"/>
              <a:gd name="connsiteY257" fmla="*/ 2415857 h 3980394"/>
              <a:gd name="connsiteX258" fmla="*/ 8545651 w 12192000"/>
              <a:gd name="connsiteY258" fmla="*/ 2410160 h 3980394"/>
              <a:gd name="connsiteX259" fmla="*/ 8583619 w 12192000"/>
              <a:gd name="connsiteY259" fmla="*/ 2407666 h 3980394"/>
              <a:gd name="connsiteX260" fmla="*/ 9848248 w 12192000"/>
              <a:gd name="connsiteY260" fmla="*/ 2407314 h 3980394"/>
              <a:gd name="connsiteX261" fmla="*/ 9854090 w 12192000"/>
              <a:gd name="connsiteY261" fmla="*/ 2413011 h 3980394"/>
              <a:gd name="connsiteX262" fmla="*/ 9859932 w 12192000"/>
              <a:gd name="connsiteY262" fmla="*/ 2413011 h 3980394"/>
              <a:gd name="connsiteX263" fmla="*/ 9848248 w 12192000"/>
              <a:gd name="connsiteY263" fmla="*/ 2407314 h 3980394"/>
              <a:gd name="connsiteX264" fmla="*/ 7698671 w 12192000"/>
              <a:gd name="connsiteY264" fmla="*/ 2398767 h 3980394"/>
              <a:gd name="connsiteX265" fmla="*/ 7646101 w 12192000"/>
              <a:gd name="connsiteY265" fmla="*/ 2418709 h 3980394"/>
              <a:gd name="connsiteX266" fmla="*/ 7651942 w 12192000"/>
              <a:gd name="connsiteY266" fmla="*/ 2418709 h 3980394"/>
              <a:gd name="connsiteX267" fmla="*/ 7757083 w 12192000"/>
              <a:gd name="connsiteY267" fmla="*/ 2432952 h 3980394"/>
              <a:gd name="connsiteX268" fmla="*/ 7768767 w 12192000"/>
              <a:gd name="connsiteY268" fmla="*/ 2432952 h 3980394"/>
              <a:gd name="connsiteX269" fmla="*/ 7792132 w 12192000"/>
              <a:gd name="connsiteY269" fmla="*/ 2435801 h 3980394"/>
              <a:gd name="connsiteX270" fmla="*/ 7862227 w 12192000"/>
              <a:gd name="connsiteY270" fmla="*/ 2441497 h 3980394"/>
              <a:gd name="connsiteX271" fmla="*/ 7938161 w 12192000"/>
              <a:gd name="connsiteY271" fmla="*/ 2450043 h 3980394"/>
              <a:gd name="connsiteX272" fmla="*/ 7961528 w 12192000"/>
              <a:gd name="connsiteY272" fmla="*/ 2464287 h 3980394"/>
              <a:gd name="connsiteX273" fmla="*/ 7932321 w 12192000"/>
              <a:gd name="connsiteY273" fmla="*/ 2441497 h 3980394"/>
              <a:gd name="connsiteX274" fmla="*/ 7944003 w 12192000"/>
              <a:gd name="connsiteY274" fmla="*/ 2418709 h 3980394"/>
              <a:gd name="connsiteX275" fmla="*/ 7949844 w 12192000"/>
              <a:gd name="connsiteY275" fmla="*/ 2418709 h 3980394"/>
              <a:gd name="connsiteX276" fmla="*/ 7944003 w 12192000"/>
              <a:gd name="connsiteY276" fmla="*/ 2410162 h 3980394"/>
              <a:gd name="connsiteX277" fmla="*/ 7815496 w 12192000"/>
              <a:gd name="connsiteY277" fmla="*/ 2404465 h 3980394"/>
              <a:gd name="connsiteX278" fmla="*/ 7698671 w 12192000"/>
              <a:gd name="connsiteY278" fmla="*/ 2398767 h 3980394"/>
              <a:gd name="connsiteX279" fmla="*/ 8312000 w 12192000"/>
              <a:gd name="connsiteY279" fmla="*/ 2384521 h 3980394"/>
              <a:gd name="connsiteX280" fmla="*/ 8358731 w 12192000"/>
              <a:gd name="connsiteY280" fmla="*/ 2395916 h 3980394"/>
              <a:gd name="connsiteX281" fmla="*/ 8352890 w 12192000"/>
              <a:gd name="connsiteY281" fmla="*/ 2401612 h 3980394"/>
              <a:gd name="connsiteX282" fmla="*/ 8306160 w 12192000"/>
              <a:gd name="connsiteY282" fmla="*/ 2393067 h 3980394"/>
              <a:gd name="connsiteX283" fmla="*/ 8282794 w 12192000"/>
              <a:gd name="connsiteY283" fmla="*/ 2387370 h 3980394"/>
              <a:gd name="connsiteX284" fmla="*/ 8312000 w 12192000"/>
              <a:gd name="connsiteY284" fmla="*/ 2384521 h 3980394"/>
              <a:gd name="connsiteX285" fmla="*/ 8465333 w 12192000"/>
              <a:gd name="connsiteY285" fmla="*/ 2372770 h 3980394"/>
              <a:gd name="connsiteX286" fmla="*/ 8481397 w 12192000"/>
              <a:gd name="connsiteY286" fmla="*/ 2378823 h 3980394"/>
              <a:gd name="connsiteX287" fmla="*/ 8504761 w 12192000"/>
              <a:gd name="connsiteY287" fmla="*/ 2378823 h 3980394"/>
              <a:gd name="connsiteX288" fmla="*/ 8528126 w 12192000"/>
              <a:gd name="connsiteY288" fmla="*/ 2387370 h 3980394"/>
              <a:gd name="connsiteX289" fmla="*/ 8533968 w 12192000"/>
              <a:gd name="connsiteY289" fmla="*/ 2393067 h 3980394"/>
              <a:gd name="connsiteX290" fmla="*/ 8504761 w 12192000"/>
              <a:gd name="connsiteY290" fmla="*/ 2395916 h 3980394"/>
              <a:gd name="connsiteX291" fmla="*/ 8481397 w 12192000"/>
              <a:gd name="connsiteY291" fmla="*/ 2387370 h 3980394"/>
              <a:gd name="connsiteX292" fmla="*/ 8458032 w 12192000"/>
              <a:gd name="connsiteY292" fmla="*/ 2373126 h 3980394"/>
              <a:gd name="connsiteX293" fmla="*/ 8465333 w 12192000"/>
              <a:gd name="connsiteY293" fmla="*/ 2372770 h 3980394"/>
              <a:gd name="connsiteX294" fmla="*/ 9392632 w 12192000"/>
              <a:gd name="connsiteY294" fmla="*/ 2360667 h 3980394"/>
              <a:gd name="connsiteX295" fmla="*/ 9375109 w 12192000"/>
              <a:gd name="connsiteY295" fmla="*/ 2361737 h 3980394"/>
              <a:gd name="connsiteX296" fmla="*/ 9415997 w 12192000"/>
              <a:gd name="connsiteY296" fmla="*/ 2390223 h 3980394"/>
              <a:gd name="connsiteX297" fmla="*/ 9544504 w 12192000"/>
              <a:gd name="connsiteY297" fmla="*/ 2447195 h 3980394"/>
              <a:gd name="connsiteX298" fmla="*/ 9562028 w 12192000"/>
              <a:gd name="connsiteY298" fmla="*/ 2458589 h 3980394"/>
              <a:gd name="connsiteX299" fmla="*/ 9573711 w 12192000"/>
              <a:gd name="connsiteY299" fmla="*/ 2469983 h 3980394"/>
              <a:gd name="connsiteX300" fmla="*/ 9579553 w 12192000"/>
              <a:gd name="connsiteY300" fmla="*/ 2475681 h 3980394"/>
              <a:gd name="connsiteX301" fmla="*/ 9585393 w 12192000"/>
              <a:gd name="connsiteY301" fmla="*/ 2478529 h 3980394"/>
              <a:gd name="connsiteX302" fmla="*/ 9602916 w 12192000"/>
              <a:gd name="connsiteY302" fmla="*/ 2495622 h 3980394"/>
              <a:gd name="connsiteX303" fmla="*/ 9614599 w 12192000"/>
              <a:gd name="connsiteY303" fmla="*/ 2501318 h 3980394"/>
              <a:gd name="connsiteX304" fmla="*/ 9637966 w 12192000"/>
              <a:gd name="connsiteY304" fmla="*/ 2507016 h 3980394"/>
              <a:gd name="connsiteX305" fmla="*/ 9678854 w 12192000"/>
              <a:gd name="connsiteY305" fmla="*/ 2524108 h 3980394"/>
              <a:gd name="connsiteX306" fmla="*/ 9702218 w 12192000"/>
              <a:gd name="connsiteY306" fmla="*/ 2552594 h 3980394"/>
              <a:gd name="connsiteX307" fmla="*/ 9708060 w 12192000"/>
              <a:gd name="connsiteY307" fmla="*/ 2561140 h 3980394"/>
              <a:gd name="connsiteX308" fmla="*/ 9725583 w 12192000"/>
              <a:gd name="connsiteY308" fmla="*/ 2561140 h 3980394"/>
              <a:gd name="connsiteX309" fmla="*/ 9859932 w 12192000"/>
              <a:gd name="connsiteY309" fmla="*/ 2578231 h 3980394"/>
              <a:gd name="connsiteX310" fmla="*/ 9854090 w 12192000"/>
              <a:gd name="connsiteY310" fmla="*/ 2538351 h 3980394"/>
              <a:gd name="connsiteX311" fmla="*/ 9754789 w 12192000"/>
              <a:gd name="connsiteY311" fmla="*/ 2484226 h 3980394"/>
              <a:gd name="connsiteX312" fmla="*/ 9655487 w 12192000"/>
              <a:gd name="connsiteY312" fmla="*/ 2438650 h 3980394"/>
              <a:gd name="connsiteX313" fmla="*/ 9526981 w 12192000"/>
              <a:gd name="connsiteY313" fmla="*/ 2404465 h 3980394"/>
              <a:gd name="connsiteX314" fmla="*/ 9421838 w 12192000"/>
              <a:gd name="connsiteY314" fmla="*/ 2364584 h 3980394"/>
              <a:gd name="connsiteX315" fmla="*/ 9410155 w 12192000"/>
              <a:gd name="connsiteY315" fmla="*/ 2361737 h 3980394"/>
              <a:gd name="connsiteX316" fmla="*/ 9392632 w 12192000"/>
              <a:gd name="connsiteY316" fmla="*/ 2360667 h 3980394"/>
              <a:gd name="connsiteX317" fmla="*/ 8843555 w 12192000"/>
              <a:gd name="connsiteY317" fmla="*/ 2264883 h 3980394"/>
              <a:gd name="connsiteX318" fmla="*/ 8849397 w 12192000"/>
              <a:gd name="connsiteY318" fmla="*/ 2267733 h 3980394"/>
              <a:gd name="connsiteX319" fmla="*/ 8855238 w 12192000"/>
              <a:gd name="connsiteY319" fmla="*/ 2267733 h 3980394"/>
              <a:gd name="connsiteX320" fmla="*/ 8843555 w 12192000"/>
              <a:gd name="connsiteY320" fmla="*/ 2264883 h 3980394"/>
              <a:gd name="connsiteX321" fmla="*/ 2383153 w 12192000"/>
              <a:gd name="connsiteY321" fmla="*/ 2113907 h 3980394"/>
              <a:gd name="connsiteX322" fmla="*/ 2388995 w 12192000"/>
              <a:gd name="connsiteY322" fmla="*/ 2116759 h 3980394"/>
              <a:gd name="connsiteX323" fmla="*/ 2400677 w 12192000"/>
              <a:gd name="connsiteY323" fmla="*/ 2116759 h 3980394"/>
              <a:gd name="connsiteX324" fmla="*/ 2383153 w 12192000"/>
              <a:gd name="connsiteY324" fmla="*/ 2113907 h 3980394"/>
              <a:gd name="connsiteX325" fmla="*/ 362082 w 12192000"/>
              <a:gd name="connsiteY325" fmla="*/ 2074026 h 3980394"/>
              <a:gd name="connsiteX326" fmla="*/ 356240 w 12192000"/>
              <a:gd name="connsiteY326" fmla="*/ 2076875 h 3980394"/>
              <a:gd name="connsiteX327" fmla="*/ 367923 w 12192000"/>
              <a:gd name="connsiteY327" fmla="*/ 2079725 h 3980394"/>
              <a:gd name="connsiteX328" fmla="*/ 362082 w 12192000"/>
              <a:gd name="connsiteY328" fmla="*/ 2074026 h 3980394"/>
              <a:gd name="connsiteX329" fmla="*/ 8796826 w 12192000"/>
              <a:gd name="connsiteY329" fmla="*/ 2019903 h 3980394"/>
              <a:gd name="connsiteX330" fmla="*/ 8808509 w 12192000"/>
              <a:gd name="connsiteY330" fmla="*/ 2022752 h 3980394"/>
              <a:gd name="connsiteX331" fmla="*/ 8802667 w 12192000"/>
              <a:gd name="connsiteY331" fmla="*/ 2019903 h 3980394"/>
              <a:gd name="connsiteX332" fmla="*/ 8796826 w 12192000"/>
              <a:gd name="connsiteY332" fmla="*/ 2019903 h 3980394"/>
              <a:gd name="connsiteX333" fmla="*/ 5029223 w 12192000"/>
              <a:gd name="connsiteY333" fmla="*/ 1994265 h 3980394"/>
              <a:gd name="connsiteX334" fmla="*/ 5011700 w 12192000"/>
              <a:gd name="connsiteY334" fmla="*/ 1999964 h 3980394"/>
              <a:gd name="connsiteX335" fmla="*/ 5035065 w 12192000"/>
              <a:gd name="connsiteY335" fmla="*/ 1999964 h 3980394"/>
              <a:gd name="connsiteX336" fmla="*/ 5029223 w 12192000"/>
              <a:gd name="connsiteY336" fmla="*/ 1994265 h 3980394"/>
              <a:gd name="connsiteX337" fmla="*/ 3915006 w 12192000"/>
              <a:gd name="connsiteY337" fmla="*/ 1928036 h 3980394"/>
              <a:gd name="connsiteX338" fmla="*/ 3901863 w 12192000"/>
              <a:gd name="connsiteY338" fmla="*/ 1931595 h 3980394"/>
              <a:gd name="connsiteX339" fmla="*/ 3936911 w 12192000"/>
              <a:gd name="connsiteY339" fmla="*/ 1928747 h 3980394"/>
              <a:gd name="connsiteX340" fmla="*/ 3915006 w 12192000"/>
              <a:gd name="connsiteY340" fmla="*/ 1928036 h 3980394"/>
              <a:gd name="connsiteX341" fmla="*/ 10423611 w 12192000"/>
              <a:gd name="connsiteY341" fmla="*/ 1842221 h 3980394"/>
              <a:gd name="connsiteX342" fmla="*/ 10414850 w 12192000"/>
              <a:gd name="connsiteY342" fmla="*/ 1843289 h 3980394"/>
              <a:gd name="connsiteX343" fmla="*/ 10432373 w 12192000"/>
              <a:gd name="connsiteY343" fmla="*/ 1843289 h 3980394"/>
              <a:gd name="connsiteX344" fmla="*/ 10423611 w 12192000"/>
              <a:gd name="connsiteY344" fmla="*/ 1842221 h 3980394"/>
              <a:gd name="connsiteX345" fmla="*/ 7651942 w 12192000"/>
              <a:gd name="connsiteY345" fmla="*/ 1834744 h 3980394"/>
              <a:gd name="connsiteX346" fmla="*/ 7669466 w 12192000"/>
              <a:gd name="connsiteY346" fmla="*/ 1834744 h 3980394"/>
              <a:gd name="connsiteX347" fmla="*/ 7651942 w 12192000"/>
              <a:gd name="connsiteY347" fmla="*/ 1834744 h 3980394"/>
              <a:gd name="connsiteX348" fmla="*/ 8814349 w 12192000"/>
              <a:gd name="connsiteY348" fmla="*/ 1706557 h 3980394"/>
              <a:gd name="connsiteX349" fmla="*/ 8808509 w 12192000"/>
              <a:gd name="connsiteY349" fmla="*/ 1717951 h 3980394"/>
              <a:gd name="connsiteX350" fmla="*/ 8814349 w 12192000"/>
              <a:gd name="connsiteY350" fmla="*/ 1706557 h 3980394"/>
              <a:gd name="connsiteX351" fmla="*/ 7307307 w 12192000"/>
              <a:gd name="connsiteY351" fmla="*/ 1549883 h 3980394"/>
              <a:gd name="connsiteX352" fmla="*/ 7330673 w 12192000"/>
              <a:gd name="connsiteY352" fmla="*/ 1555580 h 3980394"/>
              <a:gd name="connsiteX353" fmla="*/ 7313150 w 12192000"/>
              <a:gd name="connsiteY353" fmla="*/ 1549883 h 3980394"/>
              <a:gd name="connsiteX354" fmla="*/ 7307307 w 12192000"/>
              <a:gd name="connsiteY354" fmla="*/ 1549883 h 3980394"/>
              <a:gd name="connsiteX355" fmla="*/ 6010553 w 12192000"/>
              <a:gd name="connsiteY355" fmla="*/ 1464425 h 3980394"/>
              <a:gd name="connsiteX356" fmla="*/ 5998870 w 12192000"/>
              <a:gd name="connsiteY356" fmla="*/ 1470122 h 3980394"/>
              <a:gd name="connsiteX357" fmla="*/ 6010553 w 12192000"/>
              <a:gd name="connsiteY357" fmla="*/ 1472970 h 3980394"/>
              <a:gd name="connsiteX358" fmla="*/ 6010553 w 12192000"/>
              <a:gd name="connsiteY358" fmla="*/ 1464425 h 3980394"/>
              <a:gd name="connsiteX359" fmla="*/ 5000019 w 12192000"/>
              <a:gd name="connsiteY359" fmla="*/ 1387511 h 3980394"/>
              <a:gd name="connsiteX360" fmla="*/ 4953287 w 12192000"/>
              <a:gd name="connsiteY360" fmla="*/ 1396059 h 3980394"/>
              <a:gd name="connsiteX361" fmla="*/ 4976653 w 12192000"/>
              <a:gd name="connsiteY361" fmla="*/ 1404605 h 3980394"/>
              <a:gd name="connsiteX362" fmla="*/ 5000019 w 12192000"/>
              <a:gd name="connsiteY362" fmla="*/ 1387511 h 3980394"/>
              <a:gd name="connsiteX363" fmla="*/ 3212610 w 12192000"/>
              <a:gd name="connsiteY363" fmla="*/ 1378966 h 3980394"/>
              <a:gd name="connsiteX364" fmla="*/ 3230135 w 12192000"/>
              <a:gd name="connsiteY364" fmla="*/ 1381815 h 3980394"/>
              <a:gd name="connsiteX365" fmla="*/ 3212610 w 12192000"/>
              <a:gd name="connsiteY365" fmla="*/ 1378966 h 3980394"/>
              <a:gd name="connsiteX366" fmla="*/ 5584141 w 12192000"/>
              <a:gd name="connsiteY366" fmla="*/ 1364723 h 3980394"/>
              <a:gd name="connsiteX367" fmla="*/ 5578301 w 12192000"/>
              <a:gd name="connsiteY367" fmla="*/ 1367572 h 3980394"/>
              <a:gd name="connsiteX368" fmla="*/ 5589983 w 12192000"/>
              <a:gd name="connsiteY368" fmla="*/ 1364723 h 3980394"/>
              <a:gd name="connsiteX369" fmla="*/ 5584141 w 12192000"/>
              <a:gd name="connsiteY369" fmla="*/ 1364723 h 3980394"/>
              <a:gd name="connsiteX370" fmla="*/ 3896021 w 12192000"/>
              <a:gd name="connsiteY370" fmla="*/ 1310600 h 3980394"/>
              <a:gd name="connsiteX371" fmla="*/ 3878498 w 12192000"/>
              <a:gd name="connsiteY371" fmla="*/ 1316297 h 3980394"/>
              <a:gd name="connsiteX372" fmla="*/ 3901863 w 12192000"/>
              <a:gd name="connsiteY372" fmla="*/ 1310600 h 3980394"/>
              <a:gd name="connsiteX373" fmla="*/ 3896021 w 12192000"/>
              <a:gd name="connsiteY373" fmla="*/ 1310600 h 3980394"/>
              <a:gd name="connsiteX374" fmla="*/ 1629637 w 12192000"/>
              <a:gd name="connsiteY374" fmla="*/ 1250778 h 3980394"/>
              <a:gd name="connsiteX375" fmla="*/ 1623796 w 12192000"/>
              <a:gd name="connsiteY375" fmla="*/ 1259323 h 3980394"/>
              <a:gd name="connsiteX376" fmla="*/ 1629637 w 12192000"/>
              <a:gd name="connsiteY376" fmla="*/ 1250778 h 3980394"/>
              <a:gd name="connsiteX377" fmla="*/ 12108810 w 12192000"/>
              <a:gd name="connsiteY377" fmla="*/ 1128288 h 3980394"/>
              <a:gd name="connsiteX378" fmla="*/ 12155540 w 12192000"/>
              <a:gd name="connsiteY378" fmla="*/ 1131136 h 3980394"/>
              <a:gd name="connsiteX379" fmla="*/ 12192000 w 12192000"/>
              <a:gd name="connsiteY379" fmla="*/ 1136131 h 3980394"/>
              <a:gd name="connsiteX380" fmla="*/ 12192000 w 12192000"/>
              <a:gd name="connsiteY380" fmla="*/ 1160141 h 3980394"/>
              <a:gd name="connsiteX381" fmla="*/ 12189856 w 12192000"/>
              <a:gd name="connsiteY381" fmla="*/ 1159622 h 3980394"/>
              <a:gd name="connsiteX382" fmla="*/ 12108810 w 12192000"/>
              <a:gd name="connsiteY382" fmla="*/ 1128288 h 3980394"/>
              <a:gd name="connsiteX383" fmla="*/ 11781700 w 12192000"/>
              <a:gd name="connsiteY383" fmla="*/ 1074163 h 3980394"/>
              <a:gd name="connsiteX384" fmla="*/ 11916048 w 12192000"/>
              <a:gd name="connsiteY384" fmla="*/ 1096951 h 3980394"/>
              <a:gd name="connsiteX385" fmla="*/ 11945254 w 12192000"/>
              <a:gd name="connsiteY385" fmla="*/ 1108345 h 3980394"/>
              <a:gd name="connsiteX386" fmla="*/ 11921890 w 12192000"/>
              <a:gd name="connsiteY386" fmla="*/ 1111194 h 3980394"/>
              <a:gd name="connsiteX387" fmla="*/ 11781700 w 12192000"/>
              <a:gd name="connsiteY387" fmla="*/ 1074163 h 3980394"/>
              <a:gd name="connsiteX388" fmla="*/ 3311915 w 12192000"/>
              <a:gd name="connsiteY388" fmla="*/ 1022887 h 3980394"/>
              <a:gd name="connsiteX389" fmla="*/ 3306072 w 12192000"/>
              <a:gd name="connsiteY389" fmla="*/ 1028585 h 3980394"/>
              <a:gd name="connsiteX390" fmla="*/ 3311915 w 12192000"/>
              <a:gd name="connsiteY390" fmla="*/ 1028585 h 3980394"/>
              <a:gd name="connsiteX391" fmla="*/ 3311915 w 12192000"/>
              <a:gd name="connsiteY391" fmla="*/ 1022887 h 3980394"/>
              <a:gd name="connsiteX392" fmla="*/ 11886842 w 12192000"/>
              <a:gd name="connsiteY392" fmla="*/ 1020039 h 3980394"/>
              <a:gd name="connsiteX393" fmla="*/ 11956938 w 12192000"/>
              <a:gd name="connsiteY393" fmla="*/ 1031435 h 3980394"/>
              <a:gd name="connsiteX394" fmla="*/ 11962780 w 12192000"/>
              <a:gd name="connsiteY394" fmla="*/ 1042828 h 3980394"/>
              <a:gd name="connsiteX395" fmla="*/ 11921890 w 12192000"/>
              <a:gd name="connsiteY395" fmla="*/ 1042828 h 3980394"/>
              <a:gd name="connsiteX396" fmla="*/ 11886842 w 12192000"/>
              <a:gd name="connsiteY396" fmla="*/ 1020039 h 3980394"/>
              <a:gd name="connsiteX397" fmla="*/ 1950905 w 12192000"/>
              <a:gd name="connsiteY397" fmla="*/ 1005797 h 3980394"/>
              <a:gd name="connsiteX398" fmla="*/ 1939222 w 12192000"/>
              <a:gd name="connsiteY398" fmla="*/ 1008644 h 3980394"/>
              <a:gd name="connsiteX399" fmla="*/ 1962585 w 12192000"/>
              <a:gd name="connsiteY399" fmla="*/ 1005797 h 3980394"/>
              <a:gd name="connsiteX400" fmla="*/ 1950905 w 12192000"/>
              <a:gd name="connsiteY400" fmla="*/ 1005797 h 3980394"/>
              <a:gd name="connsiteX401" fmla="*/ 852754 w 12192000"/>
              <a:gd name="connsiteY401" fmla="*/ 874760 h 3980394"/>
              <a:gd name="connsiteX402" fmla="*/ 841071 w 12192000"/>
              <a:gd name="connsiteY402" fmla="*/ 877608 h 3980394"/>
              <a:gd name="connsiteX403" fmla="*/ 841071 w 12192000"/>
              <a:gd name="connsiteY403" fmla="*/ 880457 h 3980394"/>
              <a:gd name="connsiteX404" fmla="*/ 852754 w 12192000"/>
              <a:gd name="connsiteY404" fmla="*/ 874760 h 3980394"/>
              <a:gd name="connsiteX405" fmla="*/ 4223132 w 12192000"/>
              <a:gd name="connsiteY405" fmla="*/ 738025 h 3980394"/>
              <a:gd name="connsiteX406" fmla="*/ 4228974 w 12192000"/>
              <a:gd name="connsiteY406" fmla="*/ 738025 h 3980394"/>
              <a:gd name="connsiteX407" fmla="*/ 4223132 w 12192000"/>
              <a:gd name="connsiteY407" fmla="*/ 738025 h 3980394"/>
              <a:gd name="connsiteX408" fmla="*/ 10175358 w 12192000"/>
              <a:gd name="connsiteY408" fmla="*/ 698145 h 3980394"/>
              <a:gd name="connsiteX409" fmla="*/ 10187040 w 12192000"/>
              <a:gd name="connsiteY409" fmla="*/ 698145 h 3980394"/>
              <a:gd name="connsiteX410" fmla="*/ 10192881 w 12192000"/>
              <a:gd name="connsiteY410" fmla="*/ 700994 h 3980394"/>
              <a:gd name="connsiteX411" fmla="*/ 10303865 w 12192000"/>
              <a:gd name="connsiteY411" fmla="*/ 715237 h 3980394"/>
              <a:gd name="connsiteX412" fmla="*/ 10595926 w 12192000"/>
              <a:gd name="connsiteY412" fmla="*/ 755118 h 3980394"/>
              <a:gd name="connsiteX413" fmla="*/ 10619291 w 12192000"/>
              <a:gd name="connsiteY413" fmla="*/ 760817 h 3980394"/>
              <a:gd name="connsiteX414" fmla="*/ 10584245 w 12192000"/>
              <a:gd name="connsiteY414" fmla="*/ 777908 h 3980394"/>
              <a:gd name="connsiteX415" fmla="*/ 10362277 w 12192000"/>
              <a:gd name="connsiteY415" fmla="*/ 735177 h 3980394"/>
              <a:gd name="connsiteX416" fmla="*/ 10216246 w 12192000"/>
              <a:gd name="connsiteY416" fmla="*/ 715237 h 3980394"/>
              <a:gd name="connsiteX417" fmla="*/ 10175358 w 12192000"/>
              <a:gd name="connsiteY417" fmla="*/ 700994 h 3980394"/>
              <a:gd name="connsiteX418" fmla="*/ 10175358 w 12192000"/>
              <a:gd name="connsiteY418" fmla="*/ 698145 h 3980394"/>
              <a:gd name="connsiteX419" fmla="*/ 8580699 w 12192000"/>
              <a:gd name="connsiteY419" fmla="*/ 666811 h 3980394"/>
              <a:gd name="connsiteX420" fmla="*/ 8644953 w 12192000"/>
              <a:gd name="connsiteY420" fmla="*/ 675356 h 3980394"/>
              <a:gd name="connsiteX421" fmla="*/ 8954539 w 12192000"/>
              <a:gd name="connsiteY421" fmla="*/ 712388 h 3980394"/>
              <a:gd name="connsiteX422" fmla="*/ 8983745 w 12192000"/>
              <a:gd name="connsiteY422" fmla="*/ 712388 h 3980394"/>
              <a:gd name="connsiteX423" fmla="*/ 8586540 w 12192000"/>
              <a:gd name="connsiteY423" fmla="*/ 666811 h 3980394"/>
              <a:gd name="connsiteX424" fmla="*/ 8580699 w 12192000"/>
              <a:gd name="connsiteY424" fmla="*/ 666811 h 3980394"/>
              <a:gd name="connsiteX425" fmla="*/ 8329525 w 12192000"/>
              <a:gd name="connsiteY425" fmla="*/ 649718 h 3980394"/>
              <a:gd name="connsiteX426" fmla="*/ 8335367 w 12192000"/>
              <a:gd name="connsiteY426" fmla="*/ 652567 h 3980394"/>
              <a:gd name="connsiteX427" fmla="*/ 8347050 w 12192000"/>
              <a:gd name="connsiteY427" fmla="*/ 652567 h 3980394"/>
              <a:gd name="connsiteX428" fmla="*/ 8487240 w 12192000"/>
              <a:gd name="connsiteY428" fmla="*/ 666811 h 3980394"/>
              <a:gd name="connsiteX429" fmla="*/ 8510604 w 12192000"/>
              <a:gd name="connsiteY429" fmla="*/ 675356 h 3980394"/>
              <a:gd name="connsiteX430" fmla="*/ 8569017 w 12192000"/>
              <a:gd name="connsiteY430" fmla="*/ 669659 h 3980394"/>
              <a:gd name="connsiteX431" fmla="*/ 8329525 w 12192000"/>
              <a:gd name="connsiteY431" fmla="*/ 649718 h 3980394"/>
              <a:gd name="connsiteX432" fmla="*/ 7955685 w 12192000"/>
              <a:gd name="connsiteY432" fmla="*/ 510133 h 3980394"/>
              <a:gd name="connsiteX433" fmla="*/ 8218541 w 12192000"/>
              <a:gd name="connsiteY433" fmla="*/ 538619 h 3980394"/>
              <a:gd name="connsiteX434" fmla="*/ 8090033 w 12192000"/>
              <a:gd name="connsiteY434" fmla="*/ 530074 h 3980394"/>
              <a:gd name="connsiteX435" fmla="*/ 8025780 w 12192000"/>
              <a:gd name="connsiteY435" fmla="*/ 524376 h 3980394"/>
              <a:gd name="connsiteX436" fmla="*/ 7955685 w 12192000"/>
              <a:gd name="connsiteY436" fmla="*/ 510133 h 3980394"/>
              <a:gd name="connsiteX437" fmla="*/ 7359879 w 12192000"/>
              <a:gd name="connsiteY437" fmla="*/ 510133 h 3980394"/>
              <a:gd name="connsiteX438" fmla="*/ 7406609 w 12192000"/>
              <a:gd name="connsiteY438" fmla="*/ 510133 h 3980394"/>
              <a:gd name="connsiteX439" fmla="*/ 7529276 w 12192000"/>
              <a:gd name="connsiteY439" fmla="*/ 521528 h 3980394"/>
              <a:gd name="connsiteX440" fmla="*/ 7716194 w 12192000"/>
              <a:gd name="connsiteY440" fmla="*/ 527225 h 3980394"/>
              <a:gd name="connsiteX441" fmla="*/ 7739560 w 12192000"/>
              <a:gd name="connsiteY441" fmla="*/ 527225 h 3980394"/>
              <a:gd name="connsiteX442" fmla="*/ 7780449 w 12192000"/>
              <a:gd name="connsiteY442" fmla="*/ 530074 h 3980394"/>
              <a:gd name="connsiteX443" fmla="*/ 7821338 w 12192000"/>
              <a:gd name="connsiteY443" fmla="*/ 532922 h 3980394"/>
              <a:gd name="connsiteX444" fmla="*/ 7879750 w 12192000"/>
              <a:gd name="connsiteY444" fmla="*/ 541468 h 3980394"/>
              <a:gd name="connsiteX445" fmla="*/ 7809656 w 12192000"/>
              <a:gd name="connsiteY445" fmla="*/ 541468 h 3980394"/>
              <a:gd name="connsiteX446" fmla="*/ 7523434 w 12192000"/>
              <a:gd name="connsiteY446" fmla="*/ 532922 h 3980394"/>
              <a:gd name="connsiteX447" fmla="*/ 7383246 w 12192000"/>
              <a:gd name="connsiteY447" fmla="*/ 524376 h 3980394"/>
              <a:gd name="connsiteX448" fmla="*/ 7348197 w 12192000"/>
              <a:gd name="connsiteY448" fmla="*/ 515831 h 3980394"/>
              <a:gd name="connsiteX449" fmla="*/ 7359879 w 12192000"/>
              <a:gd name="connsiteY449" fmla="*/ 510133 h 3980394"/>
              <a:gd name="connsiteX450" fmla="*/ 7944002 w 12192000"/>
              <a:gd name="connsiteY450" fmla="*/ 461707 h 3980394"/>
              <a:gd name="connsiteX451" fmla="*/ 7984892 w 12192000"/>
              <a:gd name="connsiteY451" fmla="*/ 464555 h 3980394"/>
              <a:gd name="connsiteX452" fmla="*/ 8130922 w 12192000"/>
              <a:gd name="connsiteY452" fmla="*/ 475949 h 3980394"/>
              <a:gd name="connsiteX453" fmla="*/ 8148446 w 12192000"/>
              <a:gd name="connsiteY453" fmla="*/ 481647 h 3980394"/>
              <a:gd name="connsiteX454" fmla="*/ 8125081 w 12192000"/>
              <a:gd name="connsiteY454" fmla="*/ 490192 h 3980394"/>
              <a:gd name="connsiteX455" fmla="*/ 7955685 w 12192000"/>
              <a:gd name="connsiteY455" fmla="*/ 475949 h 3980394"/>
              <a:gd name="connsiteX456" fmla="*/ 7903114 w 12192000"/>
              <a:gd name="connsiteY456" fmla="*/ 464555 h 3980394"/>
              <a:gd name="connsiteX457" fmla="*/ 7944002 w 12192000"/>
              <a:gd name="connsiteY457" fmla="*/ 461707 h 3980394"/>
              <a:gd name="connsiteX458" fmla="*/ 9637963 w 12192000"/>
              <a:gd name="connsiteY458" fmla="*/ 458861 h 3980394"/>
              <a:gd name="connsiteX459" fmla="*/ 9661328 w 12192000"/>
              <a:gd name="connsiteY459" fmla="*/ 458861 h 3980394"/>
              <a:gd name="connsiteX460" fmla="*/ 9684694 w 12192000"/>
              <a:gd name="connsiteY460" fmla="*/ 461709 h 3980394"/>
              <a:gd name="connsiteX461" fmla="*/ 10087739 w 12192000"/>
              <a:gd name="connsiteY461" fmla="*/ 524380 h 3980394"/>
              <a:gd name="connsiteX462" fmla="*/ 10163675 w 12192000"/>
              <a:gd name="connsiteY462" fmla="*/ 552865 h 3980394"/>
              <a:gd name="connsiteX463" fmla="*/ 9819042 w 12192000"/>
              <a:gd name="connsiteY463" fmla="*/ 507288 h 3980394"/>
              <a:gd name="connsiteX464" fmla="*/ 9737265 w 12192000"/>
              <a:gd name="connsiteY464" fmla="*/ 493044 h 3980394"/>
              <a:gd name="connsiteX465" fmla="*/ 9637963 w 12192000"/>
              <a:gd name="connsiteY465" fmla="*/ 458861 h 3980394"/>
              <a:gd name="connsiteX466" fmla="*/ 7500068 w 12192000"/>
              <a:gd name="connsiteY466" fmla="*/ 456010 h 3980394"/>
              <a:gd name="connsiteX467" fmla="*/ 7517594 w 12192000"/>
              <a:gd name="connsiteY467" fmla="*/ 458859 h 3980394"/>
              <a:gd name="connsiteX468" fmla="*/ 7517594 w 12192000"/>
              <a:gd name="connsiteY468" fmla="*/ 464556 h 3980394"/>
              <a:gd name="connsiteX469" fmla="*/ 7558481 w 12192000"/>
              <a:gd name="connsiteY469" fmla="*/ 467405 h 3980394"/>
              <a:gd name="connsiteX470" fmla="*/ 7599369 w 12192000"/>
              <a:gd name="connsiteY470" fmla="*/ 470253 h 3980394"/>
              <a:gd name="connsiteX471" fmla="*/ 7605210 w 12192000"/>
              <a:gd name="connsiteY471" fmla="*/ 470253 h 3980394"/>
              <a:gd name="connsiteX472" fmla="*/ 7616895 w 12192000"/>
              <a:gd name="connsiteY472" fmla="*/ 473102 h 3980394"/>
              <a:gd name="connsiteX473" fmla="*/ 7733720 w 12192000"/>
              <a:gd name="connsiteY473" fmla="*/ 470253 h 3980394"/>
              <a:gd name="connsiteX474" fmla="*/ 7774609 w 12192000"/>
              <a:gd name="connsiteY474" fmla="*/ 467405 h 3980394"/>
              <a:gd name="connsiteX475" fmla="*/ 7873909 w 12192000"/>
              <a:gd name="connsiteY475" fmla="*/ 464556 h 3980394"/>
              <a:gd name="connsiteX476" fmla="*/ 7833021 w 12192000"/>
              <a:gd name="connsiteY476" fmla="*/ 484496 h 3980394"/>
              <a:gd name="connsiteX477" fmla="*/ 7856384 w 12192000"/>
              <a:gd name="connsiteY477" fmla="*/ 501588 h 3980394"/>
              <a:gd name="connsiteX478" fmla="*/ 7628578 w 12192000"/>
              <a:gd name="connsiteY478" fmla="*/ 487345 h 3980394"/>
              <a:gd name="connsiteX479" fmla="*/ 7476704 w 12192000"/>
              <a:gd name="connsiteY479" fmla="*/ 475951 h 3980394"/>
              <a:gd name="connsiteX480" fmla="*/ 7295627 w 12192000"/>
              <a:gd name="connsiteY480" fmla="*/ 458859 h 3980394"/>
              <a:gd name="connsiteX481" fmla="*/ 7500068 w 12192000"/>
              <a:gd name="connsiteY481" fmla="*/ 456010 h 3980394"/>
              <a:gd name="connsiteX482" fmla="*/ 7073657 w 12192000"/>
              <a:gd name="connsiteY482" fmla="*/ 450312 h 3980394"/>
              <a:gd name="connsiteX483" fmla="*/ 7219688 w 12192000"/>
              <a:gd name="connsiteY483" fmla="*/ 461707 h 3980394"/>
              <a:gd name="connsiteX484" fmla="*/ 7137912 w 12192000"/>
              <a:gd name="connsiteY484" fmla="*/ 461707 h 3980394"/>
              <a:gd name="connsiteX485" fmla="*/ 7073657 w 12192000"/>
              <a:gd name="connsiteY485" fmla="*/ 450312 h 3980394"/>
              <a:gd name="connsiteX486" fmla="*/ 5140207 w 12192000"/>
              <a:gd name="connsiteY486" fmla="*/ 436068 h 3980394"/>
              <a:gd name="connsiteX487" fmla="*/ 5163571 w 12192000"/>
              <a:gd name="connsiteY487" fmla="*/ 436068 h 3980394"/>
              <a:gd name="connsiteX488" fmla="*/ 5227825 w 12192000"/>
              <a:gd name="connsiteY488" fmla="*/ 438917 h 3980394"/>
              <a:gd name="connsiteX489" fmla="*/ 5105160 w 12192000"/>
              <a:gd name="connsiteY489" fmla="*/ 447463 h 3980394"/>
              <a:gd name="connsiteX490" fmla="*/ 5058429 w 12192000"/>
              <a:gd name="connsiteY490" fmla="*/ 441765 h 3980394"/>
              <a:gd name="connsiteX491" fmla="*/ 5140207 w 12192000"/>
              <a:gd name="connsiteY491" fmla="*/ 436068 h 3980394"/>
              <a:gd name="connsiteX492" fmla="*/ 7167117 w 12192000"/>
              <a:gd name="connsiteY492" fmla="*/ 433221 h 3980394"/>
              <a:gd name="connsiteX493" fmla="*/ 7248897 w 12192000"/>
              <a:gd name="connsiteY493" fmla="*/ 436069 h 3980394"/>
              <a:gd name="connsiteX494" fmla="*/ 7167117 w 12192000"/>
              <a:gd name="connsiteY494" fmla="*/ 433221 h 3980394"/>
              <a:gd name="connsiteX495" fmla="*/ 3265183 w 12192000"/>
              <a:gd name="connsiteY495" fmla="*/ 430375 h 3980394"/>
              <a:gd name="connsiteX496" fmla="*/ 3288549 w 12192000"/>
              <a:gd name="connsiteY496" fmla="*/ 441770 h 3980394"/>
              <a:gd name="connsiteX497" fmla="*/ 2850453 w 12192000"/>
              <a:gd name="connsiteY497" fmla="*/ 495894 h 3980394"/>
              <a:gd name="connsiteX498" fmla="*/ 2832930 w 12192000"/>
              <a:gd name="connsiteY498" fmla="*/ 493045 h 3980394"/>
              <a:gd name="connsiteX499" fmla="*/ 2739473 w 12192000"/>
              <a:gd name="connsiteY499" fmla="*/ 521531 h 3980394"/>
              <a:gd name="connsiteX500" fmla="*/ 2523347 w 12192000"/>
              <a:gd name="connsiteY500" fmla="*/ 547168 h 3980394"/>
              <a:gd name="connsiteX501" fmla="*/ 2441567 w 12192000"/>
              <a:gd name="connsiteY501" fmla="*/ 552865 h 3980394"/>
              <a:gd name="connsiteX502" fmla="*/ 2278012 w 12192000"/>
              <a:gd name="connsiteY502" fmla="*/ 564260 h 3980394"/>
              <a:gd name="connsiteX503" fmla="*/ 2274508 w 12192000"/>
              <a:gd name="connsiteY503" fmla="*/ 563120 h 3980394"/>
              <a:gd name="connsiteX504" fmla="*/ 2278012 w 12192000"/>
              <a:gd name="connsiteY504" fmla="*/ 561411 h 3980394"/>
              <a:gd name="connsiteX505" fmla="*/ 2273633 w 12192000"/>
              <a:gd name="connsiteY505" fmla="*/ 562836 h 3980394"/>
              <a:gd name="connsiteX506" fmla="*/ 2274508 w 12192000"/>
              <a:gd name="connsiteY506" fmla="*/ 563120 h 3980394"/>
              <a:gd name="connsiteX507" fmla="*/ 2272172 w 12192000"/>
              <a:gd name="connsiteY507" fmla="*/ 564260 h 3980394"/>
              <a:gd name="connsiteX508" fmla="*/ 2260491 w 12192000"/>
              <a:gd name="connsiteY508" fmla="*/ 569958 h 3980394"/>
              <a:gd name="connsiteX509" fmla="*/ 2237124 w 12192000"/>
              <a:gd name="connsiteY509" fmla="*/ 569958 h 3980394"/>
              <a:gd name="connsiteX510" fmla="*/ 2231284 w 12192000"/>
              <a:gd name="connsiteY510" fmla="*/ 569958 h 3980394"/>
              <a:gd name="connsiteX511" fmla="*/ 2219601 w 12192000"/>
              <a:gd name="connsiteY511" fmla="*/ 569958 h 3980394"/>
              <a:gd name="connsiteX512" fmla="*/ 2202078 w 12192000"/>
              <a:gd name="connsiteY512" fmla="*/ 575655 h 3980394"/>
              <a:gd name="connsiteX513" fmla="*/ 2161189 w 12192000"/>
              <a:gd name="connsiteY513" fmla="*/ 584201 h 3980394"/>
              <a:gd name="connsiteX514" fmla="*/ 2108619 w 12192000"/>
              <a:gd name="connsiteY514" fmla="*/ 592747 h 3980394"/>
              <a:gd name="connsiteX515" fmla="*/ 2079411 w 12192000"/>
              <a:gd name="connsiteY515" fmla="*/ 595595 h 3980394"/>
              <a:gd name="connsiteX516" fmla="*/ 1892491 w 12192000"/>
              <a:gd name="connsiteY516" fmla="*/ 612687 h 3980394"/>
              <a:gd name="connsiteX517" fmla="*/ 1892491 w 12192000"/>
              <a:gd name="connsiteY517" fmla="*/ 609838 h 3980394"/>
              <a:gd name="connsiteX518" fmla="*/ 1717256 w 12192000"/>
              <a:gd name="connsiteY518" fmla="*/ 644021 h 3980394"/>
              <a:gd name="connsiteX519" fmla="*/ 1711415 w 12192000"/>
              <a:gd name="connsiteY519" fmla="*/ 646870 h 3980394"/>
              <a:gd name="connsiteX520" fmla="*/ 1600430 w 12192000"/>
              <a:gd name="connsiteY520" fmla="*/ 658264 h 3980394"/>
              <a:gd name="connsiteX521" fmla="*/ 1588748 w 12192000"/>
              <a:gd name="connsiteY521" fmla="*/ 658264 h 3980394"/>
              <a:gd name="connsiteX522" fmla="*/ 1542018 w 12192000"/>
              <a:gd name="connsiteY522" fmla="*/ 669659 h 3980394"/>
              <a:gd name="connsiteX523" fmla="*/ 1360940 w 12192000"/>
              <a:gd name="connsiteY523" fmla="*/ 698145 h 3980394"/>
              <a:gd name="connsiteX524" fmla="*/ 1273323 w 12192000"/>
              <a:gd name="connsiteY524" fmla="*/ 718085 h 3980394"/>
              <a:gd name="connsiteX525" fmla="*/ 1285005 w 12192000"/>
              <a:gd name="connsiteY525" fmla="*/ 720934 h 3980394"/>
              <a:gd name="connsiteX526" fmla="*/ 1372624 w 12192000"/>
              <a:gd name="connsiteY526" fmla="*/ 712388 h 3980394"/>
              <a:gd name="connsiteX527" fmla="*/ 1629637 w 12192000"/>
              <a:gd name="connsiteY527" fmla="*/ 669659 h 3980394"/>
              <a:gd name="connsiteX528" fmla="*/ 2050204 w 12192000"/>
              <a:gd name="connsiteY528" fmla="*/ 609838 h 3980394"/>
              <a:gd name="connsiteX529" fmla="*/ 2190394 w 12192000"/>
              <a:gd name="connsiteY529" fmla="*/ 592747 h 3980394"/>
              <a:gd name="connsiteX530" fmla="*/ 2359790 w 12192000"/>
              <a:gd name="connsiteY530" fmla="*/ 575655 h 3980394"/>
              <a:gd name="connsiteX531" fmla="*/ 2377311 w 12192000"/>
              <a:gd name="connsiteY531" fmla="*/ 572807 h 3980394"/>
              <a:gd name="connsiteX532" fmla="*/ 2418201 w 12192000"/>
              <a:gd name="connsiteY532" fmla="*/ 569958 h 3980394"/>
              <a:gd name="connsiteX533" fmla="*/ 2867979 w 12192000"/>
              <a:gd name="connsiteY533" fmla="*/ 524380 h 3980394"/>
              <a:gd name="connsiteX534" fmla="*/ 2955597 w 12192000"/>
              <a:gd name="connsiteY534" fmla="*/ 518682 h 3980394"/>
              <a:gd name="connsiteX535" fmla="*/ 3072420 w 12192000"/>
              <a:gd name="connsiteY535" fmla="*/ 510137 h 3980394"/>
              <a:gd name="connsiteX536" fmla="*/ 3148358 w 12192000"/>
              <a:gd name="connsiteY536" fmla="*/ 501591 h 3980394"/>
              <a:gd name="connsiteX537" fmla="*/ 3230135 w 12192000"/>
              <a:gd name="connsiteY537" fmla="*/ 498742 h 3980394"/>
              <a:gd name="connsiteX538" fmla="*/ 3872657 w 12192000"/>
              <a:gd name="connsiteY538" fmla="*/ 461709 h 3980394"/>
              <a:gd name="connsiteX539" fmla="*/ 4001165 w 12192000"/>
              <a:gd name="connsiteY539" fmla="*/ 456013 h 3980394"/>
              <a:gd name="connsiteX540" fmla="*/ 4018688 w 12192000"/>
              <a:gd name="connsiteY540" fmla="*/ 456013 h 3980394"/>
              <a:gd name="connsiteX541" fmla="*/ 4024530 w 12192000"/>
              <a:gd name="connsiteY541" fmla="*/ 453164 h 3980394"/>
              <a:gd name="connsiteX542" fmla="*/ 4042054 w 12192000"/>
              <a:gd name="connsiteY542" fmla="*/ 453164 h 3980394"/>
              <a:gd name="connsiteX543" fmla="*/ 4164720 w 12192000"/>
              <a:gd name="connsiteY543" fmla="*/ 447467 h 3980394"/>
              <a:gd name="connsiteX544" fmla="*/ 4287386 w 12192000"/>
              <a:gd name="connsiteY544" fmla="*/ 441770 h 3980394"/>
              <a:gd name="connsiteX545" fmla="*/ 4526877 w 12192000"/>
              <a:gd name="connsiteY545" fmla="*/ 436072 h 3980394"/>
              <a:gd name="connsiteX546" fmla="*/ 4550243 w 12192000"/>
              <a:gd name="connsiteY546" fmla="*/ 436072 h 3980394"/>
              <a:gd name="connsiteX547" fmla="*/ 4591130 w 12192000"/>
              <a:gd name="connsiteY547" fmla="*/ 438921 h 3980394"/>
              <a:gd name="connsiteX548" fmla="*/ 4608655 w 12192000"/>
              <a:gd name="connsiteY548" fmla="*/ 444618 h 3980394"/>
              <a:gd name="connsiteX549" fmla="*/ 4690433 w 12192000"/>
              <a:gd name="connsiteY549" fmla="*/ 438921 h 3980394"/>
              <a:gd name="connsiteX550" fmla="*/ 4778049 w 12192000"/>
              <a:gd name="connsiteY550" fmla="*/ 438921 h 3980394"/>
              <a:gd name="connsiteX551" fmla="*/ 5000019 w 12192000"/>
              <a:gd name="connsiteY551" fmla="*/ 438921 h 3980394"/>
              <a:gd name="connsiteX552" fmla="*/ 4778049 w 12192000"/>
              <a:gd name="connsiteY552" fmla="*/ 453164 h 3980394"/>
              <a:gd name="connsiteX553" fmla="*/ 4702114 w 12192000"/>
              <a:gd name="connsiteY553" fmla="*/ 453164 h 3980394"/>
              <a:gd name="connsiteX554" fmla="*/ 4596972 w 12192000"/>
              <a:gd name="connsiteY554" fmla="*/ 453164 h 3980394"/>
              <a:gd name="connsiteX555" fmla="*/ 4567766 w 12192000"/>
              <a:gd name="connsiteY555" fmla="*/ 461709 h 3980394"/>
              <a:gd name="connsiteX556" fmla="*/ 4513845 w 12192000"/>
              <a:gd name="connsiteY556" fmla="*/ 465654 h 3980394"/>
              <a:gd name="connsiteX557" fmla="*/ 4499132 w 12192000"/>
              <a:gd name="connsiteY557" fmla="*/ 465270 h 3980394"/>
              <a:gd name="connsiteX558" fmla="*/ 4371820 w 12192000"/>
              <a:gd name="connsiteY558" fmla="*/ 470255 h 3980394"/>
              <a:gd name="connsiteX559" fmla="*/ 4310750 w 12192000"/>
              <a:gd name="connsiteY559" fmla="*/ 470255 h 3980394"/>
              <a:gd name="connsiteX560" fmla="*/ 4281546 w 12192000"/>
              <a:gd name="connsiteY560" fmla="*/ 470255 h 3980394"/>
              <a:gd name="connsiteX561" fmla="*/ 4176403 w 12192000"/>
              <a:gd name="connsiteY561" fmla="*/ 470255 h 3980394"/>
              <a:gd name="connsiteX562" fmla="*/ 4164720 w 12192000"/>
              <a:gd name="connsiteY562" fmla="*/ 467407 h 3980394"/>
              <a:gd name="connsiteX563" fmla="*/ 4129672 w 12192000"/>
              <a:gd name="connsiteY563" fmla="*/ 478802 h 3980394"/>
              <a:gd name="connsiteX564" fmla="*/ 4158878 w 12192000"/>
              <a:gd name="connsiteY564" fmla="*/ 478802 h 3980394"/>
              <a:gd name="connsiteX565" fmla="*/ 4188084 w 12192000"/>
              <a:gd name="connsiteY565" fmla="*/ 478802 h 3980394"/>
              <a:gd name="connsiteX566" fmla="*/ 4299069 w 12192000"/>
              <a:gd name="connsiteY566" fmla="*/ 473104 h 3980394"/>
              <a:gd name="connsiteX567" fmla="*/ 4371820 w 12192000"/>
              <a:gd name="connsiteY567" fmla="*/ 470255 h 3980394"/>
              <a:gd name="connsiteX568" fmla="*/ 4392528 w 12192000"/>
              <a:gd name="connsiteY568" fmla="*/ 470255 h 3980394"/>
              <a:gd name="connsiteX569" fmla="*/ 4480147 w 12192000"/>
              <a:gd name="connsiteY569" fmla="*/ 468119 h 3980394"/>
              <a:gd name="connsiteX570" fmla="*/ 4513845 w 12192000"/>
              <a:gd name="connsiteY570" fmla="*/ 465654 h 3980394"/>
              <a:gd name="connsiteX571" fmla="*/ 4690433 w 12192000"/>
              <a:gd name="connsiteY571" fmla="*/ 470255 h 3980394"/>
              <a:gd name="connsiteX572" fmla="*/ 4713797 w 12192000"/>
              <a:gd name="connsiteY572" fmla="*/ 470255 h 3980394"/>
              <a:gd name="connsiteX573" fmla="*/ 4754684 w 12192000"/>
              <a:gd name="connsiteY573" fmla="*/ 467407 h 3980394"/>
              <a:gd name="connsiteX574" fmla="*/ 4941606 w 12192000"/>
              <a:gd name="connsiteY574" fmla="*/ 467407 h 3980394"/>
              <a:gd name="connsiteX575" fmla="*/ 4947446 w 12192000"/>
              <a:gd name="connsiteY575" fmla="*/ 473104 h 3980394"/>
              <a:gd name="connsiteX576" fmla="*/ 4953287 w 12192000"/>
              <a:gd name="connsiteY576" fmla="*/ 473104 h 3980394"/>
              <a:gd name="connsiteX577" fmla="*/ 5040906 w 12192000"/>
              <a:gd name="connsiteY577" fmla="*/ 467407 h 3980394"/>
              <a:gd name="connsiteX578" fmla="*/ 5496525 w 12192000"/>
              <a:gd name="connsiteY578" fmla="*/ 467407 h 3980394"/>
              <a:gd name="connsiteX579" fmla="*/ 5572460 w 12192000"/>
              <a:gd name="connsiteY579" fmla="*/ 473104 h 3980394"/>
              <a:gd name="connsiteX580" fmla="*/ 5683443 w 12192000"/>
              <a:gd name="connsiteY580" fmla="*/ 473104 h 3980394"/>
              <a:gd name="connsiteX581" fmla="*/ 5841156 w 12192000"/>
              <a:gd name="connsiteY581" fmla="*/ 481651 h 3980394"/>
              <a:gd name="connsiteX582" fmla="*/ 6051442 w 12192000"/>
              <a:gd name="connsiteY582" fmla="*/ 493045 h 3980394"/>
              <a:gd name="connsiteX583" fmla="*/ 6057283 w 12192000"/>
              <a:gd name="connsiteY583" fmla="*/ 493045 h 3980394"/>
              <a:gd name="connsiteX584" fmla="*/ 6104012 w 12192000"/>
              <a:gd name="connsiteY584" fmla="*/ 493045 h 3980394"/>
              <a:gd name="connsiteX585" fmla="*/ 6174108 w 12192000"/>
              <a:gd name="connsiteY585" fmla="*/ 498742 h 3980394"/>
              <a:gd name="connsiteX586" fmla="*/ 6279252 w 12192000"/>
              <a:gd name="connsiteY586" fmla="*/ 507288 h 3980394"/>
              <a:gd name="connsiteX587" fmla="*/ 6483693 w 12192000"/>
              <a:gd name="connsiteY587" fmla="*/ 518682 h 3980394"/>
              <a:gd name="connsiteX588" fmla="*/ 6623882 w 12192000"/>
              <a:gd name="connsiteY588" fmla="*/ 524380 h 3980394"/>
              <a:gd name="connsiteX589" fmla="*/ 6804961 w 12192000"/>
              <a:gd name="connsiteY589" fmla="*/ 527228 h 3980394"/>
              <a:gd name="connsiteX590" fmla="*/ 6962676 w 12192000"/>
              <a:gd name="connsiteY590" fmla="*/ 521531 h 3980394"/>
              <a:gd name="connsiteX591" fmla="*/ 6991882 w 12192000"/>
              <a:gd name="connsiteY591" fmla="*/ 521531 h 3980394"/>
              <a:gd name="connsiteX592" fmla="*/ 7143754 w 12192000"/>
              <a:gd name="connsiteY592" fmla="*/ 521531 h 3980394"/>
              <a:gd name="connsiteX593" fmla="*/ 7149596 w 12192000"/>
              <a:gd name="connsiteY593" fmla="*/ 524380 h 3980394"/>
              <a:gd name="connsiteX594" fmla="*/ 7161277 w 12192000"/>
              <a:gd name="connsiteY594" fmla="*/ 524380 h 3980394"/>
              <a:gd name="connsiteX595" fmla="*/ 7184642 w 12192000"/>
              <a:gd name="connsiteY595" fmla="*/ 524380 h 3980394"/>
              <a:gd name="connsiteX596" fmla="*/ 7243055 w 12192000"/>
              <a:gd name="connsiteY596" fmla="*/ 555714 h 3980394"/>
              <a:gd name="connsiteX597" fmla="*/ 7283944 w 12192000"/>
              <a:gd name="connsiteY597" fmla="*/ 564260 h 3980394"/>
              <a:gd name="connsiteX598" fmla="*/ 7301467 w 12192000"/>
              <a:gd name="connsiteY598" fmla="*/ 564260 h 3980394"/>
              <a:gd name="connsiteX599" fmla="*/ 7424132 w 12192000"/>
              <a:gd name="connsiteY599" fmla="*/ 569958 h 3980394"/>
              <a:gd name="connsiteX600" fmla="*/ 7605212 w 12192000"/>
              <a:gd name="connsiteY600" fmla="*/ 587049 h 3980394"/>
              <a:gd name="connsiteX601" fmla="*/ 7920640 w 12192000"/>
              <a:gd name="connsiteY601" fmla="*/ 612687 h 3980394"/>
              <a:gd name="connsiteX602" fmla="*/ 8019940 w 12192000"/>
              <a:gd name="connsiteY602" fmla="*/ 621232 h 3980394"/>
              <a:gd name="connsiteX603" fmla="*/ 8066670 w 12192000"/>
              <a:gd name="connsiteY603" fmla="*/ 612687 h 3980394"/>
              <a:gd name="connsiteX604" fmla="*/ 8031623 w 12192000"/>
              <a:gd name="connsiteY604" fmla="*/ 601292 h 3980394"/>
              <a:gd name="connsiteX605" fmla="*/ 7844702 w 12192000"/>
              <a:gd name="connsiteY605" fmla="*/ 581352 h 3980394"/>
              <a:gd name="connsiteX606" fmla="*/ 7739560 w 12192000"/>
              <a:gd name="connsiteY606" fmla="*/ 569958 h 3980394"/>
              <a:gd name="connsiteX607" fmla="*/ 8025782 w 12192000"/>
              <a:gd name="connsiteY607" fmla="*/ 575655 h 3980394"/>
              <a:gd name="connsiteX608" fmla="*/ 8177655 w 12192000"/>
              <a:gd name="connsiteY608" fmla="*/ 587049 h 3980394"/>
              <a:gd name="connsiteX609" fmla="*/ 8528128 w 12192000"/>
              <a:gd name="connsiteY609" fmla="*/ 615535 h 3980394"/>
              <a:gd name="connsiteX610" fmla="*/ 8569017 w 12192000"/>
              <a:gd name="connsiteY610" fmla="*/ 618384 h 3980394"/>
              <a:gd name="connsiteX611" fmla="*/ 8539811 w 12192000"/>
              <a:gd name="connsiteY611" fmla="*/ 589898 h 3980394"/>
              <a:gd name="connsiteX612" fmla="*/ 8796826 w 12192000"/>
              <a:gd name="connsiteY612" fmla="*/ 621232 h 3980394"/>
              <a:gd name="connsiteX613" fmla="*/ 8896126 w 12192000"/>
              <a:gd name="connsiteY613" fmla="*/ 629778 h 3980394"/>
              <a:gd name="connsiteX614" fmla="*/ 9141458 w 12192000"/>
              <a:gd name="connsiteY614" fmla="*/ 655415 h 3980394"/>
              <a:gd name="connsiteX615" fmla="*/ 9229077 w 12192000"/>
              <a:gd name="connsiteY615" fmla="*/ 666811 h 3980394"/>
              <a:gd name="connsiteX616" fmla="*/ 9678854 w 12192000"/>
              <a:gd name="connsiteY616" fmla="*/ 732328 h 3980394"/>
              <a:gd name="connsiteX617" fmla="*/ 9854090 w 12192000"/>
              <a:gd name="connsiteY617" fmla="*/ 769362 h 3980394"/>
              <a:gd name="connsiteX618" fmla="*/ 9889138 w 12192000"/>
              <a:gd name="connsiteY618" fmla="*/ 783605 h 3980394"/>
              <a:gd name="connsiteX619" fmla="*/ 9848248 w 12192000"/>
              <a:gd name="connsiteY619" fmla="*/ 797848 h 3980394"/>
              <a:gd name="connsiteX620" fmla="*/ 9789836 w 12192000"/>
              <a:gd name="connsiteY620" fmla="*/ 789302 h 3980394"/>
              <a:gd name="connsiteX621" fmla="*/ 9678854 w 12192000"/>
              <a:gd name="connsiteY621" fmla="*/ 775060 h 3980394"/>
              <a:gd name="connsiteX622" fmla="*/ 9667170 w 12192000"/>
              <a:gd name="connsiteY622" fmla="*/ 769362 h 3980394"/>
              <a:gd name="connsiteX623" fmla="*/ 9643806 w 12192000"/>
              <a:gd name="connsiteY623" fmla="*/ 766513 h 3980394"/>
              <a:gd name="connsiteX624" fmla="*/ 9637966 w 12192000"/>
              <a:gd name="connsiteY624" fmla="*/ 769362 h 3980394"/>
              <a:gd name="connsiteX625" fmla="*/ 9538664 w 12192000"/>
              <a:gd name="connsiteY625" fmla="*/ 755118 h 3980394"/>
              <a:gd name="connsiteX626" fmla="*/ 9515299 w 12192000"/>
              <a:gd name="connsiteY626" fmla="*/ 752269 h 3980394"/>
              <a:gd name="connsiteX627" fmla="*/ 9474409 w 12192000"/>
              <a:gd name="connsiteY627" fmla="*/ 746571 h 3980394"/>
              <a:gd name="connsiteX628" fmla="*/ 9451045 w 12192000"/>
              <a:gd name="connsiteY628" fmla="*/ 743723 h 3980394"/>
              <a:gd name="connsiteX629" fmla="*/ 9351743 w 12192000"/>
              <a:gd name="connsiteY629" fmla="*/ 732328 h 3980394"/>
              <a:gd name="connsiteX630" fmla="*/ 9281648 w 12192000"/>
              <a:gd name="connsiteY630" fmla="*/ 726631 h 3980394"/>
              <a:gd name="connsiteX631" fmla="*/ 9275807 w 12192000"/>
              <a:gd name="connsiteY631" fmla="*/ 743723 h 3980394"/>
              <a:gd name="connsiteX632" fmla="*/ 9158982 w 12192000"/>
              <a:gd name="connsiteY632" fmla="*/ 749421 h 3980394"/>
              <a:gd name="connsiteX633" fmla="*/ 9240760 w 12192000"/>
              <a:gd name="connsiteY633" fmla="*/ 763665 h 3980394"/>
              <a:gd name="connsiteX634" fmla="*/ 9264125 w 12192000"/>
              <a:gd name="connsiteY634" fmla="*/ 766513 h 3980394"/>
              <a:gd name="connsiteX635" fmla="*/ 9305013 w 12192000"/>
              <a:gd name="connsiteY635" fmla="*/ 766513 h 3980394"/>
              <a:gd name="connsiteX636" fmla="*/ 9754789 w 12192000"/>
              <a:gd name="connsiteY636" fmla="*/ 823485 h 3980394"/>
              <a:gd name="connsiteX637" fmla="*/ 9889138 w 12192000"/>
              <a:gd name="connsiteY637" fmla="*/ 846274 h 3980394"/>
              <a:gd name="connsiteX638" fmla="*/ 9877456 w 12192000"/>
              <a:gd name="connsiteY638" fmla="*/ 860518 h 3980394"/>
              <a:gd name="connsiteX639" fmla="*/ 9819044 w 12192000"/>
              <a:gd name="connsiteY639" fmla="*/ 851971 h 3980394"/>
              <a:gd name="connsiteX640" fmla="*/ 9649647 w 12192000"/>
              <a:gd name="connsiteY640" fmla="*/ 832031 h 3980394"/>
              <a:gd name="connsiteX641" fmla="*/ 9743106 w 12192000"/>
              <a:gd name="connsiteY641" fmla="*/ 863365 h 3980394"/>
              <a:gd name="connsiteX642" fmla="*/ 9889138 w 12192000"/>
              <a:gd name="connsiteY642" fmla="*/ 889002 h 3980394"/>
              <a:gd name="connsiteX643" fmla="*/ 10280501 w 12192000"/>
              <a:gd name="connsiteY643" fmla="*/ 960219 h 3980394"/>
              <a:gd name="connsiteX644" fmla="*/ 10327231 w 12192000"/>
              <a:gd name="connsiteY644" fmla="*/ 985856 h 3980394"/>
              <a:gd name="connsiteX645" fmla="*/ 10368120 w 12192000"/>
              <a:gd name="connsiteY645" fmla="*/ 1005797 h 3980394"/>
              <a:gd name="connsiteX646" fmla="*/ 10426531 w 12192000"/>
              <a:gd name="connsiteY646" fmla="*/ 1022887 h 3980394"/>
              <a:gd name="connsiteX647" fmla="*/ 10519992 w 12192000"/>
              <a:gd name="connsiteY647" fmla="*/ 1048526 h 3980394"/>
              <a:gd name="connsiteX648" fmla="*/ 10578405 w 12192000"/>
              <a:gd name="connsiteY648" fmla="*/ 1065618 h 3980394"/>
              <a:gd name="connsiteX649" fmla="*/ 10584246 w 12192000"/>
              <a:gd name="connsiteY649" fmla="*/ 1068466 h 3980394"/>
              <a:gd name="connsiteX650" fmla="*/ 10595929 w 12192000"/>
              <a:gd name="connsiteY650" fmla="*/ 1065618 h 3980394"/>
              <a:gd name="connsiteX651" fmla="*/ 10671865 w 12192000"/>
              <a:gd name="connsiteY651" fmla="*/ 1091255 h 3980394"/>
              <a:gd name="connsiteX652" fmla="*/ 10794532 w 12192000"/>
              <a:gd name="connsiteY652" fmla="*/ 1128288 h 3980394"/>
              <a:gd name="connsiteX653" fmla="*/ 11109958 w 12192000"/>
              <a:gd name="connsiteY653" fmla="*/ 1227989 h 3980394"/>
              <a:gd name="connsiteX654" fmla="*/ 11150846 w 12192000"/>
              <a:gd name="connsiteY654" fmla="*/ 1242232 h 3980394"/>
              <a:gd name="connsiteX655" fmla="*/ 11314401 w 12192000"/>
              <a:gd name="connsiteY655" fmla="*/ 1299205 h 3980394"/>
              <a:gd name="connsiteX656" fmla="*/ 11472116 w 12192000"/>
              <a:gd name="connsiteY656" fmla="*/ 1361875 h 3980394"/>
              <a:gd name="connsiteX657" fmla="*/ 11600622 w 12192000"/>
              <a:gd name="connsiteY657" fmla="*/ 1475819 h 3980394"/>
              <a:gd name="connsiteX658" fmla="*/ 11711606 w 12192000"/>
              <a:gd name="connsiteY658" fmla="*/ 1529943 h 3980394"/>
              <a:gd name="connsiteX659" fmla="*/ 11828432 w 12192000"/>
              <a:gd name="connsiteY659" fmla="*/ 1575521 h 3980394"/>
              <a:gd name="connsiteX660" fmla="*/ 11904366 w 12192000"/>
              <a:gd name="connsiteY660" fmla="*/ 1609705 h 3980394"/>
              <a:gd name="connsiteX661" fmla="*/ 11951096 w 12192000"/>
              <a:gd name="connsiteY661" fmla="*/ 1649584 h 3980394"/>
              <a:gd name="connsiteX662" fmla="*/ 12044556 w 12192000"/>
              <a:gd name="connsiteY662" fmla="*/ 1695162 h 3980394"/>
              <a:gd name="connsiteX663" fmla="*/ 12138018 w 12192000"/>
              <a:gd name="connsiteY663" fmla="*/ 1757831 h 3980394"/>
              <a:gd name="connsiteX664" fmla="*/ 12155540 w 12192000"/>
              <a:gd name="connsiteY664" fmla="*/ 1777772 h 3980394"/>
              <a:gd name="connsiteX665" fmla="*/ 12173064 w 12192000"/>
              <a:gd name="connsiteY665" fmla="*/ 1803409 h 3980394"/>
              <a:gd name="connsiteX666" fmla="*/ 12190588 w 12192000"/>
              <a:gd name="connsiteY666" fmla="*/ 1831895 h 3980394"/>
              <a:gd name="connsiteX667" fmla="*/ 12192000 w 12192000"/>
              <a:gd name="connsiteY667" fmla="*/ 1833343 h 3980394"/>
              <a:gd name="connsiteX668" fmla="*/ 12192000 w 12192000"/>
              <a:gd name="connsiteY668" fmla="*/ 3311893 h 3980394"/>
              <a:gd name="connsiteX669" fmla="*/ 12186207 w 12192000"/>
              <a:gd name="connsiteY669" fmla="*/ 3309615 h 3980394"/>
              <a:gd name="connsiteX670" fmla="*/ 12167224 w 12192000"/>
              <a:gd name="connsiteY670" fmla="*/ 3287533 h 3980394"/>
              <a:gd name="connsiteX671" fmla="*/ 12161382 w 12192000"/>
              <a:gd name="connsiteY671" fmla="*/ 3267600 h 3980394"/>
              <a:gd name="connsiteX672" fmla="*/ 12097128 w 12192000"/>
              <a:gd name="connsiteY672" fmla="*/ 3247663 h 3980394"/>
              <a:gd name="connsiteX673" fmla="*/ 12032874 w 12192000"/>
              <a:gd name="connsiteY673" fmla="*/ 3239115 h 3980394"/>
              <a:gd name="connsiteX674" fmla="*/ 11997828 w 12192000"/>
              <a:gd name="connsiteY674" fmla="*/ 3224868 h 3980394"/>
              <a:gd name="connsiteX675" fmla="*/ 11892684 w 12192000"/>
              <a:gd name="connsiteY675" fmla="*/ 3187837 h 3980394"/>
              <a:gd name="connsiteX676" fmla="*/ 11933574 w 12192000"/>
              <a:gd name="connsiteY676" fmla="*/ 3213474 h 3980394"/>
              <a:gd name="connsiteX677" fmla="*/ 12120494 w 12192000"/>
              <a:gd name="connsiteY677" fmla="*/ 3304632 h 3980394"/>
              <a:gd name="connsiteX678" fmla="*/ 12108812 w 12192000"/>
              <a:gd name="connsiteY678" fmla="*/ 3324573 h 3980394"/>
              <a:gd name="connsiteX679" fmla="*/ 12097128 w 12192000"/>
              <a:gd name="connsiteY679" fmla="*/ 3318867 h 3980394"/>
              <a:gd name="connsiteX680" fmla="*/ 12067924 w 12192000"/>
              <a:gd name="connsiteY680" fmla="*/ 3313181 h 3980394"/>
              <a:gd name="connsiteX681" fmla="*/ 11951096 w 12192000"/>
              <a:gd name="connsiteY681" fmla="*/ 3290393 h 3980394"/>
              <a:gd name="connsiteX682" fmla="*/ 11898526 w 12192000"/>
              <a:gd name="connsiteY682" fmla="*/ 3233414 h 3980394"/>
              <a:gd name="connsiteX683" fmla="*/ 11898526 w 12192000"/>
              <a:gd name="connsiteY683" fmla="*/ 3227721 h 3980394"/>
              <a:gd name="connsiteX684" fmla="*/ 11834272 w 12192000"/>
              <a:gd name="connsiteY684" fmla="*/ 3190687 h 3980394"/>
              <a:gd name="connsiteX685" fmla="*/ 11834272 w 12192000"/>
              <a:gd name="connsiteY685" fmla="*/ 3196382 h 3980394"/>
              <a:gd name="connsiteX686" fmla="*/ 11863478 w 12192000"/>
              <a:gd name="connsiteY686" fmla="*/ 3230568 h 3980394"/>
              <a:gd name="connsiteX687" fmla="*/ 11834272 w 12192000"/>
              <a:gd name="connsiteY687" fmla="*/ 3219173 h 3980394"/>
              <a:gd name="connsiteX688" fmla="*/ 11816750 w 12192000"/>
              <a:gd name="connsiteY688" fmla="*/ 3222021 h 3980394"/>
              <a:gd name="connsiteX689" fmla="*/ 11916050 w 12192000"/>
              <a:gd name="connsiteY689" fmla="*/ 3298927 h 3980394"/>
              <a:gd name="connsiteX690" fmla="*/ 11857638 w 12192000"/>
              <a:gd name="connsiteY690" fmla="*/ 3296082 h 3980394"/>
              <a:gd name="connsiteX691" fmla="*/ 11834272 w 12192000"/>
              <a:gd name="connsiteY691" fmla="*/ 3270453 h 3980394"/>
              <a:gd name="connsiteX692" fmla="*/ 11822590 w 12192000"/>
              <a:gd name="connsiteY692" fmla="*/ 3247663 h 3980394"/>
              <a:gd name="connsiteX693" fmla="*/ 11670718 w 12192000"/>
              <a:gd name="connsiteY693" fmla="*/ 3204929 h 3980394"/>
              <a:gd name="connsiteX694" fmla="*/ 11699922 w 12192000"/>
              <a:gd name="connsiteY694" fmla="*/ 3199232 h 3980394"/>
              <a:gd name="connsiteX695" fmla="*/ 11723290 w 12192000"/>
              <a:gd name="connsiteY695" fmla="*/ 3190687 h 3980394"/>
              <a:gd name="connsiteX696" fmla="*/ 11699922 w 12192000"/>
              <a:gd name="connsiteY696" fmla="*/ 3179292 h 3980394"/>
              <a:gd name="connsiteX697" fmla="*/ 11606464 w 12192000"/>
              <a:gd name="connsiteY697" fmla="*/ 3147957 h 3980394"/>
              <a:gd name="connsiteX698" fmla="*/ 11565574 w 12192000"/>
              <a:gd name="connsiteY698" fmla="*/ 3142259 h 3980394"/>
              <a:gd name="connsiteX699" fmla="*/ 11553892 w 12192000"/>
              <a:gd name="connsiteY699" fmla="*/ 3156502 h 3980394"/>
              <a:gd name="connsiteX700" fmla="*/ 11600622 w 12192000"/>
              <a:gd name="connsiteY700" fmla="*/ 3184988 h 3980394"/>
              <a:gd name="connsiteX701" fmla="*/ 11594780 w 12192000"/>
              <a:gd name="connsiteY701" fmla="*/ 3187837 h 3980394"/>
              <a:gd name="connsiteX702" fmla="*/ 11588940 w 12192000"/>
              <a:gd name="connsiteY702" fmla="*/ 3190687 h 3980394"/>
              <a:gd name="connsiteX703" fmla="*/ 11495480 w 12192000"/>
              <a:gd name="connsiteY703" fmla="*/ 3187837 h 3980394"/>
              <a:gd name="connsiteX704" fmla="*/ 11437068 w 12192000"/>
              <a:gd name="connsiteY704" fmla="*/ 3165048 h 3980394"/>
              <a:gd name="connsiteX705" fmla="*/ 11355290 w 12192000"/>
              <a:gd name="connsiteY705" fmla="*/ 3145107 h 3980394"/>
              <a:gd name="connsiteX706" fmla="*/ 11366973 w 12192000"/>
              <a:gd name="connsiteY706" fmla="*/ 3113771 h 3980394"/>
              <a:gd name="connsiteX707" fmla="*/ 11366973 w 12192000"/>
              <a:gd name="connsiteY707" fmla="*/ 3110926 h 3980394"/>
              <a:gd name="connsiteX708" fmla="*/ 11355290 w 12192000"/>
              <a:gd name="connsiteY708" fmla="*/ 3105225 h 3980394"/>
              <a:gd name="connsiteX709" fmla="*/ 11326084 w 12192000"/>
              <a:gd name="connsiteY709" fmla="*/ 3105225 h 3980394"/>
              <a:gd name="connsiteX710" fmla="*/ 11261830 w 12192000"/>
              <a:gd name="connsiteY710" fmla="*/ 3068196 h 3980394"/>
              <a:gd name="connsiteX711" fmla="*/ 11185894 w 12192000"/>
              <a:gd name="connsiteY711" fmla="*/ 3048254 h 3980394"/>
              <a:gd name="connsiteX712" fmla="*/ 11098276 w 12192000"/>
              <a:gd name="connsiteY712" fmla="*/ 3036860 h 3980394"/>
              <a:gd name="connsiteX713" fmla="*/ 11063227 w 12192000"/>
              <a:gd name="connsiteY713" fmla="*/ 3031164 h 3980394"/>
              <a:gd name="connsiteX714" fmla="*/ 11028181 w 12192000"/>
              <a:gd name="connsiteY714" fmla="*/ 3019768 h 3980394"/>
              <a:gd name="connsiteX715" fmla="*/ 10928879 w 12192000"/>
              <a:gd name="connsiteY715" fmla="*/ 3005525 h 3980394"/>
              <a:gd name="connsiteX716" fmla="*/ 10899674 w 12192000"/>
              <a:gd name="connsiteY716" fmla="*/ 2999829 h 3980394"/>
              <a:gd name="connsiteX717" fmla="*/ 10952245 w 12192000"/>
              <a:gd name="connsiteY717" fmla="*/ 3036860 h 3980394"/>
              <a:gd name="connsiteX718" fmla="*/ 10847103 w 12192000"/>
              <a:gd name="connsiteY718" fmla="*/ 2999829 h 3980394"/>
              <a:gd name="connsiteX719" fmla="*/ 10817895 w 12192000"/>
              <a:gd name="connsiteY719" fmla="*/ 3005525 h 3980394"/>
              <a:gd name="connsiteX720" fmla="*/ 10759484 w 12192000"/>
              <a:gd name="connsiteY720" fmla="*/ 2979890 h 3980394"/>
              <a:gd name="connsiteX721" fmla="*/ 10671865 w 12192000"/>
              <a:gd name="connsiteY721" fmla="*/ 2931462 h 3980394"/>
              <a:gd name="connsiteX722" fmla="*/ 10666023 w 12192000"/>
              <a:gd name="connsiteY722" fmla="*/ 2922915 h 3980394"/>
              <a:gd name="connsiteX723" fmla="*/ 10654342 w 12192000"/>
              <a:gd name="connsiteY723" fmla="*/ 2917217 h 3980394"/>
              <a:gd name="connsiteX724" fmla="*/ 10636817 w 12192000"/>
              <a:gd name="connsiteY724" fmla="*/ 2902974 h 3980394"/>
              <a:gd name="connsiteX725" fmla="*/ 10619293 w 12192000"/>
              <a:gd name="connsiteY725" fmla="*/ 2902974 h 3980394"/>
              <a:gd name="connsiteX726" fmla="*/ 10601771 w 12192000"/>
              <a:gd name="connsiteY726" fmla="*/ 2900126 h 3980394"/>
              <a:gd name="connsiteX727" fmla="*/ 10601771 w 12192000"/>
              <a:gd name="connsiteY727" fmla="*/ 2902974 h 3980394"/>
              <a:gd name="connsiteX728" fmla="*/ 10525833 w 12192000"/>
              <a:gd name="connsiteY728" fmla="*/ 2874490 h 3980394"/>
              <a:gd name="connsiteX729" fmla="*/ 10502469 w 12192000"/>
              <a:gd name="connsiteY729" fmla="*/ 2860244 h 3980394"/>
              <a:gd name="connsiteX730" fmla="*/ 10461581 w 12192000"/>
              <a:gd name="connsiteY730" fmla="*/ 2851699 h 3980394"/>
              <a:gd name="connsiteX731" fmla="*/ 10391485 w 12192000"/>
              <a:gd name="connsiteY731" fmla="*/ 2831760 h 3980394"/>
              <a:gd name="connsiteX732" fmla="*/ 10391485 w 12192000"/>
              <a:gd name="connsiteY732" fmla="*/ 2828911 h 3980394"/>
              <a:gd name="connsiteX733" fmla="*/ 10350597 w 12192000"/>
              <a:gd name="connsiteY733" fmla="*/ 2803274 h 3980394"/>
              <a:gd name="connsiteX734" fmla="*/ 10280501 w 12192000"/>
              <a:gd name="connsiteY734" fmla="*/ 2754847 h 3980394"/>
              <a:gd name="connsiteX735" fmla="*/ 10274660 w 12192000"/>
              <a:gd name="connsiteY735" fmla="*/ 2746301 h 3980394"/>
              <a:gd name="connsiteX736" fmla="*/ 10268820 w 12192000"/>
              <a:gd name="connsiteY736" fmla="*/ 2734908 h 3980394"/>
              <a:gd name="connsiteX737" fmla="*/ 10181199 w 12192000"/>
              <a:gd name="connsiteY737" fmla="*/ 2734908 h 3980394"/>
              <a:gd name="connsiteX738" fmla="*/ 10116947 w 12192000"/>
              <a:gd name="connsiteY738" fmla="*/ 2732058 h 3980394"/>
              <a:gd name="connsiteX739" fmla="*/ 10128628 w 12192000"/>
              <a:gd name="connsiteY739" fmla="*/ 2709269 h 3980394"/>
              <a:gd name="connsiteX740" fmla="*/ 10081899 w 12192000"/>
              <a:gd name="connsiteY740" fmla="*/ 2680781 h 3980394"/>
              <a:gd name="connsiteX741" fmla="*/ 10041009 w 12192000"/>
              <a:gd name="connsiteY741" fmla="*/ 2675085 h 3980394"/>
              <a:gd name="connsiteX742" fmla="*/ 10029328 w 12192000"/>
              <a:gd name="connsiteY742" fmla="*/ 2672237 h 3980394"/>
              <a:gd name="connsiteX743" fmla="*/ 9889138 w 12192000"/>
              <a:gd name="connsiteY743" fmla="*/ 2643750 h 3980394"/>
              <a:gd name="connsiteX744" fmla="*/ 9889138 w 12192000"/>
              <a:gd name="connsiteY744" fmla="*/ 2640901 h 3980394"/>
              <a:gd name="connsiteX745" fmla="*/ 9883298 w 12192000"/>
              <a:gd name="connsiteY745" fmla="*/ 2643750 h 3980394"/>
              <a:gd name="connsiteX746" fmla="*/ 9894979 w 12192000"/>
              <a:gd name="connsiteY746" fmla="*/ 2652297 h 3980394"/>
              <a:gd name="connsiteX747" fmla="*/ 9859932 w 12192000"/>
              <a:gd name="connsiteY747" fmla="*/ 2655145 h 3980394"/>
              <a:gd name="connsiteX748" fmla="*/ 9813202 w 12192000"/>
              <a:gd name="connsiteY748" fmla="*/ 2632357 h 3980394"/>
              <a:gd name="connsiteX749" fmla="*/ 9813202 w 12192000"/>
              <a:gd name="connsiteY749" fmla="*/ 2629507 h 3980394"/>
              <a:gd name="connsiteX750" fmla="*/ 9766472 w 12192000"/>
              <a:gd name="connsiteY750" fmla="*/ 2606720 h 3980394"/>
              <a:gd name="connsiteX751" fmla="*/ 9754789 w 12192000"/>
              <a:gd name="connsiteY751" fmla="*/ 2598173 h 3980394"/>
              <a:gd name="connsiteX752" fmla="*/ 9702218 w 12192000"/>
              <a:gd name="connsiteY752" fmla="*/ 2581080 h 3980394"/>
              <a:gd name="connsiteX753" fmla="*/ 9708060 w 12192000"/>
              <a:gd name="connsiteY753" fmla="*/ 2589626 h 3980394"/>
              <a:gd name="connsiteX754" fmla="*/ 9702218 w 12192000"/>
              <a:gd name="connsiteY754" fmla="*/ 2598173 h 3980394"/>
              <a:gd name="connsiteX755" fmla="*/ 9702218 w 12192000"/>
              <a:gd name="connsiteY755" fmla="*/ 2606720 h 3980394"/>
              <a:gd name="connsiteX756" fmla="*/ 9696377 w 12192000"/>
              <a:gd name="connsiteY756" fmla="*/ 2606720 h 3980394"/>
              <a:gd name="connsiteX757" fmla="*/ 9690535 w 12192000"/>
              <a:gd name="connsiteY757" fmla="*/ 2615265 h 3980394"/>
              <a:gd name="connsiteX758" fmla="*/ 9684695 w 12192000"/>
              <a:gd name="connsiteY758" fmla="*/ 2615265 h 3980394"/>
              <a:gd name="connsiteX759" fmla="*/ 9696377 w 12192000"/>
              <a:gd name="connsiteY759" fmla="*/ 2638053 h 3980394"/>
              <a:gd name="connsiteX760" fmla="*/ 9719742 w 12192000"/>
              <a:gd name="connsiteY760" fmla="*/ 2657994 h 3980394"/>
              <a:gd name="connsiteX761" fmla="*/ 9696377 w 12192000"/>
              <a:gd name="connsiteY761" fmla="*/ 2657994 h 3980394"/>
              <a:gd name="connsiteX762" fmla="*/ 9684695 w 12192000"/>
              <a:gd name="connsiteY762" fmla="*/ 2666540 h 3980394"/>
              <a:gd name="connsiteX763" fmla="*/ 9632124 w 12192000"/>
              <a:gd name="connsiteY763" fmla="*/ 2652297 h 3980394"/>
              <a:gd name="connsiteX764" fmla="*/ 9614599 w 12192000"/>
              <a:gd name="connsiteY764" fmla="*/ 2652297 h 3980394"/>
              <a:gd name="connsiteX765" fmla="*/ 9597075 w 12192000"/>
              <a:gd name="connsiteY765" fmla="*/ 2655145 h 3980394"/>
              <a:gd name="connsiteX766" fmla="*/ 9591235 w 12192000"/>
              <a:gd name="connsiteY766" fmla="*/ 2655145 h 3980394"/>
              <a:gd name="connsiteX767" fmla="*/ 9614599 w 12192000"/>
              <a:gd name="connsiteY767" fmla="*/ 2669387 h 3980394"/>
              <a:gd name="connsiteX768" fmla="*/ 9538664 w 12192000"/>
              <a:gd name="connsiteY768" fmla="*/ 2683632 h 3980394"/>
              <a:gd name="connsiteX769" fmla="*/ 9509457 w 12192000"/>
              <a:gd name="connsiteY769" fmla="*/ 2677933 h 3980394"/>
              <a:gd name="connsiteX770" fmla="*/ 9445205 w 12192000"/>
              <a:gd name="connsiteY770" fmla="*/ 2652297 h 3980394"/>
              <a:gd name="connsiteX771" fmla="*/ 9433521 w 12192000"/>
              <a:gd name="connsiteY771" fmla="*/ 2635204 h 3980394"/>
              <a:gd name="connsiteX772" fmla="*/ 9439363 w 12192000"/>
              <a:gd name="connsiteY772" fmla="*/ 2632357 h 3980394"/>
              <a:gd name="connsiteX773" fmla="*/ 9421838 w 12192000"/>
              <a:gd name="connsiteY773" fmla="*/ 2626659 h 3980394"/>
              <a:gd name="connsiteX774" fmla="*/ 9328379 w 12192000"/>
              <a:gd name="connsiteY774" fmla="*/ 2601021 h 3980394"/>
              <a:gd name="connsiteX775" fmla="*/ 9316696 w 12192000"/>
              <a:gd name="connsiteY775" fmla="*/ 2598173 h 3980394"/>
              <a:gd name="connsiteX776" fmla="*/ 9305013 w 12192000"/>
              <a:gd name="connsiteY776" fmla="*/ 2592476 h 3980394"/>
              <a:gd name="connsiteX777" fmla="*/ 9310855 w 12192000"/>
              <a:gd name="connsiteY777" fmla="*/ 2586777 h 3980394"/>
              <a:gd name="connsiteX778" fmla="*/ 9299173 w 12192000"/>
              <a:gd name="connsiteY778" fmla="*/ 2578231 h 3980394"/>
              <a:gd name="connsiteX779" fmla="*/ 9299173 w 12192000"/>
              <a:gd name="connsiteY779" fmla="*/ 2575384 h 3980394"/>
              <a:gd name="connsiteX780" fmla="*/ 9258284 w 12192000"/>
              <a:gd name="connsiteY780" fmla="*/ 2589626 h 3980394"/>
              <a:gd name="connsiteX781" fmla="*/ 9240760 w 12192000"/>
              <a:gd name="connsiteY781" fmla="*/ 2586777 h 3980394"/>
              <a:gd name="connsiteX782" fmla="*/ 9229077 w 12192000"/>
              <a:gd name="connsiteY782" fmla="*/ 2586777 h 3980394"/>
              <a:gd name="connsiteX783" fmla="*/ 9223236 w 12192000"/>
              <a:gd name="connsiteY783" fmla="*/ 2586777 h 3980394"/>
              <a:gd name="connsiteX784" fmla="*/ 9211553 w 12192000"/>
              <a:gd name="connsiteY784" fmla="*/ 2586777 h 3980394"/>
              <a:gd name="connsiteX785" fmla="*/ 9188189 w 12192000"/>
              <a:gd name="connsiteY785" fmla="*/ 2581080 h 3980394"/>
              <a:gd name="connsiteX786" fmla="*/ 9158982 w 12192000"/>
              <a:gd name="connsiteY786" fmla="*/ 2575384 h 3980394"/>
              <a:gd name="connsiteX787" fmla="*/ 9118094 w 12192000"/>
              <a:gd name="connsiteY787" fmla="*/ 2546897 h 3980394"/>
              <a:gd name="connsiteX788" fmla="*/ 9106411 w 12192000"/>
              <a:gd name="connsiteY788" fmla="*/ 2544048 h 3980394"/>
              <a:gd name="connsiteX789" fmla="*/ 9106411 w 12192000"/>
              <a:gd name="connsiteY789" fmla="*/ 2541199 h 3980394"/>
              <a:gd name="connsiteX790" fmla="*/ 9100571 w 12192000"/>
              <a:gd name="connsiteY790" fmla="*/ 2538351 h 3980394"/>
              <a:gd name="connsiteX791" fmla="*/ 9071364 w 12192000"/>
              <a:gd name="connsiteY791" fmla="*/ 2535503 h 3980394"/>
              <a:gd name="connsiteX792" fmla="*/ 8995428 w 12192000"/>
              <a:gd name="connsiteY792" fmla="*/ 2507016 h 3980394"/>
              <a:gd name="connsiteX793" fmla="*/ 9036316 w 12192000"/>
              <a:gd name="connsiteY793" fmla="*/ 2481379 h 3980394"/>
              <a:gd name="connsiteX794" fmla="*/ 9153142 w 12192000"/>
              <a:gd name="connsiteY794" fmla="*/ 2507016 h 3980394"/>
              <a:gd name="connsiteX795" fmla="*/ 9129777 w 12192000"/>
              <a:gd name="connsiteY795" fmla="*/ 2521259 h 3980394"/>
              <a:gd name="connsiteX796" fmla="*/ 9264125 w 12192000"/>
              <a:gd name="connsiteY796" fmla="*/ 2538351 h 3980394"/>
              <a:gd name="connsiteX797" fmla="*/ 9229077 w 12192000"/>
              <a:gd name="connsiteY797" fmla="*/ 2507016 h 3980394"/>
              <a:gd name="connsiteX798" fmla="*/ 9223236 w 12192000"/>
              <a:gd name="connsiteY798" fmla="*/ 2507016 h 3980394"/>
              <a:gd name="connsiteX799" fmla="*/ 9176506 w 12192000"/>
              <a:gd name="connsiteY799" fmla="*/ 2487075 h 3980394"/>
              <a:gd name="connsiteX800" fmla="*/ 9135618 w 12192000"/>
              <a:gd name="connsiteY800" fmla="*/ 2478529 h 3980394"/>
              <a:gd name="connsiteX801" fmla="*/ 9094729 w 12192000"/>
              <a:gd name="connsiteY801" fmla="*/ 2469983 h 3980394"/>
              <a:gd name="connsiteX802" fmla="*/ 9065523 w 12192000"/>
              <a:gd name="connsiteY802" fmla="*/ 2464287 h 3980394"/>
              <a:gd name="connsiteX803" fmla="*/ 9053841 w 12192000"/>
              <a:gd name="connsiteY803" fmla="*/ 2461437 h 3980394"/>
              <a:gd name="connsiteX804" fmla="*/ 9030475 w 12192000"/>
              <a:gd name="connsiteY804" fmla="*/ 2472833 h 3980394"/>
              <a:gd name="connsiteX805" fmla="*/ 8995428 w 12192000"/>
              <a:gd name="connsiteY805" fmla="*/ 2475681 h 3980394"/>
              <a:gd name="connsiteX806" fmla="*/ 8972062 w 12192000"/>
              <a:gd name="connsiteY806" fmla="*/ 2467135 h 3980394"/>
              <a:gd name="connsiteX807" fmla="*/ 8966221 w 12192000"/>
              <a:gd name="connsiteY807" fmla="*/ 2450043 h 3980394"/>
              <a:gd name="connsiteX808" fmla="*/ 8937016 w 12192000"/>
              <a:gd name="connsiteY808" fmla="*/ 2447195 h 3980394"/>
              <a:gd name="connsiteX809" fmla="*/ 8931174 w 12192000"/>
              <a:gd name="connsiteY809" fmla="*/ 2441497 h 3980394"/>
              <a:gd name="connsiteX810" fmla="*/ 8907809 w 12192000"/>
              <a:gd name="connsiteY810" fmla="*/ 2435801 h 3980394"/>
              <a:gd name="connsiteX811" fmla="*/ 8884445 w 12192000"/>
              <a:gd name="connsiteY811" fmla="*/ 2430103 h 3980394"/>
              <a:gd name="connsiteX812" fmla="*/ 8884445 w 12192000"/>
              <a:gd name="connsiteY812" fmla="*/ 2432952 h 3980394"/>
              <a:gd name="connsiteX813" fmla="*/ 8901968 w 12192000"/>
              <a:gd name="connsiteY813" fmla="*/ 2461437 h 3980394"/>
              <a:gd name="connsiteX814" fmla="*/ 8855238 w 12192000"/>
              <a:gd name="connsiteY814" fmla="*/ 2461437 h 3980394"/>
              <a:gd name="connsiteX815" fmla="*/ 8855238 w 12192000"/>
              <a:gd name="connsiteY815" fmla="*/ 2467135 h 3980394"/>
              <a:gd name="connsiteX816" fmla="*/ 8773460 w 12192000"/>
              <a:gd name="connsiteY816" fmla="*/ 2447195 h 3980394"/>
              <a:gd name="connsiteX817" fmla="*/ 8732572 w 12192000"/>
              <a:gd name="connsiteY817" fmla="*/ 2435801 h 3980394"/>
              <a:gd name="connsiteX818" fmla="*/ 8703365 w 12192000"/>
              <a:gd name="connsiteY818" fmla="*/ 2430103 h 3980394"/>
              <a:gd name="connsiteX819" fmla="*/ 8691684 w 12192000"/>
              <a:gd name="connsiteY819" fmla="*/ 2427254 h 3980394"/>
              <a:gd name="connsiteX820" fmla="*/ 8674159 w 12192000"/>
              <a:gd name="connsiteY820" fmla="*/ 2424407 h 3980394"/>
              <a:gd name="connsiteX821" fmla="*/ 8633271 w 12192000"/>
              <a:gd name="connsiteY821" fmla="*/ 2418709 h 3980394"/>
              <a:gd name="connsiteX822" fmla="*/ 8604065 w 12192000"/>
              <a:gd name="connsiteY822" fmla="*/ 2413011 h 3980394"/>
              <a:gd name="connsiteX823" fmla="*/ 8592382 w 12192000"/>
              <a:gd name="connsiteY823" fmla="*/ 2387372 h 3980394"/>
              <a:gd name="connsiteX824" fmla="*/ 8592382 w 12192000"/>
              <a:gd name="connsiteY824" fmla="*/ 2381677 h 3980394"/>
              <a:gd name="connsiteX825" fmla="*/ 8557335 w 12192000"/>
              <a:gd name="connsiteY825" fmla="*/ 2373130 h 3980394"/>
              <a:gd name="connsiteX826" fmla="*/ 8411304 w 12192000"/>
              <a:gd name="connsiteY826" fmla="*/ 2336099 h 3980394"/>
              <a:gd name="connsiteX827" fmla="*/ 8399621 w 12192000"/>
              <a:gd name="connsiteY827" fmla="*/ 2336099 h 3980394"/>
              <a:gd name="connsiteX828" fmla="*/ 8405462 w 12192000"/>
              <a:gd name="connsiteY828" fmla="*/ 2338947 h 3980394"/>
              <a:gd name="connsiteX829" fmla="*/ 8440510 w 12192000"/>
              <a:gd name="connsiteY829" fmla="*/ 2367433 h 3980394"/>
              <a:gd name="connsiteX830" fmla="*/ 8434669 w 12192000"/>
              <a:gd name="connsiteY830" fmla="*/ 2367433 h 3980394"/>
              <a:gd name="connsiteX831" fmla="*/ 8352891 w 12192000"/>
              <a:gd name="connsiteY831" fmla="*/ 2347493 h 3980394"/>
              <a:gd name="connsiteX832" fmla="*/ 8236066 w 12192000"/>
              <a:gd name="connsiteY832" fmla="*/ 2301917 h 3980394"/>
              <a:gd name="connsiteX833" fmla="*/ 8241908 w 12192000"/>
              <a:gd name="connsiteY833" fmla="*/ 2301917 h 3980394"/>
              <a:gd name="connsiteX834" fmla="*/ 8236066 w 12192000"/>
              <a:gd name="connsiteY834" fmla="*/ 2299068 h 3980394"/>
              <a:gd name="connsiteX835" fmla="*/ 8236066 w 12192000"/>
              <a:gd name="connsiteY835" fmla="*/ 2301917 h 3980394"/>
              <a:gd name="connsiteX836" fmla="*/ 8212701 w 12192000"/>
              <a:gd name="connsiteY836" fmla="*/ 2301917 h 3980394"/>
              <a:gd name="connsiteX837" fmla="*/ 8183495 w 12192000"/>
              <a:gd name="connsiteY837" fmla="*/ 2321856 h 3980394"/>
              <a:gd name="connsiteX838" fmla="*/ 8130924 w 12192000"/>
              <a:gd name="connsiteY838" fmla="*/ 2338947 h 3980394"/>
              <a:gd name="connsiteX839" fmla="*/ 8072511 w 12192000"/>
              <a:gd name="connsiteY839" fmla="*/ 2347493 h 3980394"/>
              <a:gd name="connsiteX840" fmla="*/ 8025782 w 12192000"/>
              <a:gd name="connsiteY840" fmla="*/ 2381677 h 3980394"/>
              <a:gd name="connsiteX841" fmla="*/ 7990734 w 12192000"/>
              <a:gd name="connsiteY841" fmla="*/ 2384527 h 3980394"/>
              <a:gd name="connsiteX842" fmla="*/ 7973211 w 12192000"/>
              <a:gd name="connsiteY842" fmla="*/ 2390223 h 3980394"/>
              <a:gd name="connsiteX843" fmla="*/ 7979052 w 12192000"/>
              <a:gd name="connsiteY843" fmla="*/ 2390223 h 3980394"/>
              <a:gd name="connsiteX844" fmla="*/ 8019940 w 12192000"/>
              <a:gd name="connsiteY844" fmla="*/ 2398767 h 3980394"/>
              <a:gd name="connsiteX845" fmla="*/ 8043305 w 12192000"/>
              <a:gd name="connsiteY845" fmla="*/ 2407314 h 3980394"/>
              <a:gd name="connsiteX846" fmla="*/ 8107559 w 12192000"/>
              <a:gd name="connsiteY846" fmla="*/ 2418709 h 3980394"/>
              <a:gd name="connsiteX847" fmla="*/ 8136764 w 12192000"/>
              <a:gd name="connsiteY847" fmla="*/ 2418709 h 3980394"/>
              <a:gd name="connsiteX848" fmla="*/ 8160130 w 12192000"/>
              <a:gd name="connsiteY848" fmla="*/ 2421557 h 3980394"/>
              <a:gd name="connsiteX849" fmla="*/ 8241908 w 12192000"/>
              <a:gd name="connsiteY849" fmla="*/ 2435801 h 3980394"/>
              <a:gd name="connsiteX850" fmla="*/ 8265272 w 12192000"/>
              <a:gd name="connsiteY850" fmla="*/ 2444347 h 3980394"/>
              <a:gd name="connsiteX851" fmla="*/ 8323685 w 12192000"/>
              <a:gd name="connsiteY851" fmla="*/ 2472833 h 3980394"/>
              <a:gd name="connsiteX852" fmla="*/ 8300320 w 12192000"/>
              <a:gd name="connsiteY852" fmla="*/ 2475681 h 3980394"/>
              <a:gd name="connsiteX853" fmla="*/ 8259431 w 12192000"/>
              <a:gd name="connsiteY853" fmla="*/ 2472833 h 3980394"/>
              <a:gd name="connsiteX854" fmla="*/ 8236066 w 12192000"/>
              <a:gd name="connsiteY854" fmla="*/ 2467135 h 3980394"/>
              <a:gd name="connsiteX855" fmla="*/ 8206860 w 12192000"/>
              <a:gd name="connsiteY855" fmla="*/ 2464287 h 3980394"/>
              <a:gd name="connsiteX856" fmla="*/ 8171813 w 12192000"/>
              <a:gd name="connsiteY856" fmla="*/ 2469983 h 3980394"/>
              <a:gd name="connsiteX857" fmla="*/ 8142606 w 12192000"/>
              <a:gd name="connsiteY857" fmla="*/ 2467135 h 3980394"/>
              <a:gd name="connsiteX858" fmla="*/ 8136764 w 12192000"/>
              <a:gd name="connsiteY858" fmla="*/ 2478529 h 3980394"/>
              <a:gd name="connsiteX859" fmla="*/ 8142606 w 12192000"/>
              <a:gd name="connsiteY859" fmla="*/ 2484226 h 3980394"/>
              <a:gd name="connsiteX860" fmla="*/ 8142606 w 12192000"/>
              <a:gd name="connsiteY860" fmla="*/ 2487075 h 3980394"/>
              <a:gd name="connsiteX861" fmla="*/ 8148447 w 12192000"/>
              <a:gd name="connsiteY861" fmla="*/ 2489923 h 3980394"/>
              <a:gd name="connsiteX862" fmla="*/ 8148447 w 12192000"/>
              <a:gd name="connsiteY862" fmla="*/ 2492772 h 3980394"/>
              <a:gd name="connsiteX863" fmla="*/ 8154289 w 12192000"/>
              <a:gd name="connsiteY863" fmla="*/ 2492772 h 3980394"/>
              <a:gd name="connsiteX864" fmla="*/ 8160130 w 12192000"/>
              <a:gd name="connsiteY864" fmla="*/ 2489923 h 3980394"/>
              <a:gd name="connsiteX865" fmla="*/ 8312002 w 12192000"/>
              <a:gd name="connsiteY865" fmla="*/ 2518411 h 3980394"/>
              <a:gd name="connsiteX866" fmla="*/ 8329525 w 12192000"/>
              <a:gd name="connsiteY866" fmla="*/ 2518411 h 3980394"/>
              <a:gd name="connsiteX867" fmla="*/ 8411304 w 12192000"/>
              <a:gd name="connsiteY867" fmla="*/ 2532653 h 3980394"/>
              <a:gd name="connsiteX868" fmla="*/ 8452192 w 12192000"/>
              <a:gd name="connsiteY868" fmla="*/ 2538351 h 3980394"/>
              <a:gd name="connsiteX869" fmla="*/ 8458033 w 12192000"/>
              <a:gd name="connsiteY869" fmla="*/ 2538351 h 3980394"/>
              <a:gd name="connsiteX870" fmla="*/ 8469716 w 12192000"/>
              <a:gd name="connsiteY870" fmla="*/ 2541199 h 3980394"/>
              <a:gd name="connsiteX871" fmla="*/ 8475557 w 12192000"/>
              <a:gd name="connsiteY871" fmla="*/ 2544048 h 3980394"/>
              <a:gd name="connsiteX872" fmla="*/ 8498923 w 12192000"/>
              <a:gd name="connsiteY872" fmla="*/ 2544048 h 3980394"/>
              <a:gd name="connsiteX873" fmla="*/ 8586540 w 12192000"/>
              <a:gd name="connsiteY873" fmla="*/ 2558291 h 3980394"/>
              <a:gd name="connsiteX874" fmla="*/ 8639111 w 12192000"/>
              <a:gd name="connsiteY874" fmla="*/ 2563987 h 3980394"/>
              <a:gd name="connsiteX875" fmla="*/ 8802667 w 12192000"/>
              <a:gd name="connsiteY875" fmla="*/ 2601021 h 3980394"/>
              <a:gd name="connsiteX876" fmla="*/ 8837714 w 12192000"/>
              <a:gd name="connsiteY876" fmla="*/ 2609568 h 3980394"/>
              <a:gd name="connsiteX877" fmla="*/ 8942857 w 12192000"/>
              <a:gd name="connsiteY877" fmla="*/ 2635204 h 3980394"/>
              <a:gd name="connsiteX878" fmla="*/ 8977904 w 12192000"/>
              <a:gd name="connsiteY878" fmla="*/ 2652297 h 3980394"/>
              <a:gd name="connsiteX879" fmla="*/ 8977904 w 12192000"/>
              <a:gd name="connsiteY879" fmla="*/ 2657994 h 3980394"/>
              <a:gd name="connsiteX880" fmla="*/ 9176506 w 12192000"/>
              <a:gd name="connsiteY880" fmla="*/ 2712118 h 3980394"/>
              <a:gd name="connsiteX881" fmla="*/ 9182348 w 12192000"/>
              <a:gd name="connsiteY881" fmla="*/ 2712118 h 3980394"/>
              <a:gd name="connsiteX882" fmla="*/ 9199871 w 12192000"/>
              <a:gd name="connsiteY882" fmla="*/ 2712118 h 3980394"/>
              <a:gd name="connsiteX883" fmla="*/ 9234919 w 12192000"/>
              <a:gd name="connsiteY883" fmla="*/ 2723511 h 3980394"/>
              <a:gd name="connsiteX884" fmla="*/ 9258284 w 12192000"/>
              <a:gd name="connsiteY884" fmla="*/ 2729209 h 3980394"/>
              <a:gd name="connsiteX885" fmla="*/ 9433521 w 12192000"/>
              <a:gd name="connsiteY885" fmla="*/ 2783334 h 3980394"/>
              <a:gd name="connsiteX886" fmla="*/ 9550345 w 12192000"/>
              <a:gd name="connsiteY886" fmla="*/ 2814669 h 3980394"/>
              <a:gd name="connsiteX887" fmla="*/ 9602916 w 12192000"/>
              <a:gd name="connsiteY887" fmla="*/ 2840306 h 3980394"/>
              <a:gd name="connsiteX888" fmla="*/ 9626283 w 12192000"/>
              <a:gd name="connsiteY888" fmla="*/ 2868791 h 3980394"/>
              <a:gd name="connsiteX889" fmla="*/ 9637966 w 12192000"/>
              <a:gd name="connsiteY889" fmla="*/ 2871639 h 3980394"/>
              <a:gd name="connsiteX890" fmla="*/ 9912503 w 12192000"/>
              <a:gd name="connsiteY890" fmla="*/ 2940007 h 3980394"/>
              <a:gd name="connsiteX891" fmla="*/ 10011805 w 12192000"/>
              <a:gd name="connsiteY891" fmla="*/ 2991284 h 3980394"/>
              <a:gd name="connsiteX892" fmla="*/ 9924186 w 12192000"/>
              <a:gd name="connsiteY892" fmla="*/ 2979890 h 3980394"/>
              <a:gd name="connsiteX893" fmla="*/ 9900821 w 12192000"/>
              <a:gd name="connsiteY893" fmla="*/ 2979890 h 3980394"/>
              <a:gd name="connsiteX894" fmla="*/ 9789836 w 12192000"/>
              <a:gd name="connsiteY894" fmla="*/ 2971343 h 3980394"/>
              <a:gd name="connsiteX895" fmla="*/ 9649647 w 12192000"/>
              <a:gd name="connsiteY895" fmla="*/ 2934310 h 3980394"/>
              <a:gd name="connsiteX896" fmla="*/ 9614599 w 12192000"/>
              <a:gd name="connsiteY896" fmla="*/ 2925763 h 3980394"/>
              <a:gd name="connsiteX897" fmla="*/ 9591235 w 12192000"/>
              <a:gd name="connsiteY897" fmla="*/ 2920067 h 3980394"/>
              <a:gd name="connsiteX898" fmla="*/ 9562028 w 12192000"/>
              <a:gd name="connsiteY898" fmla="*/ 2914368 h 3980394"/>
              <a:gd name="connsiteX899" fmla="*/ 9526981 w 12192000"/>
              <a:gd name="connsiteY899" fmla="*/ 2905824 h 3980394"/>
              <a:gd name="connsiteX900" fmla="*/ 9515299 w 12192000"/>
              <a:gd name="connsiteY900" fmla="*/ 2900126 h 3980394"/>
              <a:gd name="connsiteX901" fmla="*/ 9503616 w 12192000"/>
              <a:gd name="connsiteY901" fmla="*/ 2897278 h 3980394"/>
              <a:gd name="connsiteX902" fmla="*/ 9375109 w 12192000"/>
              <a:gd name="connsiteY902" fmla="*/ 2865943 h 3980394"/>
              <a:gd name="connsiteX903" fmla="*/ 9328379 w 12192000"/>
              <a:gd name="connsiteY903" fmla="*/ 2854548 h 3980394"/>
              <a:gd name="connsiteX904" fmla="*/ 9275807 w 12192000"/>
              <a:gd name="connsiteY904" fmla="*/ 2843154 h 3980394"/>
              <a:gd name="connsiteX905" fmla="*/ 9299173 w 12192000"/>
              <a:gd name="connsiteY905" fmla="*/ 2865943 h 3980394"/>
              <a:gd name="connsiteX906" fmla="*/ 9240760 w 12192000"/>
              <a:gd name="connsiteY906" fmla="*/ 2848850 h 3980394"/>
              <a:gd name="connsiteX907" fmla="*/ 9188189 w 12192000"/>
              <a:gd name="connsiteY907" fmla="*/ 2840306 h 3980394"/>
              <a:gd name="connsiteX908" fmla="*/ 9112252 w 12192000"/>
              <a:gd name="connsiteY908" fmla="*/ 2871639 h 3980394"/>
              <a:gd name="connsiteX909" fmla="*/ 9059681 w 12192000"/>
              <a:gd name="connsiteY909" fmla="*/ 2860244 h 3980394"/>
              <a:gd name="connsiteX910" fmla="*/ 8878603 w 12192000"/>
              <a:gd name="connsiteY910" fmla="*/ 2823213 h 3980394"/>
              <a:gd name="connsiteX911" fmla="*/ 8837714 w 12192000"/>
              <a:gd name="connsiteY911" fmla="*/ 2817519 h 3980394"/>
              <a:gd name="connsiteX912" fmla="*/ 8814349 w 12192000"/>
              <a:gd name="connsiteY912" fmla="*/ 2811819 h 3980394"/>
              <a:gd name="connsiteX913" fmla="*/ 8802667 w 12192000"/>
              <a:gd name="connsiteY913" fmla="*/ 2806122 h 3980394"/>
              <a:gd name="connsiteX914" fmla="*/ 8767618 w 12192000"/>
              <a:gd name="connsiteY914" fmla="*/ 2797578 h 3980394"/>
              <a:gd name="connsiteX915" fmla="*/ 8680001 w 12192000"/>
              <a:gd name="connsiteY915" fmla="*/ 2791879 h 3980394"/>
              <a:gd name="connsiteX916" fmla="*/ 8621588 w 12192000"/>
              <a:gd name="connsiteY916" fmla="*/ 2789032 h 3980394"/>
              <a:gd name="connsiteX917" fmla="*/ 8580699 w 12192000"/>
              <a:gd name="connsiteY917" fmla="*/ 2794728 h 3980394"/>
              <a:gd name="connsiteX918" fmla="*/ 8592382 w 12192000"/>
              <a:gd name="connsiteY918" fmla="*/ 2800425 h 3980394"/>
              <a:gd name="connsiteX919" fmla="*/ 8598223 w 12192000"/>
              <a:gd name="connsiteY919" fmla="*/ 2800425 h 3980394"/>
              <a:gd name="connsiteX920" fmla="*/ 8621588 w 12192000"/>
              <a:gd name="connsiteY920" fmla="*/ 2803274 h 3980394"/>
              <a:gd name="connsiteX921" fmla="*/ 8755936 w 12192000"/>
              <a:gd name="connsiteY921" fmla="*/ 2837456 h 3980394"/>
              <a:gd name="connsiteX922" fmla="*/ 8837714 w 12192000"/>
              <a:gd name="connsiteY922" fmla="*/ 2854548 h 3980394"/>
              <a:gd name="connsiteX923" fmla="*/ 8931174 w 12192000"/>
              <a:gd name="connsiteY923" fmla="*/ 2877337 h 3980394"/>
              <a:gd name="connsiteX924" fmla="*/ 9170665 w 12192000"/>
              <a:gd name="connsiteY924" fmla="*/ 2931462 h 3980394"/>
              <a:gd name="connsiteX925" fmla="*/ 9205713 w 12192000"/>
              <a:gd name="connsiteY925" fmla="*/ 2942855 h 3980394"/>
              <a:gd name="connsiteX926" fmla="*/ 9363426 w 12192000"/>
              <a:gd name="connsiteY926" fmla="*/ 2985584 h 3980394"/>
              <a:gd name="connsiteX927" fmla="*/ 9532822 w 12192000"/>
              <a:gd name="connsiteY927" fmla="*/ 3045405 h 3980394"/>
              <a:gd name="connsiteX928" fmla="*/ 9538664 w 12192000"/>
              <a:gd name="connsiteY928" fmla="*/ 3056799 h 3980394"/>
              <a:gd name="connsiteX929" fmla="*/ 9398474 w 12192000"/>
              <a:gd name="connsiteY929" fmla="*/ 3022617 h 3980394"/>
              <a:gd name="connsiteX930" fmla="*/ 9340061 w 12192000"/>
              <a:gd name="connsiteY930" fmla="*/ 3005525 h 3980394"/>
              <a:gd name="connsiteX931" fmla="*/ 9328379 w 12192000"/>
              <a:gd name="connsiteY931" fmla="*/ 3002677 h 3980394"/>
              <a:gd name="connsiteX932" fmla="*/ 9234919 w 12192000"/>
              <a:gd name="connsiteY932" fmla="*/ 2985584 h 3980394"/>
              <a:gd name="connsiteX933" fmla="*/ 9211553 w 12192000"/>
              <a:gd name="connsiteY933" fmla="*/ 2979890 h 3980394"/>
              <a:gd name="connsiteX934" fmla="*/ 9194031 w 12192000"/>
              <a:gd name="connsiteY934" fmla="*/ 2977039 h 3980394"/>
              <a:gd name="connsiteX935" fmla="*/ 9299173 w 12192000"/>
              <a:gd name="connsiteY935" fmla="*/ 3016919 h 3980394"/>
              <a:gd name="connsiteX936" fmla="*/ 9328379 w 12192000"/>
              <a:gd name="connsiteY936" fmla="*/ 3034012 h 3980394"/>
              <a:gd name="connsiteX937" fmla="*/ 9351743 w 12192000"/>
              <a:gd name="connsiteY937" fmla="*/ 3039708 h 3980394"/>
              <a:gd name="connsiteX938" fmla="*/ 9380950 w 12192000"/>
              <a:gd name="connsiteY938" fmla="*/ 3042557 h 3980394"/>
              <a:gd name="connsiteX939" fmla="*/ 9673012 w 12192000"/>
              <a:gd name="connsiteY939" fmla="*/ 3122319 h 3980394"/>
              <a:gd name="connsiteX940" fmla="*/ 9690535 w 12192000"/>
              <a:gd name="connsiteY940" fmla="*/ 3128015 h 3980394"/>
              <a:gd name="connsiteX941" fmla="*/ 9696377 w 12192000"/>
              <a:gd name="connsiteY941" fmla="*/ 3125166 h 3980394"/>
              <a:gd name="connsiteX942" fmla="*/ 9789836 w 12192000"/>
              <a:gd name="connsiteY942" fmla="*/ 3150807 h 3980394"/>
              <a:gd name="connsiteX943" fmla="*/ 9801519 w 12192000"/>
              <a:gd name="connsiteY943" fmla="*/ 3153654 h 3980394"/>
              <a:gd name="connsiteX944" fmla="*/ 9830727 w 12192000"/>
              <a:gd name="connsiteY944" fmla="*/ 3184988 h 3980394"/>
              <a:gd name="connsiteX945" fmla="*/ 9789836 w 12192000"/>
              <a:gd name="connsiteY945" fmla="*/ 3204929 h 3980394"/>
              <a:gd name="connsiteX946" fmla="*/ 9725583 w 12192000"/>
              <a:gd name="connsiteY946" fmla="*/ 3187837 h 3980394"/>
              <a:gd name="connsiteX947" fmla="*/ 9719742 w 12192000"/>
              <a:gd name="connsiteY947" fmla="*/ 3182142 h 3980394"/>
              <a:gd name="connsiteX948" fmla="*/ 9708060 w 12192000"/>
              <a:gd name="connsiteY948" fmla="*/ 3179292 h 3980394"/>
              <a:gd name="connsiteX949" fmla="*/ 9503616 w 12192000"/>
              <a:gd name="connsiteY949" fmla="*/ 3116620 h 3980394"/>
              <a:gd name="connsiteX950" fmla="*/ 9491934 w 12192000"/>
              <a:gd name="connsiteY950" fmla="*/ 3110926 h 3980394"/>
              <a:gd name="connsiteX951" fmla="*/ 9439363 w 12192000"/>
              <a:gd name="connsiteY951" fmla="*/ 3102379 h 3980394"/>
              <a:gd name="connsiteX952" fmla="*/ 9445205 w 12192000"/>
              <a:gd name="connsiteY952" fmla="*/ 3128015 h 3980394"/>
              <a:gd name="connsiteX953" fmla="*/ 9468568 w 12192000"/>
              <a:gd name="connsiteY953" fmla="*/ 3139412 h 3980394"/>
              <a:gd name="connsiteX954" fmla="*/ 9497774 w 12192000"/>
              <a:gd name="connsiteY954" fmla="*/ 3165048 h 3980394"/>
              <a:gd name="connsiteX955" fmla="*/ 9521140 w 12192000"/>
              <a:gd name="connsiteY955" fmla="*/ 3179292 h 3980394"/>
              <a:gd name="connsiteX956" fmla="*/ 9526981 w 12192000"/>
              <a:gd name="connsiteY956" fmla="*/ 3204929 h 3980394"/>
              <a:gd name="connsiteX957" fmla="*/ 9468568 w 12192000"/>
              <a:gd name="connsiteY957" fmla="*/ 3196382 h 3980394"/>
              <a:gd name="connsiteX958" fmla="*/ 9404314 w 12192000"/>
              <a:gd name="connsiteY958" fmla="*/ 3179292 h 3980394"/>
              <a:gd name="connsiteX959" fmla="*/ 9380950 w 12192000"/>
              <a:gd name="connsiteY959" fmla="*/ 3167898 h 3980394"/>
              <a:gd name="connsiteX960" fmla="*/ 9199871 w 12192000"/>
              <a:gd name="connsiteY960" fmla="*/ 3113771 h 3980394"/>
              <a:gd name="connsiteX961" fmla="*/ 9199871 w 12192000"/>
              <a:gd name="connsiteY961" fmla="*/ 3110926 h 3980394"/>
              <a:gd name="connsiteX962" fmla="*/ 9141458 w 12192000"/>
              <a:gd name="connsiteY962" fmla="*/ 3113771 h 3980394"/>
              <a:gd name="connsiteX963" fmla="*/ 9123935 w 12192000"/>
              <a:gd name="connsiteY963" fmla="*/ 3113771 h 3980394"/>
              <a:gd name="connsiteX964" fmla="*/ 9024633 w 12192000"/>
              <a:gd name="connsiteY964" fmla="*/ 3090985 h 3980394"/>
              <a:gd name="connsiteX965" fmla="*/ 8977904 w 12192000"/>
              <a:gd name="connsiteY965" fmla="*/ 3068196 h 3980394"/>
              <a:gd name="connsiteX966" fmla="*/ 8960379 w 12192000"/>
              <a:gd name="connsiteY966" fmla="*/ 3056799 h 3980394"/>
              <a:gd name="connsiteX967" fmla="*/ 8954539 w 12192000"/>
              <a:gd name="connsiteY967" fmla="*/ 3053951 h 3980394"/>
              <a:gd name="connsiteX968" fmla="*/ 8954539 w 12192000"/>
              <a:gd name="connsiteY968" fmla="*/ 3051103 h 3980394"/>
              <a:gd name="connsiteX969" fmla="*/ 8948697 w 12192000"/>
              <a:gd name="connsiteY969" fmla="*/ 3051103 h 3980394"/>
              <a:gd name="connsiteX970" fmla="*/ 8948697 w 12192000"/>
              <a:gd name="connsiteY970" fmla="*/ 3048254 h 3980394"/>
              <a:gd name="connsiteX971" fmla="*/ 8942857 w 12192000"/>
              <a:gd name="connsiteY971" fmla="*/ 3042557 h 3980394"/>
              <a:gd name="connsiteX972" fmla="*/ 8931174 w 12192000"/>
              <a:gd name="connsiteY972" fmla="*/ 3036860 h 3980394"/>
              <a:gd name="connsiteX973" fmla="*/ 8925333 w 12192000"/>
              <a:gd name="connsiteY973" fmla="*/ 3034012 h 3980394"/>
              <a:gd name="connsiteX974" fmla="*/ 8919491 w 12192000"/>
              <a:gd name="connsiteY974" fmla="*/ 3028315 h 3980394"/>
              <a:gd name="connsiteX975" fmla="*/ 8919491 w 12192000"/>
              <a:gd name="connsiteY975" fmla="*/ 3022617 h 3980394"/>
              <a:gd name="connsiteX976" fmla="*/ 8919491 w 12192000"/>
              <a:gd name="connsiteY976" fmla="*/ 3019768 h 3980394"/>
              <a:gd name="connsiteX977" fmla="*/ 8901968 w 12192000"/>
              <a:gd name="connsiteY977" fmla="*/ 3014071 h 3980394"/>
              <a:gd name="connsiteX978" fmla="*/ 8901968 w 12192000"/>
              <a:gd name="connsiteY978" fmla="*/ 3008373 h 3980394"/>
              <a:gd name="connsiteX979" fmla="*/ 8896126 w 12192000"/>
              <a:gd name="connsiteY979" fmla="*/ 3008373 h 3980394"/>
              <a:gd name="connsiteX980" fmla="*/ 8896126 w 12192000"/>
              <a:gd name="connsiteY980" fmla="*/ 3005525 h 3980394"/>
              <a:gd name="connsiteX981" fmla="*/ 8896126 w 12192000"/>
              <a:gd name="connsiteY981" fmla="*/ 3002677 h 3980394"/>
              <a:gd name="connsiteX982" fmla="*/ 8890285 w 12192000"/>
              <a:gd name="connsiteY982" fmla="*/ 3002677 h 3980394"/>
              <a:gd name="connsiteX983" fmla="*/ 8890285 w 12192000"/>
              <a:gd name="connsiteY983" fmla="*/ 2994131 h 3980394"/>
              <a:gd name="connsiteX984" fmla="*/ 8901968 w 12192000"/>
              <a:gd name="connsiteY984" fmla="*/ 2988434 h 3980394"/>
              <a:gd name="connsiteX985" fmla="*/ 8884445 w 12192000"/>
              <a:gd name="connsiteY985" fmla="*/ 2985584 h 3980394"/>
              <a:gd name="connsiteX986" fmla="*/ 8884445 w 12192000"/>
              <a:gd name="connsiteY986" fmla="*/ 2988434 h 3980394"/>
              <a:gd name="connsiteX987" fmla="*/ 8866920 w 12192000"/>
              <a:gd name="connsiteY987" fmla="*/ 2985584 h 3980394"/>
              <a:gd name="connsiteX988" fmla="*/ 8849397 w 12192000"/>
              <a:gd name="connsiteY988" fmla="*/ 2974191 h 3980394"/>
              <a:gd name="connsiteX989" fmla="*/ 8814349 w 12192000"/>
              <a:gd name="connsiteY989" fmla="*/ 2965646 h 3980394"/>
              <a:gd name="connsiteX990" fmla="*/ 8621588 w 12192000"/>
              <a:gd name="connsiteY990" fmla="*/ 2920067 h 3980394"/>
              <a:gd name="connsiteX991" fmla="*/ 8545652 w 12192000"/>
              <a:gd name="connsiteY991" fmla="*/ 2885883 h 3980394"/>
              <a:gd name="connsiteX992" fmla="*/ 8528128 w 12192000"/>
              <a:gd name="connsiteY992" fmla="*/ 2883034 h 3980394"/>
              <a:gd name="connsiteX993" fmla="*/ 8452192 w 12192000"/>
              <a:gd name="connsiteY993" fmla="*/ 2874490 h 3980394"/>
              <a:gd name="connsiteX994" fmla="*/ 8422987 w 12192000"/>
              <a:gd name="connsiteY994" fmla="*/ 2871639 h 3980394"/>
              <a:gd name="connsiteX995" fmla="*/ 8387938 w 12192000"/>
              <a:gd name="connsiteY995" fmla="*/ 2863093 h 3980394"/>
              <a:gd name="connsiteX996" fmla="*/ 8382096 w 12192000"/>
              <a:gd name="connsiteY996" fmla="*/ 2874490 h 3980394"/>
              <a:gd name="connsiteX997" fmla="*/ 8557335 w 12192000"/>
              <a:gd name="connsiteY997" fmla="*/ 2917217 h 3980394"/>
              <a:gd name="connsiteX998" fmla="*/ 8598223 w 12192000"/>
              <a:gd name="connsiteY998" fmla="*/ 2922915 h 3980394"/>
              <a:gd name="connsiteX999" fmla="*/ 8656636 w 12192000"/>
              <a:gd name="connsiteY999" fmla="*/ 2937158 h 3980394"/>
              <a:gd name="connsiteX1000" fmla="*/ 8680001 w 12192000"/>
              <a:gd name="connsiteY1000" fmla="*/ 2942855 h 3980394"/>
              <a:gd name="connsiteX1001" fmla="*/ 8685842 w 12192000"/>
              <a:gd name="connsiteY1001" fmla="*/ 2957099 h 3980394"/>
              <a:gd name="connsiteX1002" fmla="*/ 8703365 w 12192000"/>
              <a:gd name="connsiteY1002" fmla="*/ 2959948 h 3980394"/>
              <a:gd name="connsiteX1003" fmla="*/ 8715048 w 12192000"/>
              <a:gd name="connsiteY1003" fmla="*/ 2962795 h 3980394"/>
              <a:gd name="connsiteX1004" fmla="*/ 8732572 w 12192000"/>
              <a:gd name="connsiteY1004" fmla="*/ 2979890 h 3980394"/>
              <a:gd name="connsiteX1005" fmla="*/ 8761778 w 12192000"/>
              <a:gd name="connsiteY1005" fmla="*/ 3016919 h 3980394"/>
              <a:gd name="connsiteX1006" fmla="*/ 8691684 w 12192000"/>
              <a:gd name="connsiteY1006" fmla="*/ 3011223 h 3980394"/>
              <a:gd name="connsiteX1007" fmla="*/ 8574857 w 12192000"/>
              <a:gd name="connsiteY1007" fmla="*/ 2985584 h 3980394"/>
              <a:gd name="connsiteX1008" fmla="*/ 8434669 w 12192000"/>
              <a:gd name="connsiteY1008" fmla="*/ 2954250 h 3980394"/>
              <a:gd name="connsiteX1009" fmla="*/ 8148447 w 12192000"/>
              <a:gd name="connsiteY1009" fmla="*/ 2897278 h 3980394"/>
              <a:gd name="connsiteX1010" fmla="*/ 7833021 w 12192000"/>
              <a:gd name="connsiteY1010" fmla="*/ 2834607 h 3980394"/>
              <a:gd name="connsiteX1011" fmla="*/ 7821338 w 12192000"/>
              <a:gd name="connsiteY1011" fmla="*/ 2828911 h 3980394"/>
              <a:gd name="connsiteX1012" fmla="*/ 7727880 w 12192000"/>
              <a:gd name="connsiteY1012" fmla="*/ 2811819 h 3980394"/>
              <a:gd name="connsiteX1013" fmla="*/ 7741844 w 12192000"/>
              <a:gd name="connsiteY1013" fmla="*/ 2800603 h 3980394"/>
              <a:gd name="connsiteX1014" fmla="*/ 7729589 w 12192000"/>
              <a:gd name="connsiteY1014" fmla="*/ 2795449 h 3980394"/>
              <a:gd name="connsiteX1015" fmla="*/ 7733720 w 12192000"/>
              <a:gd name="connsiteY1015" fmla="*/ 2794728 h 3980394"/>
              <a:gd name="connsiteX1016" fmla="*/ 7745400 w 12192000"/>
              <a:gd name="connsiteY1016" fmla="*/ 2794728 h 3980394"/>
              <a:gd name="connsiteX1017" fmla="*/ 7733720 w 12192000"/>
              <a:gd name="connsiteY1017" fmla="*/ 2794728 h 3980394"/>
              <a:gd name="connsiteX1018" fmla="*/ 7727880 w 12192000"/>
              <a:gd name="connsiteY1018" fmla="*/ 2794728 h 3980394"/>
              <a:gd name="connsiteX1019" fmla="*/ 7729589 w 12192000"/>
              <a:gd name="connsiteY1019" fmla="*/ 2795449 h 3980394"/>
              <a:gd name="connsiteX1020" fmla="*/ 7692829 w 12192000"/>
              <a:gd name="connsiteY1020" fmla="*/ 2801849 h 3980394"/>
              <a:gd name="connsiteX1021" fmla="*/ 7651942 w 12192000"/>
              <a:gd name="connsiteY1021" fmla="*/ 2791879 h 3980394"/>
              <a:gd name="connsiteX1022" fmla="*/ 7634419 w 12192000"/>
              <a:gd name="connsiteY1022" fmla="*/ 2789032 h 3980394"/>
              <a:gd name="connsiteX1023" fmla="*/ 7482545 w 12192000"/>
              <a:gd name="connsiteY1023" fmla="*/ 2766241 h 3980394"/>
              <a:gd name="connsiteX1024" fmla="*/ 7441658 w 12192000"/>
              <a:gd name="connsiteY1024" fmla="*/ 2760545 h 3980394"/>
              <a:gd name="connsiteX1025" fmla="*/ 7371562 w 12192000"/>
              <a:gd name="connsiteY1025" fmla="*/ 2754847 h 3980394"/>
              <a:gd name="connsiteX1026" fmla="*/ 7342357 w 12192000"/>
              <a:gd name="connsiteY1026" fmla="*/ 2743453 h 3980394"/>
              <a:gd name="connsiteX1027" fmla="*/ 7289784 w 12192000"/>
              <a:gd name="connsiteY1027" fmla="*/ 2740604 h 3980394"/>
              <a:gd name="connsiteX1028" fmla="*/ 7213848 w 12192000"/>
              <a:gd name="connsiteY1028" fmla="*/ 2743453 h 3980394"/>
              <a:gd name="connsiteX1029" fmla="*/ 7132072 w 12192000"/>
              <a:gd name="connsiteY1029" fmla="*/ 2734908 h 3980394"/>
              <a:gd name="connsiteX1030" fmla="*/ 7108707 w 12192000"/>
              <a:gd name="connsiteY1030" fmla="*/ 2726362 h 3980394"/>
              <a:gd name="connsiteX1031" fmla="*/ 6974359 w 12192000"/>
              <a:gd name="connsiteY1031" fmla="*/ 2709269 h 3980394"/>
              <a:gd name="connsiteX1032" fmla="*/ 6752390 w 12192000"/>
              <a:gd name="connsiteY1032" fmla="*/ 2689327 h 3980394"/>
              <a:gd name="connsiteX1033" fmla="*/ 6734866 w 12192000"/>
              <a:gd name="connsiteY1033" fmla="*/ 2686481 h 3980394"/>
              <a:gd name="connsiteX1034" fmla="*/ 6647248 w 12192000"/>
              <a:gd name="connsiteY1034" fmla="*/ 2669387 h 3980394"/>
              <a:gd name="connsiteX1035" fmla="*/ 6571312 w 12192000"/>
              <a:gd name="connsiteY1035" fmla="*/ 2683632 h 3980394"/>
              <a:gd name="connsiteX1036" fmla="*/ 6349345 w 12192000"/>
              <a:gd name="connsiteY1036" fmla="*/ 2675085 h 3980394"/>
              <a:gd name="connsiteX1037" fmla="*/ 6302615 w 12192000"/>
              <a:gd name="connsiteY1037" fmla="*/ 2669387 h 3980394"/>
              <a:gd name="connsiteX1038" fmla="*/ 6203314 w 12192000"/>
              <a:gd name="connsiteY1038" fmla="*/ 2672237 h 3980394"/>
              <a:gd name="connsiteX1039" fmla="*/ 6121536 w 12192000"/>
              <a:gd name="connsiteY1039" fmla="*/ 2672237 h 3980394"/>
              <a:gd name="connsiteX1040" fmla="*/ 6010553 w 12192000"/>
              <a:gd name="connsiteY1040" fmla="*/ 2669387 h 3980394"/>
              <a:gd name="connsiteX1041" fmla="*/ 6004711 w 12192000"/>
              <a:gd name="connsiteY1041" fmla="*/ 2663692 h 3980394"/>
              <a:gd name="connsiteX1042" fmla="*/ 6004711 w 12192000"/>
              <a:gd name="connsiteY1042" fmla="*/ 2666540 h 3980394"/>
              <a:gd name="connsiteX1043" fmla="*/ 6010553 w 12192000"/>
              <a:gd name="connsiteY1043" fmla="*/ 2669387 h 3980394"/>
              <a:gd name="connsiteX1044" fmla="*/ 5998870 w 12192000"/>
              <a:gd name="connsiteY1044" fmla="*/ 2669387 h 3980394"/>
              <a:gd name="connsiteX1045" fmla="*/ 5993028 w 12192000"/>
              <a:gd name="connsiteY1045" fmla="*/ 2669387 h 3980394"/>
              <a:gd name="connsiteX1046" fmla="*/ 5981347 w 12192000"/>
              <a:gd name="connsiteY1046" fmla="*/ 2669387 h 3980394"/>
              <a:gd name="connsiteX1047" fmla="*/ 5969664 w 12192000"/>
              <a:gd name="connsiteY1047" fmla="*/ 2669387 h 3980394"/>
              <a:gd name="connsiteX1048" fmla="*/ 5928775 w 12192000"/>
              <a:gd name="connsiteY1048" fmla="*/ 2669387 h 3980394"/>
              <a:gd name="connsiteX1049" fmla="*/ 5917092 w 12192000"/>
              <a:gd name="connsiteY1049" fmla="*/ 2669387 h 3980394"/>
              <a:gd name="connsiteX1050" fmla="*/ 5759380 w 12192000"/>
              <a:gd name="connsiteY1050" fmla="*/ 2666540 h 3980394"/>
              <a:gd name="connsiteX1051" fmla="*/ 5747697 w 12192000"/>
              <a:gd name="connsiteY1051" fmla="*/ 2666540 h 3980394"/>
              <a:gd name="connsiteX1052" fmla="*/ 5746466 w 12192000"/>
              <a:gd name="connsiteY1052" fmla="*/ 2662941 h 3980394"/>
              <a:gd name="connsiteX1053" fmla="*/ 5749157 w 12192000"/>
              <a:gd name="connsiteY1053" fmla="*/ 2660842 h 3980394"/>
              <a:gd name="connsiteX1054" fmla="*/ 5749092 w 12192000"/>
              <a:gd name="connsiteY1054" fmla="*/ 2660594 h 3980394"/>
              <a:gd name="connsiteX1055" fmla="*/ 5753537 w 12192000"/>
              <a:gd name="connsiteY1055" fmla="*/ 2657994 h 3980394"/>
              <a:gd name="connsiteX1056" fmla="*/ 5747697 w 12192000"/>
              <a:gd name="connsiteY1056" fmla="*/ 2655145 h 3980394"/>
              <a:gd name="connsiteX1057" fmla="*/ 5749092 w 12192000"/>
              <a:gd name="connsiteY1057" fmla="*/ 2660594 h 3980394"/>
              <a:gd name="connsiteX1058" fmla="*/ 5746236 w 12192000"/>
              <a:gd name="connsiteY1058" fmla="*/ 2662266 h 3980394"/>
              <a:gd name="connsiteX1059" fmla="*/ 5746466 w 12192000"/>
              <a:gd name="connsiteY1059" fmla="*/ 2662941 h 3980394"/>
              <a:gd name="connsiteX1060" fmla="*/ 5741857 w 12192000"/>
              <a:gd name="connsiteY1060" fmla="*/ 2666540 h 3980394"/>
              <a:gd name="connsiteX1061" fmla="*/ 5718491 w 12192000"/>
              <a:gd name="connsiteY1061" fmla="*/ 2666540 h 3980394"/>
              <a:gd name="connsiteX1062" fmla="*/ 5584141 w 12192000"/>
              <a:gd name="connsiteY1062" fmla="*/ 2689327 h 3980394"/>
              <a:gd name="connsiteX1063" fmla="*/ 5368016 w 12192000"/>
              <a:gd name="connsiteY1063" fmla="*/ 2697875 h 3980394"/>
              <a:gd name="connsiteX1064" fmla="*/ 5338810 w 12192000"/>
              <a:gd name="connsiteY1064" fmla="*/ 2697875 h 3980394"/>
              <a:gd name="connsiteX1065" fmla="*/ 5332968 w 12192000"/>
              <a:gd name="connsiteY1065" fmla="*/ 2697875 h 3980394"/>
              <a:gd name="connsiteX1066" fmla="*/ 5327127 w 12192000"/>
              <a:gd name="connsiteY1066" fmla="*/ 2697875 h 3980394"/>
              <a:gd name="connsiteX1067" fmla="*/ 5257033 w 12192000"/>
              <a:gd name="connsiteY1067" fmla="*/ 2697875 h 3980394"/>
              <a:gd name="connsiteX1068" fmla="*/ 5192779 w 12192000"/>
              <a:gd name="connsiteY1068" fmla="*/ 2706422 h 3980394"/>
              <a:gd name="connsiteX1069" fmla="*/ 5140207 w 12192000"/>
              <a:gd name="connsiteY1069" fmla="*/ 2709269 h 3980394"/>
              <a:gd name="connsiteX1070" fmla="*/ 4865671 w 12192000"/>
              <a:gd name="connsiteY1070" fmla="*/ 2729209 h 3980394"/>
              <a:gd name="connsiteX1071" fmla="*/ 4766369 w 12192000"/>
              <a:gd name="connsiteY1071" fmla="*/ 2734908 h 3980394"/>
              <a:gd name="connsiteX1072" fmla="*/ 4690433 w 12192000"/>
              <a:gd name="connsiteY1072" fmla="*/ 2740604 h 3980394"/>
              <a:gd name="connsiteX1073" fmla="*/ 4649542 w 12192000"/>
              <a:gd name="connsiteY1073" fmla="*/ 2740604 h 3980394"/>
              <a:gd name="connsiteX1074" fmla="*/ 4614496 w 12192000"/>
              <a:gd name="connsiteY1074" fmla="*/ 2749151 h 3980394"/>
              <a:gd name="connsiteX1075" fmla="*/ 4602813 w 12192000"/>
              <a:gd name="connsiteY1075" fmla="*/ 2749151 h 3980394"/>
              <a:gd name="connsiteX1076" fmla="*/ 4526877 w 12192000"/>
              <a:gd name="connsiteY1076" fmla="*/ 2751998 h 3980394"/>
              <a:gd name="connsiteX1077" fmla="*/ 4439258 w 12192000"/>
              <a:gd name="connsiteY1077" fmla="*/ 2766241 h 3980394"/>
              <a:gd name="connsiteX1078" fmla="*/ 4415894 w 12192000"/>
              <a:gd name="connsiteY1078" fmla="*/ 2769093 h 3980394"/>
              <a:gd name="connsiteX1079" fmla="*/ 4392528 w 12192000"/>
              <a:gd name="connsiteY1079" fmla="*/ 2771938 h 3980394"/>
              <a:gd name="connsiteX1080" fmla="*/ 4380845 w 12192000"/>
              <a:gd name="connsiteY1080" fmla="*/ 2771938 h 3980394"/>
              <a:gd name="connsiteX1081" fmla="*/ 4304910 w 12192000"/>
              <a:gd name="connsiteY1081" fmla="*/ 2780485 h 3980394"/>
              <a:gd name="connsiteX1082" fmla="*/ 4153037 w 12192000"/>
              <a:gd name="connsiteY1082" fmla="*/ 2800425 h 3980394"/>
              <a:gd name="connsiteX1083" fmla="*/ 4077101 w 12192000"/>
              <a:gd name="connsiteY1083" fmla="*/ 2811819 h 3980394"/>
              <a:gd name="connsiteX1084" fmla="*/ 4053736 w 12192000"/>
              <a:gd name="connsiteY1084" fmla="*/ 2814669 h 3980394"/>
              <a:gd name="connsiteX1085" fmla="*/ 4018688 w 12192000"/>
              <a:gd name="connsiteY1085" fmla="*/ 2820364 h 3980394"/>
              <a:gd name="connsiteX1086" fmla="*/ 4007005 w 12192000"/>
              <a:gd name="connsiteY1086" fmla="*/ 2826061 h 3980394"/>
              <a:gd name="connsiteX1087" fmla="*/ 3931069 w 12192000"/>
              <a:gd name="connsiteY1087" fmla="*/ 2834607 h 3980394"/>
              <a:gd name="connsiteX1088" fmla="*/ 3936911 w 12192000"/>
              <a:gd name="connsiteY1088" fmla="*/ 2817519 h 3980394"/>
              <a:gd name="connsiteX1089" fmla="*/ 3919388 w 12192000"/>
              <a:gd name="connsiteY1089" fmla="*/ 2808973 h 3980394"/>
              <a:gd name="connsiteX1090" fmla="*/ 3925228 w 12192000"/>
              <a:gd name="connsiteY1090" fmla="*/ 2791879 h 3980394"/>
              <a:gd name="connsiteX1091" fmla="*/ 3954435 w 12192000"/>
              <a:gd name="connsiteY1091" fmla="*/ 2783334 h 3980394"/>
              <a:gd name="connsiteX1092" fmla="*/ 3960276 w 12192000"/>
              <a:gd name="connsiteY1092" fmla="*/ 2783334 h 3980394"/>
              <a:gd name="connsiteX1093" fmla="*/ 3983640 w 12192000"/>
              <a:gd name="connsiteY1093" fmla="*/ 2786182 h 3980394"/>
              <a:gd name="connsiteX1094" fmla="*/ 4001165 w 12192000"/>
              <a:gd name="connsiteY1094" fmla="*/ 2780485 h 3980394"/>
              <a:gd name="connsiteX1095" fmla="*/ 4077101 w 12192000"/>
              <a:gd name="connsiteY1095" fmla="*/ 2763392 h 3980394"/>
              <a:gd name="connsiteX1096" fmla="*/ 4106307 w 12192000"/>
              <a:gd name="connsiteY1096" fmla="*/ 2763392 h 3980394"/>
              <a:gd name="connsiteX1097" fmla="*/ 4106307 w 12192000"/>
              <a:gd name="connsiteY1097" fmla="*/ 2760545 h 3980394"/>
              <a:gd name="connsiteX1098" fmla="*/ 4112149 w 12192000"/>
              <a:gd name="connsiteY1098" fmla="*/ 2760545 h 3980394"/>
              <a:gd name="connsiteX1099" fmla="*/ 4117989 w 12192000"/>
              <a:gd name="connsiteY1099" fmla="*/ 2760545 h 3980394"/>
              <a:gd name="connsiteX1100" fmla="*/ 4117989 w 12192000"/>
              <a:gd name="connsiteY1100" fmla="*/ 2754847 h 3980394"/>
              <a:gd name="connsiteX1101" fmla="*/ 4135513 w 12192000"/>
              <a:gd name="connsiteY1101" fmla="*/ 2751998 h 3980394"/>
              <a:gd name="connsiteX1102" fmla="*/ 4345799 w 12192000"/>
              <a:gd name="connsiteY1102" fmla="*/ 2726362 h 3980394"/>
              <a:gd name="connsiteX1103" fmla="*/ 4900717 w 12192000"/>
              <a:gd name="connsiteY1103" fmla="*/ 2677933 h 3980394"/>
              <a:gd name="connsiteX1104" fmla="*/ 4953287 w 12192000"/>
              <a:gd name="connsiteY1104" fmla="*/ 2669387 h 3980394"/>
              <a:gd name="connsiteX1105" fmla="*/ 5058431 w 12192000"/>
              <a:gd name="connsiteY1105" fmla="*/ 2660842 h 3980394"/>
              <a:gd name="connsiteX1106" fmla="*/ 5385540 w 12192000"/>
              <a:gd name="connsiteY1106" fmla="*/ 2646598 h 3980394"/>
              <a:gd name="connsiteX1107" fmla="*/ 5677602 w 12192000"/>
              <a:gd name="connsiteY1107" fmla="*/ 2635204 h 3980394"/>
              <a:gd name="connsiteX1108" fmla="*/ 5759380 w 12192000"/>
              <a:gd name="connsiteY1108" fmla="*/ 2623811 h 3980394"/>
              <a:gd name="connsiteX1109" fmla="*/ 5882046 w 12192000"/>
              <a:gd name="connsiteY1109" fmla="*/ 2635204 h 3980394"/>
              <a:gd name="connsiteX1110" fmla="*/ 5887888 w 12192000"/>
              <a:gd name="connsiteY1110" fmla="*/ 2635204 h 3980394"/>
              <a:gd name="connsiteX1111" fmla="*/ 5893728 w 12192000"/>
              <a:gd name="connsiteY1111" fmla="*/ 2629507 h 3980394"/>
              <a:gd name="connsiteX1112" fmla="*/ 6039757 w 12192000"/>
              <a:gd name="connsiteY1112" fmla="*/ 2623811 h 3980394"/>
              <a:gd name="connsiteX1113" fmla="*/ 6156585 w 12192000"/>
              <a:gd name="connsiteY1113" fmla="*/ 2629507 h 3980394"/>
              <a:gd name="connsiteX1114" fmla="*/ 6214997 w 12192000"/>
              <a:gd name="connsiteY1114" fmla="*/ 2632357 h 3980394"/>
              <a:gd name="connsiteX1115" fmla="*/ 6361028 w 12192000"/>
              <a:gd name="connsiteY1115" fmla="*/ 2632357 h 3980394"/>
              <a:gd name="connsiteX1116" fmla="*/ 6401917 w 12192000"/>
              <a:gd name="connsiteY1116" fmla="*/ 2638053 h 3980394"/>
              <a:gd name="connsiteX1117" fmla="*/ 6582995 w 12192000"/>
              <a:gd name="connsiteY1117" fmla="*/ 2643750 h 3980394"/>
              <a:gd name="connsiteX1118" fmla="*/ 6629724 w 12192000"/>
              <a:gd name="connsiteY1118" fmla="*/ 2666540 h 3980394"/>
              <a:gd name="connsiteX1119" fmla="*/ 6664771 w 12192000"/>
              <a:gd name="connsiteY1119" fmla="*/ 2649447 h 3980394"/>
              <a:gd name="connsiteX1120" fmla="*/ 6664771 w 12192000"/>
              <a:gd name="connsiteY1120" fmla="*/ 2643750 h 3980394"/>
              <a:gd name="connsiteX1121" fmla="*/ 6547946 w 12192000"/>
              <a:gd name="connsiteY1121" fmla="*/ 2635204 h 3980394"/>
              <a:gd name="connsiteX1122" fmla="*/ 6507059 w 12192000"/>
              <a:gd name="connsiteY1122" fmla="*/ 2632357 h 3980394"/>
              <a:gd name="connsiteX1123" fmla="*/ 6466170 w 12192000"/>
              <a:gd name="connsiteY1123" fmla="*/ 2632357 h 3980394"/>
              <a:gd name="connsiteX1124" fmla="*/ 6390234 w 12192000"/>
              <a:gd name="connsiteY1124" fmla="*/ 2618114 h 3980394"/>
              <a:gd name="connsiteX1125" fmla="*/ 6168267 w 12192000"/>
              <a:gd name="connsiteY1125" fmla="*/ 2601021 h 3980394"/>
              <a:gd name="connsiteX1126" fmla="*/ 6144901 w 12192000"/>
              <a:gd name="connsiteY1126" fmla="*/ 2601021 h 3980394"/>
              <a:gd name="connsiteX1127" fmla="*/ 6144901 w 12192000"/>
              <a:gd name="connsiteY1127" fmla="*/ 2595324 h 3980394"/>
              <a:gd name="connsiteX1128" fmla="*/ 5981347 w 12192000"/>
              <a:gd name="connsiteY1128" fmla="*/ 2586777 h 3980394"/>
              <a:gd name="connsiteX1129" fmla="*/ 5741857 w 12192000"/>
              <a:gd name="connsiteY1129" fmla="*/ 2589626 h 3980394"/>
              <a:gd name="connsiteX1130" fmla="*/ 5537255 w 12192000"/>
              <a:gd name="connsiteY1130" fmla="*/ 2592399 h 3980394"/>
              <a:gd name="connsiteX1131" fmla="*/ 5531571 w 12192000"/>
              <a:gd name="connsiteY1131" fmla="*/ 2589626 h 3980394"/>
              <a:gd name="connsiteX1132" fmla="*/ 5531571 w 12192000"/>
              <a:gd name="connsiteY1132" fmla="*/ 2592476 h 3980394"/>
              <a:gd name="connsiteX1133" fmla="*/ 5537255 w 12192000"/>
              <a:gd name="connsiteY1133" fmla="*/ 2592399 h 3980394"/>
              <a:gd name="connsiteX1134" fmla="*/ 5537412 w 12192000"/>
              <a:gd name="connsiteY1134" fmla="*/ 2592476 h 3980394"/>
              <a:gd name="connsiteX1135" fmla="*/ 5432270 w 12192000"/>
              <a:gd name="connsiteY1135" fmla="*/ 2598173 h 3980394"/>
              <a:gd name="connsiteX1136" fmla="*/ 5362174 w 12192000"/>
              <a:gd name="connsiteY1136" fmla="*/ 2595324 h 3980394"/>
              <a:gd name="connsiteX1137" fmla="*/ 5356334 w 12192000"/>
              <a:gd name="connsiteY1137" fmla="*/ 2598173 h 3980394"/>
              <a:gd name="connsiteX1138" fmla="*/ 5344651 w 12192000"/>
              <a:gd name="connsiteY1138" fmla="*/ 2598173 h 3980394"/>
              <a:gd name="connsiteX1139" fmla="*/ 5338810 w 12192000"/>
              <a:gd name="connsiteY1139" fmla="*/ 2598173 h 3980394"/>
              <a:gd name="connsiteX1140" fmla="*/ 5332968 w 12192000"/>
              <a:gd name="connsiteY1140" fmla="*/ 2598173 h 3980394"/>
              <a:gd name="connsiteX1141" fmla="*/ 5052589 w 12192000"/>
              <a:gd name="connsiteY1141" fmla="*/ 2618114 h 3980394"/>
              <a:gd name="connsiteX1142" fmla="*/ 4877351 w 12192000"/>
              <a:gd name="connsiteY1142" fmla="*/ 2623811 h 3980394"/>
              <a:gd name="connsiteX1143" fmla="*/ 4900717 w 12192000"/>
              <a:gd name="connsiteY1143" fmla="*/ 2618114 h 3980394"/>
              <a:gd name="connsiteX1144" fmla="*/ 4877351 w 12192000"/>
              <a:gd name="connsiteY1144" fmla="*/ 2620961 h 3980394"/>
              <a:gd name="connsiteX1145" fmla="*/ 4649542 w 12192000"/>
              <a:gd name="connsiteY1145" fmla="*/ 2640901 h 3980394"/>
              <a:gd name="connsiteX1146" fmla="*/ 4363322 w 12192000"/>
              <a:gd name="connsiteY1146" fmla="*/ 2672237 h 3980394"/>
              <a:gd name="connsiteX1147" fmla="*/ 4047895 w 12192000"/>
              <a:gd name="connsiteY1147" fmla="*/ 2712118 h 3980394"/>
              <a:gd name="connsiteX1148" fmla="*/ 3896021 w 12192000"/>
              <a:gd name="connsiteY1148" fmla="*/ 2737756 h 3980394"/>
              <a:gd name="connsiteX1149" fmla="*/ 3744168 w 12192000"/>
              <a:gd name="connsiteY1149" fmla="*/ 2757695 h 3980394"/>
              <a:gd name="connsiteX1150" fmla="*/ 3697439 w 12192000"/>
              <a:gd name="connsiteY1150" fmla="*/ 2769093 h 3980394"/>
              <a:gd name="connsiteX1151" fmla="*/ 3457947 w 12192000"/>
              <a:gd name="connsiteY1151" fmla="*/ 2808973 h 3980394"/>
              <a:gd name="connsiteX1152" fmla="*/ 3446266 w 12192000"/>
              <a:gd name="connsiteY1152" fmla="*/ 2811819 h 3980394"/>
              <a:gd name="connsiteX1153" fmla="*/ 3399536 w 12192000"/>
              <a:gd name="connsiteY1153" fmla="*/ 2814669 h 3980394"/>
              <a:gd name="connsiteX1154" fmla="*/ 3025693 w 12192000"/>
              <a:gd name="connsiteY1154" fmla="*/ 2885883 h 3980394"/>
              <a:gd name="connsiteX1155" fmla="*/ 3002329 w 12192000"/>
              <a:gd name="connsiteY1155" fmla="*/ 2891581 h 3980394"/>
              <a:gd name="connsiteX1156" fmla="*/ 2967279 w 12192000"/>
              <a:gd name="connsiteY1156" fmla="*/ 2900126 h 3980394"/>
              <a:gd name="connsiteX1157" fmla="*/ 2932234 w 12192000"/>
              <a:gd name="connsiteY1157" fmla="*/ 2905824 h 3980394"/>
              <a:gd name="connsiteX1158" fmla="*/ 2897184 w 12192000"/>
              <a:gd name="connsiteY1158" fmla="*/ 2917217 h 3980394"/>
              <a:gd name="connsiteX1159" fmla="*/ 2587601 w 12192000"/>
              <a:gd name="connsiteY1159" fmla="*/ 2988434 h 3980394"/>
              <a:gd name="connsiteX1160" fmla="*/ 2365631 w 12192000"/>
              <a:gd name="connsiteY1160" fmla="*/ 3045405 h 3980394"/>
              <a:gd name="connsiteX1161" fmla="*/ 2161189 w 12192000"/>
              <a:gd name="connsiteY1161" fmla="*/ 3102379 h 3980394"/>
              <a:gd name="connsiteX1162" fmla="*/ 1985952 w 12192000"/>
              <a:gd name="connsiteY1162" fmla="*/ 3153654 h 3980394"/>
              <a:gd name="connsiteX1163" fmla="*/ 1985952 w 12192000"/>
              <a:gd name="connsiteY1163" fmla="*/ 3156502 h 3980394"/>
              <a:gd name="connsiteX1164" fmla="*/ 1974271 w 12192000"/>
              <a:gd name="connsiteY1164" fmla="*/ 3156502 h 3980394"/>
              <a:gd name="connsiteX1165" fmla="*/ 1822397 w 12192000"/>
              <a:gd name="connsiteY1165" fmla="*/ 3207778 h 3980394"/>
              <a:gd name="connsiteX1166" fmla="*/ 1769826 w 12192000"/>
              <a:gd name="connsiteY1166" fmla="*/ 3222021 h 3980394"/>
              <a:gd name="connsiteX1167" fmla="*/ 1717256 w 12192000"/>
              <a:gd name="connsiteY1167" fmla="*/ 3236264 h 3980394"/>
              <a:gd name="connsiteX1168" fmla="*/ 1676365 w 12192000"/>
              <a:gd name="connsiteY1168" fmla="*/ 3250510 h 3980394"/>
              <a:gd name="connsiteX1169" fmla="*/ 1653002 w 12192000"/>
              <a:gd name="connsiteY1169" fmla="*/ 3259058 h 3980394"/>
              <a:gd name="connsiteX1170" fmla="*/ 1553700 w 12192000"/>
              <a:gd name="connsiteY1170" fmla="*/ 3293238 h 3980394"/>
              <a:gd name="connsiteX1171" fmla="*/ 1524494 w 12192000"/>
              <a:gd name="connsiteY1171" fmla="*/ 3307473 h 3980394"/>
              <a:gd name="connsiteX1172" fmla="*/ 1355099 w 12192000"/>
              <a:gd name="connsiteY1172" fmla="*/ 3367299 h 3980394"/>
              <a:gd name="connsiteX1173" fmla="*/ 1343416 w 12192000"/>
              <a:gd name="connsiteY1173" fmla="*/ 3370148 h 3980394"/>
              <a:gd name="connsiteX1174" fmla="*/ 1296688 w 12192000"/>
              <a:gd name="connsiteY1174" fmla="*/ 3381541 h 3980394"/>
              <a:gd name="connsiteX1175" fmla="*/ 1244117 w 12192000"/>
              <a:gd name="connsiteY1175" fmla="*/ 3401485 h 3980394"/>
              <a:gd name="connsiteX1176" fmla="*/ 1191544 w 12192000"/>
              <a:gd name="connsiteY1176" fmla="*/ 3421423 h 3980394"/>
              <a:gd name="connsiteX1177" fmla="*/ 1086402 w 12192000"/>
              <a:gd name="connsiteY1177" fmla="*/ 3469850 h 3980394"/>
              <a:gd name="connsiteX1178" fmla="*/ 1033832 w 12192000"/>
              <a:gd name="connsiteY1178" fmla="*/ 3509725 h 3980394"/>
              <a:gd name="connsiteX1179" fmla="*/ 1039673 w 12192000"/>
              <a:gd name="connsiteY1179" fmla="*/ 3512573 h 3980394"/>
              <a:gd name="connsiteX1180" fmla="*/ 1022151 w 12192000"/>
              <a:gd name="connsiteY1180" fmla="*/ 3521118 h 3980394"/>
              <a:gd name="connsiteX1181" fmla="*/ 952055 w 12192000"/>
              <a:gd name="connsiteY1181" fmla="*/ 3572394 h 3980394"/>
              <a:gd name="connsiteX1182" fmla="*/ 835230 w 12192000"/>
              <a:gd name="connsiteY1182" fmla="*/ 3620820 h 3980394"/>
              <a:gd name="connsiteX1183" fmla="*/ 806024 w 12192000"/>
              <a:gd name="connsiteY1183" fmla="*/ 3617972 h 3980394"/>
              <a:gd name="connsiteX1184" fmla="*/ 724246 w 12192000"/>
              <a:gd name="connsiteY1184" fmla="*/ 3663549 h 3980394"/>
              <a:gd name="connsiteX1185" fmla="*/ 613261 w 12192000"/>
              <a:gd name="connsiteY1185" fmla="*/ 3711976 h 3980394"/>
              <a:gd name="connsiteX1186" fmla="*/ 560690 w 12192000"/>
              <a:gd name="connsiteY1186" fmla="*/ 3734765 h 3980394"/>
              <a:gd name="connsiteX1187" fmla="*/ 508113 w 12192000"/>
              <a:gd name="connsiteY1187" fmla="*/ 3763251 h 3980394"/>
              <a:gd name="connsiteX1188" fmla="*/ 402971 w 12192000"/>
              <a:gd name="connsiteY1188" fmla="*/ 3811678 h 3980394"/>
              <a:gd name="connsiteX1189" fmla="*/ 344559 w 12192000"/>
              <a:gd name="connsiteY1189" fmla="*/ 3834466 h 3980394"/>
              <a:gd name="connsiteX1190" fmla="*/ 344559 w 12192000"/>
              <a:gd name="connsiteY1190" fmla="*/ 3837315 h 3980394"/>
              <a:gd name="connsiteX1191" fmla="*/ 332876 w 12192000"/>
              <a:gd name="connsiteY1191" fmla="*/ 3843012 h 3980394"/>
              <a:gd name="connsiteX1192" fmla="*/ 297829 w 12192000"/>
              <a:gd name="connsiteY1192" fmla="*/ 3871498 h 3980394"/>
              <a:gd name="connsiteX1193" fmla="*/ 221892 w 12192000"/>
              <a:gd name="connsiteY1193" fmla="*/ 3914228 h 3980394"/>
              <a:gd name="connsiteX1194" fmla="*/ 46655 w 12192000"/>
              <a:gd name="connsiteY1194" fmla="*/ 3971199 h 3980394"/>
              <a:gd name="connsiteX1195" fmla="*/ 1386 w 12192000"/>
              <a:gd name="connsiteY1195" fmla="*/ 3979746 h 3980394"/>
              <a:gd name="connsiteX1196" fmla="*/ 0 w 12192000"/>
              <a:gd name="connsiteY1196" fmla="*/ 3980394 h 3980394"/>
              <a:gd name="connsiteX1197" fmla="*/ 0 w 12192000"/>
              <a:gd name="connsiteY1197" fmla="*/ 3880029 h 3980394"/>
              <a:gd name="connsiteX1198" fmla="*/ 29131 w 12192000"/>
              <a:gd name="connsiteY1198" fmla="*/ 3874348 h 3980394"/>
              <a:gd name="connsiteX1199" fmla="*/ 34972 w 12192000"/>
              <a:gd name="connsiteY1199" fmla="*/ 3874348 h 3980394"/>
              <a:gd name="connsiteX1200" fmla="*/ 58337 w 12192000"/>
              <a:gd name="connsiteY1200" fmla="*/ 3854406 h 3980394"/>
              <a:gd name="connsiteX1201" fmla="*/ 157639 w 12192000"/>
              <a:gd name="connsiteY1201" fmla="*/ 3800283 h 3980394"/>
              <a:gd name="connsiteX1202" fmla="*/ 181004 w 12192000"/>
              <a:gd name="connsiteY1202" fmla="*/ 3786039 h 3980394"/>
              <a:gd name="connsiteX1203" fmla="*/ 332876 w 12192000"/>
              <a:gd name="connsiteY1203" fmla="*/ 3703430 h 3980394"/>
              <a:gd name="connsiteX1204" fmla="*/ 344559 w 12192000"/>
              <a:gd name="connsiteY1204" fmla="*/ 3683489 h 3980394"/>
              <a:gd name="connsiteX1205" fmla="*/ 367923 w 12192000"/>
              <a:gd name="connsiteY1205" fmla="*/ 3674945 h 3980394"/>
              <a:gd name="connsiteX1206" fmla="*/ 391288 w 12192000"/>
              <a:gd name="connsiteY1206" fmla="*/ 3663549 h 3980394"/>
              <a:gd name="connsiteX1207" fmla="*/ 543163 w 12192000"/>
              <a:gd name="connsiteY1207" fmla="*/ 3595183 h 3980394"/>
              <a:gd name="connsiteX1208" fmla="*/ 642467 w 12192000"/>
              <a:gd name="connsiteY1208" fmla="*/ 3546757 h 3980394"/>
              <a:gd name="connsiteX1209" fmla="*/ 911167 w 12192000"/>
              <a:gd name="connsiteY1209" fmla="*/ 3438515 h 3980394"/>
              <a:gd name="connsiteX1210" fmla="*/ 928690 w 12192000"/>
              <a:gd name="connsiteY1210" fmla="*/ 3435669 h 3980394"/>
              <a:gd name="connsiteX1211" fmla="*/ 940372 w 12192000"/>
              <a:gd name="connsiteY1211" fmla="*/ 3427120 h 3980394"/>
              <a:gd name="connsiteX1212" fmla="*/ 969578 w 12192000"/>
              <a:gd name="connsiteY1212" fmla="*/ 3418572 h 3980394"/>
              <a:gd name="connsiteX1213" fmla="*/ 1004626 w 12192000"/>
              <a:gd name="connsiteY1213" fmla="*/ 3401485 h 3980394"/>
              <a:gd name="connsiteX1214" fmla="*/ 1074722 w 12192000"/>
              <a:gd name="connsiteY1214" fmla="*/ 3378695 h 3980394"/>
              <a:gd name="connsiteX1215" fmla="*/ 1086402 w 12192000"/>
              <a:gd name="connsiteY1215" fmla="*/ 3381541 h 3980394"/>
              <a:gd name="connsiteX1216" fmla="*/ 1092244 w 12192000"/>
              <a:gd name="connsiteY1216" fmla="*/ 3378695 h 3980394"/>
              <a:gd name="connsiteX1217" fmla="*/ 1092244 w 12192000"/>
              <a:gd name="connsiteY1217" fmla="*/ 3375845 h 3980394"/>
              <a:gd name="connsiteX1218" fmla="*/ 1203227 w 12192000"/>
              <a:gd name="connsiteY1218" fmla="*/ 3355905 h 3980394"/>
              <a:gd name="connsiteX1219" fmla="*/ 1203227 w 12192000"/>
              <a:gd name="connsiteY1219" fmla="*/ 3353057 h 3980394"/>
              <a:gd name="connsiteX1220" fmla="*/ 1232434 w 12192000"/>
              <a:gd name="connsiteY1220" fmla="*/ 3327416 h 3980394"/>
              <a:gd name="connsiteX1221" fmla="*/ 1232434 w 12192000"/>
              <a:gd name="connsiteY1221" fmla="*/ 3324573 h 3980394"/>
              <a:gd name="connsiteX1222" fmla="*/ 1273323 w 12192000"/>
              <a:gd name="connsiteY1222" fmla="*/ 3304632 h 3980394"/>
              <a:gd name="connsiteX1223" fmla="*/ 1285005 w 12192000"/>
              <a:gd name="connsiteY1223" fmla="*/ 3298927 h 3980394"/>
              <a:gd name="connsiteX1224" fmla="*/ 1395987 w 12192000"/>
              <a:gd name="connsiteY1224" fmla="*/ 3273295 h 3980394"/>
              <a:gd name="connsiteX1225" fmla="*/ 1390145 w 12192000"/>
              <a:gd name="connsiteY1225" fmla="*/ 3270453 h 3980394"/>
              <a:gd name="connsiteX1226" fmla="*/ 1489447 w 12192000"/>
              <a:gd name="connsiteY1226" fmla="*/ 3236264 h 3980394"/>
              <a:gd name="connsiteX1227" fmla="*/ 1506971 w 12192000"/>
              <a:gd name="connsiteY1227" fmla="*/ 3236264 h 3980394"/>
              <a:gd name="connsiteX1228" fmla="*/ 1612113 w 12192000"/>
              <a:gd name="connsiteY1228" fmla="*/ 3204929 h 3980394"/>
              <a:gd name="connsiteX1229" fmla="*/ 1635477 w 12192000"/>
              <a:gd name="connsiteY1229" fmla="*/ 3190687 h 3980394"/>
              <a:gd name="connsiteX1230" fmla="*/ 1851603 w 12192000"/>
              <a:gd name="connsiteY1230" fmla="*/ 3119471 h 3980394"/>
              <a:gd name="connsiteX1231" fmla="*/ 2026840 w 12192000"/>
              <a:gd name="connsiteY1231" fmla="*/ 3065346 h 3980394"/>
              <a:gd name="connsiteX1232" fmla="*/ 2056046 w 12192000"/>
              <a:gd name="connsiteY1232" fmla="*/ 3059650 h 3980394"/>
              <a:gd name="connsiteX1233" fmla="*/ 2079411 w 12192000"/>
              <a:gd name="connsiteY1233" fmla="*/ 3051103 h 3980394"/>
              <a:gd name="connsiteX1234" fmla="*/ 2091095 w 12192000"/>
              <a:gd name="connsiteY1234" fmla="*/ 3048254 h 3980394"/>
              <a:gd name="connsiteX1235" fmla="*/ 2096935 w 12192000"/>
              <a:gd name="connsiteY1235" fmla="*/ 3045405 h 3980394"/>
              <a:gd name="connsiteX1236" fmla="*/ 2114459 w 12192000"/>
              <a:gd name="connsiteY1236" fmla="*/ 3039708 h 3980394"/>
              <a:gd name="connsiteX1237" fmla="*/ 2155349 w 12192000"/>
              <a:gd name="connsiteY1237" fmla="*/ 3022617 h 3980394"/>
              <a:gd name="connsiteX1238" fmla="*/ 2219601 w 12192000"/>
              <a:gd name="connsiteY1238" fmla="*/ 3016919 h 3980394"/>
              <a:gd name="connsiteX1239" fmla="*/ 2219601 w 12192000"/>
              <a:gd name="connsiteY1239" fmla="*/ 3019768 h 3980394"/>
              <a:gd name="connsiteX1240" fmla="*/ 2313061 w 12192000"/>
              <a:gd name="connsiteY1240" fmla="*/ 2985584 h 3980394"/>
              <a:gd name="connsiteX1241" fmla="*/ 2348109 w 12192000"/>
              <a:gd name="connsiteY1241" fmla="*/ 2982738 h 3980394"/>
              <a:gd name="connsiteX1242" fmla="*/ 2371472 w 12192000"/>
              <a:gd name="connsiteY1242" fmla="*/ 2977039 h 3980394"/>
              <a:gd name="connsiteX1243" fmla="*/ 2377311 w 12192000"/>
              <a:gd name="connsiteY1243" fmla="*/ 2974191 h 3980394"/>
              <a:gd name="connsiteX1244" fmla="*/ 2418201 w 12192000"/>
              <a:gd name="connsiteY1244" fmla="*/ 2957099 h 3980394"/>
              <a:gd name="connsiteX1245" fmla="*/ 2435725 w 12192000"/>
              <a:gd name="connsiteY1245" fmla="*/ 2954250 h 3980394"/>
              <a:gd name="connsiteX1246" fmla="*/ 2505822 w 12192000"/>
              <a:gd name="connsiteY1246" fmla="*/ 2945704 h 3980394"/>
              <a:gd name="connsiteX1247" fmla="*/ 2505822 w 12192000"/>
              <a:gd name="connsiteY1247" fmla="*/ 2948553 h 3980394"/>
              <a:gd name="connsiteX1248" fmla="*/ 2610964 w 12192000"/>
              <a:gd name="connsiteY1248" fmla="*/ 2911521 h 3980394"/>
              <a:gd name="connsiteX1249" fmla="*/ 2628489 w 12192000"/>
              <a:gd name="connsiteY1249" fmla="*/ 2905824 h 3980394"/>
              <a:gd name="connsiteX1250" fmla="*/ 2663537 w 12192000"/>
              <a:gd name="connsiteY1250" fmla="*/ 2900126 h 3980394"/>
              <a:gd name="connsiteX1251" fmla="*/ 2646012 w 12192000"/>
              <a:gd name="connsiteY1251" fmla="*/ 2891581 h 3980394"/>
              <a:gd name="connsiteX1252" fmla="*/ 2692740 w 12192000"/>
              <a:gd name="connsiteY1252" fmla="*/ 2865943 h 3980394"/>
              <a:gd name="connsiteX1253" fmla="*/ 2850453 w 12192000"/>
              <a:gd name="connsiteY1253" fmla="*/ 2831760 h 3980394"/>
              <a:gd name="connsiteX1254" fmla="*/ 3037375 w 12192000"/>
              <a:gd name="connsiteY1254" fmla="*/ 2794728 h 3980394"/>
              <a:gd name="connsiteX1255" fmla="*/ 3060739 w 12192000"/>
              <a:gd name="connsiteY1255" fmla="*/ 2789032 h 3980394"/>
              <a:gd name="connsiteX1256" fmla="*/ 3165881 w 12192000"/>
              <a:gd name="connsiteY1256" fmla="*/ 2763392 h 3980394"/>
              <a:gd name="connsiteX1257" fmla="*/ 3195089 w 12192000"/>
              <a:gd name="connsiteY1257" fmla="*/ 2757695 h 3980394"/>
              <a:gd name="connsiteX1258" fmla="*/ 3399536 w 12192000"/>
              <a:gd name="connsiteY1258" fmla="*/ 2714967 h 3980394"/>
              <a:gd name="connsiteX1259" fmla="*/ 3714960 w 12192000"/>
              <a:gd name="connsiteY1259" fmla="*/ 2660842 h 3980394"/>
              <a:gd name="connsiteX1260" fmla="*/ 3720809 w 12192000"/>
              <a:gd name="connsiteY1260" fmla="*/ 2657994 h 3980394"/>
              <a:gd name="connsiteX1261" fmla="*/ 3855146 w 12192000"/>
              <a:gd name="connsiteY1261" fmla="*/ 2638053 h 3980394"/>
              <a:gd name="connsiteX1262" fmla="*/ 4077101 w 12192000"/>
              <a:gd name="connsiteY1262" fmla="*/ 2606720 h 3980394"/>
              <a:gd name="connsiteX1263" fmla="*/ 4129672 w 12192000"/>
              <a:gd name="connsiteY1263" fmla="*/ 2595324 h 3980394"/>
              <a:gd name="connsiteX1264" fmla="*/ 4170561 w 12192000"/>
              <a:gd name="connsiteY1264" fmla="*/ 2592476 h 3980394"/>
              <a:gd name="connsiteX1265" fmla="*/ 4176403 w 12192000"/>
              <a:gd name="connsiteY1265" fmla="*/ 2592476 h 3980394"/>
              <a:gd name="connsiteX1266" fmla="*/ 4322433 w 12192000"/>
              <a:gd name="connsiteY1266" fmla="*/ 2575384 h 3980394"/>
              <a:gd name="connsiteX1267" fmla="*/ 4456781 w 12192000"/>
              <a:gd name="connsiteY1267" fmla="*/ 2563987 h 3980394"/>
              <a:gd name="connsiteX1268" fmla="*/ 4468464 w 12192000"/>
              <a:gd name="connsiteY1268" fmla="*/ 2563987 h 3980394"/>
              <a:gd name="connsiteX1269" fmla="*/ 4521036 w 12192000"/>
              <a:gd name="connsiteY1269" fmla="*/ 2555443 h 3980394"/>
              <a:gd name="connsiteX1270" fmla="*/ 4713797 w 12192000"/>
              <a:gd name="connsiteY1270" fmla="*/ 2538351 h 3980394"/>
              <a:gd name="connsiteX1271" fmla="*/ 5011700 w 12192000"/>
              <a:gd name="connsiteY1271" fmla="*/ 2515563 h 3980394"/>
              <a:gd name="connsiteX1272" fmla="*/ 5356334 w 12192000"/>
              <a:gd name="connsiteY1272" fmla="*/ 2504168 h 3980394"/>
              <a:gd name="connsiteX1273" fmla="*/ 5385540 w 12192000"/>
              <a:gd name="connsiteY1273" fmla="*/ 2504168 h 3980394"/>
              <a:gd name="connsiteX1274" fmla="*/ 5403063 w 12192000"/>
              <a:gd name="connsiteY1274" fmla="*/ 2504168 h 3980394"/>
              <a:gd name="connsiteX1275" fmla="*/ 5408903 w 12192000"/>
              <a:gd name="connsiteY1275" fmla="*/ 2504168 h 3980394"/>
              <a:gd name="connsiteX1276" fmla="*/ 5566618 w 12192000"/>
              <a:gd name="connsiteY1276" fmla="*/ 2498471 h 3980394"/>
              <a:gd name="connsiteX1277" fmla="*/ 5584141 w 12192000"/>
              <a:gd name="connsiteY1277" fmla="*/ 2492772 h 3980394"/>
              <a:gd name="connsiteX1278" fmla="*/ 5648396 w 12192000"/>
              <a:gd name="connsiteY1278" fmla="*/ 2489923 h 3980394"/>
              <a:gd name="connsiteX1279" fmla="*/ 5987188 w 12192000"/>
              <a:gd name="connsiteY1279" fmla="*/ 2498471 h 3980394"/>
              <a:gd name="connsiteX1280" fmla="*/ 6191631 w 12192000"/>
              <a:gd name="connsiteY1280" fmla="*/ 2504168 h 3980394"/>
              <a:gd name="connsiteX1281" fmla="*/ 6214997 w 12192000"/>
              <a:gd name="connsiteY1281" fmla="*/ 2504168 h 3980394"/>
              <a:gd name="connsiteX1282" fmla="*/ 6425281 w 12192000"/>
              <a:gd name="connsiteY1282" fmla="*/ 2509865 h 3980394"/>
              <a:gd name="connsiteX1283" fmla="*/ 6425281 w 12192000"/>
              <a:gd name="connsiteY1283" fmla="*/ 2507016 h 3980394"/>
              <a:gd name="connsiteX1284" fmla="*/ 6419440 w 12192000"/>
              <a:gd name="connsiteY1284" fmla="*/ 2507016 h 3980394"/>
              <a:gd name="connsiteX1285" fmla="*/ 6355185 w 12192000"/>
              <a:gd name="connsiteY1285" fmla="*/ 2501318 h 3980394"/>
              <a:gd name="connsiteX1286" fmla="*/ 6080649 w 12192000"/>
              <a:gd name="connsiteY1286" fmla="*/ 2495622 h 3980394"/>
              <a:gd name="connsiteX1287" fmla="*/ 6080649 w 12192000"/>
              <a:gd name="connsiteY1287" fmla="*/ 2492772 h 3980394"/>
              <a:gd name="connsiteX1288" fmla="*/ 6068966 w 12192000"/>
              <a:gd name="connsiteY1288" fmla="*/ 2492772 h 3980394"/>
              <a:gd name="connsiteX1289" fmla="*/ 5998870 w 12192000"/>
              <a:gd name="connsiteY1289" fmla="*/ 2489923 h 3980394"/>
              <a:gd name="connsiteX1290" fmla="*/ 5987188 w 12192000"/>
              <a:gd name="connsiteY1290" fmla="*/ 2489923 h 3980394"/>
              <a:gd name="connsiteX1291" fmla="*/ 5957982 w 12192000"/>
              <a:gd name="connsiteY1291" fmla="*/ 2489923 h 3980394"/>
              <a:gd name="connsiteX1292" fmla="*/ 5917092 w 12192000"/>
              <a:gd name="connsiteY1292" fmla="*/ 2489923 h 3980394"/>
              <a:gd name="connsiteX1293" fmla="*/ 5905411 w 12192000"/>
              <a:gd name="connsiteY1293" fmla="*/ 2481379 h 3980394"/>
              <a:gd name="connsiteX1294" fmla="*/ 5817793 w 12192000"/>
              <a:gd name="connsiteY1294" fmla="*/ 2472833 h 3980394"/>
              <a:gd name="connsiteX1295" fmla="*/ 5776903 w 12192000"/>
              <a:gd name="connsiteY1295" fmla="*/ 2469983 h 3980394"/>
              <a:gd name="connsiteX1296" fmla="*/ 5706808 w 12192000"/>
              <a:gd name="connsiteY1296" fmla="*/ 2472833 h 3980394"/>
              <a:gd name="connsiteX1297" fmla="*/ 5665919 w 12192000"/>
              <a:gd name="connsiteY1297" fmla="*/ 2472833 h 3980394"/>
              <a:gd name="connsiteX1298" fmla="*/ 5636715 w 12192000"/>
              <a:gd name="connsiteY1298" fmla="*/ 2472833 h 3980394"/>
              <a:gd name="connsiteX1299" fmla="*/ 5584141 w 12192000"/>
              <a:gd name="connsiteY1299" fmla="*/ 2469983 h 3980394"/>
              <a:gd name="connsiteX1300" fmla="*/ 5508205 w 12192000"/>
              <a:gd name="connsiteY1300" fmla="*/ 2461437 h 3980394"/>
              <a:gd name="connsiteX1301" fmla="*/ 5216142 w 12192000"/>
              <a:gd name="connsiteY1301" fmla="*/ 2467135 h 3980394"/>
              <a:gd name="connsiteX1302" fmla="*/ 5175254 w 12192000"/>
              <a:gd name="connsiteY1302" fmla="*/ 2475681 h 3980394"/>
              <a:gd name="connsiteX1303" fmla="*/ 5023382 w 12192000"/>
              <a:gd name="connsiteY1303" fmla="*/ 2478529 h 3980394"/>
              <a:gd name="connsiteX1304" fmla="*/ 5011700 w 12192000"/>
              <a:gd name="connsiteY1304" fmla="*/ 2478529 h 3980394"/>
              <a:gd name="connsiteX1305" fmla="*/ 5011654 w 12192000"/>
              <a:gd name="connsiteY1305" fmla="*/ 2478530 h 3980394"/>
              <a:gd name="connsiteX1306" fmla="*/ 4946716 w 12192000"/>
              <a:gd name="connsiteY1306" fmla="*/ 2484936 h 3980394"/>
              <a:gd name="connsiteX1307" fmla="*/ 4915643 w 12192000"/>
              <a:gd name="connsiteY1307" fmla="*/ 2485893 h 3980394"/>
              <a:gd name="connsiteX1308" fmla="*/ 4877351 w 12192000"/>
              <a:gd name="connsiteY1308" fmla="*/ 2492772 h 3980394"/>
              <a:gd name="connsiteX1309" fmla="*/ 4772209 w 12192000"/>
              <a:gd name="connsiteY1309" fmla="*/ 2504168 h 3980394"/>
              <a:gd name="connsiteX1310" fmla="*/ 4759066 w 12192000"/>
              <a:gd name="connsiteY1310" fmla="*/ 2502030 h 3980394"/>
              <a:gd name="connsiteX1311" fmla="*/ 4760526 w 12192000"/>
              <a:gd name="connsiteY1311" fmla="*/ 2501318 h 3980394"/>
              <a:gd name="connsiteX1312" fmla="*/ 4748844 w 12192000"/>
              <a:gd name="connsiteY1312" fmla="*/ 2498471 h 3980394"/>
              <a:gd name="connsiteX1313" fmla="*/ 4754684 w 12192000"/>
              <a:gd name="connsiteY1313" fmla="*/ 2501318 h 3980394"/>
              <a:gd name="connsiteX1314" fmla="*/ 4759066 w 12192000"/>
              <a:gd name="connsiteY1314" fmla="*/ 2502030 h 3980394"/>
              <a:gd name="connsiteX1315" fmla="*/ 4748844 w 12192000"/>
              <a:gd name="connsiteY1315" fmla="*/ 2507016 h 3980394"/>
              <a:gd name="connsiteX1316" fmla="*/ 4421735 w 12192000"/>
              <a:gd name="connsiteY1316" fmla="*/ 2535503 h 3980394"/>
              <a:gd name="connsiteX1317" fmla="*/ 4153037 w 12192000"/>
              <a:gd name="connsiteY1317" fmla="*/ 2563987 h 3980394"/>
              <a:gd name="connsiteX1318" fmla="*/ 4117989 w 12192000"/>
              <a:gd name="connsiteY1318" fmla="*/ 2552594 h 3980394"/>
              <a:gd name="connsiteX1319" fmla="*/ 4059576 w 12192000"/>
              <a:gd name="connsiteY1319" fmla="*/ 2561140 h 3980394"/>
              <a:gd name="connsiteX1320" fmla="*/ 3849319 w 12192000"/>
              <a:gd name="connsiteY1320" fmla="*/ 2586777 h 3980394"/>
              <a:gd name="connsiteX1321" fmla="*/ 3837629 w 12192000"/>
              <a:gd name="connsiteY1321" fmla="*/ 2589626 h 3980394"/>
              <a:gd name="connsiteX1322" fmla="*/ 3656546 w 12192000"/>
              <a:gd name="connsiteY1322" fmla="*/ 2620961 h 3980394"/>
              <a:gd name="connsiteX1323" fmla="*/ 3627344 w 12192000"/>
              <a:gd name="connsiteY1323" fmla="*/ 2626659 h 3980394"/>
              <a:gd name="connsiteX1324" fmla="*/ 3241818 w 12192000"/>
              <a:gd name="connsiteY1324" fmla="*/ 2695028 h 3980394"/>
              <a:gd name="connsiteX1325" fmla="*/ 3230135 w 12192000"/>
              <a:gd name="connsiteY1325" fmla="*/ 2697875 h 3980394"/>
              <a:gd name="connsiteX1326" fmla="*/ 3189245 w 12192000"/>
              <a:gd name="connsiteY1326" fmla="*/ 2706422 h 3980394"/>
              <a:gd name="connsiteX1327" fmla="*/ 3160039 w 12192000"/>
              <a:gd name="connsiteY1327" fmla="*/ 2712118 h 3980394"/>
              <a:gd name="connsiteX1328" fmla="*/ 3107468 w 12192000"/>
              <a:gd name="connsiteY1328" fmla="*/ 2723511 h 3980394"/>
              <a:gd name="connsiteX1329" fmla="*/ 3043215 w 12192000"/>
              <a:gd name="connsiteY1329" fmla="*/ 2734908 h 3980394"/>
              <a:gd name="connsiteX1330" fmla="*/ 2891344 w 12192000"/>
              <a:gd name="connsiteY1330" fmla="*/ 2769093 h 3980394"/>
              <a:gd name="connsiteX1331" fmla="*/ 2686899 w 12192000"/>
              <a:gd name="connsiteY1331" fmla="*/ 2814669 h 3980394"/>
              <a:gd name="connsiteX1332" fmla="*/ 2675220 w 12192000"/>
              <a:gd name="connsiteY1332" fmla="*/ 2817519 h 3980394"/>
              <a:gd name="connsiteX1333" fmla="*/ 2324744 w 12192000"/>
              <a:gd name="connsiteY1333" fmla="*/ 2905824 h 3980394"/>
              <a:gd name="connsiteX1334" fmla="*/ 2313061 w 12192000"/>
              <a:gd name="connsiteY1334" fmla="*/ 2902974 h 3980394"/>
              <a:gd name="connsiteX1335" fmla="*/ 2307220 w 12192000"/>
              <a:gd name="connsiteY1335" fmla="*/ 2905824 h 3980394"/>
              <a:gd name="connsiteX1336" fmla="*/ 2289695 w 12192000"/>
              <a:gd name="connsiteY1336" fmla="*/ 2905824 h 3980394"/>
              <a:gd name="connsiteX1337" fmla="*/ 2272172 w 12192000"/>
              <a:gd name="connsiteY1337" fmla="*/ 2905824 h 3980394"/>
              <a:gd name="connsiteX1338" fmla="*/ 2283855 w 12192000"/>
              <a:gd name="connsiteY1338" fmla="*/ 2902974 h 3980394"/>
              <a:gd name="connsiteX1339" fmla="*/ 2289695 w 12192000"/>
              <a:gd name="connsiteY1339" fmla="*/ 2900126 h 3980394"/>
              <a:gd name="connsiteX1340" fmla="*/ 2202078 w 12192000"/>
              <a:gd name="connsiteY1340" fmla="*/ 2900126 h 3980394"/>
              <a:gd name="connsiteX1341" fmla="*/ 2108619 w 12192000"/>
              <a:gd name="connsiteY1341" fmla="*/ 2925763 h 3980394"/>
              <a:gd name="connsiteX1342" fmla="*/ 1910016 w 12192000"/>
              <a:gd name="connsiteY1342" fmla="*/ 2982738 h 3980394"/>
              <a:gd name="connsiteX1343" fmla="*/ 1723095 w 12192000"/>
              <a:gd name="connsiteY1343" fmla="*/ 3034012 h 3980394"/>
              <a:gd name="connsiteX1344" fmla="*/ 1670525 w 12192000"/>
              <a:gd name="connsiteY1344" fmla="*/ 3053951 h 3980394"/>
              <a:gd name="connsiteX1345" fmla="*/ 1530335 w 12192000"/>
              <a:gd name="connsiteY1345" fmla="*/ 3099532 h 3980394"/>
              <a:gd name="connsiteX1346" fmla="*/ 1425193 w 12192000"/>
              <a:gd name="connsiteY1346" fmla="*/ 3133713 h 3980394"/>
              <a:gd name="connsiteX1347" fmla="*/ 1425193 w 12192000"/>
              <a:gd name="connsiteY1347" fmla="*/ 3136560 h 3980394"/>
              <a:gd name="connsiteX1348" fmla="*/ 1419352 w 12192000"/>
              <a:gd name="connsiteY1348" fmla="*/ 3136560 h 3980394"/>
              <a:gd name="connsiteX1349" fmla="*/ 1285005 w 12192000"/>
              <a:gd name="connsiteY1349" fmla="*/ 3179292 h 3980394"/>
              <a:gd name="connsiteX1350" fmla="*/ 1191544 w 12192000"/>
              <a:gd name="connsiteY1350" fmla="*/ 3210626 h 3980394"/>
              <a:gd name="connsiteX1351" fmla="*/ 1179863 w 12192000"/>
              <a:gd name="connsiteY1351" fmla="*/ 3213474 h 3980394"/>
              <a:gd name="connsiteX1352" fmla="*/ 1168179 w 12192000"/>
              <a:gd name="connsiteY1352" fmla="*/ 3216323 h 3980394"/>
              <a:gd name="connsiteX1353" fmla="*/ 1098085 w 12192000"/>
              <a:gd name="connsiteY1353" fmla="*/ 3236264 h 3980394"/>
              <a:gd name="connsiteX1354" fmla="*/ 1027991 w 12192000"/>
              <a:gd name="connsiteY1354" fmla="*/ 3267600 h 3980394"/>
              <a:gd name="connsiteX1355" fmla="*/ 1016309 w 12192000"/>
              <a:gd name="connsiteY1355" fmla="*/ 3270453 h 3980394"/>
              <a:gd name="connsiteX1356" fmla="*/ 940372 w 12192000"/>
              <a:gd name="connsiteY1356" fmla="*/ 3301786 h 3980394"/>
              <a:gd name="connsiteX1357" fmla="*/ 858596 w 12192000"/>
              <a:gd name="connsiteY1357" fmla="*/ 3333120 h 3980394"/>
              <a:gd name="connsiteX1358" fmla="*/ 806024 w 12192000"/>
              <a:gd name="connsiteY1358" fmla="*/ 3350205 h 3980394"/>
              <a:gd name="connsiteX1359" fmla="*/ 461385 w 12192000"/>
              <a:gd name="connsiteY1359" fmla="*/ 3501179 h 3980394"/>
              <a:gd name="connsiteX1360" fmla="*/ 443859 w 12192000"/>
              <a:gd name="connsiteY1360" fmla="*/ 3506877 h 3980394"/>
              <a:gd name="connsiteX1361" fmla="*/ 315352 w 12192000"/>
              <a:gd name="connsiteY1361" fmla="*/ 3566696 h 3980394"/>
              <a:gd name="connsiteX1362" fmla="*/ 251098 w 12192000"/>
              <a:gd name="connsiteY1362" fmla="*/ 3612276 h 3980394"/>
              <a:gd name="connsiteX1363" fmla="*/ 221892 w 12192000"/>
              <a:gd name="connsiteY1363" fmla="*/ 3649306 h 3980394"/>
              <a:gd name="connsiteX1364" fmla="*/ 204369 w 12192000"/>
              <a:gd name="connsiteY1364" fmla="*/ 3672095 h 3980394"/>
              <a:gd name="connsiteX1365" fmla="*/ 175162 w 12192000"/>
              <a:gd name="connsiteY1365" fmla="*/ 3689187 h 3980394"/>
              <a:gd name="connsiteX1366" fmla="*/ 122591 w 12192000"/>
              <a:gd name="connsiteY1366" fmla="*/ 3720522 h 3980394"/>
              <a:gd name="connsiteX1367" fmla="*/ 75862 w 12192000"/>
              <a:gd name="connsiteY1367" fmla="*/ 3737613 h 3980394"/>
              <a:gd name="connsiteX1368" fmla="*/ 23291 w 12192000"/>
              <a:gd name="connsiteY1368" fmla="*/ 3757554 h 3980394"/>
              <a:gd name="connsiteX1369" fmla="*/ 29131 w 12192000"/>
              <a:gd name="connsiteY1369" fmla="*/ 3743311 h 3980394"/>
              <a:gd name="connsiteX1370" fmla="*/ 81703 w 12192000"/>
              <a:gd name="connsiteY1370" fmla="*/ 3694885 h 3980394"/>
              <a:gd name="connsiteX1371" fmla="*/ 87543 w 12192000"/>
              <a:gd name="connsiteY1371" fmla="*/ 3692035 h 3980394"/>
              <a:gd name="connsiteX1372" fmla="*/ 105068 w 12192000"/>
              <a:gd name="connsiteY1372" fmla="*/ 3686338 h 3980394"/>
              <a:gd name="connsiteX1373" fmla="*/ 122591 w 12192000"/>
              <a:gd name="connsiteY1373" fmla="*/ 3683489 h 3980394"/>
              <a:gd name="connsiteX1374" fmla="*/ 145956 w 12192000"/>
              <a:gd name="connsiteY1374" fmla="*/ 3680641 h 3980394"/>
              <a:gd name="connsiteX1375" fmla="*/ 151798 w 12192000"/>
              <a:gd name="connsiteY1375" fmla="*/ 3680641 h 3980394"/>
              <a:gd name="connsiteX1376" fmla="*/ 140115 w 12192000"/>
              <a:gd name="connsiteY1376" fmla="*/ 3660701 h 3980394"/>
              <a:gd name="connsiteX1377" fmla="*/ 93385 w 12192000"/>
              <a:gd name="connsiteY1377" fmla="*/ 3680641 h 3980394"/>
              <a:gd name="connsiteX1378" fmla="*/ 93385 w 12192000"/>
              <a:gd name="connsiteY1378" fmla="*/ 3689187 h 3980394"/>
              <a:gd name="connsiteX1379" fmla="*/ 46655 w 12192000"/>
              <a:gd name="connsiteY1379" fmla="*/ 3694885 h 3980394"/>
              <a:gd name="connsiteX1380" fmla="*/ 5766 w 12192000"/>
              <a:gd name="connsiteY1380" fmla="*/ 3731916 h 3980394"/>
              <a:gd name="connsiteX1381" fmla="*/ 17449 w 12192000"/>
              <a:gd name="connsiteY1381" fmla="*/ 3737613 h 3980394"/>
              <a:gd name="connsiteX1382" fmla="*/ 0 w 12192000"/>
              <a:gd name="connsiteY1382" fmla="*/ 3747541 h 3980394"/>
              <a:gd name="connsiteX1383" fmla="*/ 0 w 12192000"/>
              <a:gd name="connsiteY1383" fmla="*/ 3679653 h 3980394"/>
              <a:gd name="connsiteX1384" fmla="*/ 25481 w 12192000"/>
              <a:gd name="connsiteY1384" fmla="*/ 3666398 h 3980394"/>
              <a:gd name="connsiteX1385" fmla="*/ 75862 w 12192000"/>
              <a:gd name="connsiteY1385" fmla="*/ 3637912 h 3980394"/>
              <a:gd name="connsiteX1386" fmla="*/ 169321 w 12192000"/>
              <a:gd name="connsiteY1386" fmla="*/ 3583789 h 3980394"/>
              <a:gd name="connsiteX1387" fmla="*/ 181004 w 12192000"/>
              <a:gd name="connsiteY1387" fmla="*/ 3580939 h 3980394"/>
              <a:gd name="connsiteX1388" fmla="*/ 186845 w 12192000"/>
              <a:gd name="connsiteY1388" fmla="*/ 3572394 h 3980394"/>
              <a:gd name="connsiteX1389" fmla="*/ 373765 w 12192000"/>
              <a:gd name="connsiteY1389" fmla="*/ 3458456 h 3980394"/>
              <a:gd name="connsiteX1390" fmla="*/ 432178 w 12192000"/>
              <a:gd name="connsiteY1390" fmla="*/ 3427120 h 3980394"/>
              <a:gd name="connsiteX1391" fmla="*/ 467225 w 12192000"/>
              <a:gd name="connsiteY1391" fmla="*/ 3429968 h 3980394"/>
              <a:gd name="connsiteX1392" fmla="*/ 461385 w 12192000"/>
              <a:gd name="connsiteY1392" fmla="*/ 3444212 h 3980394"/>
              <a:gd name="connsiteX1393" fmla="*/ 601579 w 12192000"/>
              <a:gd name="connsiteY1393" fmla="*/ 3390088 h 3980394"/>
              <a:gd name="connsiteX1394" fmla="*/ 671675 w 12192000"/>
              <a:gd name="connsiteY1394" fmla="*/ 3367299 h 3980394"/>
              <a:gd name="connsiteX1395" fmla="*/ 677515 w 12192000"/>
              <a:gd name="connsiteY1395" fmla="*/ 3370148 h 3980394"/>
              <a:gd name="connsiteX1396" fmla="*/ 677515 w 12192000"/>
              <a:gd name="connsiteY1396" fmla="*/ 3367299 h 3980394"/>
              <a:gd name="connsiteX1397" fmla="*/ 683357 w 12192000"/>
              <a:gd name="connsiteY1397" fmla="*/ 3358755 h 3980394"/>
              <a:gd name="connsiteX1398" fmla="*/ 759294 w 12192000"/>
              <a:gd name="connsiteY1398" fmla="*/ 3318867 h 3980394"/>
              <a:gd name="connsiteX1399" fmla="*/ 770977 w 12192000"/>
              <a:gd name="connsiteY1399" fmla="*/ 3313181 h 3980394"/>
              <a:gd name="connsiteX1400" fmla="*/ 817707 w 12192000"/>
              <a:gd name="connsiteY1400" fmla="*/ 3293238 h 3980394"/>
              <a:gd name="connsiteX1401" fmla="*/ 829390 w 12192000"/>
              <a:gd name="connsiteY1401" fmla="*/ 3290393 h 3980394"/>
              <a:gd name="connsiteX1402" fmla="*/ 829390 w 12192000"/>
              <a:gd name="connsiteY1402" fmla="*/ 3287533 h 3980394"/>
              <a:gd name="connsiteX1403" fmla="*/ 841071 w 12192000"/>
              <a:gd name="connsiteY1403" fmla="*/ 3278999 h 3980394"/>
              <a:gd name="connsiteX1404" fmla="*/ 870278 w 12192000"/>
              <a:gd name="connsiteY1404" fmla="*/ 3270453 h 3980394"/>
              <a:gd name="connsiteX1405" fmla="*/ 946214 w 12192000"/>
              <a:gd name="connsiteY1405" fmla="*/ 3239115 h 3980394"/>
              <a:gd name="connsiteX1406" fmla="*/ 1016309 w 12192000"/>
              <a:gd name="connsiteY1406" fmla="*/ 3202081 h 3980394"/>
              <a:gd name="connsiteX1407" fmla="*/ 1092244 w 12192000"/>
              <a:gd name="connsiteY1407" fmla="*/ 3173594 h 3980394"/>
              <a:gd name="connsiteX1408" fmla="*/ 1203227 w 12192000"/>
              <a:gd name="connsiteY1408" fmla="*/ 3130865 h 3980394"/>
              <a:gd name="connsiteX1409" fmla="*/ 1214910 w 12192000"/>
              <a:gd name="connsiteY1409" fmla="*/ 3128015 h 3980394"/>
              <a:gd name="connsiteX1410" fmla="*/ 1285005 w 12192000"/>
              <a:gd name="connsiteY1410" fmla="*/ 3102379 h 3980394"/>
              <a:gd name="connsiteX1411" fmla="*/ 1390145 w 12192000"/>
              <a:gd name="connsiteY1411" fmla="*/ 3079592 h 3980394"/>
              <a:gd name="connsiteX1412" fmla="*/ 1413510 w 12192000"/>
              <a:gd name="connsiteY1412" fmla="*/ 3071044 h 3980394"/>
              <a:gd name="connsiteX1413" fmla="*/ 1425193 w 12192000"/>
              <a:gd name="connsiteY1413" fmla="*/ 3065346 h 3980394"/>
              <a:gd name="connsiteX1414" fmla="*/ 1612113 w 12192000"/>
              <a:gd name="connsiteY1414" fmla="*/ 3008373 h 3980394"/>
              <a:gd name="connsiteX1415" fmla="*/ 1617954 w 12192000"/>
              <a:gd name="connsiteY1415" fmla="*/ 3005525 h 3980394"/>
              <a:gd name="connsiteX1416" fmla="*/ 1641319 w 12192000"/>
              <a:gd name="connsiteY1416" fmla="*/ 2996980 h 3980394"/>
              <a:gd name="connsiteX1417" fmla="*/ 1658844 w 12192000"/>
              <a:gd name="connsiteY1417" fmla="*/ 2988434 h 3980394"/>
              <a:gd name="connsiteX1418" fmla="*/ 1991793 w 12192000"/>
              <a:gd name="connsiteY1418" fmla="*/ 2891581 h 3980394"/>
              <a:gd name="connsiteX1419" fmla="*/ 2061887 w 12192000"/>
              <a:gd name="connsiteY1419" fmla="*/ 2871639 h 3980394"/>
              <a:gd name="connsiteX1420" fmla="*/ 2137823 w 12192000"/>
              <a:gd name="connsiteY1420" fmla="*/ 2860244 h 3980394"/>
              <a:gd name="connsiteX1421" fmla="*/ 2143665 w 12192000"/>
              <a:gd name="connsiteY1421" fmla="*/ 2857396 h 3980394"/>
              <a:gd name="connsiteX1422" fmla="*/ 2161189 w 12192000"/>
              <a:gd name="connsiteY1422" fmla="*/ 2851699 h 3980394"/>
              <a:gd name="connsiteX1423" fmla="*/ 2178714 w 12192000"/>
              <a:gd name="connsiteY1423" fmla="*/ 2846002 h 3980394"/>
              <a:gd name="connsiteX1424" fmla="*/ 2237124 w 12192000"/>
              <a:gd name="connsiteY1424" fmla="*/ 2831760 h 3980394"/>
              <a:gd name="connsiteX1425" fmla="*/ 2254649 w 12192000"/>
              <a:gd name="connsiteY1425" fmla="*/ 2826061 h 3980394"/>
              <a:gd name="connsiteX1426" fmla="*/ 2278012 w 12192000"/>
              <a:gd name="connsiteY1426" fmla="*/ 2826061 h 3980394"/>
              <a:gd name="connsiteX1427" fmla="*/ 2348109 w 12192000"/>
              <a:gd name="connsiteY1427" fmla="*/ 2808973 h 3980394"/>
              <a:gd name="connsiteX1428" fmla="*/ 2365631 w 12192000"/>
              <a:gd name="connsiteY1428" fmla="*/ 2797578 h 3980394"/>
              <a:gd name="connsiteX1429" fmla="*/ 2441567 w 12192000"/>
              <a:gd name="connsiteY1429" fmla="*/ 2786182 h 3980394"/>
              <a:gd name="connsiteX1430" fmla="*/ 2441567 w 12192000"/>
              <a:gd name="connsiteY1430" fmla="*/ 2783334 h 3980394"/>
              <a:gd name="connsiteX1431" fmla="*/ 2470773 w 12192000"/>
              <a:gd name="connsiteY1431" fmla="*/ 2769093 h 3980394"/>
              <a:gd name="connsiteX1432" fmla="*/ 2552553 w 12192000"/>
              <a:gd name="connsiteY1432" fmla="*/ 2740604 h 3980394"/>
              <a:gd name="connsiteX1433" fmla="*/ 2581761 w 12192000"/>
              <a:gd name="connsiteY1433" fmla="*/ 2734908 h 3980394"/>
              <a:gd name="connsiteX1434" fmla="*/ 2616807 w 12192000"/>
              <a:gd name="connsiteY1434" fmla="*/ 2703573 h 3980394"/>
              <a:gd name="connsiteX1435" fmla="*/ 2721949 w 12192000"/>
              <a:gd name="connsiteY1435" fmla="*/ 2672237 h 3980394"/>
              <a:gd name="connsiteX1436" fmla="*/ 2739473 w 12192000"/>
              <a:gd name="connsiteY1436" fmla="*/ 2669387 h 3980394"/>
              <a:gd name="connsiteX1437" fmla="*/ 2862138 w 12192000"/>
              <a:gd name="connsiteY1437" fmla="*/ 2640901 h 3980394"/>
              <a:gd name="connsiteX1438" fmla="*/ 2897184 w 12192000"/>
              <a:gd name="connsiteY1438" fmla="*/ 2629507 h 3980394"/>
              <a:gd name="connsiteX1439" fmla="*/ 2955597 w 12192000"/>
              <a:gd name="connsiteY1439" fmla="*/ 2626659 h 3980394"/>
              <a:gd name="connsiteX1440" fmla="*/ 2967279 w 12192000"/>
              <a:gd name="connsiteY1440" fmla="*/ 2620961 h 3980394"/>
              <a:gd name="connsiteX1441" fmla="*/ 3037375 w 12192000"/>
              <a:gd name="connsiteY1441" fmla="*/ 2601021 h 3980394"/>
              <a:gd name="connsiteX1442" fmla="*/ 3054896 w 12192000"/>
              <a:gd name="connsiteY1442" fmla="*/ 2598173 h 3980394"/>
              <a:gd name="connsiteX1443" fmla="*/ 3066580 w 12192000"/>
              <a:gd name="connsiteY1443" fmla="*/ 2598173 h 3980394"/>
              <a:gd name="connsiteX1444" fmla="*/ 3078262 w 12192000"/>
              <a:gd name="connsiteY1444" fmla="*/ 2575384 h 3980394"/>
              <a:gd name="connsiteX1445" fmla="*/ 2949756 w 12192000"/>
              <a:gd name="connsiteY1445" fmla="*/ 2589626 h 3980394"/>
              <a:gd name="connsiteX1446" fmla="*/ 3107468 w 12192000"/>
              <a:gd name="connsiteY1446" fmla="*/ 2549746 h 3980394"/>
              <a:gd name="connsiteX1447" fmla="*/ 3148358 w 12192000"/>
              <a:gd name="connsiteY1447" fmla="*/ 2532653 h 3980394"/>
              <a:gd name="connsiteX1448" fmla="*/ 3271024 w 12192000"/>
              <a:gd name="connsiteY1448" fmla="*/ 2507016 h 3980394"/>
              <a:gd name="connsiteX1449" fmla="*/ 3288549 w 12192000"/>
              <a:gd name="connsiteY1449" fmla="*/ 2504168 h 3980394"/>
              <a:gd name="connsiteX1450" fmla="*/ 3306072 w 12192000"/>
              <a:gd name="connsiteY1450" fmla="*/ 2501318 h 3980394"/>
              <a:gd name="connsiteX1451" fmla="*/ 3335280 w 12192000"/>
              <a:gd name="connsiteY1451" fmla="*/ 2492772 h 3980394"/>
              <a:gd name="connsiteX1452" fmla="*/ 3288549 w 12192000"/>
              <a:gd name="connsiteY1452" fmla="*/ 2501318 h 3980394"/>
              <a:gd name="connsiteX1453" fmla="*/ 3265183 w 12192000"/>
              <a:gd name="connsiteY1453" fmla="*/ 2504168 h 3980394"/>
              <a:gd name="connsiteX1454" fmla="*/ 3014009 w 12192000"/>
              <a:gd name="connsiteY1454" fmla="*/ 2552594 h 3980394"/>
              <a:gd name="connsiteX1455" fmla="*/ 2838774 w 12192000"/>
              <a:gd name="connsiteY1455" fmla="*/ 2575384 h 3980394"/>
              <a:gd name="connsiteX1456" fmla="*/ 2535028 w 12192000"/>
              <a:gd name="connsiteY1456" fmla="*/ 2638053 h 3980394"/>
              <a:gd name="connsiteX1457" fmla="*/ 2278012 w 12192000"/>
              <a:gd name="connsiteY1457" fmla="*/ 2700723 h 3980394"/>
              <a:gd name="connsiteX1458" fmla="*/ 2207918 w 12192000"/>
              <a:gd name="connsiteY1458" fmla="*/ 2714967 h 3980394"/>
              <a:gd name="connsiteX1459" fmla="*/ 2184553 w 12192000"/>
              <a:gd name="connsiteY1459" fmla="*/ 2706422 h 3980394"/>
              <a:gd name="connsiteX1460" fmla="*/ 2102777 w 12192000"/>
              <a:gd name="connsiteY1460" fmla="*/ 2723511 h 3980394"/>
              <a:gd name="connsiteX1461" fmla="*/ 1682207 w 12192000"/>
              <a:gd name="connsiteY1461" fmla="*/ 2837456 h 3980394"/>
              <a:gd name="connsiteX1462" fmla="*/ 1547860 w 12192000"/>
              <a:gd name="connsiteY1462" fmla="*/ 2865943 h 3980394"/>
              <a:gd name="connsiteX1463" fmla="*/ 1547860 w 12192000"/>
              <a:gd name="connsiteY1463" fmla="*/ 2868791 h 3980394"/>
              <a:gd name="connsiteX1464" fmla="*/ 1536177 w 12192000"/>
              <a:gd name="connsiteY1464" fmla="*/ 2871639 h 3980394"/>
              <a:gd name="connsiteX1465" fmla="*/ 1360940 w 12192000"/>
              <a:gd name="connsiteY1465" fmla="*/ 2925763 h 3980394"/>
              <a:gd name="connsiteX1466" fmla="*/ 1290846 w 12192000"/>
              <a:gd name="connsiteY1466" fmla="*/ 2948553 h 3980394"/>
              <a:gd name="connsiteX1467" fmla="*/ 946214 w 12192000"/>
              <a:gd name="connsiteY1467" fmla="*/ 3065346 h 3980394"/>
              <a:gd name="connsiteX1468" fmla="*/ 905326 w 12192000"/>
              <a:gd name="connsiteY1468" fmla="*/ 3085285 h 3980394"/>
              <a:gd name="connsiteX1469" fmla="*/ 759294 w 12192000"/>
              <a:gd name="connsiteY1469" fmla="*/ 3156502 h 3980394"/>
              <a:gd name="connsiteX1470" fmla="*/ 747610 w 12192000"/>
              <a:gd name="connsiteY1470" fmla="*/ 3162201 h 3980394"/>
              <a:gd name="connsiteX1471" fmla="*/ 712563 w 12192000"/>
              <a:gd name="connsiteY1471" fmla="*/ 3162201 h 3980394"/>
              <a:gd name="connsiteX1472" fmla="*/ 689198 w 12192000"/>
              <a:gd name="connsiteY1472" fmla="*/ 3162201 h 3980394"/>
              <a:gd name="connsiteX1473" fmla="*/ 642467 w 12192000"/>
              <a:gd name="connsiteY1473" fmla="*/ 3179292 h 3980394"/>
              <a:gd name="connsiteX1474" fmla="*/ 467225 w 12192000"/>
              <a:gd name="connsiteY1474" fmla="*/ 3250510 h 3980394"/>
              <a:gd name="connsiteX1475" fmla="*/ 461385 w 12192000"/>
              <a:gd name="connsiteY1475" fmla="*/ 3259058 h 3980394"/>
              <a:gd name="connsiteX1476" fmla="*/ 350400 w 12192000"/>
              <a:gd name="connsiteY1476" fmla="*/ 3304632 h 3980394"/>
              <a:gd name="connsiteX1477" fmla="*/ 338717 w 12192000"/>
              <a:gd name="connsiteY1477" fmla="*/ 3313181 h 3980394"/>
              <a:gd name="connsiteX1478" fmla="*/ 280306 w 12192000"/>
              <a:gd name="connsiteY1478" fmla="*/ 3338810 h 3980394"/>
              <a:gd name="connsiteX1479" fmla="*/ 239417 w 12192000"/>
              <a:gd name="connsiteY1479" fmla="*/ 3367299 h 3980394"/>
              <a:gd name="connsiteX1480" fmla="*/ 204369 w 12192000"/>
              <a:gd name="connsiteY1480" fmla="*/ 3384391 h 3980394"/>
              <a:gd name="connsiteX1481" fmla="*/ 122591 w 12192000"/>
              <a:gd name="connsiteY1481" fmla="*/ 3435669 h 3980394"/>
              <a:gd name="connsiteX1482" fmla="*/ 40814 w 12192000"/>
              <a:gd name="connsiteY1482" fmla="*/ 3475546 h 3980394"/>
              <a:gd name="connsiteX1483" fmla="*/ 46655 w 12192000"/>
              <a:gd name="connsiteY1483" fmla="*/ 3492633 h 3980394"/>
              <a:gd name="connsiteX1484" fmla="*/ 40814 w 12192000"/>
              <a:gd name="connsiteY1484" fmla="*/ 3498330 h 3980394"/>
              <a:gd name="connsiteX1485" fmla="*/ 17449 w 12192000"/>
              <a:gd name="connsiteY1485" fmla="*/ 3504026 h 3980394"/>
              <a:gd name="connsiteX1486" fmla="*/ 11608 w 12192000"/>
              <a:gd name="connsiteY1486" fmla="*/ 3501179 h 3980394"/>
              <a:gd name="connsiteX1487" fmla="*/ 0 w 12192000"/>
              <a:gd name="connsiteY1487" fmla="*/ 3503065 h 3980394"/>
              <a:gd name="connsiteX1488" fmla="*/ 0 w 12192000"/>
              <a:gd name="connsiteY1488" fmla="*/ 1025347 h 3980394"/>
              <a:gd name="connsiteX1489" fmla="*/ 45195 w 12192000"/>
              <a:gd name="connsiteY1489" fmla="*/ 1009713 h 3980394"/>
              <a:gd name="connsiteX1490" fmla="*/ 116750 w 12192000"/>
              <a:gd name="connsiteY1490" fmla="*/ 994402 h 3980394"/>
              <a:gd name="connsiteX1491" fmla="*/ 151798 w 12192000"/>
              <a:gd name="connsiteY1491" fmla="*/ 985856 h 3980394"/>
              <a:gd name="connsiteX1492" fmla="*/ 192686 w 12192000"/>
              <a:gd name="connsiteY1492" fmla="*/ 977311 h 3980394"/>
              <a:gd name="connsiteX1493" fmla="*/ 291988 w 12192000"/>
              <a:gd name="connsiteY1493" fmla="*/ 957370 h 3980394"/>
              <a:gd name="connsiteX1494" fmla="*/ 414653 w 12192000"/>
              <a:gd name="connsiteY1494" fmla="*/ 920338 h 3980394"/>
              <a:gd name="connsiteX1495" fmla="*/ 513955 w 12192000"/>
              <a:gd name="connsiteY1495" fmla="*/ 889002 h 3980394"/>
              <a:gd name="connsiteX1496" fmla="*/ 630786 w 12192000"/>
              <a:gd name="connsiteY1496" fmla="*/ 860518 h 3980394"/>
              <a:gd name="connsiteX1497" fmla="*/ 572373 w 12192000"/>
              <a:gd name="connsiteY1497" fmla="*/ 869062 h 3980394"/>
              <a:gd name="connsiteX1498" fmla="*/ 531478 w 12192000"/>
              <a:gd name="connsiteY1498" fmla="*/ 877608 h 3980394"/>
              <a:gd name="connsiteX1499" fmla="*/ 461385 w 12192000"/>
              <a:gd name="connsiteY1499" fmla="*/ 897548 h 3980394"/>
              <a:gd name="connsiteX1500" fmla="*/ 420494 w 12192000"/>
              <a:gd name="connsiteY1500" fmla="*/ 906095 h 3980394"/>
              <a:gd name="connsiteX1501" fmla="*/ 385447 w 12192000"/>
              <a:gd name="connsiteY1501" fmla="*/ 911791 h 3980394"/>
              <a:gd name="connsiteX1502" fmla="*/ 286146 w 12192000"/>
              <a:gd name="connsiteY1502" fmla="*/ 928882 h 3980394"/>
              <a:gd name="connsiteX1503" fmla="*/ 280306 w 12192000"/>
              <a:gd name="connsiteY1503" fmla="*/ 928882 h 3980394"/>
              <a:gd name="connsiteX1504" fmla="*/ 274464 w 12192000"/>
              <a:gd name="connsiteY1504" fmla="*/ 931732 h 3980394"/>
              <a:gd name="connsiteX1505" fmla="*/ 204369 w 12192000"/>
              <a:gd name="connsiteY1505" fmla="*/ 945976 h 3980394"/>
              <a:gd name="connsiteX1506" fmla="*/ 5766 w 12192000"/>
              <a:gd name="connsiteY1506" fmla="*/ 991553 h 3980394"/>
              <a:gd name="connsiteX1507" fmla="*/ 0 w 12192000"/>
              <a:gd name="connsiteY1507" fmla="*/ 997177 h 3980394"/>
              <a:gd name="connsiteX1508" fmla="*/ 0 w 12192000"/>
              <a:gd name="connsiteY1508" fmla="*/ 919010 h 3980394"/>
              <a:gd name="connsiteX1509" fmla="*/ 94115 w 12192000"/>
              <a:gd name="connsiteY1509" fmla="*/ 896124 h 3980394"/>
              <a:gd name="connsiteX1510" fmla="*/ 362082 w 12192000"/>
              <a:gd name="connsiteY1510" fmla="*/ 840576 h 3980394"/>
              <a:gd name="connsiteX1511" fmla="*/ 461385 w 12192000"/>
              <a:gd name="connsiteY1511" fmla="*/ 817788 h 3980394"/>
              <a:gd name="connsiteX1512" fmla="*/ 549003 w 12192000"/>
              <a:gd name="connsiteY1512" fmla="*/ 800696 h 3980394"/>
              <a:gd name="connsiteX1513" fmla="*/ 572373 w 12192000"/>
              <a:gd name="connsiteY1513" fmla="*/ 800696 h 3980394"/>
              <a:gd name="connsiteX1514" fmla="*/ 811865 w 12192000"/>
              <a:gd name="connsiteY1514" fmla="*/ 752269 h 3980394"/>
              <a:gd name="connsiteX1515" fmla="*/ 1138973 w 12192000"/>
              <a:gd name="connsiteY1515" fmla="*/ 695297 h 3980394"/>
              <a:gd name="connsiteX1516" fmla="*/ 1144815 w 12192000"/>
              <a:gd name="connsiteY1516" fmla="*/ 695297 h 3980394"/>
              <a:gd name="connsiteX1517" fmla="*/ 1144815 w 12192000"/>
              <a:gd name="connsiteY1517" fmla="*/ 689599 h 3980394"/>
              <a:gd name="connsiteX1518" fmla="*/ 1238275 w 12192000"/>
              <a:gd name="connsiteY1518" fmla="*/ 672508 h 3980394"/>
              <a:gd name="connsiteX1519" fmla="*/ 1308369 w 12192000"/>
              <a:gd name="connsiteY1519" fmla="*/ 663962 h 3980394"/>
              <a:gd name="connsiteX1520" fmla="*/ 1839922 w 12192000"/>
              <a:gd name="connsiteY1520" fmla="*/ 587049 h 3980394"/>
              <a:gd name="connsiteX1521" fmla="*/ 1880811 w 12192000"/>
              <a:gd name="connsiteY1521" fmla="*/ 584201 h 3980394"/>
              <a:gd name="connsiteX1522" fmla="*/ 1834080 w 12192000"/>
              <a:gd name="connsiteY1522" fmla="*/ 587049 h 3980394"/>
              <a:gd name="connsiteX1523" fmla="*/ 1933382 w 12192000"/>
              <a:gd name="connsiteY1523" fmla="*/ 569958 h 3980394"/>
              <a:gd name="connsiteX1524" fmla="*/ 1939222 w 12192000"/>
              <a:gd name="connsiteY1524" fmla="*/ 572807 h 3980394"/>
              <a:gd name="connsiteX1525" fmla="*/ 1997635 w 12192000"/>
              <a:gd name="connsiteY1525" fmla="*/ 569958 h 3980394"/>
              <a:gd name="connsiteX1526" fmla="*/ 2020999 w 12192000"/>
              <a:gd name="connsiteY1526" fmla="*/ 567108 h 3980394"/>
              <a:gd name="connsiteX1527" fmla="*/ 2085252 w 12192000"/>
              <a:gd name="connsiteY1527" fmla="*/ 561411 h 3980394"/>
              <a:gd name="connsiteX1528" fmla="*/ 2102777 w 12192000"/>
              <a:gd name="connsiteY1528" fmla="*/ 558562 h 3980394"/>
              <a:gd name="connsiteX1529" fmla="*/ 2289695 w 12192000"/>
              <a:gd name="connsiteY1529" fmla="*/ 532925 h 3980394"/>
              <a:gd name="connsiteX1530" fmla="*/ 2564237 w 12192000"/>
              <a:gd name="connsiteY1530" fmla="*/ 501591 h 3980394"/>
              <a:gd name="connsiteX1531" fmla="*/ 2821248 w 12192000"/>
              <a:gd name="connsiteY1531" fmla="*/ 475952 h 3980394"/>
              <a:gd name="connsiteX1532" fmla="*/ 2862138 w 12192000"/>
              <a:gd name="connsiteY1532" fmla="*/ 464558 h 3980394"/>
              <a:gd name="connsiteX1533" fmla="*/ 2955597 w 12192000"/>
              <a:gd name="connsiteY1533" fmla="*/ 456013 h 3980394"/>
              <a:gd name="connsiteX1534" fmla="*/ 3078262 w 12192000"/>
              <a:gd name="connsiteY1534" fmla="*/ 447467 h 3980394"/>
              <a:gd name="connsiteX1535" fmla="*/ 3247658 w 12192000"/>
              <a:gd name="connsiteY1535" fmla="*/ 433224 h 3980394"/>
              <a:gd name="connsiteX1536" fmla="*/ 3265183 w 12192000"/>
              <a:gd name="connsiteY1536" fmla="*/ 430375 h 3980394"/>
              <a:gd name="connsiteX1537" fmla="*/ 8738412 w 12192000"/>
              <a:gd name="connsiteY1537" fmla="*/ 416132 h 3980394"/>
              <a:gd name="connsiteX1538" fmla="*/ 8826031 w 12192000"/>
              <a:gd name="connsiteY1538" fmla="*/ 430375 h 3980394"/>
              <a:gd name="connsiteX1539" fmla="*/ 8790983 w 12192000"/>
              <a:gd name="connsiteY1539" fmla="*/ 416132 h 3980394"/>
              <a:gd name="connsiteX1540" fmla="*/ 8738412 w 12192000"/>
              <a:gd name="connsiteY1540" fmla="*/ 416132 h 3980394"/>
              <a:gd name="connsiteX1541" fmla="*/ 7856384 w 12192000"/>
              <a:gd name="connsiteY1541" fmla="*/ 384797 h 3980394"/>
              <a:gd name="connsiteX1542" fmla="*/ 7879749 w 12192000"/>
              <a:gd name="connsiteY1542" fmla="*/ 387646 h 3980394"/>
              <a:gd name="connsiteX1543" fmla="*/ 7862226 w 12192000"/>
              <a:gd name="connsiteY1543" fmla="*/ 384797 h 3980394"/>
              <a:gd name="connsiteX1544" fmla="*/ 7856384 w 12192000"/>
              <a:gd name="connsiteY1544" fmla="*/ 384797 h 3980394"/>
              <a:gd name="connsiteX1545" fmla="*/ 9153140 w 12192000"/>
              <a:gd name="connsiteY1545" fmla="*/ 299339 h 3980394"/>
              <a:gd name="connsiteX1546" fmla="*/ 9269965 w 12192000"/>
              <a:gd name="connsiteY1546" fmla="*/ 313582 h 3980394"/>
              <a:gd name="connsiteX1547" fmla="*/ 9275805 w 12192000"/>
              <a:gd name="connsiteY1547" fmla="*/ 322128 h 3980394"/>
              <a:gd name="connsiteX1548" fmla="*/ 9164822 w 12192000"/>
              <a:gd name="connsiteY1548" fmla="*/ 307884 h 3980394"/>
              <a:gd name="connsiteX1549" fmla="*/ 9141458 w 12192000"/>
              <a:gd name="connsiteY1549" fmla="*/ 305036 h 3980394"/>
              <a:gd name="connsiteX1550" fmla="*/ 9153140 w 12192000"/>
              <a:gd name="connsiteY1550" fmla="*/ 299339 h 3980394"/>
              <a:gd name="connsiteX1551" fmla="*/ 8598223 w 12192000"/>
              <a:gd name="connsiteY1551" fmla="*/ 299338 h 3980394"/>
              <a:gd name="connsiteX1552" fmla="*/ 8609905 w 12192000"/>
              <a:gd name="connsiteY1552" fmla="*/ 302187 h 3980394"/>
              <a:gd name="connsiteX1553" fmla="*/ 8574857 w 12192000"/>
              <a:gd name="connsiteY1553" fmla="*/ 305035 h 3980394"/>
              <a:gd name="connsiteX1554" fmla="*/ 8598223 w 12192000"/>
              <a:gd name="connsiteY1554" fmla="*/ 299338 h 3980394"/>
              <a:gd name="connsiteX1555" fmla="*/ 9188188 w 12192000"/>
              <a:gd name="connsiteY1555" fmla="*/ 270852 h 3980394"/>
              <a:gd name="connsiteX1556" fmla="*/ 9252441 w 12192000"/>
              <a:gd name="connsiteY1556" fmla="*/ 279398 h 3980394"/>
              <a:gd name="connsiteX1557" fmla="*/ 9293330 w 12192000"/>
              <a:gd name="connsiteY1557" fmla="*/ 285095 h 3980394"/>
              <a:gd name="connsiteX1558" fmla="*/ 9322536 w 12192000"/>
              <a:gd name="connsiteY1558" fmla="*/ 302187 h 3980394"/>
              <a:gd name="connsiteX1559" fmla="*/ 9264124 w 12192000"/>
              <a:gd name="connsiteY1559" fmla="*/ 299338 h 3980394"/>
              <a:gd name="connsiteX1560" fmla="*/ 9188188 w 12192000"/>
              <a:gd name="connsiteY1560" fmla="*/ 270852 h 3980394"/>
              <a:gd name="connsiteX1561" fmla="*/ 6477851 w 12192000"/>
              <a:gd name="connsiteY1561" fmla="*/ 248775 h 3980394"/>
              <a:gd name="connsiteX1562" fmla="*/ 6582994 w 12192000"/>
              <a:gd name="connsiteY1562" fmla="*/ 250912 h 3980394"/>
              <a:gd name="connsiteX1563" fmla="*/ 6746548 w 12192000"/>
              <a:gd name="connsiteY1563" fmla="*/ 253761 h 3980394"/>
              <a:gd name="connsiteX1564" fmla="*/ 7126229 w 12192000"/>
              <a:gd name="connsiteY1564" fmla="*/ 256609 h 3980394"/>
              <a:gd name="connsiteX1565" fmla="*/ 7196325 w 12192000"/>
              <a:gd name="connsiteY1565" fmla="*/ 253761 h 3980394"/>
              <a:gd name="connsiteX1566" fmla="*/ 7354037 w 12192000"/>
              <a:gd name="connsiteY1566" fmla="*/ 259458 h 3980394"/>
              <a:gd name="connsiteX1567" fmla="*/ 7359879 w 12192000"/>
              <a:gd name="connsiteY1567" fmla="*/ 259458 h 3980394"/>
              <a:gd name="connsiteX1568" fmla="*/ 7809656 w 12192000"/>
              <a:gd name="connsiteY1568" fmla="*/ 282247 h 3980394"/>
              <a:gd name="connsiteX1569" fmla="*/ 7938161 w 12192000"/>
              <a:gd name="connsiteY1569" fmla="*/ 290792 h 3980394"/>
              <a:gd name="connsiteX1570" fmla="*/ 7961526 w 12192000"/>
              <a:gd name="connsiteY1570" fmla="*/ 287944 h 3980394"/>
              <a:gd name="connsiteX1571" fmla="*/ 7996574 w 12192000"/>
              <a:gd name="connsiteY1571" fmla="*/ 287944 h 3980394"/>
              <a:gd name="connsiteX1572" fmla="*/ 8405461 w 12192000"/>
              <a:gd name="connsiteY1572" fmla="*/ 322128 h 3980394"/>
              <a:gd name="connsiteX1573" fmla="*/ 8428826 w 12192000"/>
              <a:gd name="connsiteY1573" fmla="*/ 324976 h 3980394"/>
              <a:gd name="connsiteX1574" fmla="*/ 8551492 w 12192000"/>
              <a:gd name="connsiteY1574" fmla="*/ 342068 h 3980394"/>
              <a:gd name="connsiteX1575" fmla="*/ 8925331 w 12192000"/>
              <a:gd name="connsiteY1575" fmla="*/ 381948 h 3980394"/>
              <a:gd name="connsiteX1576" fmla="*/ 9042156 w 12192000"/>
              <a:gd name="connsiteY1576" fmla="*/ 396192 h 3980394"/>
              <a:gd name="connsiteX1577" fmla="*/ 9123934 w 12192000"/>
              <a:gd name="connsiteY1577" fmla="*/ 430375 h 3980394"/>
              <a:gd name="connsiteX1578" fmla="*/ 9106409 w 12192000"/>
              <a:gd name="connsiteY1578" fmla="*/ 427527 h 3980394"/>
              <a:gd name="connsiteX1579" fmla="*/ 8948697 w 12192000"/>
              <a:gd name="connsiteY1579" fmla="*/ 418981 h 3980394"/>
              <a:gd name="connsiteX1580" fmla="*/ 9100569 w 12192000"/>
              <a:gd name="connsiteY1580" fmla="*/ 438921 h 3980394"/>
              <a:gd name="connsiteX1581" fmla="*/ 9135617 w 12192000"/>
              <a:gd name="connsiteY1581" fmla="*/ 444618 h 3980394"/>
              <a:gd name="connsiteX1582" fmla="*/ 9153140 w 12192000"/>
              <a:gd name="connsiteY1582" fmla="*/ 447467 h 3980394"/>
              <a:gd name="connsiteX1583" fmla="*/ 9252441 w 12192000"/>
              <a:gd name="connsiteY1583" fmla="*/ 461709 h 3980394"/>
              <a:gd name="connsiteX1584" fmla="*/ 9246601 w 12192000"/>
              <a:gd name="connsiteY1584" fmla="*/ 464558 h 3980394"/>
              <a:gd name="connsiteX1585" fmla="*/ 9491933 w 12192000"/>
              <a:gd name="connsiteY1585" fmla="*/ 501591 h 3980394"/>
              <a:gd name="connsiteX1586" fmla="*/ 9445203 w 12192000"/>
              <a:gd name="connsiteY1586" fmla="*/ 507288 h 3980394"/>
              <a:gd name="connsiteX1587" fmla="*/ 9299172 w 12192000"/>
              <a:gd name="connsiteY1587" fmla="*/ 498742 h 3980394"/>
              <a:gd name="connsiteX1588" fmla="*/ 9264124 w 12192000"/>
              <a:gd name="connsiteY1588" fmla="*/ 495894 h 3980394"/>
              <a:gd name="connsiteX1589" fmla="*/ 9065521 w 12192000"/>
              <a:gd name="connsiteY1589" fmla="*/ 464558 h 3980394"/>
              <a:gd name="connsiteX1590" fmla="*/ 8995427 w 12192000"/>
              <a:gd name="connsiteY1590" fmla="*/ 470255 h 3980394"/>
              <a:gd name="connsiteX1591" fmla="*/ 8896125 w 12192000"/>
              <a:gd name="connsiteY1591" fmla="*/ 450315 h 3980394"/>
              <a:gd name="connsiteX1592" fmla="*/ 8738412 w 12192000"/>
              <a:gd name="connsiteY1592" fmla="*/ 447467 h 3980394"/>
              <a:gd name="connsiteX1593" fmla="*/ 8592380 w 12192000"/>
              <a:gd name="connsiteY1593" fmla="*/ 433224 h 3980394"/>
              <a:gd name="connsiteX1594" fmla="*/ 8569017 w 12192000"/>
              <a:gd name="connsiteY1594" fmla="*/ 430375 h 3980394"/>
              <a:gd name="connsiteX1595" fmla="*/ 8463873 w 12192000"/>
              <a:gd name="connsiteY1595" fmla="*/ 416132 h 3980394"/>
              <a:gd name="connsiteX1596" fmla="*/ 8446350 w 12192000"/>
              <a:gd name="connsiteY1596" fmla="*/ 413284 h 3980394"/>
              <a:gd name="connsiteX1597" fmla="*/ 8399619 w 12192000"/>
              <a:gd name="connsiteY1597" fmla="*/ 413284 h 3980394"/>
              <a:gd name="connsiteX1598" fmla="*/ 8417144 w 12192000"/>
              <a:gd name="connsiteY1598" fmla="*/ 424678 h 3980394"/>
              <a:gd name="connsiteX1599" fmla="*/ 8586539 w 12192000"/>
              <a:gd name="connsiteY1599" fmla="*/ 444618 h 3980394"/>
              <a:gd name="connsiteX1600" fmla="*/ 8627428 w 12192000"/>
              <a:gd name="connsiteY1600" fmla="*/ 447467 h 3980394"/>
              <a:gd name="connsiteX1601" fmla="*/ 8668316 w 12192000"/>
              <a:gd name="connsiteY1601" fmla="*/ 450315 h 3980394"/>
              <a:gd name="connsiteX1602" fmla="*/ 8691682 w 12192000"/>
              <a:gd name="connsiteY1602" fmla="*/ 453164 h 3980394"/>
              <a:gd name="connsiteX1603" fmla="*/ 8709206 w 12192000"/>
              <a:gd name="connsiteY1603" fmla="*/ 456013 h 3980394"/>
              <a:gd name="connsiteX1604" fmla="*/ 9036315 w 12192000"/>
              <a:gd name="connsiteY1604" fmla="*/ 495894 h 3980394"/>
              <a:gd name="connsiteX1605" fmla="*/ 9083046 w 12192000"/>
              <a:gd name="connsiteY1605" fmla="*/ 510137 h 3980394"/>
              <a:gd name="connsiteX1606" fmla="*/ 9608756 w 12192000"/>
              <a:gd name="connsiteY1606" fmla="*/ 581352 h 3980394"/>
              <a:gd name="connsiteX1607" fmla="*/ 9719742 w 12192000"/>
              <a:gd name="connsiteY1607" fmla="*/ 584201 h 3980394"/>
              <a:gd name="connsiteX1608" fmla="*/ 9748946 w 12192000"/>
              <a:gd name="connsiteY1608" fmla="*/ 609838 h 3980394"/>
              <a:gd name="connsiteX1609" fmla="*/ 9743105 w 12192000"/>
              <a:gd name="connsiteY1609" fmla="*/ 615535 h 3980394"/>
              <a:gd name="connsiteX1610" fmla="*/ 9731423 w 12192000"/>
              <a:gd name="connsiteY1610" fmla="*/ 615535 h 3980394"/>
              <a:gd name="connsiteX1611" fmla="*/ 9743105 w 12192000"/>
              <a:gd name="connsiteY1611" fmla="*/ 618384 h 3980394"/>
              <a:gd name="connsiteX1612" fmla="*/ 9877455 w 12192000"/>
              <a:gd name="connsiteY1612" fmla="*/ 644021 h 3980394"/>
              <a:gd name="connsiteX1613" fmla="*/ 9965074 w 12192000"/>
              <a:gd name="connsiteY1613" fmla="*/ 666811 h 3980394"/>
              <a:gd name="connsiteX1614" fmla="*/ 9801517 w 12192000"/>
              <a:gd name="connsiteY1614" fmla="*/ 641172 h 3980394"/>
              <a:gd name="connsiteX1615" fmla="*/ 9737265 w 12192000"/>
              <a:gd name="connsiteY1615" fmla="*/ 632627 h 3980394"/>
              <a:gd name="connsiteX1616" fmla="*/ 9632123 w 12192000"/>
              <a:gd name="connsiteY1616" fmla="*/ 615535 h 3980394"/>
              <a:gd name="connsiteX1617" fmla="*/ 9591235 w 12192000"/>
              <a:gd name="connsiteY1617" fmla="*/ 609838 h 3980394"/>
              <a:gd name="connsiteX1618" fmla="*/ 9585393 w 12192000"/>
              <a:gd name="connsiteY1618" fmla="*/ 606990 h 3980394"/>
              <a:gd name="connsiteX1619" fmla="*/ 9579552 w 12192000"/>
              <a:gd name="connsiteY1619" fmla="*/ 606990 h 3980394"/>
              <a:gd name="connsiteX1620" fmla="*/ 9591235 w 12192000"/>
              <a:gd name="connsiteY1620" fmla="*/ 609838 h 3980394"/>
              <a:gd name="connsiteX1621" fmla="*/ 9567868 w 12192000"/>
              <a:gd name="connsiteY1621" fmla="*/ 606990 h 3980394"/>
              <a:gd name="connsiteX1622" fmla="*/ 9544504 w 12192000"/>
              <a:gd name="connsiteY1622" fmla="*/ 604141 h 3980394"/>
              <a:gd name="connsiteX1623" fmla="*/ 9456885 w 12192000"/>
              <a:gd name="connsiteY1623" fmla="*/ 584201 h 3980394"/>
              <a:gd name="connsiteX1624" fmla="*/ 9421837 w 12192000"/>
              <a:gd name="connsiteY1624" fmla="*/ 572807 h 3980394"/>
              <a:gd name="connsiteX1625" fmla="*/ 9106409 w 12192000"/>
              <a:gd name="connsiteY1625" fmla="*/ 547168 h 3980394"/>
              <a:gd name="connsiteX1626" fmla="*/ 9059680 w 12192000"/>
              <a:gd name="connsiteY1626" fmla="*/ 532925 h 3980394"/>
              <a:gd name="connsiteX1627" fmla="*/ 9024633 w 12192000"/>
              <a:gd name="connsiteY1627" fmla="*/ 532925 h 3980394"/>
              <a:gd name="connsiteX1628" fmla="*/ 9001269 w 12192000"/>
              <a:gd name="connsiteY1628" fmla="*/ 530077 h 3980394"/>
              <a:gd name="connsiteX1629" fmla="*/ 8942856 w 12192000"/>
              <a:gd name="connsiteY1629" fmla="*/ 518682 h 3980394"/>
              <a:gd name="connsiteX1630" fmla="*/ 8901967 w 12192000"/>
              <a:gd name="connsiteY1630" fmla="*/ 512985 h 3980394"/>
              <a:gd name="connsiteX1631" fmla="*/ 8732570 w 12192000"/>
              <a:gd name="connsiteY1631" fmla="*/ 493045 h 3980394"/>
              <a:gd name="connsiteX1632" fmla="*/ 8481397 w 12192000"/>
              <a:gd name="connsiteY1632" fmla="*/ 461709 h 3980394"/>
              <a:gd name="connsiteX1633" fmla="*/ 8493080 w 12192000"/>
              <a:gd name="connsiteY1633" fmla="*/ 478801 h 3980394"/>
              <a:gd name="connsiteX1634" fmla="*/ 8516444 w 12192000"/>
              <a:gd name="connsiteY1634" fmla="*/ 484499 h 3980394"/>
              <a:gd name="connsiteX1635" fmla="*/ 8533968 w 12192000"/>
              <a:gd name="connsiteY1635" fmla="*/ 487348 h 3980394"/>
              <a:gd name="connsiteX1636" fmla="*/ 8539809 w 12192000"/>
              <a:gd name="connsiteY1636" fmla="*/ 501591 h 3980394"/>
              <a:gd name="connsiteX1637" fmla="*/ 8644951 w 12192000"/>
              <a:gd name="connsiteY1637" fmla="*/ 527228 h 3980394"/>
              <a:gd name="connsiteX1638" fmla="*/ 8662476 w 12192000"/>
              <a:gd name="connsiteY1638" fmla="*/ 527228 h 3980394"/>
              <a:gd name="connsiteX1639" fmla="*/ 8703364 w 12192000"/>
              <a:gd name="connsiteY1639" fmla="*/ 532925 h 3980394"/>
              <a:gd name="connsiteX1640" fmla="*/ 8837712 w 12192000"/>
              <a:gd name="connsiteY1640" fmla="*/ 544319 h 3980394"/>
              <a:gd name="connsiteX1641" fmla="*/ 8866919 w 12192000"/>
              <a:gd name="connsiteY1641" fmla="*/ 552865 h 3980394"/>
              <a:gd name="connsiteX1642" fmla="*/ 8896125 w 12192000"/>
              <a:gd name="connsiteY1642" fmla="*/ 552865 h 3980394"/>
              <a:gd name="connsiteX1643" fmla="*/ 8937014 w 12192000"/>
              <a:gd name="connsiteY1643" fmla="*/ 555714 h 3980394"/>
              <a:gd name="connsiteX1644" fmla="*/ 8966219 w 12192000"/>
              <a:gd name="connsiteY1644" fmla="*/ 558562 h 3980394"/>
              <a:gd name="connsiteX1645" fmla="*/ 8977902 w 12192000"/>
              <a:gd name="connsiteY1645" fmla="*/ 561411 h 3980394"/>
              <a:gd name="connsiteX1646" fmla="*/ 9053840 w 12192000"/>
              <a:gd name="connsiteY1646" fmla="*/ 561411 h 3980394"/>
              <a:gd name="connsiteX1647" fmla="*/ 9077204 w 12192000"/>
              <a:gd name="connsiteY1647" fmla="*/ 572807 h 3980394"/>
              <a:gd name="connsiteX1648" fmla="*/ 9053840 w 12192000"/>
              <a:gd name="connsiteY1648" fmla="*/ 575655 h 3980394"/>
              <a:gd name="connsiteX1649" fmla="*/ 9059680 w 12192000"/>
              <a:gd name="connsiteY1649" fmla="*/ 575655 h 3980394"/>
              <a:gd name="connsiteX1650" fmla="*/ 9188188 w 12192000"/>
              <a:gd name="connsiteY1650" fmla="*/ 592747 h 3980394"/>
              <a:gd name="connsiteX1651" fmla="*/ 9281648 w 12192000"/>
              <a:gd name="connsiteY1651" fmla="*/ 626929 h 3980394"/>
              <a:gd name="connsiteX1652" fmla="*/ 9275807 w 12192000"/>
              <a:gd name="connsiteY1652" fmla="*/ 629778 h 3980394"/>
              <a:gd name="connsiteX1653" fmla="*/ 9205711 w 12192000"/>
              <a:gd name="connsiteY1653" fmla="*/ 626929 h 3980394"/>
              <a:gd name="connsiteX1654" fmla="*/ 9083046 w 12192000"/>
              <a:gd name="connsiteY1654" fmla="*/ 609838 h 3980394"/>
              <a:gd name="connsiteX1655" fmla="*/ 8913648 w 12192000"/>
              <a:gd name="connsiteY1655" fmla="*/ 592747 h 3980394"/>
              <a:gd name="connsiteX1656" fmla="*/ 8872760 w 12192000"/>
              <a:gd name="connsiteY1656" fmla="*/ 584201 h 3980394"/>
              <a:gd name="connsiteX1657" fmla="*/ 8843554 w 12192000"/>
              <a:gd name="connsiteY1657" fmla="*/ 578504 h 3980394"/>
              <a:gd name="connsiteX1658" fmla="*/ 8767618 w 12192000"/>
              <a:gd name="connsiteY1658" fmla="*/ 567108 h 3980394"/>
              <a:gd name="connsiteX1659" fmla="*/ 8650793 w 12192000"/>
              <a:gd name="connsiteY1659" fmla="*/ 550017 h 3980394"/>
              <a:gd name="connsiteX1660" fmla="*/ 8633270 w 12192000"/>
              <a:gd name="connsiteY1660" fmla="*/ 550017 h 3980394"/>
              <a:gd name="connsiteX1661" fmla="*/ 8580699 w 12192000"/>
              <a:gd name="connsiteY1661" fmla="*/ 550017 h 3980394"/>
              <a:gd name="connsiteX1662" fmla="*/ 8551492 w 12192000"/>
              <a:gd name="connsiteY1662" fmla="*/ 547168 h 3980394"/>
              <a:gd name="connsiteX1663" fmla="*/ 8382096 w 12192000"/>
              <a:gd name="connsiteY1663" fmla="*/ 495894 h 3980394"/>
              <a:gd name="connsiteX1664" fmla="*/ 8458032 w 12192000"/>
              <a:gd name="connsiteY1664" fmla="*/ 493045 h 3980394"/>
              <a:gd name="connsiteX1665" fmla="*/ 8294477 w 12192000"/>
              <a:gd name="connsiteY1665" fmla="*/ 470255 h 3980394"/>
              <a:gd name="connsiteX1666" fmla="*/ 8230223 w 12192000"/>
              <a:gd name="connsiteY1666" fmla="*/ 458861 h 3980394"/>
              <a:gd name="connsiteX1667" fmla="*/ 8271112 w 12192000"/>
              <a:gd name="connsiteY1667" fmla="*/ 458861 h 3980394"/>
              <a:gd name="connsiteX1668" fmla="*/ 8294477 w 12192000"/>
              <a:gd name="connsiteY1668" fmla="*/ 461709 h 3980394"/>
              <a:gd name="connsiteX1669" fmla="*/ 8259429 w 12192000"/>
              <a:gd name="connsiteY1669" fmla="*/ 450315 h 3980394"/>
              <a:gd name="connsiteX1670" fmla="*/ 8253589 w 12192000"/>
              <a:gd name="connsiteY1670" fmla="*/ 450315 h 3980394"/>
              <a:gd name="connsiteX1671" fmla="*/ 8206858 w 12192000"/>
              <a:gd name="connsiteY1671" fmla="*/ 447467 h 3980394"/>
              <a:gd name="connsiteX1672" fmla="*/ 8084192 w 12192000"/>
              <a:gd name="connsiteY1672" fmla="*/ 421830 h 3980394"/>
              <a:gd name="connsiteX1673" fmla="*/ 8060828 w 12192000"/>
              <a:gd name="connsiteY1673" fmla="*/ 421830 h 3980394"/>
              <a:gd name="connsiteX1674" fmla="*/ 7990732 w 12192000"/>
              <a:gd name="connsiteY1674" fmla="*/ 436072 h 3980394"/>
              <a:gd name="connsiteX1675" fmla="*/ 7932321 w 12192000"/>
              <a:gd name="connsiteY1675" fmla="*/ 433224 h 3980394"/>
              <a:gd name="connsiteX1676" fmla="*/ 7885590 w 12192000"/>
              <a:gd name="connsiteY1676" fmla="*/ 438921 h 3980394"/>
              <a:gd name="connsiteX1677" fmla="*/ 7669465 w 12192000"/>
              <a:gd name="connsiteY1677" fmla="*/ 438921 h 3980394"/>
              <a:gd name="connsiteX1678" fmla="*/ 7646098 w 12192000"/>
              <a:gd name="connsiteY1678" fmla="*/ 447467 h 3980394"/>
              <a:gd name="connsiteX1679" fmla="*/ 7622735 w 12192000"/>
              <a:gd name="connsiteY1679" fmla="*/ 450315 h 3980394"/>
              <a:gd name="connsiteX1680" fmla="*/ 7500067 w 12192000"/>
              <a:gd name="connsiteY1680" fmla="*/ 430375 h 3980394"/>
              <a:gd name="connsiteX1681" fmla="*/ 7482545 w 12192000"/>
              <a:gd name="connsiteY1681" fmla="*/ 427527 h 3980394"/>
              <a:gd name="connsiteX1682" fmla="*/ 7435815 w 12192000"/>
              <a:gd name="connsiteY1682" fmla="*/ 424678 h 3980394"/>
              <a:gd name="connsiteX1683" fmla="*/ 7412449 w 12192000"/>
              <a:gd name="connsiteY1683" fmla="*/ 424678 h 3980394"/>
              <a:gd name="connsiteX1684" fmla="*/ 7202165 w 12192000"/>
              <a:gd name="connsiteY1684" fmla="*/ 413284 h 3980394"/>
              <a:gd name="connsiteX1685" fmla="*/ 7137912 w 12192000"/>
              <a:gd name="connsiteY1685" fmla="*/ 410435 h 3980394"/>
              <a:gd name="connsiteX1686" fmla="*/ 7015245 w 12192000"/>
              <a:gd name="connsiteY1686" fmla="*/ 410435 h 3980394"/>
              <a:gd name="connsiteX1687" fmla="*/ 6921784 w 12192000"/>
              <a:gd name="connsiteY1687" fmla="*/ 404738 h 3980394"/>
              <a:gd name="connsiteX1688" fmla="*/ 6606358 w 12192000"/>
              <a:gd name="connsiteY1688" fmla="*/ 399041 h 3980394"/>
              <a:gd name="connsiteX1689" fmla="*/ 6495374 w 12192000"/>
              <a:gd name="connsiteY1689" fmla="*/ 401889 h 3980394"/>
              <a:gd name="connsiteX1690" fmla="*/ 6454487 w 12192000"/>
              <a:gd name="connsiteY1690" fmla="*/ 401889 h 3980394"/>
              <a:gd name="connsiteX1691" fmla="*/ 6431120 w 12192000"/>
              <a:gd name="connsiteY1691" fmla="*/ 396192 h 3980394"/>
              <a:gd name="connsiteX1692" fmla="*/ 6407755 w 12192000"/>
              <a:gd name="connsiteY1692" fmla="*/ 396192 h 3980394"/>
              <a:gd name="connsiteX1693" fmla="*/ 6366868 w 12192000"/>
              <a:gd name="connsiteY1693" fmla="*/ 390495 h 3980394"/>
              <a:gd name="connsiteX1694" fmla="*/ 6431120 w 12192000"/>
              <a:gd name="connsiteY1694" fmla="*/ 384797 h 3980394"/>
              <a:gd name="connsiteX1695" fmla="*/ 6898420 w 12192000"/>
              <a:gd name="connsiteY1695" fmla="*/ 390495 h 3980394"/>
              <a:gd name="connsiteX1696" fmla="*/ 6974356 w 12192000"/>
              <a:gd name="connsiteY1696" fmla="*/ 396192 h 3980394"/>
              <a:gd name="connsiteX1697" fmla="*/ 7067815 w 12192000"/>
              <a:gd name="connsiteY1697" fmla="*/ 384797 h 3980394"/>
              <a:gd name="connsiteX1698" fmla="*/ 7196325 w 12192000"/>
              <a:gd name="connsiteY1698" fmla="*/ 387646 h 3980394"/>
              <a:gd name="connsiteX1699" fmla="*/ 7394926 w 12192000"/>
              <a:gd name="connsiteY1699" fmla="*/ 393344 h 3980394"/>
              <a:gd name="connsiteX1700" fmla="*/ 7546800 w 12192000"/>
              <a:gd name="connsiteY1700" fmla="*/ 404738 h 3980394"/>
              <a:gd name="connsiteX1701" fmla="*/ 7558481 w 12192000"/>
              <a:gd name="connsiteY1701" fmla="*/ 410435 h 3980394"/>
              <a:gd name="connsiteX1702" fmla="*/ 7786290 w 12192000"/>
              <a:gd name="connsiteY1702" fmla="*/ 413284 h 3980394"/>
              <a:gd name="connsiteX1703" fmla="*/ 7681147 w 12192000"/>
              <a:gd name="connsiteY1703" fmla="*/ 401889 h 3980394"/>
              <a:gd name="connsiteX1704" fmla="*/ 7535117 w 12192000"/>
              <a:gd name="connsiteY1704" fmla="*/ 381948 h 3980394"/>
              <a:gd name="connsiteX1705" fmla="*/ 7494227 w 12192000"/>
              <a:gd name="connsiteY1705" fmla="*/ 381948 h 3980394"/>
              <a:gd name="connsiteX1706" fmla="*/ 7488385 w 12192000"/>
              <a:gd name="connsiteY1706" fmla="*/ 381948 h 3980394"/>
              <a:gd name="connsiteX1707" fmla="*/ 7500067 w 12192000"/>
              <a:gd name="connsiteY1707" fmla="*/ 387646 h 3980394"/>
              <a:gd name="connsiteX1708" fmla="*/ 7371560 w 12192000"/>
              <a:gd name="connsiteY1708" fmla="*/ 390495 h 3980394"/>
              <a:gd name="connsiteX1709" fmla="*/ 7120386 w 12192000"/>
              <a:gd name="connsiteY1709" fmla="*/ 376251 h 3980394"/>
              <a:gd name="connsiteX1710" fmla="*/ 7073657 w 12192000"/>
              <a:gd name="connsiteY1710" fmla="*/ 367705 h 3980394"/>
              <a:gd name="connsiteX1711" fmla="*/ 6886737 w 12192000"/>
              <a:gd name="connsiteY1711" fmla="*/ 356311 h 3980394"/>
              <a:gd name="connsiteX1712" fmla="*/ 7079498 w 12192000"/>
              <a:gd name="connsiteY1712" fmla="*/ 359159 h 3980394"/>
              <a:gd name="connsiteX1713" fmla="*/ 7283944 w 12192000"/>
              <a:gd name="connsiteY1713" fmla="*/ 359159 h 3980394"/>
              <a:gd name="connsiteX1714" fmla="*/ 7283944 w 12192000"/>
              <a:gd name="connsiteY1714" fmla="*/ 353462 h 3980394"/>
              <a:gd name="connsiteX1715" fmla="*/ 7400769 w 12192000"/>
              <a:gd name="connsiteY1715" fmla="*/ 347765 h 3980394"/>
              <a:gd name="connsiteX1716" fmla="*/ 7102866 w 12192000"/>
              <a:gd name="connsiteY1716" fmla="*/ 339219 h 3980394"/>
              <a:gd name="connsiteX1717" fmla="*/ 7038611 w 12192000"/>
              <a:gd name="connsiteY1717" fmla="*/ 333522 h 3980394"/>
              <a:gd name="connsiteX1718" fmla="*/ 6968515 w 12192000"/>
              <a:gd name="connsiteY1718" fmla="*/ 330674 h 3980394"/>
              <a:gd name="connsiteX1719" fmla="*/ 6950992 w 12192000"/>
              <a:gd name="connsiteY1719" fmla="*/ 330674 h 3980394"/>
              <a:gd name="connsiteX1720" fmla="*/ 6822484 w 12192000"/>
              <a:gd name="connsiteY1720" fmla="*/ 330674 h 3980394"/>
              <a:gd name="connsiteX1721" fmla="*/ 6793278 w 12192000"/>
              <a:gd name="connsiteY1721" fmla="*/ 330674 h 3980394"/>
              <a:gd name="connsiteX1722" fmla="*/ 6764072 w 12192000"/>
              <a:gd name="connsiteY1722" fmla="*/ 327825 h 3980394"/>
              <a:gd name="connsiteX1723" fmla="*/ 6734865 w 12192000"/>
              <a:gd name="connsiteY1723" fmla="*/ 324976 h 3980394"/>
              <a:gd name="connsiteX1724" fmla="*/ 6793278 w 12192000"/>
              <a:gd name="connsiteY1724" fmla="*/ 305036 h 3980394"/>
              <a:gd name="connsiteX1725" fmla="*/ 6875054 w 12192000"/>
              <a:gd name="connsiteY1725" fmla="*/ 299339 h 3980394"/>
              <a:gd name="connsiteX1726" fmla="*/ 6711502 w 12192000"/>
              <a:gd name="connsiteY1726" fmla="*/ 299339 h 3980394"/>
              <a:gd name="connsiteX1727" fmla="*/ 6676453 w 12192000"/>
              <a:gd name="connsiteY1727" fmla="*/ 299339 h 3980394"/>
              <a:gd name="connsiteX1728" fmla="*/ 6629722 w 12192000"/>
              <a:gd name="connsiteY1728" fmla="*/ 293641 h 3980394"/>
              <a:gd name="connsiteX1729" fmla="*/ 6477850 w 12192000"/>
              <a:gd name="connsiteY1729" fmla="*/ 290792 h 3980394"/>
              <a:gd name="connsiteX1730" fmla="*/ 6320138 w 12192000"/>
              <a:gd name="connsiteY1730" fmla="*/ 287944 h 3980394"/>
              <a:gd name="connsiteX1731" fmla="*/ 6349342 w 12192000"/>
              <a:gd name="connsiteY1731" fmla="*/ 282247 h 3980394"/>
              <a:gd name="connsiteX1732" fmla="*/ 6390232 w 12192000"/>
              <a:gd name="connsiteY1732" fmla="*/ 273701 h 3980394"/>
              <a:gd name="connsiteX1733" fmla="*/ 6302613 w 12192000"/>
              <a:gd name="connsiteY1733" fmla="*/ 268004 h 3980394"/>
              <a:gd name="connsiteX1734" fmla="*/ 6366868 w 12192000"/>
              <a:gd name="connsiteY1734" fmla="*/ 253761 h 3980394"/>
              <a:gd name="connsiteX1735" fmla="*/ 6372708 w 12192000"/>
              <a:gd name="connsiteY1735" fmla="*/ 250912 h 3980394"/>
              <a:gd name="connsiteX1736" fmla="*/ 6477851 w 12192000"/>
              <a:gd name="connsiteY1736" fmla="*/ 248775 h 3980394"/>
              <a:gd name="connsiteX1737" fmla="*/ 8591650 w 12192000"/>
              <a:gd name="connsiteY1737" fmla="*/ 135543 h 3980394"/>
              <a:gd name="connsiteX1738" fmla="*/ 8627428 w 12192000"/>
              <a:gd name="connsiteY1738" fmla="*/ 139815 h 3980394"/>
              <a:gd name="connsiteX1739" fmla="*/ 8866919 w 12192000"/>
              <a:gd name="connsiteY1739" fmla="*/ 162605 h 3980394"/>
              <a:gd name="connsiteX1740" fmla="*/ 8913648 w 12192000"/>
              <a:gd name="connsiteY1740" fmla="*/ 162605 h 3980394"/>
              <a:gd name="connsiteX1741" fmla="*/ 8960378 w 12192000"/>
              <a:gd name="connsiteY1741" fmla="*/ 162605 h 3980394"/>
              <a:gd name="connsiteX1742" fmla="*/ 9012950 w 12192000"/>
              <a:gd name="connsiteY1742" fmla="*/ 185394 h 3980394"/>
              <a:gd name="connsiteX1743" fmla="*/ 8931173 w 12192000"/>
              <a:gd name="connsiteY1743" fmla="*/ 182545 h 3980394"/>
              <a:gd name="connsiteX1744" fmla="*/ 8907808 w 12192000"/>
              <a:gd name="connsiteY1744" fmla="*/ 179697 h 3980394"/>
              <a:gd name="connsiteX1745" fmla="*/ 8621587 w 12192000"/>
              <a:gd name="connsiteY1745" fmla="*/ 151211 h 3980394"/>
              <a:gd name="connsiteX1746" fmla="*/ 8569016 w 12192000"/>
              <a:gd name="connsiteY1746" fmla="*/ 139815 h 3980394"/>
              <a:gd name="connsiteX1747" fmla="*/ 8591650 w 12192000"/>
              <a:gd name="connsiteY1747" fmla="*/ 135543 h 3980394"/>
              <a:gd name="connsiteX1748" fmla="*/ 8195175 w 12192000"/>
              <a:gd name="connsiteY1748" fmla="*/ 48660 h 3980394"/>
              <a:gd name="connsiteX1749" fmla="*/ 8306160 w 12192000"/>
              <a:gd name="connsiteY1749" fmla="*/ 57205 h 3980394"/>
              <a:gd name="connsiteX1750" fmla="*/ 8382095 w 12192000"/>
              <a:gd name="connsiteY1750" fmla="*/ 74297 h 3980394"/>
              <a:gd name="connsiteX1751" fmla="*/ 8253588 w 12192000"/>
              <a:gd name="connsiteY1751" fmla="*/ 68600 h 3980394"/>
              <a:gd name="connsiteX1752" fmla="*/ 8195175 w 12192000"/>
              <a:gd name="connsiteY1752" fmla="*/ 48660 h 3980394"/>
              <a:gd name="connsiteX1753" fmla="*/ 6185790 w 12192000"/>
              <a:gd name="connsiteY1753" fmla="*/ 233 h 3980394"/>
              <a:gd name="connsiteX1754" fmla="*/ 6378551 w 12192000"/>
              <a:gd name="connsiteY1754" fmla="*/ 233 h 3980394"/>
              <a:gd name="connsiteX1755" fmla="*/ 6921786 w 12192000"/>
              <a:gd name="connsiteY1755" fmla="*/ 11627 h 3980394"/>
              <a:gd name="connsiteX1756" fmla="*/ 7172959 w 12192000"/>
              <a:gd name="connsiteY1756" fmla="*/ 5930 h 3980394"/>
              <a:gd name="connsiteX1757" fmla="*/ 7429975 w 12192000"/>
              <a:gd name="connsiteY1757" fmla="*/ 17324 h 3980394"/>
              <a:gd name="connsiteX1758" fmla="*/ 7447499 w 12192000"/>
              <a:gd name="connsiteY1758" fmla="*/ 14476 h 3980394"/>
              <a:gd name="connsiteX1759" fmla="*/ 7470864 w 12192000"/>
              <a:gd name="connsiteY1759" fmla="*/ 14476 h 3980394"/>
              <a:gd name="connsiteX1760" fmla="*/ 7593530 w 12192000"/>
              <a:gd name="connsiteY1760" fmla="*/ 17324 h 3980394"/>
              <a:gd name="connsiteX1761" fmla="*/ 7628578 w 12192000"/>
              <a:gd name="connsiteY1761" fmla="*/ 20173 h 3980394"/>
              <a:gd name="connsiteX1762" fmla="*/ 7710354 w 12192000"/>
              <a:gd name="connsiteY1762" fmla="*/ 25870 h 3980394"/>
              <a:gd name="connsiteX1763" fmla="*/ 7786292 w 12192000"/>
              <a:gd name="connsiteY1763" fmla="*/ 25870 h 3980394"/>
              <a:gd name="connsiteX1764" fmla="*/ 8078353 w 12192000"/>
              <a:gd name="connsiteY1764" fmla="*/ 65751 h 3980394"/>
              <a:gd name="connsiteX1765" fmla="*/ 8142606 w 12192000"/>
              <a:gd name="connsiteY1765" fmla="*/ 74297 h 3980394"/>
              <a:gd name="connsiteX1766" fmla="*/ 8335367 w 12192000"/>
              <a:gd name="connsiteY1766" fmla="*/ 94237 h 3980394"/>
              <a:gd name="connsiteX1767" fmla="*/ 8341208 w 12192000"/>
              <a:gd name="connsiteY1767" fmla="*/ 94237 h 3980394"/>
              <a:gd name="connsiteX1768" fmla="*/ 8218543 w 12192000"/>
              <a:gd name="connsiteY1768" fmla="*/ 99934 h 3980394"/>
              <a:gd name="connsiteX1769" fmla="*/ 7920640 w 12192000"/>
              <a:gd name="connsiteY1769" fmla="*/ 68600 h 3980394"/>
              <a:gd name="connsiteX1770" fmla="*/ 7686989 w 12192000"/>
              <a:gd name="connsiteY1770" fmla="*/ 60054 h 3980394"/>
              <a:gd name="connsiteX1771" fmla="*/ 7681148 w 12192000"/>
              <a:gd name="connsiteY1771" fmla="*/ 60054 h 3980394"/>
              <a:gd name="connsiteX1772" fmla="*/ 7675307 w 12192000"/>
              <a:gd name="connsiteY1772" fmla="*/ 60054 h 3980394"/>
              <a:gd name="connsiteX1773" fmla="*/ 7646101 w 12192000"/>
              <a:gd name="connsiteY1773" fmla="*/ 60054 h 3980394"/>
              <a:gd name="connsiteX1774" fmla="*/ 7622735 w 12192000"/>
              <a:gd name="connsiteY1774" fmla="*/ 62903 h 3980394"/>
              <a:gd name="connsiteX1775" fmla="*/ 7599370 w 12192000"/>
              <a:gd name="connsiteY1775" fmla="*/ 79994 h 3980394"/>
              <a:gd name="connsiteX1776" fmla="*/ 7283944 w 12192000"/>
              <a:gd name="connsiteY1776" fmla="*/ 82843 h 3980394"/>
              <a:gd name="connsiteX1777" fmla="*/ 7213848 w 12192000"/>
              <a:gd name="connsiteY1777" fmla="*/ 85691 h 3980394"/>
              <a:gd name="connsiteX1778" fmla="*/ 7102866 w 12192000"/>
              <a:gd name="connsiteY1778" fmla="*/ 71448 h 3980394"/>
              <a:gd name="connsiteX1779" fmla="*/ 6968516 w 12192000"/>
              <a:gd name="connsiteY1779" fmla="*/ 65751 h 3980394"/>
              <a:gd name="connsiteX1780" fmla="*/ 6349345 w 12192000"/>
              <a:gd name="connsiteY1780" fmla="*/ 62903 h 3980394"/>
              <a:gd name="connsiteX1781" fmla="*/ 5800267 w 12192000"/>
              <a:gd name="connsiteY1781" fmla="*/ 71448 h 3980394"/>
              <a:gd name="connsiteX1782" fmla="*/ 5736014 w 12192000"/>
              <a:gd name="connsiteY1782" fmla="*/ 74297 h 3980394"/>
              <a:gd name="connsiteX1783" fmla="*/ 5689283 w 12192000"/>
              <a:gd name="connsiteY1783" fmla="*/ 74297 h 3980394"/>
              <a:gd name="connsiteX1784" fmla="*/ 5630872 w 12192000"/>
              <a:gd name="connsiteY1784" fmla="*/ 74297 h 3980394"/>
              <a:gd name="connsiteX1785" fmla="*/ 5438110 w 12192000"/>
              <a:gd name="connsiteY1785" fmla="*/ 82843 h 3980394"/>
              <a:gd name="connsiteX1786" fmla="*/ 5315444 w 12192000"/>
              <a:gd name="connsiteY1786" fmla="*/ 97086 h 3980394"/>
              <a:gd name="connsiteX1787" fmla="*/ 4731319 w 12192000"/>
              <a:gd name="connsiteY1787" fmla="*/ 131270 h 3980394"/>
              <a:gd name="connsiteX1788" fmla="*/ 4596972 w 12192000"/>
              <a:gd name="connsiteY1788" fmla="*/ 136967 h 3980394"/>
              <a:gd name="connsiteX1789" fmla="*/ 4544399 w 12192000"/>
              <a:gd name="connsiteY1789" fmla="*/ 139815 h 3980394"/>
              <a:gd name="connsiteX1790" fmla="*/ 4217289 w 12192000"/>
              <a:gd name="connsiteY1790" fmla="*/ 171150 h 3980394"/>
              <a:gd name="connsiteX1791" fmla="*/ 4182243 w 12192000"/>
              <a:gd name="connsiteY1791" fmla="*/ 173998 h 3980394"/>
              <a:gd name="connsiteX1792" fmla="*/ 4112147 w 12192000"/>
              <a:gd name="connsiteY1792" fmla="*/ 168301 h 3980394"/>
              <a:gd name="connsiteX1793" fmla="*/ 4117989 w 12192000"/>
              <a:gd name="connsiteY1793" fmla="*/ 165453 h 3980394"/>
              <a:gd name="connsiteX1794" fmla="*/ 3907705 w 12192000"/>
              <a:gd name="connsiteY1794" fmla="*/ 188241 h 3980394"/>
              <a:gd name="connsiteX1795" fmla="*/ 3837629 w 12192000"/>
              <a:gd name="connsiteY1795" fmla="*/ 199636 h 3980394"/>
              <a:gd name="connsiteX1796" fmla="*/ 3808422 w 12192000"/>
              <a:gd name="connsiteY1796" fmla="*/ 202484 h 3980394"/>
              <a:gd name="connsiteX1797" fmla="*/ 3773367 w 12192000"/>
              <a:gd name="connsiteY1797" fmla="*/ 205333 h 3980394"/>
              <a:gd name="connsiteX1798" fmla="*/ 3732484 w 12192000"/>
              <a:gd name="connsiteY1798" fmla="*/ 213879 h 3980394"/>
              <a:gd name="connsiteX1799" fmla="*/ 2990643 w 12192000"/>
              <a:gd name="connsiteY1799" fmla="*/ 310731 h 3980394"/>
              <a:gd name="connsiteX1800" fmla="*/ 2488295 w 12192000"/>
              <a:gd name="connsiteY1800" fmla="*/ 381947 h 3980394"/>
              <a:gd name="connsiteX1801" fmla="*/ 2289691 w 12192000"/>
              <a:gd name="connsiteY1801" fmla="*/ 401887 h 3980394"/>
              <a:gd name="connsiteX1802" fmla="*/ 2289691 w 12192000"/>
              <a:gd name="connsiteY1802" fmla="*/ 407585 h 3980394"/>
              <a:gd name="connsiteX1803" fmla="*/ 2044361 w 12192000"/>
              <a:gd name="connsiteY1803" fmla="*/ 447466 h 3980394"/>
              <a:gd name="connsiteX1804" fmla="*/ 2015154 w 12192000"/>
              <a:gd name="connsiteY1804" fmla="*/ 450314 h 3980394"/>
              <a:gd name="connsiteX1805" fmla="*/ 2044361 w 12192000"/>
              <a:gd name="connsiteY1805" fmla="*/ 453163 h 3980394"/>
              <a:gd name="connsiteX1806" fmla="*/ 1939221 w 12192000"/>
              <a:gd name="connsiteY1806" fmla="*/ 478800 h 3980394"/>
              <a:gd name="connsiteX1807" fmla="*/ 1174017 w 12192000"/>
              <a:gd name="connsiteY1807" fmla="*/ 632626 h 3980394"/>
              <a:gd name="connsiteX1808" fmla="*/ 1039668 w 12192000"/>
              <a:gd name="connsiteY1808" fmla="*/ 655414 h 3980394"/>
              <a:gd name="connsiteX1809" fmla="*/ 1033828 w 12192000"/>
              <a:gd name="connsiteY1809" fmla="*/ 655414 h 3980394"/>
              <a:gd name="connsiteX1810" fmla="*/ 905320 w 12192000"/>
              <a:gd name="connsiteY1810" fmla="*/ 686750 h 3980394"/>
              <a:gd name="connsiteX1811" fmla="*/ 876114 w 12192000"/>
              <a:gd name="connsiteY1811" fmla="*/ 692447 h 3980394"/>
              <a:gd name="connsiteX1812" fmla="*/ 841067 w 12192000"/>
              <a:gd name="connsiteY1812" fmla="*/ 698144 h 3980394"/>
              <a:gd name="connsiteX1813" fmla="*/ 595734 w 12192000"/>
              <a:gd name="connsiteY1813" fmla="*/ 763663 h 3980394"/>
              <a:gd name="connsiteX1814" fmla="*/ 513951 w 12192000"/>
              <a:gd name="connsiteY1814" fmla="*/ 763663 h 3980394"/>
              <a:gd name="connsiteX1815" fmla="*/ 513951 w 12192000"/>
              <a:gd name="connsiteY1815" fmla="*/ 755116 h 3980394"/>
              <a:gd name="connsiteX1816" fmla="*/ 642463 w 12192000"/>
              <a:gd name="connsiteY1816" fmla="*/ 683901 h 3980394"/>
              <a:gd name="connsiteX1817" fmla="*/ 899478 w 12192000"/>
              <a:gd name="connsiteY1817" fmla="*/ 621231 h 3980394"/>
              <a:gd name="connsiteX1818" fmla="*/ 1027987 w 12192000"/>
              <a:gd name="connsiteY1818" fmla="*/ 601291 h 3980394"/>
              <a:gd name="connsiteX1819" fmla="*/ 1039668 w 12192000"/>
              <a:gd name="connsiteY1819" fmla="*/ 595594 h 3980394"/>
              <a:gd name="connsiteX1820" fmla="*/ 1103921 w 12192000"/>
              <a:gd name="connsiteY1820" fmla="*/ 584199 h 3980394"/>
              <a:gd name="connsiteX1821" fmla="*/ 1144810 w 12192000"/>
              <a:gd name="connsiteY1821" fmla="*/ 575653 h 3980394"/>
              <a:gd name="connsiteX1822" fmla="*/ 1179858 w 12192000"/>
              <a:gd name="connsiteY1822" fmla="*/ 564259 h 3980394"/>
              <a:gd name="connsiteX1823" fmla="*/ 1343412 w 12192000"/>
              <a:gd name="connsiteY1823" fmla="*/ 527227 h 3980394"/>
              <a:gd name="connsiteX1824" fmla="*/ 1506965 w 12192000"/>
              <a:gd name="connsiteY1824" fmla="*/ 493043 h 3980394"/>
              <a:gd name="connsiteX1825" fmla="*/ 1693886 w 12192000"/>
              <a:gd name="connsiteY1825" fmla="*/ 458860 h 3980394"/>
              <a:gd name="connsiteX1826" fmla="*/ 1816553 w 12192000"/>
              <a:gd name="connsiteY1826" fmla="*/ 436071 h 3980394"/>
              <a:gd name="connsiteX1827" fmla="*/ 2167027 w 12192000"/>
              <a:gd name="connsiteY1827" fmla="*/ 370553 h 3980394"/>
              <a:gd name="connsiteX1828" fmla="*/ 2605120 w 12192000"/>
              <a:gd name="connsiteY1828" fmla="*/ 296488 h 3980394"/>
              <a:gd name="connsiteX1829" fmla="*/ 2721944 w 12192000"/>
              <a:gd name="connsiteY1829" fmla="*/ 279397 h 3980394"/>
              <a:gd name="connsiteX1830" fmla="*/ 2856293 w 12192000"/>
              <a:gd name="connsiteY1830" fmla="*/ 256608 h 3980394"/>
              <a:gd name="connsiteX1831" fmla="*/ 2903023 w 12192000"/>
              <a:gd name="connsiteY1831" fmla="*/ 256608 h 3980394"/>
              <a:gd name="connsiteX1832" fmla="*/ 3101624 w 12192000"/>
              <a:gd name="connsiteY1832" fmla="*/ 228123 h 3980394"/>
              <a:gd name="connsiteX1833" fmla="*/ 3533880 w 12192000"/>
              <a:gd name="connsiteY1833" fmla="*/ 176847 h 3980394"/>
              <a:gd name="connsiteX1834" fmla="*/ 3574768 w 12192000"/>
              <a:gd name="connsiteY1834" fmla="*/ 168301 h 3980394"/>
              <a:gd name="connsiteX1835" fmla="*/ 3755846 w 12192000"/>
              <a:gd name="connsiteY1835" fmla="*/ 151210 h 3980394"/>
              <a:gd name="connsiteX1836" fmla="*/ 4065418 w 12192000"/>
              <a:gd name="connsiteY1836" fmla="*/ 122723 h 3980394"/>
              <a:gd name="connsiteX1837" fmla="*/ 4269863 w 12192000"/>
              <a:gd name="connsiteY1837" fmla="*/ 102783 h 3980394"/>
              <a:gd name="connsiteX1838" fmla="*/ 4491828 w 12192000"/>
              <a:gd name="connsiteY1838" fmla="*/ 82843 h 3980394"/>
              <a:gd name="connsiteX1839" fmla="*/ 4538557 w 12192000"/>
              <a:gd name="connsiteY1839" fmla="*/ 74297 h 3980394"/>
              <a:gd name="connsiteX1840" fmla="*/ 4842304 w 12192000"/>
              <a:gd name="connsiteY1840" fmla="*/ 57205 h 3980394"/>
              <a:gd name="connsiteX1841" fmla="*/ 4848145 w 12192000"/>
              <a:gd name="connsiteY1841" fmla="*/ 57205 h 3980394"/>
              <a:gd name="connsiteX1842" fmla="*/ 4865668 w 12192000"/>
              <a:gd name="connsiteY1842" fmla="*/ 57205 h 3980394"/>
              <a:gd name="connsiteX1843" fmla="*/ 5175254 w 12192000"/>
              <a:gd name="connsiteY1843" fmla="*/ 40114 h 3980394"/>
              <a:gd name="connsiteX1844" fmla="*/ 5373857 w 12192000"/>
              <a:gd name="connsiteY1844" fmla="*/ 28719 h 3980394"/>
              <a:gd name="connsiteX1845" fmla="*/ 5490681 w 12192000"/>
              <a:gd name="connsiteY1845" fmla="*/ 20173 h 3980394"/>
              <a:gd name="connsiteX1846" fmla="*/ 5835316 w 12192000"/>
              <a:gd name="connsiteY1846" fmla="*/ 11627 h 3980394"/>
              <a:gd name="connsiteX1847" fmla="*/ 6045600 w 12192000"/>
              <a:gd name="connsiteY1847" fmla="*/ 5930 h 3980394"/>
              <a:gd name="connsiteX1848" fmla="*/ 6185790 w 12192000"/>
              <a:gd name="connsiteY1848" fmla="*/ 233 h 398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</a:cxnLst>
            <a:rect l="l" t="t" r="r" b="b"/>
            <a:pathLst>
              <a:path w="12192000" h="3980394">
                <a:moveTo>
                  <a:pt x="239417" y="3566696"/>
                </a:moveTo>
                <a:cubicBezTo>
                  <a:pt x="245258" y="3569546"/>
                  <a:pt x="245258" y="3569546"/>
                  <a:pt x="245258" y="3569546"/>
                </a:cubicBezTo>
                <a:cubicBezTo>
                  <a:pt x="245258" y="3569546"/>
                  <a:pt x="251098" y="3566696"/>
                  <a:pt x="251098" y="3566696"/>
                </a:cubicBezTo>
                <a:cubicBezTo>
                  <a:pt x="245258" y="3566696"/>
                  <a:pt x="239417" y="3569546"/>
                  <a:pt x="239417" y="3566696"/>
                </a:cubicBezTo>
                <a:close/>
                <a:moveTo>
                  <a:pt x="128419" y="3509724"/>
                </a:moveTo>
                <a:cubicBezTo>
                  <a:pt x="134260" y="3512572"/>
                  <a:pt x="134260" y="3518269"/>
                  <a:pt x="122577" y="3523967"/>
                </a:cubicBezTo>
                <a:cubicBezTo>
                  <a:pt x="116736" y="3521118"/>
                  <a:pt x="99212" y="3521118"/>
                  <a:pt x="99212" y="3512572"/>
                </a:cubicBezTo>
                <a:cubicBezTo>
                  <a:pt x="105054" y="3509724"/>
                  <a:pt x="116736" y="3512572"/>
                  <a:pt x="128419" y="3509724"/>
                </a:cubicBezTo>
                <a:close/>
                <a:moveTo>
                  <a:pt x="615436" y="3482306"/>
                </a:moveTo>
                <a:cubicBezTo>
                  <a:pt x="619089" y="3481238"/>
                  <a:pt x="622009" y="3481238"/>
                  <a:pt x="624929" y="3484086"/>
                </a:cubicBezTo>
                <a:cubicBezTo>
                  <a:pt x="630770" y="3489784"/>
                  <a:pt x="613247" y="3492632"/>
                  <a:pt x="613247" y="3498329"/>
                </a:cubicBezTo>
                <a:cubicBezTo>
                  <a:pt x="560676" y="3526816"/>
                  <a:pt x="484739" y="3543908"/>
                  <a:pt x="443849" y="3575242"/>
                </a:cubicBezTo>
                <a:cubicBezTo>
                  <a:pt x="408801" y="3589485"/>
                  <a:pt x="367914" y="3600879"/>
                  <a:pt x="344549" y="3620820"/>
                </a:cubicBezTo>
                <a:cubicBezTo>
                  <a:pt x="309501" y="3626518"/>
                  <a:pt x="291978" y="3643609"/>
                  <a:pt x="256930" y="3652155"/>
                </a:cubicBezTo>
                <a:cubicBezTo>
                  <a:pt x="297818" y="3629366"/>
                  <a:pt x="332866" y="3600879"/>
                  <a:pt x="379597" y="3580939"/>
                </a:cubicBezTo>
                <a:cubicBezTo>
                  <a:pt x="438008" y="3558151"/>
                  <a:pt x="490579" y="3532513"/>
                  <a:pt x="543151" y="3509724"/>
                </a:cubicBezTo>
                <a:cubicBezTo>
                  <a:pt x="566517" y="3504026"/>
                  <a:pt x="578199" y="3495481"/>
                  <a:pt x="601564" y="3486935"/>
                </a:cubicBezTo>
                <a:cubicBezTo>
                  <a:pt x="607405" y="3485511"/>
                  <a:pt x="611787" y="3483374"/>
                  <a:pt x="615436" y="3482306"/>
                </a:cubicBezTo>
                <a:close/>
                <a:moveTo>
                  <a:pt x="367923" y="3478390"/>
                </a:moveTo>
                <a:cubicBezTo>
                  <a:pt x="362082" y="3478390"/>
                  <a:pt x="362082" y="3481238"/>
                  <a:pt x="356240" y="3484087"/>
                </a:cubicBezTo>
                <a:cubicBezTo>
                  <a:pt x="350400" y="3486936"/>
                  <a:pt x="344559" y="3489785"/>
                  <a:pt x="338717" y="3489785"/>
                </a:cubicBezTo>
                <a:cubicBezTo>
                  <a:pt x="338717" y="3492633"/>
                  <a:pt x="338717" y="3492633"/>
                  <a:pt x="338717" y="3492633"/>
                </a:cubicBezTo>
                <a:cubicBezTo>
                  <a:pt x="338717" y="3492633"/>
                  <a:pt x="344559" y="3492633"/>
                  <a:pt x="344559" y="3492633"/>
                </a:cubicBezTo>
                <a:cubicBezTo>
                  <a:pt x="356240" y="3486936"/>
                  <a:pt x="362082" y="3481238"/>
                  <a:pt x="367923" y="3478390"/>
                </a:cubicBezTo>
                <a:close/>
                <a:moveTo>
                  <a:pt x="490577" y="3381537"/>
                </a:moveTo>
                <a:cubicBezTo>
                  <a:pt x="502259" y="3384386"/>
                  <a:pt x="508101" y="3384386"/>
                  <a:pt x="519784" y="3387233"/>
                </a:cubicBezTo>
                <a:cubicBezTo>
                  <a:pt x="519784" y="3392932"/>
                  <a:pt x="508101" y="3395779"/>
                  <a:pt x="502259" y="3395779"/>
                </a:cubicBezTo>
                <a:cubicBezTo>
                  <a:pt x="490577" y="3398628"/>
                  <a:pt x="473054" y="3410022"/>
                  <a:pt x="467213" y="3404327"/>
                </a:cubicBezTo>
                <a:cubicBezTo>
                  <a:pt x="455530" y="3404327"/>
                  <a:pt x="478894" y="3395779"/>
                  <a:pt x="478894" y="3390083"/>
                </a:cubicBezTo>
                <a:cubicBezTo>
                  <a:pt x="478894" y="3390083"/>
                  <a:pt x="478894" y="3387233"/>
                  <a:pt x="478894" y="3387233"/>
                </a:cubicBezTo>
                <a:cubicBezTo>
                  <a:pt x="478894" y="3387233"/>
                  <a:pt x="484736" y="3384386"/>
                  <a:pt x="490577" y="3381537"/>
                </a:cubicBezTo>
                <a:close/>
                <a:moveTo>
                  <a:pt x="1366766" y="3202077"/>
                </a:moveTo>
                <a:cubicBezTo>
                  <a:pt x="1349243" y="3216317"/>
                  <a:pt x="1320037" y="3222018"/>
                  <a:pt x="1314195" y="3230561"/>
                </a:cubicBezTo>
                <a:cubicBezTo>
                  <a:pt x="1308354" y="3233412"/>
                  <a:pt x="1296671" y="3236257"/>
                  <a:pt x="1290831" y="3239105"/>
                </a:cubicBezTo>
                <a:cubicBezTo>
                  <a:pt x="1290831" y="3239105"/>
                  <a:pt x="1290831" y="3239105"/>
                  <a:pt x="1284989" y="3239105"/>
                </a:cubicBezTo>
                <a:cubicBezTo>
                  <a:pt x="1284989" y="3239105"/>
                  <a:pt x="1279148" y="3241958"/>
                  <a:pt x="1279148" y="3241958"/>
                </a:cubicBezTo>
                <a:cubicBezTo>
                  <a:pt x="1273306" y="3244805"/>
                  <a:pt x="1261624" y="3247651"/>
                  <a:pt x="1255783" y="3250502"/>
                </a:cubicBezTo>
                <a:cubicBezTo>
                  <a:pt x="1238258" y="3247651"/>
                  <a:pt x="1226577" y="3259046"/>
                  <a:pt x="1197370" y="3259046"/>
                </a:cubicBezTo>
                <a:cubicBezTo>
                  <a:pt x="1226577" y="3247651"/>
                  <a:pt x="1244100" y="3241958"/>
                  <a:pt x="1267464" y="3233412"/>
                </a:cubicBezTo>
                <a:cubicBezTo>
                  <a:pt x="1273306" y="3233412"/>
                  <a:pt x="1273306" y="3230561"/>
                  <a:pt x="1279148" y="3230561"/>
                </a:cubicBezTo>
                <a:cubicBezTo>
                  <a:pt x="1302512" y="3222018"/>
                  <a:pt x="1325877" y="3213472"/>
                  <a:pt x="1366766" y="3202077"/>
                </a:cubicBezTo>
                <a:close/>
                <a:moveTo>
                  <a:pt x="1460226" y="3167890"/>
                </a:moveTo>
                <a:cubicBezTo>
                  <a:pt x="1454384" y="3173590"/>
                  <a:pt x="1442702" y="3179285"/>
                  <a:pt x="1436861" y="3187831"/>
                </a:cubicBezTo>
                <a:cubicBezTo>
                  <a:pt x="1431019" y="3187831"/>
                  <a:pt x="1431019" y="3190680"/>
                  <a:pt x="1425179" y="3190680"/>
                </a:cubicBezTo>
                <a:cubicBezTo>
                  <a:pt x="1419338" y="3187831"/>
                  <a:pt x="1390131" y="3196376"/>
                  <a:pt x="1413496" y="3182135"/>
                </a:cubicBezTo>
                <a:cubicBezTo>
                  <a:pt x="1413496" y="3182135"/>
                  <a:pt x="1419338" y="3179285"/>
                  <a:pt x="1425179" y="3179285"/>
                </a:cubicBezTo>
                <a:cubicBezTo>
                  <a:pt x="1431019" y="3173590"/>
                  <a:pt x="1442702" y="3170740"/>
                  <a:pt x="1460226" y="3167890"/>
                </a:cubicBezTo>
                <a:close/>
                <a:moveTo>
                  <a:pt x="1233894" y="3134070"/>
                </a:moveTo>
                <a:cubicBezTo>
                  <a:pt x="1225132" y="3133713"/>
                  <a:pt x="1214909" y="3135138"/>
                  <a:pt x="1203227" y="3139412"/>
                </a:cubicBezTo>
                <a:cubicBezTo>
                  <a:pt x="1179863" y="3147957"/>
                  <a:pt x="1150656" y="3156502"/>
                  <a:pt x="1133133" y="3167898"/>
                </a:cubicBezTo>
                <a:cubicBezTo>
                  <a:pt x="1086402" y="3184988"/>
                  <a:pt x="1051356" y="3207778"/>
                  <a:pt x="1004626" y="3222021"/>
                </a:cubicBezTo>
                <a:cubicBezTo>
                  <a:pt x="998785" y="3222021"/>
                  <a:pt x="998785" y="3224868"/>
                  <a:pt x="992944" y="3224868"/>
                </a:cubicBezTo>
                <a:cubicBezTo>
                  <a:pt x="987103" y="3227721"/>
                  <a:pt x="992944" y="3227721"/>
                  <a:pt x="992944" y="3230568"/>
                </a:cubicBezTo>
                <a:cubicBezTo>
                  <a:pt x="1010468" y="3224868"/>
                  <a:pt x="1022151" y="3219173"/>
                  <a:pt x="1039673" y="3222021"/>
                </a:cubicBezTo>
                <a:cubicBezTo>
                  <a:pt x="1039673" y="3219173"/>
                  <a:pt x="1045514" y="3219173"/>
                  <a:pt x="1045514" y="3219173"/>
                </a:cubicBezTo>
                <a:cubicBezTo>
                  <a:pt x="1039673" y="3219173"/>
                  <a:pt x="1033832" y="3219173"/>
                  <a:pt x="1033832" y="3216323"/>
                </a:cubicBezTo>
                <a:cubicBezTo>
                  <a:pt x="1074722" y="3184988"/>
                  <a:pt x="1144815" y="3170746"/>
                  <a:pt x="1209069" y="3150807"/>
                </a:cubicBezTo>
                <a:cubicBezTo>
                  <a:pt x="1226592" y="3150807"/>
                  <a:pt x="1244117" y="3147957"/>
                  <a:pt x="1255798" y="3139412"/>
                </a:cubicBezTo>
                <a:cubicBezTo>
                  <a:pt x="1249958" y="3136560"/>
                  <a:pt x="1242655" y="3134423"/>
                  <a:pt x="1233894" y="3134070"/>
                </a:cubicBezTo>
                <a:close/>
                <a:moveTo>
                  <a:pt x="9264125" y="3062497"/>
                </a:moveTo>
                <a:cubicBezTo>
                  <a:pt x="9269967" y="3062497"/>
                  <a:pt x="9269967" y="3065346"/>
                  <a:pt x="9269967" y="3065346"/>
                </a:cubicBezTo>
                <a:cubicBezTo>
                  <a:pt x="9275807" y="3065346"/>
                  <a:pt x="9275807" y="3065346"/>
                  <a:pt x="9281648" y="3068196"/>
                </a:cubicBezTo>
                <a:cubicBezTo>
                  <a:pt x="9275807" y="3065346"/>
                  <a:pt x="9269967" y="3065346"/>
                  <a:pt x="9264125" y="3062497"/>
                </a:cubicBezTo>
                <a:close/>
                <a:moveTo>
                  <a:pt x="309511" y="3062497"/>
                </a:moveTo>
                <a:cubicBezTo>
                  <a:pt x="303671" y="3065346"/>
                  <a:pt x="303671" y="3065346"/>
                  <a:pt x="303671" y="3065346"/>
                </a:cubicBezTo>
                <a:cubicBezTo>
                  <a:pt x="303671" y="3065346"/>
                  <a:pt x="303671" y="3065346"/>
                  <a:pt x="309511" y="3065346"/>
                </a:cubicBezTo>
                <a:cubicBezTo>
                  <a:pt x="309511" y="3065346"/>
                  <a:pt x="309511" y="3062497"/>
                  <a:pt x="309511" y="3062497"/>
                </a:cubicBezTo>
                <a:close/>
                <a:moveTo>
                  <a:pt x="2622632" y="2888726"/>
                </a:moveTo>
                <a:cubicBezTo>
                  <a:pt x="2622632" y="2888726"/>
                  <a:pt x="2622632" y="2888726"/>
                  <a:pt x="2628473" y="2888726"/>
                </a:cubicBezTo>
                <a:cubicBezTo>
                  <a:pt x="2634315" y="2891576"/>
                  <a:pt x="2628473" y="2891576"/>
                  <a:pt x="2622632" y="2894424"/>
                </a:cubicBezTo>
                <a:cubicBezTo>
                  <a:pt x="2616791" y="2891576"/>
                  <a:pt x="2616791" y="2891576"/>
                  <a:pt x="2622632" y="2888726"/>
                </a:cubicBezTo>
                <a:close/>
                <a:moveTo>
                  <a:pt x="9258282" y="2663689"/>
                </a:moveTo>
                <a:cubicBezTo>
                  <a:pt x="9287489" y="2660840"/>
                  <a:pt x="9316695" y="2666538"/>
                  <a:pt x="9340061" y="2672235"/>
                </a:cubicBezTo>
                <a:cubicBezTo>
                  <a:pt x="9363424" y="2677932"/>
                  <a:pt x="9392632" y="2686478"/>
                  <a:pt x="9421837" y="2689326"/>
                </a:cubicBezTo>
                <a:cubicBezTo>
                  <a:pt x="9491933" y="2697873"/>
                  <a:pt x="9550344" y="2714964"/>
                  <a:pt x="9608756" y="2732056"/>
                </a:cubicBezTo>
                <a:cubicBezTo>
                  <a:pt x="9632123" y="2737754"/>
                  <a:pt x="9655487" y="2740602"/>
                  <a:pt x="9678852" y="2746300"/>
                </a:cubicBezTo>
                <a:cubicBezTo>
                  <a:pt x="9708058" y="2751996"/>
                  <a:pt x="9731423" y="2760543"/>
                  <a:pt x="9760630" y="2766240"/>
                </a:cubicBezTo>
                <a:cubicBezTo>
                  <a:pt x="9842407" y="2786179"/>
                  <a:pt x="9930026" y="2808969"/>
                  <a:pt x="10011803" y="2831756"/>
                </a:cubicBezTo>
                <a:cubicBezTo>
                  <a:pt x="9988438" y="2840303"/>
                  <a:pt x="9947549" y="2826060"/>
                  <a:pt x="9918344" y="2823213"/>
                </a:cubicBezTo>
                <a:cubicBezTo>
                  <a:pt x="9894978" y="2817515"/>
                  <a:pt x="9877455" y="2806120"/>
                  <a:pt x="9848248" y="2803272"/>
                </a:cubicBezTo>
                <a:cubicBezTo>
                  <a:pt x="9807359" y="2797573"/>
                  <a:pt x="9766471" y="2786179"/>
                  <a:pt x="9731423" y="2777633"/>
                </a:cubicBezTo>
                <a:cubicBezTo>
                  <a:pt x="9702217" y="2777633"/>
                  <a:pt x="9673011" y="2769089"/>
                  <a:pt x="9643804" y="2760543"/>
                </a:cubicBezTo>
                <a:cubicBezTo>
                  <a:pt x="9597075" y="2749149"/>
                  <a:pt x="9556185" y="2740602"/>
                  <a:pt x="9509456" y="2729207"/>
                </a:cubicBezTo>
                <a:cubicBezTo>
                  <a:pt x="9491933" y="2726360"/>
                  <a:pt x="9468568" y="2726360"/>
                  <a:pt x="9451043" y="2720663"/>
                </a:cubicBezTo>
                <a:cubicBezTo>
                  <a:pt x="9439362" y="2712116"/>
                  <a:pt x="9410155" y="2712116"/>
                  <a:pt x="9404314" y="2703569"/>
                </a:cubicBezTo>
                <a:cubicBezTo>
                  <a:pt x="9404314" y="2700721"/>
                  <a:pt x="9410155" y="2700721"/>
                  <a:pt x="9410155" y="2700721"/>
                </a:cubicBezTo>
                <a:cubicBezTo>
                  <a:pt x="9386791" y="2695023"/>
                  <a:pt x="9357583" y="2689326"/>
                  <a:pt x="9328378" y="2683629"/>
                </a:cubicBezTo>
                <a:cubicBezTo>
                  <a:pt x="9305012" y="2677932"/>
                  <a:pt x="9269965" y="2675083"/>
                  <a:pt x="9258282" y="2663689"/>
                </a:cubicBezTo>
                <a:close/>
                <a:moveTo>
                  <a:pt x="2616789" y="2657988"/>
                </a:moveTo>
                <a:cubicBezTo>
                  <a:pt x="2622631" y="2655139"/>
                  <a:pt x="2634313" y="2655139"/>
                  <a:pt x="2640154" y="2657988"/>
                </a:cubicBezTo>
                <a:cubicBezTo>
                  <a:pt x="2645995" y="2660836"/>
                  <a:pt x="2634313" y="2663685"/>
                  <a:pt x="2628471" y="2666533"/>
                </a:cubicBezTo>
                <a:cubicBezTo>
                  <a:pt x="2616789" y="2669382"/>
                  <a:pt x="2605106" y="2669382"/>
                  <a:pt x="2593424" y="2672231"/>
                </a:cubicBezTo>
                <a:cubicBezTo>
                  <a:pt x="2564218" y="2677928"/>
                  <a:pt x="2546694" y="2683625"/>
                  <a:pt x="2558376" y="2695019"/>
                </a:cubicBezTo>
                <a:cubicBezTo>
                  <a:pt x="2546694" y="2697868"/>
                  <a:pt x="2535011" y="2700716"/>
                  <a:pt x="2523328" y="2703565"/>
                </a:cubicBezTo>
                <a:cubicBezTo>
                  <a:pt x="2488282" y="2717808"/>
                  <a:pt x="2435709" y="2723506"/>
                  <a:pt x="2400664" y="2737749"/>
                </a:cubicBezTo>
                <a:cubicBezTo>
                  <a:pt x="2388980" y="2740598"/>
                  <a:pt x="2377297" y="2743446"/>
                  <a:pt x="2365615" y="2746295"/>
                </a:cubicBezTo>
                <a:cubicBezTo>
                  <a:pt x="2377297" y="2734900"/>
                  <a:pt x="2400664" y="2729203"/>
                  <a:pt x="2424028" y="2720658"/>
                </a:cubicBezTo>
                <a:cubicBezTo>
                  <a:pt x="2441551" y="2717808"/>
                  <a:pt x="2459076" y="2712112"/>
                  <a:pt x="2470757" y="2703565"/>
                </a:cubicBezTo>
                <a:cubicBezTo>
                  <a:pt x="2447393" y="2703565"/>
                  <a:pt x="2435709" y="2709262"/>
                  <a:pt x="2424028" y="2712112"/>
                </a:cubicBezTo>
                <a:cubicBezTo>
                  <a:pt x="2400664" y="2717808"/>
                  <a:pt x="2383138" y="2717808"/>
                  <a:pt x="2371457" y="2712112"/>
                </a:cubicBezTo>
                <a:cubicBezTo>
                  <a:pt x="2394822" y="2706414"/>
                  <a:pt x="2418186" y="2703565"/>
                  <a:pt x="2429869" y="2692171"/>
                </a:cubicBezTo>
                <a:cubicBezTo>
                  <a:pt x="2453234" y="2686473"/>
                  <a:pt x="2470757" y="2680776"/>
                  <a:pt x="2494122" y="2677928"/>
                </a:cubicBezTo>
                <a:cubicBezTo>
                  <a:pt x="2540854" y="2677928"/>
                  <a:pt x="2575899" y="2672231"/>
                  <a:pt x="2616789" y="2657988"/>
                </a:cubicBezTo>
                <a:close/>
                <a:moveTo>
                  <a:pt x="10052693" y="2655145"/>
                </a:moveTo>
                <a:cubicBezTo>
                  <a:pt x="10076059" y="2660842"/>
                  <a:pt x="10099423" y="2666540"/>
                  <a:pt x="10116947" y="2669387"/>
                </a:cubicBezTo>
                <a:cubicBezTo>
                  <a:pt x="10122788" y="2669387"/>
                  <a:pt x="10122788" y="2666540"/>
                  <a:pt x="10122788" y="2666540"/>
                </a:cubicBezTo>
                <a:cubicBezTo>
                  <a:pt x="10099423" y="2660842"/>
                  <a:pt x="10076059" y="2657994"/>
                  <a:pt x="10052693" y="2655145"/>
                </a:cubicBezTo>
                <a:close/>
                <a:moveTo>
                  <a:pt x="9150220" y="2637339"/>
                </a:moveTo>
                <a:cubicBezTo>
                  <a:pt x="9153142" y="2636628"/>
                  <a:pt x="9156062" y="2636628"/>
                  <a:pt x="9158982" y="2638052"/>
                </a:cubicBezTo>
                <a:cubicBezTo>
                  <a:pt x="9170665" y="2640900"/>
                  <a:pt x="9176506" y="2643749"/>
                  <a:pt x="9176506" y="2646597"/>
                </a:cubicBezTo>
                <a:cubicBezTo>
                  <a:pt x="9176506" y="2649446"/>
                  <a:pt x="9170665" y="2649446"/>
                  <a:pt x="9158982" y="2649446"/>
                </a:cubicBezTo>
                <a:cubicBezTo>
                  <a:pt x="9147300" y="2646597"/>
                  <a:pt x="9141458" y="2643749"/>
                  <a:pt x="9141458" y="2640900"/>
                </a:cubicBezTo>
                <a:cubicBezTo>
                  <a:pt x="9144379" y="2639475"/>
                  <a:pt x="9147300" y="2638052"/>
                  <a:pt x="9150220" y="2637339"/>
                </a:cubicBezTo>
                <a:close/>
                <a:moveTo>
                  <a:pt x="8452192" y="2632357"/>
                </a:moveTo>
                <a:cubicBezTo>
                  <a:pt x="8446350" y="2632357"/>
                  <a:pt x="8440510" y="2635204"/>
                  <a:pt x="8434669" y="2635204"/>
                </a:cubicBezTo>
                <a:cubicBezTo>
                  <a:pt x="8446350" y="2638053"/>
                  <a:pt x="8446350" y="2638053"/>
                  <a:pt x="8452192" y="2638053"/>
                </a:cubicBezTo>
                <a:cubicBezTo>
                  <a:pt x="8446350" y="2635204"/>
                  <a:pt x="8446350" y="2635204"/>
                  <a:pt x="8452192" y="2632357"/>
                </a:cubicBezTo>
                <a:close/>
                <a:moveTo>
                  <a:pt x="7190483" y="2601021"/>
                </a:moveTo>
                <a:cubicBezTo>
                  <a:pt x="7178800" y="2603870"/>
                  <a:pt x="7184642" y="2606720"/>
                  <a:pt x="7190483" y="2609568"/>
                </a:cubicBezTo>
                <a:cubicBezTo>
                  <a:pt x="7225531" y="2615265"/>
                  <a:pt x="7266420" y="2618114"/>
                  <a:pt x="7295627" y="2626659"/>
                </a:cubicBezTo>
                <a:cubicBezTo>
                  <a:pt x="7301467" y="2629507"/>
                  <a:pt x="7301467" y="2629507"/>
                  <a:pt x="7307307" y="2629507"/>
                </a:cubicBezTo>
                <a:cubicBezTo>
                  <a:pt x="7307307" y="2629507"/>
                  <a:pt x="7313150" y="2629507"/>
                  <a:pt x="7318990" y="2629507"/>
                </a:cubicBezTo>
                <a:cubicBezTo>
                  <a:pt x="7400769" y="2635204"/>
                  <a:pt x="7476705" y="2646598"/>
                  <a:pt x="7552640" y="2660842"/>
                </a:cubicBezTo>
                <a:cubicBezTo>
                  <a:pt x="7611053" y="2666540"/>
                  <a:pt x="7669466" y="2669387"/>
                  <a:pt x="7722037" y="2686481"/>
                </a:cubicBezTo>
                <a:cubicBezTo>
                  <a:pt x="7762926" y="2689327"/>
                  <a:pt x="7797973" y="2695028"/>
                  <a:pt x="7838862" y="2703573"/>
                </a:cubicBezTo>
                <a:cubicBezTo>
                  <a:pt x="7844702" y="2700723"/>
                  <a:pt x="7844702" y="2700723"/>
                  <a:pt x="7850544" y="2697875"/>
                </a:cubicBezTo>
                <a:cubicBezTo>
                  <a:pt x="7897273" y="2697875"/>
                  <a:pt x="7926480" y="2717816"/>
                  <a:pt x="7967369" y="2720664"/>
                </a:cubicBezTo>
                <a:cubicBezTo>
                  <a:pt x="8060828" y="2737756"/>
                  <a:pt x="8148447" y="2754847"/>
                  <a:pt x="8236066" y="2771938"/>
                </a:cubicBezTo>
                <a:cubicBezTo>
                  <a:pt x="8288637" y="2780485"/>
                  <a:pt x="8341208" y="2789032"/>
                  <a:pt x="8387938" y="2803274"/>
                </a:cubicBezTo>
                <a:cubicBezTo>
                  <a:pt x="8458033" y="2814669"/>
                  <a:pt x="8522286" y="2828911"/>
                  <a:pt x="8586540" y="2843154"/>
                </a:cubicBezTo>
                <a:cubicBezTo>
                  <a:pt x="8592382" y="2846002"/>
                  <a:pt x="8604065" y="2851699"/>
                  <a:pt x="8609906" y="2854548"/>
                </a:cubicBezTo>
                <a:cubicBezTo>
                  <a:pt x="8615748" y="2854548"/>
                  <a:pt x="8621588" y="2854548"/>
                  <a:pt x="8621588" y="2857396"/>
                </a:cubicBezTo>
                <a:cubicBezTo>
                  <a:pt x="8691684" y="2877337"/>
                  <a:pt x="8779301" y="2888731"/>
                  <a:pt x="8855238" y="2914368"/>
                </a:cubicBezTo>
                <a:cubicBezTo>
                  <a:pt x="8878603" y="2917217"/>
                  <a:pt x="8901968" y="2922915"/>
                  <a:pt x="8925333" y="2928612"/>
                </a:cubicBezTo>
                <a:cubicBezTo>
                  <a:pt x="8942857" y="2940007"/>
                  <a:pt x="8972062" y="2942855"/>
                  <a:pt x="8995428" y="2948553"/>
                </a:cubicBezTo>
                <a:cubicBezTo>
                  <a:pt x="9007111" y="2951402"/>
                  <a:pt x="9018792" y="2954250"/>
                  <a:pt x="9030475" y="2957099"/>
                </a:cubicBezTo>
                <a:cubicBezTo>
                  <a:pt x="9047999" y="2959948"/>
                  <a:pt x="9059681" y="2962795"/>
                  <a:pt x="9077206" y="2965646"/>
                </a:cubicBezTo>
                <a:cubicBezTo>
                  <a:pt x="9083046" y="2968494"/>
                  <a:pt x="9088887" y="2968494"/>
                  <a:pt x="9094729" y="2968494"/>
                </a:cubicBezTo>
                <a:cubicBezTo>
                  <a:pt x="9106411" y="2971343"/>
                  <a:pt x="9112252" y="2974191"/>
                  <a:pt x="9123935" y="2974191"/>
                </a:cubicBezTo>
                <a:cubicBezTo>
                  <a:pt x="9129777" y="2974191"/>
                  <a:pt x="9141458" y="2977039"/>
                  <a:pt x="9141458" y="2979890"/>
                </a:cubicBezTo>
                <a:cubicBezTo>
                  <a:pt x="9141458" y="2977039"/>
                  <a:pt x="9147300" y="2974191"/>
                  <a:pt x="9153142" y="2974191"/>
                </a:cubicBezTo>
                <a:cubicBezTo>
                  <a:pt x="9164823" y="2974191"/>
                  <a:pt x="9170665" y="2974191"/>
                  <a:pt x="9176506" y="2977039"/>
                </a:cubicBezTo>
                <a:cubicBezTo>
                  <a:pt x="9164823" y="2974191"/>
                  <a:pt x="9158982" y="2971343"/>
                  <a:pt x="9147300" y="2965646"/>
                </a:cubicBezTo>
                <a:cubicBezTo>
                  <a:pt x="9129777" y="2962795"/>
                  <a:pt x="9118094" y="2959948"/>
                  <a:pt x="9106411" y="2957099"/>
                </a:cubicBezTo>
                <a:cubicBezTo>
                  <a:pt x="9088887" y="2954250"/>
                  <a:pt x="9071364" y="2951402"/>
                  <a:pt x="9053841" y="2945704"/>
                </a:cubicBezTo>
                <a:cubicBezTo>
                  <a:pt x="9047999" y="2945704"/>
                  <a:pt x="9047999" y="2945704"/>
                  <a:pt x="9047999" y="2945704"/>
                </a:cubicBezTo>
                <a:cubicBezTo>
                  <a:pt x="9024633" y="2942855"/>
                  <a:pt x="9012952" y="2940007"/>
                  <a:pt x="8995428" y="2934310"/>
                </a:cubicBezTo>
                <a:cubicBezTo>
                  <a:pt x="8989587" y="2931462"/>
                  <a:pt x="8977904" y="2931462"/>
                  <a:pt x="8972062" y="2928612"/>
                </a:cubicBezTo>
                <a:cubicBezTo>
                  <a:pt x="8972062" y="2928612"/>
                  <a:pt x="8972062" y="2925763"/>
                  <a:pt x="8972062" y="2925763"/>
                </a:cubicBezTo>
                <a:cubicBezTo>
                  <a:pt x="8972062" y="2925763"/>
                  <a:pt x="8972062" y="2925763"/>
                  <a:pt x="8966221" y="2925763"/>
                </a:cubicBezTo>
                <a:cubicBezTo>
                  <a:pt x="8954539" y="2922915"/>
                  <a:pt x="8942857" y="2922915"/>
                  <a:pt x="8937016" y="2917217"/>
                </a:cubicBezTo>
                <a:cubicBezTo>
                  <a:pt x="8931174" y="2917217"/>
                  <a:pt x="8937016" y="2920067"/>
                  <a:pt x="8931174" y="2920067"/>
                </a:cubicBezTo>
                <a:cubicBezTo>
                  <a:pt x="8925333" y="2920067"/>
                  <a:pt x="8913650" y="2920067"/>
                  <a:pt x="8901968" y="2917217"/>
                </a:cubicBezTo>
                <a:cubicBezTo>
                  <a:pt x="8820191" y="2897278"/>
                  <a:pt x="8738413" y="2883034"/>
                  <a:pt x="8656636" y="2863093"/>
                </a:cubicBezTo>
                <a:cubicBezTo>
                  <a:pt x="8621588" y="2846002"/>
                  <a:pt x="8563175" y="2843154"/>
                  <a:pt x="8533969" y="2826061"/>
                </a:cubicBezTo>
                <a:cubicBezTo>
                  <a:pt x="8533969" y="2823213"/>
                  <a:pt x="8533969" y="2823213"/>
                  <a:pt x="8533969" y="2820364"/>
                </a:cubicBezTo>
                <a:cubicBezTo>
                  <a:pt x="8528128" y="2817519"/>
                  <a:pt x="8522286" y="2817519"/>
                  <a:pt x="8522286" y="2817519"/>
                </a:cubicBezTo>
                <a:cubicBezTo>
                  <a:pt x="8493081" y="2811819"/>
                  <a:pt x="8458033" y="2808973"/>
                  <a:pt x="8434669" y="2797578"/>
                </a:cubicBezTo>
                <a:cubicBezTo>
                  <a:pt x="8422987" y="2797578"/>
                  <a:pt x="8411304" y="2794728"/>
                  <a:pt x="8399621" y="2791879"/>
                </a:cubicBezTo>
                <a:cubicBezTo>
                  <a:pt x="8382096" y="2786182"/>
                  <a:pt x="8364574" y="2783334"/>
                  <a:pt x="8347050" y="2780485"/>
                </a:cubicBezTo>
                <a:cubicBezTo>
                  <a:pt x="8259431" y="2766241"/>
                  <a:pt x="8171813" y="2743453"/>
                  <a:pt x="8084193" y="2729209"/>
                </a:cubicBezTo>
                <a:cubicBezTo>
                  <a:pt x="8066670" y="2726362"/>
                  <a:pt x="8043305" y="2720664"/>
                  <a:pt x="8031623" y="2714967"/>
                </a:cubicBezTo>
                <a:cubicBezTo>
                  <a:pt x="8025782" y="2714967"/>
                  <a:pt x="8014099" y="2714967"/>
                  <a:pt x="8008257" y="2712118"/>
                </a:cubicBezTo>
                <a:cubicBezTo>
                  <a:pt x="7990734" y="2709269"/>
                  <a:pt x="7967369" y="2706422"/>
                  <a:pt x="7944003" y="2703573"/>
                </a:cubicBezTo>
                <a:cubicBezTo>
                  <a:pt x="7879750" y="2695028"/>
                  <a:pt x="7821338" y="2686481"/>
                  <a:pt x="7757083" y="2675085"/>
                </a:cubicBezTo>
                <a:cubicBezTo>
                  <a:pt x="7739560" y="2672237"/>
                  <a:pt x="7716195" y="2672237"/>
                  <a:pt x="7698671" y="2663692"/>
                </a:cubicBezTo>
                <a:cubicBezTo>
                  <a:pt x="7640261" y="2657994"/>
                  <a:pt x="7576006" y="2646598"/>
                  <a:pt x="7517594" y="2640901"/>
                </a:cubicBezTo>
                <a:cubicBezTo>
                  <a:pt x="7517594" y="2640901"/>
                  <a:pt x="7511751" y="2640901"/>
                  <a:pt x="7505911" y="2640901"/>
                </a:cubicBezTo>
                <a:cubicBezTo>
                  <a:pt x="7406609" y="2620961"/>
                  <a:pt x="7295627" y="2615265"/>
                  <a:pt x="7190483" y="2601021"/>
                </a:cubicBezTo>
                <a:close/>
                <a:moveTo>
                  <a:pt x="9562028" y="2575384"/>
                </a:moveTo>
                <a:cubicBezTo>
                  <a:pt x="9556187" y="2578231"/>
                  <a:pt x="9556187" y="2578231"/>
                  <a:pt x="9550345" y="2578231"/>
                </a:cubicBezTo>
                <a:cubicBezTo>
                  <a:pt x="9550345" y="2581080"/>
                  <a:pt x="9544504" y="2581080"/>
                  <a:pt x="9544504" y="2581080"/>
                </a:cubicBezTo>
                <a:cubicBezTo>
                  <a:pt x="9538664" y="2583929"/>
                  <a:pt x="9532822" y="2583929"/>
                  <a:pt x="9526981" y="2583929"/>
                </a:cubicBezTo>
                <a:cubicBezTo>
                  <a:pt x="9526981" y="2586777"/>
                  <a:pt x="9526981" y="2586777"/>
                  <a:pt x="9526981" y="2589626"/>
                </a:cubicBezTo>
                <a:cubicBezTo>
                  <a:pt x="9521140" y="2589626"/>
                  <a:pt x="9521140" y="2586777"/>
                  <a:pt x="9515299" y="2586777"/>
                </a:cubicBezTo>
                <a:cubicBezTo>
                  <a:pt x="9521140" y="2586777"/>
                  <a:pt x="9515299" y="2589626"/>
                  <a:pt x="9515299" y="2589626"/>
                </a:cubicBezTo>
                <a:cubicBezTo>
                  <a:pt x="9521140" y="2589626"/>
                  <a:pt x="9521140" y="2589626"/>
                  <a:pt x="9526981" y="2589626"/>
                </a:cubicBezTo>
                <a:cubicBezTo>
                  <a:pt x="9544504" y="2601021"/>
                  <a:pt x="9521140" y="2609568"/>
                  <a:pt x="9538664" y="2620961"/>
                </a:cubicBezTo>
                <a:cubicBezTo>
                  <a:pt x="9550345" y="2623811"/>
                  <a:pt x="9550345" y="2623811"/>
                  <a:pt x="9556187" y="2620961"/>
                </a:cubicBezTo>
                <a:cubicBezTo>
                  <a:pt x="9567870" y="2606720"/>
                  <a:pt x="9614599" y="2603870"/>
                  <a:pt x="9608758" y="2586777"/>
                </a:cubicBezTo>
                <a:cubicBezTo>
                  <a:pt x="9597075" y="2581080"/>
                  <a:pt x="9585393" y="2578231"/>
                  <a:pt x="9573711" y="2575384"/>
                </a:cubicBezTo>
                <a:cubicBezTo>
                  <a:pt x="9567870" y="2575384"/>
                  <a:pt x="9567870" y="2575384"/>
                  <a:pt x="9562028" y="2575384"/>
                </a:cubicBezTo>
                <a:close/>
                <a:moveTo>
                  <a:pt x="8985660" y="2566256"/>
                </a:moveTo>
                <a:cubicBezTo>
                  <a:pt x="8989950" y="2565945"/>
                  <a:pt x="8996887" y="2566123"/>
                  <a:pt x="9007110" y="2566835"/>
                </a:cubicBezTo>
                <a:cubicBezTo>
                  <a:pt x="9030473" y="2572530"/>
                  <a:pt x="9053840" y="2575381"/>
                  <a:pt x="9077204" y="2581078"/>
                </a:cubicBezTo>
                <a:cubicBezTo>
                  <a:pt x="9077204" y="2586775"/>
                  <a:pt x="9071363" y="2589624"/>
                  <a:pt x="9053840" y="2586775"/>
                </a:cubicBezTo>
                <a:cubicBezTo>
                  <a:pt x="9036315" y="2583926"/>
                  <a:pt x="9018792" y="2578229"/>
                  <a:pt x="9001269" y="2581078"/>
                </a:cubicBezTo>
                <a:cubicBezTo>
                  <a:pt x="8983744" y="2572532"/>
                  <a:pt x="8972791" y="2567191"/>
                  <a:pt x="8985660" y="2566256"/>
                </a:cubicBezTo>
                <a:close/>
                <a:moveTo>
                  <a:pt x="7467943" y="2525890"/>
                </a:moveTo>
                <a:cubicBezTo>
                  <a:pt x="7463562" y="2525533"/>
                  <a:pt x="7459181" y="2525533"/>
                  <a:pt x="7453339" y="2526957"/>
                </a:cubicBezTo>
                <a:cubicBezTo>
                  <a:pt x="7465022" y="2526957"/>
                  <a:pt x="7470864" y="2529805"/>
                  <a:pt x="7482545" y="2526957"/>
                </a:cubicBezTo>
                <a:cubicBezTo>
                  <a:pt x="7476704" y="2526957"/>
                  <a:pt x="7472324" y="2526244"/>
                  <a:pt x="7467943" y="2525890"/>
                </a:cubicBezTo>
                <a:close/>
                <a:moveTo>
                  <a:pt x="969578" y="2512714"/>
                </a:moveTo>
                <a:cubicBezTo>
                  <a:pt x="963738" y="2515563"/>
                  <a:pt x="963738" y="2518411"/>
                  <a:pt x="957897" y="2521259"/>
                </a:cubicBezTo>
                <a:cubicBezTo>
                  <a:pt x="963738" y="2518411"/>
                  <a:pt x="963738" y="2518411"/>
                  <a:pt x="963738" y="2518411"/>
                </a:cubicBezTo>
                <a:cubicBezTo>
                  <a:pt x="969578" y="2518411"/>
                  <a:pt x="969578" y="2515563"/>
                  <a:pt x="969578" y="2512714"/>
                </a:cubicBezTo>
                <a:close/>
                <a:moveTo>
                  <a:pt x="8498921" y="2507014"/>
                </a:moveTo>
                <a:cubicBezTo>
                  <a:pt x="8510604" y="2509862"/>
                  <a:pt x="8528128" y="2512711"/>
                  <a:pt x="8510604" y="2518408"/>
                </a:cubicBezTo>
                <a:cubicBezTo>
                  <a:pt x="8504763" y="2515559"/>
                  <a:pt x="8498921" y="2509862"/>
                  <a:pt x="8498921" y="2507014"/>
                </a:cubicBezTo>
                <a:close/>
                <a:moveTo>
                  <a:pt x="8558155" y="2479240"/>
                </a:moveTo>
                <a:cubicBezTo>
                  <a:pt x="8570294" y="2478705"/>
                  <a:pt x="8583984" y="2479239"/>
                  <a:pt x="8597493" y="2480664"/>
                </a:cubicBezTo>
                <a:cubicBezTo>
                  <a:pt x="8624508" y="2483512"/>
                  <a:pt x="8650793" y="2489921"/>
                  <a:pt x="8662476" y="2498468"/>
                </a:cubicBezTo>
                <a:cubicBezTo>
                  <a:pt x="8679999" y="2509862"/>
                  <a:pt x="8685841" y="2504165"/>
                  <a:pt x="8703365" y="2501317"/>
                </a:cubicBezTo>
                <a:cubicBezTo>
                  <a:pt x="8715047" y="2498468"/>
                  <a:pt x="8732570" y="2498468"/>
                  <a:pt x="8750095" y="2501317"/>
                </a:cubicBezTo>
                <a:cubicBezTo>
                  <a:pt x="8767618" y="2504165"/>
                  <a:pt x="8779301" y="2507014"/>
                  <a:pt x="8796824" y="2509862"/>
                </a:cubicBezTo>
                <a:cubicBezTo>
                  <a:pt x="8808507" y="2512711"/>
                  <a:pt x="8820189" y="2515559"/>
                  <a:pt x="8831872" y="2518408"/>
                </a:cubicBezTo>
                <a:cubicBezTo>
                  <a:pt x="8820189" y="2507014"/>
                  <a:pt x="8820189" y="2501317"/>
                  <a:pt x="8855237" y="2498468"/>
                </a:cubicBezTo>
                <a:cubicBezTo>
                  <a:pt x="8861079" y="2498468"/>
                  <a:pt x="8861079" y="2501317"/>
                  <a:pt x="8866919" y="2501317"/>
                </a:cubicBezTo>
                <a:cubicBezTo>
                  <a:pt x="8878602" y="2507014"/>
                  <a:pt x="8890285" y="2509862"/>
                  <a:pt x="8901968" y="2515559"/>
                </a:cubicBezTo>
                <a:cubicBezTo>
                  <a:pt x="8901968" y="2515559"/>
                  <a:pt x="8901968" y="2515559"/>
                  <a:pt x="8901968" y="2518408"/>
                </a:cubicBezTo>
                <a:cubicBezTo>
                  <a:pt x="8931173" y="2521257"/>
                  <a:pt x="8937014" y="2529802"/>
                  <a:pt x="8937014" y="2538348"/>
                </a:cubicBezTo>
                <a:cubicBezTo>
                  <a:pt x="8931173" y="2538348"/>
                  <a:pt x="8925331" y="2538348"/>
                  <a:pt x="8919490" y="2541197"/>
                </a:cubicBezTo>
                <a:cubicBezTo>
                  <a:pt x="8907808" y="2549742"/>
                  <a:pt x="8942856" y="2566834"/>
                  <a:pt x="8890285" y="2561137"/>
                </a:cubicBezTo>
                <a:cubicBezTo>
                  <a:pt x="8884443" y="2552591"/>
                  <a:pt x="8837714" y="2546893"/>
                  <a:pt x="8849395" y="2535500"/>
                </a:cubicBezTo>
                <a:cubicBezTo>
                  <a:pt x="8826031" y="2541197"/>
                  <a:pt x="8796824" y="2532650"/>
                  <a:pt x="8767618" y="2535500"/>
                </a:cubicBezTo>
                <a:cubicBezTo>
                  <a:pt x="8761778" y="2535500"/>
                  <a:pt x="8750095" y="2535500"/>
                  <a:pt x="8750095" y="2535500"/>
                </a:cubicBezTo>
                <a:cubicBezTo>
                  <a:pt x="8750095" y="2538348"/>
                  <a:pt x="8761778" y="2538348"/>
                  <a:pt x="8761778" y="2538348"/>
                </a:cubicBezTo>
                <a:cubicBezTo>
                  <a:pt x="8767618" y="2538348"/>
                  <a:pt x="8773460" y="2541197"/>
                  <a:pt x="8773460" y="2541197"/>
                </a:cubicBezTo>
                <a:cubicBezTo>
                  <a:pt x="8779301" y="2544045"/>
                  <a:pt x="8779301" y="2546893"/>
                  <a:pt x="8785141" y="2546893"/>
                </a:cubicBezTo>
                <a:cubicBezTo>
                  <a:pt x="8790983" y="2546893"/>
                  <a:pt x="8796824" y="2549742"/>
                  <a:pt x="8796824" y="2549742"/>
                </a:cubicBezTo>
                <a:cubicBezTo>
                  <a:pt x="8808507" y="2555440"/>
                  <a:pt x="8820189" y="2561137"/>
                  <a:pt x="8802666" y="2563985"/>
                </a:cubicBezTo>
                <a:cubicBezTo>
                  <a:pt x="8802666" y="2563985"/>
                  <a:pt x="8802666" y="2566834"/>
                  <a:pt x="8796824" y="2566834"/>
                </a:cubicBezTo>
                <a:cubicBezTo>
                  <a:pt x="8790983" y="2566834"/>
                  <a:pt x="8790983" y="2563985"/>
                  <a:pt x="8785141" y="2563985"/>
                </a:cubicBezTo>
                <a:cubicBezTo>
                  <a:pt x="8703365" y="2558288"/>
                  <a:pt x="8627428" y="2546893"/>
                  <a:pt x="8592380" y="2512711"/>
                </a:cubicBezTo>
                <a:cubicBezTo>
                  <a:pt x="8586540" y="2507014"/>
                  <a:pt x="8569017" y="2509862"/>
                  <a:pt x="8557334" y="2512711"/>
                </a:cubicBezTo>
                <a:cubicBezTo>
                  <a:pt x="8539809" y="2507014"/>
                  <a:pt x="8569017" y="2501317"/>
                  <a:pt x="8539809" y="2498468"/>
                </a:cubicBezTo>
                <a:cubicBezTo>
                  <a:pt x="8493080" y="2492771"/>
                  <a:pt x="8516446" y="2487073"/>
                  <a:pt x="8528128" y="2484225"/>
                </a:cubicBezTo>
                <a:cubicBezTo>
                  <a:pt x="8535429" y="2481376"/>
                  <a:pt x="8546016" y="2479774"/>
                  <a:pt x="8558155" y="2479240"/>
                </a:cubicBezTo>
                <a:close/>
                <a:moveTo>
                  <a:pt x="8744253" y="2469980"/>
                </a:moveTo>
                <a:cubicBezTo>
                  <a:pt x="8779301" y="2478526"/>
                  <a:pt x="8767618" y="2492769"/>
                  <a:pt x="8796824" y="2504163"/>
                </a:cubicBezTo>
                <a:cubicBezTo>
                  <a:pt x="8744253" y="2492769"/>
                  <a:pt x="8744253" y="2492769"/>
                  <a:pt x="8744253" y="2469980"/>
                </a:cubicBezTo>
                <a:close/>
                <a:moveTo>
                  <a:pt x="7949844" y="2467135"/>
                </a:moveTo>
                <a:cubicBezTo>
                  <a:pt x="7955686" y="2467135"/>
                  <a:pt x="7955686" y="2467135"/>
                  <a:pt x="7961528" y="2469983"/>
                </a:cubicBezTo>
                <a:cubicBezTo>
                  <a:pt x="7961528" y="2467135"/>
                  <a:pt x="7961528" y="2467135"/>
                  <a:pt x="7961528" y="2467135"/>
                </a:cubicBezTo>
                <a:cubicBezTo>
                  <a:pt x="7955686" y="2467135"/>
                  <a:pt x="7949844" y="2467135"/>
                  <a:pt x="7949844" y="2467135"/>
                </a:cubicBezTo>
                <a:close/>
                <a:moveTo>
                  <a:pt x="9135618" y="2447195"/>
                </a:moveTo>
                <a:cubicBezTo>
                  <a:pt x="9135618" y="2450043"/>
                  <a:pt x="9129777" y="2450043"/>
                  <a:pt x="9129777" y="2450043"/>
                </a:cubicBezTo>
                <a:cubicBezTo>
                  <a:pt x="9135618" y="2450043"/>
                  <a:pt x="9135618" y="2452892"/>
                  <a:pt x="9141458" y="2452892"/>
                </a:cubicBezTo>
                <a:cubicBezTo>
                  <a:pt x="9153142" y="2458589"/>
                  <a:pt x="9158982" y="2461437"/>
                  <a:pt x="9153142" y="2472833"/>
                </a:cubicBezTo>
                <a:cubicBezTo>
                  <a:pt x="9153142" y="2472833"/>
                  <a:pt x="9153142" y="2472833"/>
                  <a:pt x="9153142" y="2475681"/>
                </a:cubicBezTo>
                <a:cubicBezTo>
                  <a:pt x="9158982" y="2472833"/>
                  <a:pt x="9158982" y="2472833"/>
                  <a:pt x="9164823" y="2472833"/>
                </a:cubicBezTo>
                <a:cubicBezTo>
                  <a:pt x="9170665" y="2472833"/>
                  <a:pt x="9182348" y="2475681"/>
                  <a:pt x="9188189" y="2478529"/>
                </a:cubicBezTo>
                <a:cubicBezTo>
                  <a:pt x="9194031" y="2481379"/>
                  <a:pt x="9199871" y="2484226"/>
                  <a:pt x="9199871" y="2487075"/>
                </a:cubicBezTo>
                <a:cubicBezTo>
                  <a:pt x="9205713" y="2487075"/>
                  <a:pt x="9211553" y="2487075"/>
                  <a:pt x="9217394" y="2487075"/>
                </a:cubicBezTo>
                <a:cubicBezTo>
                  <a:pt x="9223236" y="2487075"/>
                  <a:pt x="9229077" y="2487075"/>
                  <a:pt x="9234919" y="2489923"/>
                </a:cubicBezTo>
                <a:cubicBezTo>
                  <a:pt x="9240760" y="2492772"/>
                  <a:pt x="9246602" y="2495622"/>
                  <a:pt x="9252442" y="2498471"/>
                </a:cubicBezTo>
                <a:cubicBezTo>
                  <a:pt x="9269967" y="2492772"/>
                  <a:pt x="9269967" y="2487075"/>
                  <a:pt x="9281648" y="2481379"/>
                </a:cubicBezTo>
                <a:cubicBezTo>
                  <a:pt x="9275807" y="2478529"/>
                  <a:pt x="9269967" y="2475681"/>
                  <a:pt x="9264125" y="2469983"/>
                </a:cubicBezTo>
                <a:cubicBezTo>
                  <a:pt x="9258284" y="2469983"/>
                  <a:pt x="9252442" y="2467135"/>
                  <a:pt x="9246602" y="2467135"/>
                </a:cubicBezTo>
                <a:cubicBezTo>
                  <a:pt x="9211553" y="2461437"/>
                  <a:pt x="9170665" y="2452892"/>
                  <a:pt x="9135618" y="2447195"/>
                </a:cubicBezTo>
                <a:close/>
                <a:moveTo>
                  <a:pt x="1571225" y="2430103"/>
                </a:moveTo>
                <a:cubicBezTo>
                  <a:pt x="1565383" y="2432952"/>
                  <a:pt x="1559542" y="2432952"/>
                  <a:pt x="1553700" y="2432952"/>
                </a:cubicBezTo>
                <a:cubicBezTo>
                  <a:pt x="1553700" y="2432952"/>
                  <a:pt x="1553700" y="2435801"/>
                  <a:pt x="1553700" y="2435801"/>
                </a:cubicBezTo>
                <a:cubicBezTo>
                  <a:pt x="1559542" y="2432952"/>
                  <a:pt x="1571225" y="2432952"/>
                  <a:pt x="1571225" y="2430103"/>
                </a:cubicBezTo>
                <a:close/>
                <a:moveTo>
                  <a:pt x="8583619" y="2407666"/>
                </a:moveTo>
                <a:cubicBezTo>
                  <a:pt x="8592380" y="2409447"/>
                  <a:pt x="8598222" y="2414432"/>
                  <a:pt x="8604063" y="2424403"/>
                </a:cubicBezTo>
                <a:cubicBezTo>
                  <a:pt x="8592380" y="2427251"/>
                  <a:pt x="8580699" y="2427251"/>
                  <a:pt x="8574857" y="2424403"/>
                </a:cubicBezTo>
                <a:cubicBezTo>
                  <a:pt x="8563175" y="2421554"/>
                  <a:pt x="8551492" y="2418705"/>
                  <a:pt x="8545651" y="2415857"/>
                </a:cubicBezTo>
                <a:cubicBezTo>
                  <a:pt x="8545651" y="2413008"/>
                  <a:pt x="8545651" y="2413008"/>
                  <a:pt x="8545651" y="2410160"/>
                </a:cubicBezTo>
                <a:cubicBezTo>
                  <a:pt x="8563174" y="2407310"/>
                  <a:pt x="8574857" y="2405886"/>
                  <a:pt x="8583619" y="2407666"/>
                </a:cubicBezTo>
                <a:close/>
                <a:moveTo>
                  <a:pt x="9848248" y="2407314"/>
                </a:moveTo>
                <a:cubicBezTo>
                  <a:pt x="9854090" y="2410162"/>
                  <a:pt x="9854090" y="2410162"/>
                  <a:pt x="9854090" y="2413011"/>
                </a:cubicBezTo>
                <a:cubicBezTo>
                  <a:pt x="9854090" y="2413011"/>
                  <a:pt x="9859932" y="2413011"/>
                  <a:pt x="9859932" y="2413011"/>
                </a:cubicBezTo>
                <a:cubicBezTo>
                  <a:pt x="9859932" y="2413011"/>
                  <a:pt x="9854090" y="2410162"/>
                  <a:pt x="9848248" y="2407314"/>
                </a:cubicBezTo>
                <a:close/>
                <a:moveTo>
                  <a:pt x="7698671" y="2398767"/>
                </a:moveTo>
                <a:cubicBezTo>
                  <a:pt x="7634419" y="2401616"/>
                  <a:pt x="7634419" y="2401616"/>
                  <a:pt x="7646101" y="2418709"/>
                </a:cubicBezTo>
                <a:cubicBezTo>
                  <a:pt x="7651942" y="2418709"/>
                  <a:pt x="7651942" y="2418709"/>
                  <a:pt x="7651942" y="2418709"/>
                </a:cubicBezTo>
                <a:cubicBezTo>
                  <a:pt x="7686989" y="2421557"/>
                  <a:pt x="7727880" y="2424407"/>
                  <a:pt x="7757083" y="2432952"/>
                </a:cubicBezTo>
                <a:cubicBezTo>
                  <a:pt x="7762926" y="2432952"/>
                  <a:pt x="7762926" y="2432952"/>
                  <a:pt x="7768767" y="2432952"/>
                </a:cubicBezTo>
                <a:cubicBezTo>
                  <a:pt x="7774609" y="2432952"/>
                  <a:pt x="7786292" y="2435801"/>
                  <a:pt x="7792132" y="2435801"/>
                </a:cubicBezTo>
                <a:cubicBezTo>
                  <a:pt x="7821338" y="2432952"/>
                  <a:pt x="7844702" y="2427254"/>
                  <a:pt x="7862227" y="2441497"/>
                </a:cubicBezTo>
                <a:cubicBezTo>
                  <a:pt x="7885592" y="2444347"/>
                  <a:pt x="7908957" y="2447195"/>
                  <a:pt x="7938161" y="2450043"/>
                </a:cubicBezTo>
                <a:cubicBezTo>
                  <a:pt x="7955686" y="2452892"/>
                  <a:pt x="7967369" y="2458589"/>
                  <a:pt x="7961528" y="2464287"/>
                </a:cubicBezTo>
                <a:cubicBezTo>
                  <a:pt x="7967369" y="2455741"/>
                  <a:pt x="7967369" y="2450043"/>
                  <a:pt x="7932321" y="2441497"/>
                </a:cubicBezTo>
                <a:cubicBezTo>
                  <a:pt x="7903115" y="2432952"/>
                  <a:pt x="7897273" y="2421557"/>
                  <a:pt x="7944003" y="2418709"/>
                </a:cubicBezTo>
                <a:cubicBezTo>
                  <a:pt x="7949844" y="2421557"/>
                  <a:pt x="7949844" y="2418709"/>
                  <a:pt x="7949844" y="2418709"/>
                </a:cubicBezTo>
                <a:cubicBezTo>
                  <a:pt x="7949844" y="2415859"/>
                  <a:pt x="7944003" y="2413011"/>
                  <a:pt x="7944003" y="2410162"/>
                </a:cubicBezTo>
                <a:cubicBezTo>
                  <a:pt x="7897273" y="2404465"/>
                  <a:pt x="7856385" y="2404465"/>
                  <a:pt x="7815496" y="2404465"/>
                </a:cubicBezTo>
                <a:cubicBezTo>
                  <a:pt x="7774609" y="2415859"/>
                  <a:pt x="7739560" y="2407314"/>
                  <a:pt x="7698671" y="2398767"/>
                </a:cubicBezTo>
                <a:close/>
                <a:moveTo>
                  <a:pt x="8312000" y="2384521"/>
                </a:moveTo>
                <a:cubicBezTo>
                  <a:pt x="8329524" y="2384521"/>
                  <a:pt x="8347048" y="2387370"/>
                  <a:pt x="8358731" y="2395916"/>
                </a:cubicBezTo>
                <a:cubicBezTo>
                  <a:pt x="8364573" y="2398764"/>
                  <a:pt x="8364573" y="2401612"/>
                  <a:pt x="8352890" y="2401612"/>
                </a:cubicBezTo>
                <a:cubicBezTo>
                  <a:pt x="8335365" y="2401612"/>
                  <a:pt x="8323683" y="2395916"/>
                  <a:pt x="8306160" y="2393067"/>
                </a:cubicBezTo>
                <a:cubicBezTo>
                  <a:pt x="8306160" y="2393067"/>
                  <a:pt x="8300319" y="2390219"/>
                  <a:pt x="8282794" y="2387370"/>
                </a:cubicBezTo>
                <a:cubicBezTo>
                  <a:pt x="8300319" y="2387370"/>
                  <a:pt x="8306160" y="2384521"/>
                  <a:pt x="8312000" y="2384521"/>
                </a:cubicBezTo>
                <a:close/>
                <a:moveTo>
                  <a:pt x="8465333" y="2372770"/>
                </a:moveTo>
                <a:cubicBezTo>
                  <a:pt x="8469714" y="2373839"/>
                  <a:pt x="8475555" y="2375975"/>
                  <a:pt x="8481397" y="2378823"/>
                </a:cubicBezTo>
                <a:cubicBezTo>
                  <a:pt x="8487238" y="2375975"/>
                  <a:pt x="8498920" y="2375975"/>
                  <a:pt x="8504761" y="2378823"/>
                </a:cubicBezTo>
                <a:cubicBezTo>
                  <a:pt x="8516444" y="2378823"/>
                  <a:pt x="8522285" y="2381672"/>
                  <a:pt x="8528126" y="2387370"/>
                </a:cubicBezTo>
                <a:cubicBezTo>
                  <a:pt x="8528126" y="2390218"/>
                  <a:pt x="8533968" y="2390218"/>
                  <a:pt x="8533968" y="2393067"/>
                </a:cubicBezTo>
                <a:cubicBezTo>
                  <a:pt x="8528126" y="2398764"/>
                  <a:pt x="8516444" y="2398764"/>
                  <a:pt x="8504761" y="2395916"/>
                </a:cubicBezTo>
                <a:cubicBezTo>
                  <a:pt x="8498920" y="2393067"/>
                  <a:pt x="8487238" y="2390218"/>
                  <a:pt x="8481397" y="2387370"/>
                </a:cubicBezTo>
                <a:cubicBezTo>
                  <a:pt x="8463873" y="2384521"/>
                  <a:pt x="8458032" y="2378823"/>
                  <a:pt x="8458032" y="2373126"/>
                </a:cubicBezTo>
                <a:cubicBezTo>
                  <a:pt x="8458032" y="2371702"/>
                  <a:pt x="8460952" y="2371702"/>
                  <a:pt x="8465333" y="2372770"/>
                </a:cubicBezTo>
                <a:close/>
                <a:moveTo>
                  <a:pt x="9392632" y="2360667"/>
                </a:moveTo>
                <a:cubicBezTo>
                  <a:pt x="9386791" y="2360312"/>
                  <a:pt x="9380950" y="2360312"/>
                  <a:pt x="9375109" y="2361737"/>
                </a:cubicBezTo>
                <a:cubicBezTo>
                  <a:pt x="9380950" y="2370282"/>
                  <a:pt x="9415997" y="2378827"/>
                  <a:pt x="9415997" y="2390223"/>
                </a:cubicBezTo>
                <a:cubicBezTo>
                  <a:pt x="9445205" y="2413011"/>
                  <a:pt x="9509457" y="2427254"/>
                  <a:pt x="9544504" y="2447195"/>
                </a:cubicBezTo>
                <a:cubicBezTo>
                  <a:pt x="9550345" y="2452892"/>
                  <a:pt x="9556187" y="2455741"/>
                  <a:pt x="9562028" y="2458589"/>
                </a:cubicBezTo>
                <a:cubicBezTo>
                  <a:pt x="9567870" y="2461437"/>
                  <a:pt x="9567870" y="2467135"/>
                  <a:pt x="9573711" y="2469983"/>
                </a:cubicBezTo>
                <a:cubicBezTo>
                  <a:pt x="9573711" y="2472833"/>
                  <a:pt x="9579553" y="2475681"/>
                  <a:pt x="9579553" y="2475681"/>
                </a:cubicBezTo>
                <a:cubicBezTo>
                  <a:pt x="9579553" y="2478529"/>
                  <a:pt x="9585393" y="2478529"/>
                  <a:pt x="9585393" y="2478529"/>
                </a:cubicBezTo>
                <a:cubicBezTo>
                  <a:pt x="9608758" y="2484226"/>
                  <a:pt x="9591235" y="2489923"/>
                  <a:pt x="9602916" y="2495622"/>
                </a:cubicBezTo>
                <a:cubicBezTo>
                  <a:pt x="9608758" y="2495622"/>
                  <a:pt x="9608758" y="2498471"/>
                  <a:pt x="9614599" y="2501318"/>
                </a:cubicBezTo>
                <a:cubicBezTo>
                  <a:pt x="9620441" y="2504168"/>
                  <a:pt x="9626283" y="2504168"/>
                  <a:pt x="9637966" y="2507016"/>
                </a:cubicBezTo>
                <a:cubicBezTo>
                  <a:pt x="9655487" y="2512714"/>
                  <a:pt x="9667170" y="2518411"/>
                  <a:pt x="9678854" y="2524108"/>
                </a:cubicBezTo>
                <a:cubicBezTo>
                  <a:pt x="9684695" y="2532653"/>
                  <a:pt x="9696377" y="2544048"/>
                  <a:pt x="9702218" y="2552594"/>
                </a:cubicBezTo>
                <a:cubicBezTo>
                  <a:pt x="9702218" y="2555443"/>
                  <a:pt x="9708060" y="2558291"/>
                  <a:pt x="9708060" y="2561140"/>
                </a:cubicBezTo>
                <a:cubicBezTo>
                  <a:pt x="9713901" y="2561140"/>
                  <a:pt x="9719742" y="2561140"/>
                  <a:pt x="9725583" y="2561140"/>
                </a:cubicBezTo>
                <a:cubicBezTo>
                  <a:pt x="9772314" y="2569686"/>
                  <a:pt x="9813202" y="2575384"/>
                  <a:pt x="9859932" y="2578231"/>
                </a:cubicBezTo>
                <a:cubicBezTo>
                  <a:pt x="9854090" y="2566838"/>
                  <a:pt x="9830727" y="2552594"/>
                  <a:pt x="9854090" y="2538351"/>
                </a:cubicBezTo>
                <a:cubicBezTo>
                  <a:pt x="9807360" y="2521259"/>
                  <a:pt x="9766472" y="2504168"/>
                  <a:pt x="9754789" y="2484226"/>
                </a:cubicBezTo>
                <a:cubicBezTo>
                  <a:pt x="9743106" y="2464287"/>
                  <a:pt x="9708060" y="2450043"/>
                  <a:pt x="9655487" y="2438650"/>
                </a:cubicBezTo>
                <a:cubicBezTo>
                  <a:pt x="9614599" y="2424407"/>
                  <a:pt x="9573711" y="2415859"/>
                  <a:pt x="9526981" y="2404465"/>
                </a:cubicBezTo>
                <a:cubicBezTo>
                  <a:pt x="9486093" y="2393070"/>
                  <a:pt x="9433521" y="2384527"/>
                  <a:pt x="9421838" y="2364584"/>
                </a:cubicBezTo>
                <a:cubicBezTo>
                  <a:pt x="9415997" y="2364584"/>
                  <a:pt x="9415997" y="2361737"/>
                  <a:pt x="9410155" y="2361737"/>
                </a:cubicBezTo>
                <a:cubicBezTo>
                  <a:pt x="9404314" y="2361737"/>
                  <a:pt x="9398474" y="2361023"/>
                  <a:pt x="9392632" y="2360667"/>
                </a:cubicBezTo>
                <a:close/>
                <a:moveTo>
                  <a:pt x="8843555" y="2264883"/>
                </a:moveTo>
                <a:cubicBezTo>
                  <a:pt x="8843555" y="2264883"/>
                  <a:pt x="8843555" y="2267733"/>
                  <a:pt x="8849397" y="2267733"/>
                </a:cubicBezTo>
                <a:lnTo>
                  <a:pt x="8855238" y="2267733"/>
                </a:lnTo>
                <a:cubicBezTo>
                  <a:pt x="8849397" y="2267733"/>
                  <a:pt x="8849397" y="2264883"/>
                  <a:pt x="8843555" y="2264883"/>
                </a:cubicBezTo>
                <a:close/>
                <a:moveTo>
                  <a:pt x="2383153" y="2113907"/>
                </a:moveTo>
                <a:cubicBezTo>
                  <a:pt x="2388995" y="2113907"/>
                  <a:pt x="2388995" y="2113907"/>
                  <a:pt x="2388995" y="2116759"/>
                </a:cubicBezTo>
                <a:cubicBezTo>
                  <a:pt x="2388995" y="2116759"/>
                  <a:pt x="2394838" y="2116759"/>
                  <a:pt x="2400677" y="2116759"/>
                </a:cubicBezTo>
                <a:cubicBezTo>
                  <a:pt x="2394838" y="2113907"/>
                  <a:pt x="2388995" y="2113907"/>
                  <a:pt x="2383153" y="2113907"/>
                </a:cubicBezTo>
                <a:close/>
                <a:moveTo>
                  <a:pt x="362082" y="2074026"/>
                </a:moveTo>
                <a:cubicBezTo>
                  <a:pt x="356240" y="2074026"/>
                  <a:pt x="356240" y="2074026"/>
                  <a:pt x="356240" y="2076875"/>
                </a:cubicBezTo>
                <a:cubicBezTo>
                  <a:pt x="362082" y="2076875"/>
                  <a:pt x="362082" y="2079725"/>
                  <a:pt x="367923" y="2079725"/>
                </a:cubicBezTo>
                <a:cubicBezTo>
                  <a:pt x="367923" y="2076875"/>
                  <a:pt x="362082" y="2076875"/>
                  <a:pt x="362082" y="2074026"/>
                </a:cubicBezTo>
                <a:close/>
                <a:moveTo>
                  <a:pt x="8796826" y="2019903"/>
                </a:moveTo>
                <a:cubicBezTo>
                  <a:pt x="8796826" y="2019903"/>
                  <a:pt x="8802667" y="2022752"/>
                  <a:pt x="8808509" y="2022752"/>
                </a:cubicBezTo>
                <a:cubicBezTo>
                  <a:pt x="8808509" y="2022752"/>
                  <a:pt x="8802667" y="2019903"/>
                  <a:pt x="8802667" y="2019903"/>
                </a:cubicBezTo>
                <a:cubicBezTo>
                  <a:pt x="8796826" y="2019903"/>
                  <a:pt x="8796826" y="2019903"/>
                  <a:pt x="8796826" y="2019903"/>
                </a:cubicBezTo>
                <a:close/>
                <a:moveTo>
                  <a:pt x="5029223" y="1994265"/>
                </a:moveTo>
                <a:cubicBezTo>
                  <a:pt x="5023382" y="1997114"/>
                  <a:pt x="5017540" y="1999964"/>
                  <a:pt x="5011700" y="1999964"/>
                </a:cubicBezTo>
                <a:cubicBezTo>
                  <a:pt x="5017540" y="1999964"/>
                  <a:pt x="5029223" y="1999964"/>
                  <a:pt x="5035065" y="1999964"/>
                </a:cubicBezTo>
                <a:cubicBezTo>
                  <a:pt x="5035065" y="1999964"/>
                  <a:pt x="5029223" y="1999964"/>
                  <a:pt x="5029223" y="1994265"/>
                </a:cubicBezTo>
                <a:close/>
                <a:moveTo>
                  <a:pt x="3915006" y="1928036"/>
                </a:moveTo>
                <a:cubicBezTo>
                  <a:pt x="3909165" y="1928747"/>
                  <a:pt x="3904783" y="1930172"/>
                  <a:pt x="3901863" y="1931595"/>
                </a:cubicBezTo>
                <a:cubicBezTo>
                  <a:pt x="3913546" y="1931595"/>
                  <a:pt x="3925228" y="1931595"/>
                  <a:pt x="3936911" y="1928747"/>
                </a:cubicBezTo>
                <a:cubicBezTo>
                  <a:pt x="3928149" y="1927324"/>
                  <a:pt x="3920848" y="1927324"/>
                  <a:pt x="3915006" y="1928036"/>
                </a:cubicBezTo>
                <a:close/>
                <a:moveTo>
                  <a:pt x="10423611" y="1842221"/>
                </a:moveTo>
                <a:cubicBezTo>
                  <a:pt x="10420691" y="1841865"/>
                  <a:pt x="10417771" y="1841865"/>
                  <a:pt x="10414850" y="1843289"/>
                </a:cubicBezTo>
                <a:cubicBezTo>
                  <a:pt x="10420691" y="1843289"/>
                  <a:pt x="10426531" y="1843289"/>
                  <a:pt x="10432373" y="1843289"/>
                </a:cubicBezTo>
                <a:cubicBezTo>
                  <a:pt x="10429453" y="1843289"/>
                  <a:pt x="10426531" y="1842578"/>
                  <a:pt x="10423611" y="1842221"/>
                </a:cubicBezTo>
                <a:close/>
                <a:moveTo>
                  <a:pt x="7651942" y="1834744"/>
                </a:moveTo>
                <a:cubicBezTo>
                  <a:pt x="7657784" y="1834744"/>
                  <a:pt x="7657784" y="1837592"/>
                  <a:pt x="7669466" y="1834744"/>
                </a:cubicBezTo>
                <a:cubicBezTo>
                  <a:pt x="7663625" y="1834744"/>
                  <a:pt x="7657784" y="1834744"/>
                  <a:pt x="7651942" y="1834744"/>
                </a:cubicBezTo>
                <a:close/>
                <a:moveTo>
                  <a:pt x="8814349" y="1706557"/>
                </a:moveTo>
                <a:cubicBezTo>
                  <a:pt x="8785143" y="1706557"/>
                  <a:pt x="8773460" y="1709405"/>
                  <a:pt x="8808509" y="1717951"/>
                </a:cubicBezTo>
                <a:cubicBezTo>
                  <a:pt x="8808509" y="1715102"/>
                  <a:pt x="8808509" y="1712254"/>
                  <a:pt x="8814349" y="1706557"/>
                </a:cubicBezTo>
                <a:close/>
                <a:moveTo>
                  <a:pt x="7307307" y="1549883"/>
                </a:moveTo>
                <a:cubicBezTo>
                  <a:pt x="7313150" y="1552732"/>
                  <a:pt x="7318990" y="1552732"/>
                  <a:pt x="7330673" y="1555580"/>
                </a:cubicBezTo>
                <a:cubicBezTo>
                  <a:pt x="7324833" y="1552732"/>
                  <a:pt x="7318990" y="1552732"/>
                  <a:pt x="7313150" y="1549883"/>
                </a:cubicBezTo>
                <a:cubicBezTo>
                  <a:pt x="7307307" y="1549883"/>
                  <a:pt x="7307307" y="1549883"/>
                  <a:pt x="7307307" y="1549883"/>
                </a:cubicBezTo>
                <a:close/>
                <a:moveTo>
                  <a:pt x="6010553" y="1464425"/>
                </a:moveTo>
                <a:cubicBezTo>
                  <a:pt x="6010553" y="1467273"/>
                  <a:pt x="6010553" y="1467273"/>
                  <a:pt x="5998870" y="1470122"/>
                </a:cubicBezTo>
                <a:cubicBezTo>
                  <a:pt x="6004711" y="1470122"/>
                  <a:pt x="6004711" y="1472970"/>
                  <a:pt x="6010553" y="1472970"/>
                </a:cubicBezTo>
                <a:cubicBezTo>
                  <a:pt x="6010553" y="1470122"/>
                  <a:pt x="6010553" y="1467273"/>
                  <a:pt x="6010553" y="1464425"/>
                </a:cubicBezTo>
                <a:close/>
                <a:moveTo>
                  <a:pt x="5000019" y="1387511"/>
                </a:moveTo>
                <a:cubicBezTo>
                  <a:pt x="4982493" y="1387511"/>
                  <a:pt x="4964970" y="1390361"/>
                  <a:pt x="4953287" y="1396059"/>
                </a:cubicBezTo>
                <a:cubicBezTo>
                  <a:pt x="4953287" y="1401756"/>
                  <a:pt x="4964970" y="1401756"/>
                  <a:pt x="4976653" y="1404605"/>
                </a:cubicBezTo>
                <a:cubicBezTo>
                  <a:pt x="4982493" y="1398906"/>
                  <a:pt x="4988336" y="1393209"/>
                  <a:pt x="5000019" y="1387511"/>
                </a:cubicBezTo>
                <a:close/>
                <a:moveTo>
                  <a:pt x="3212610" y="1378966"/>
                </a:moveTo>
                <a:cubicBezTo>
                  <a:pt x="3218452" y="1381815"/>
                  <a:pt x="3224293" y="1384663"/>
                  <a:pt x="3230135" y="1381815"/>
                </a:cubicBezTo>
                <a:cubicBezTo>
                  <a:pt x="3224293" y="1381815"/>
                  <a:pt x="3218452" y="1378966"/>
                  <a:pt x="3212610" y="1378966"/>
                </a:cubicBezTo>
                <a:close/>
                <a:moveTo>
                  <a:pt x="5584141" y="1364723"/>
                </a:moveTo>
                <a:cubicBezTo>
                  <a:pt x="5584141" y="1364723"/>
                  <a:pt x="5584141" y="1364723"/>
                  <a:pt x="5578301" y="1367572"/>
                </a:cubicBezTo>
                <a:cubicBezTo>
                  <a:pt x="5584141" y="1367572"/>
                  <a:pt x="5584141" y="1367572"/>
                  <a:pt x="5589983" y="1364723"/>
                </a:cubicBezTo>
                <a:cubicBezTo>
                  <a:pt x="5589983" y="1364723"/>
                  <a:pt x="5584141" y="1364723"/>
                  <a:pt x="5584141" y="1364723"/>
                </a:cubicBezTo>
                <a:close/>
                <a:moveTo>
                  <a:pt x="3896021" y="1310600"/>
                </a:moveTo>
                <a:cubicBezTo>
                  <a:pt x="3890181" y="1310600"/>
                  <a:pt x="3884340" y="1313448"/>
                  <a:pt x="3878498" y="1316297"/>
                </a:cubicBezTo>
                <a:cubicBezTo>
                  <a:pt x="3884340" y="1313448"/>
                  <a:pt x="3890181" y="1310600"/>
                  <a:pt x="3901863" y="1310600"/>
                </a:cubicBezTo>
                <a:cubicBezTo>
                  <a:pt x="3901863" y="1310600"/>
                  <a:pt x="3896021" y="1310600"/>
                  <a:pt x="3896021" y="1310600"/>
                </a:cubicBezTo>
                <a:close/>
                <a:moveTo>
                  <a:pt x="1629637" y="1250778"/>
                </a:moveTo>
                <a:cubicBezTo>
                  <a:pt x="1623796" y="1253626"/>
                  <a:pt x="1612113" y="1259323"/>
                  <a:pt x="1623796" y="1259323"/>
                </a:cubicBezTo>
                <a:cubicBezTo>
                  <a:pt x="1623796" y="1256475"/>
                  <a:pt x="1623796" y="1253626"/>
                  <a:pt x="1629637" y="1250778"/>
                </a:cubicBezTo>
                <a:close/>
                <a:moveTo>
                  <a:pt x="12108810" y="1128288"/>
                </a:moveTo>
                <a:cubicBezTo>
                  <a:pt x="12132174" y="1133985"/>
                  <a:pt x="12143858" y="1133985"/>
                  <a:pt x="12155540" y="1131136"/>
                </a:cubicBezTo>
                <a:lnTo>
                  <a:pt x="12192000" y="1136131"/>
                </a:lnTo>
                <a:lnTo>
                  <a:pt x="12192000" y="1160141"/>
                </a:lnTo>
                <a:lnTo>
                  <a:pt x="12189856" y="1159622"/>
                </a:lnTo>
                <a:cubicBezTo>
                  <a:pt x="12161380" y="1150364"/>
                  <a:pt x="12135095" y="1139682"/>
                  <a:pt x="12108810" y="1128288"/>
                </a:cubicBezTo>
                <a:close/>
                <a:moveTo>
                  <a:pt x="11781700" y="1074163"/>
                </a:moveTo>
                <a:cubicBezTo>
                  <a:pt x="11834270" y="1074163"/>
                  <a:pt x="11875160" y="1088405"/>
                  <a:pt x="11916048" y="1096951"/>
                </a:cubicBezTo>
                <a:cubicBezTo>
                  <a:pt x="11933572" y="1099800"/>
                  <a:pt x="11939414" y="1105497"/>
                  <a:pt x="11945254" y="1108345"/>
                </a:cubicBezTo>
                <a:cubicBezTo>
                  <a:pt x="11945254" y="1114043"/>
                  <a:pt x="11933572" y="1114043"/>
                  <a:pt x="11921890" y="1111194"/>
                </a:cubicBezTo>
                <a:cubicBezTo>
                  <a:pt x="11881000" y="1105497"/>
                  <a:pt x="11834270" y="1091254"/>
                  <a:pt x="11781700" y="1074163"/>
                </a:cubicBezTo>
                <a:close/>
                <a:moveTo>
                  <a:pt x="3311915" y="1022887"/>
                </a:moveTo>
                <a:cubicBezTo>
                  <a:pt x="3311915" y="1025737"/>
                  <a:pt x="3306072" y="1025737"/>
                  <a:pt x="3306072" y="1028585"/>
                </a:cubicBezTo>
                <a:cubicBezTo>
                  <a:pt x="3306072" y="1028585"/>
                  <a:pt x="3311915" y="1028585"/>
                  <a:pt x="3311915" y="1028585"/>
                </a:cubicBezTo>
                <a:cubicBezTo>
                  <a:pt x="3311915" y="1028585"/>
                  <a:pt x="3311915" y="1025737"/>
                  <a:pt x="3311915" y="1022887"/>
                </a:cubicBezTo>
                <a:close/>
                <a:moveTo>
                  <a:pt x="11886842" y="1020039"/>
                </a:moveTo>
                <a:cubicBezTo>
                  <a:pt x="11910208" y="1022889"/>
                  <a:pt x="11927732" y="1017192"/>
                  <a:pt x="11956938" y="1031435"/>
                </a:cubicBezTo>
                <a:cubicBezTo>
                  <a:pt x="11968622" y="1037132"/>
                  <a:pt x="11968622" y="1039980"/>
                  <a:pt x="11962780" y="1042828"/>
                </a:cubicBezTo>
                <a:cubicBezTo>
                  <a:pt x="11956938" y="1048526"/>
                  <a:pt x="11945254" y="1048526"/>
                  <a:pt x="11921890" y="1042828"/>
                </a:cubicBezTo>
                <a:cubicBezTo>
                  <a:pt x="11886842" y="1034282"/>
                  <a:pt x="11886842" y="1025737"/>
                  <a:pt x="11886842" y="1020039"/>
                </a:cubicBezTo>
                <a:close/>
                <a:moveTo>
                  <a:pt x="1950905" y="1005797"/>
                </a:moveTo>
                <a:cubicBezTo>
                  <a:pt x="1945065" y="1005797"/>
                  <a:pt x="1945065" y="1008644"/>
                  <a:pt x="1939222" y="1008644"/>
                </a:cubicBezTo>
                <a:cubicBezTo>
                  <a:pt x="1945065" y="1005797"/>
                  <a:pt x="1950905" y="1005797"/>
                  <a:pt x="1962585" y="1005797"/>
                </a:cubicBezTo>
                <a:cubicBezTo>
                  <a:pt x="1956745" y="1005797"/>
                  <a:pt x="1950905" y="1005797"/>
                  <a:pt x="1950905" y="1005797"/>
                </a:cubicBezTo>
                <a:close/>
                <a:moveTo>
                  <a:pt x="852754" y="874760"/>
                </a:moveTo>
                <a:cubicBezTo>
                  <a:pt x="852754" y="877608"/>
                  <a:pt x="846913" y="877608"/>
                  <a:pt x="841071" y="877608"/>
                </a:cubicBezTo>
                <a:cubicBezTo>
                  <a:pt x="841071" y="877608"/>
                  <a:pt x="835230" y="880457"/>
                  <a:pt x="841071" y="880457"/>
                </a:cubicBezTo>
                <a:cubicBezTo>
                  <a:pt x="841071" y="877608"/>
                  <a:pt x="852754" y="877608"/>
                  <a:pt x="852754" y="874760"/>
                </a:cubicBezTo>
                <a:close/>
                <a:moveTo>
                  <a:pt x="4223132" y="738025"/>
                </a:moveTo>
                <a:cubicBezTo>
                  <a:pt x="4223132" y="738025"/>
                  <a:pt x="4223132" y="740874"/>
                  <a:pt x="4228974" y="738025"/>
                </a:cubicBezTo>
                <a:cubicBezTo>
                  <a:pt x="4223132" y="738025"/>
                  <a:pt x="4223132" y="738025"/>
                  <a:pt x="4223132" y="738025"/>
                </a:cubicBezTo>
                <a:close/>
                <a:moveTo>
                  <a:pt x="10175358" y="698145"/>
                </a:moveTo>
                <a:cubicBezTo>
                  <a:pt x="10175358" y="698145"/>
                  <a:pt x="10181198" y="698145"/>
                  <a:pt x="10187040" y="698145"/>
                </a:cubicBezTo>
                <a:cubicBezTo>
                  <a:pt x="10187040" y="698145"/>
                  <a:pt x="10192881" y="698145"/>
                  <a:pt x="10192881" y="700994"/>
                </a:cubicBezTo>
                <a:cubicBezTo>
                  <a:pt x="10227928" y="706691"/>
                  <a:pt x="10268818" y="715237"/>
                  <a:pt x="10303865" y="715237"/>
                </a:cubicBezTo>
                <a:cubicBezTo>
                  <a:pt x="10397325" y="720934"/>
                  <a:pt x="10496626" y="735177"/>
                  <a:pt x="10595926" y="755118"/>
                </a:cubicBezTo>
                <a:cubicBezTo>
                  <a:pt x="10601768" y="757968"/>
                  <a:pt x="10607609" y="757968"/>
                  <a:pt x="10619291" y="760817"/>
                </a:cubicBezTo>
                <a:cubicBezTo>
                  <a:pt x="10619291" y="769362"/>
                  <a:pt x="10619291" y="777908"/>
                  <a:pt x="10584245" y="777908"/>
                </a:cubicBezTo>
                <a:cubicBezTo>
                  <a:pt x="10514150" y="760817"/>
                  <a:pt x="10438213" y="746571"/>
                  <a:pt x="10362277" y="735177"/>
                </a:cubicBezTo>
                <a:cubicBezTo>
                  <a:pt x="10315548" y="726631"/>
                  <a:pt x="10268818" y="720934"/>
                  <a:pt x="10216246" y="715237"/>
                </a:cubicBezTo>
                <a:cubicBezTo>
                  <a:pt x="10192881" y="712388"/>
                  <a:pt x="10175358" y="706691"/>
                  <a:pt x="10175358" y="700994"/>
                </a:cubicBezTo>
                <a:cubicBezTo>
                  <a:pt x="10175358" y="700994"/>
                  <a:pt x="10175358" y="700994"/>
                  <a:pt x="10175358" y="698145"/>
                </a:cubicBezTo>
                <a:close/>
                <a:moveTo>
                  <a:pt x="8580699" y="666811"/>
                </a:moveTo>
                <a:cubicBezTo>
                  <a:pt x="8604065" y="669659"/>
                  <a:pt x="8621588" y="672508"/>
                  <a:pt x="8644953" y="675356"/>
                </a:cubicBezTo>
                <a:cubicBezTo>
                  <a:pt x="8750096" y="689599"/>
                  <a:pt x="8849397" y="698145"/>
                  <a:pt x="8954539" y="712388"/>
                </a:cubicBezTo>
                <a:cubicBezTo>
                  <a:pt x="8972062" y="715237"/>
                  <a:pt x="8972062" y="712388"/>
                  <a:pt x="8983745" y="712388"/>
                </a:cubicBezTo>
                <a:cubicBezTo>
                  <a:pt x="8855238" y="692448"/>
                  <a:pt x="8720889" y="678205"/>
                  <a:pt x="8586540" y="666811"/>
                </a:cubicBezTo>
                <a:cubicBezTo>
                  <a:pt x="8580699" y="666811"/>
                  <a:pt x="8580699" y="666811"/>
                  <a:pt x="8580699" y="666811"/>
                </a:cubicBezTo>
                <a:close/>
                <a:moveTo>
                  <a:pt x="8329525" y="649718"/>
                </a:moveTo>
                <a:cubicBezTo>
                  <a:pt x="8323685" y="649718"/>
                  <a:pt x="8323685" y="652567"/>
                  <a:pt x="8335367" y="652567"/>
                </a:cubicBezTo>
                <a:cubicBezTo>
                  <a:pt x="8347050" y="649718"/>
                  <a:pt x="8341208" y="655415"/>
                  <a:pt x="8347050" y="652567"/>
                </a:cubicBezTo>
                <a:cubicBezTo>
                  <a:pt x="8393779" y="655415"/>
                  <a:pt x="8440510" y="661113"/>
                  <a:pt x="8487240" y="666811"/>
                </a:cubicBezTo>
                <a:cubicBezTo>
                  <a:pt x="8498923" y="669659"/>
                  <a:pt x="8504763" y="672508"/>
                  <a:pt x="8510604" y="675356"/>
                </a:cubicBezTo>
                <a:cubicBezTo>
                  <a:pt x="8528128" y="669659"/>
                  <a:pt x="8545652" y="669659"/>
                  <a:pt x="8569017" y="669659"/>
                </a:cubicBezTo>
                <a:cubicBezTo>
                  <a:pt x="8493081" y="663962"/>
                  <a:pt x="8411304" y="649718"/>
                  <a:pt x="8329525" y="649718"/>
                </a:cubicBezTo>
                <a:close/>
                <a:moveTo>
                  <a:pt x="7955685" y="510133"/>
                </a:moveTo>
                <a:cubicBezTo>
                  <a:pt x="8171812" y="524376"/>
                  <a:pt x="8171812" y="524376"/>
                  <a:pt x="8218541" y="538619"/>
                </a:cubicBezTo>
                <a:cubicBezTo>
                  <a:pt x="8171812" y="538619"/>
                  <a:pt x="8130922" y="532922"/>
                  <a:pt x="8090033" y="530074"/>
                </a:cubicBezTo>
                <a:cubicBezTo>
                  <a:pt x="8066668" y="527225"/>
                  <a:pt x="8049145" y="527225"/>
                  <a:pt x="8025780" y="524376"/>
                </a:cubicBezTo>
                <a:cubicBezTo>
                  <a:pt x="8008256" y="518679"/>
                  <a:pt x="7967368" y="518679"/>
                  <a:pt x="7955685" y="510133"/>
                </a:cubicBezTo>
                <a:close/>
                <a:moveTo>
                  <a:pt x="7359879" y="510133"/>
                </a:moveTo>
                <a:cubicBezTo>
                  <a:pt x="7377403" y="507285"/>
                  <a:pt x="7394926" y="507285"/>
                  <a:pt x="7406609" y="510133"/>
                </a:cubicBezTo>
                <a:cubicBezTo>
                  <a:pt x="7441658" y="524376"/>
                  <a:pt x="7482545" y="521528"/>
                  <a:pt x="7529276" y="521528"/>
                </a:cubicBezTo>
                <a:cubicBezTo>
                  <a:pt x="7593529" y="524376"/>
                  <a:pt x="7657781" y="532922"/>
                  <a:pt x="7716194" y="527225"/>
                </a:cubicBezTo>
                <a:cubicBezTo>
                  <a:pt x="7722037" y="527225"/>
                  <a:pt x="7733720" y="527225"/>
                  <a:pt x="7739560" y="527225"/>
                </a:cubicBezTo>
                <a:cubicBezTo>
                  <a:pt x="7751243" y="527225"/>
                  <a:pt x="7768766" y="530074"/>
                  <a:pt x="7780449" y="530074"/>
                </a:cubicBezTo>
                <a:cubicBezTo>
                  <a:pt x="7792130" y="527225"/>
                  <a:pt x="7809656" y="530074"/>
                  <a:pt x="7821338" y="532922"/>
                </a:cubicBezTo>
                <a:cubicBezTo>
                  <a:pt x="7838861" y="538619"/>
                  <a:pt x="7868067" y="535771"/>
                  <a:pt x="7879750" y="541468"/>
                </a:cubicBezTo>
                <a:cubicBezTo>
                  <a:pt x="7856384" y="544317"/>
                  <a:pt x="7838861" y="541468"/>
                  <a:pt x="7809656" y="541468"/>
                </a:cubicBezTo>
                <a:cubicBezTo>
                  <a:pt x="7710354" y="541468"/>
                  <a:pt x="7616895" y="544317"/>
                  <a:pt x="7523434" y="532922"/>
                </a:cubicBezTo>
                <a:cubicBezTo>
                  <a:pt x="7476704" y="535771"/>
                  <a:pt x="7429975" y="527225"/>
                  <a:pt x="7383246" y="524376"/>
                </a:cubicBezTo>
                <a:cubicBezTo>
                  <a:pt x="7365720" y="524376"/>
                  <a:pt x="7348197" y="521528"/>
                  <a:pt x="7348197" y="515831"/>
                </a:cubicBezTo>
                <a:cubicBezTo>
                  <a:pt x="7348197" y="512982"/>
                  <a:pt x="7354037" y="510133"/>
                  <a:pt x="7359879" y="510133"/>
                </a:cubicBezTo>
                <a:close/>
                <a:moveTo>
                  <a:pt x="7944002" y="461707"/>
                </a:moveTo>
                <a:cubicBezTo>
                  <a:pt x="7961526" y="461707"/>
                  <a:pt x="7973209" y="461707"/>
                  <a:pt x="7984892" y="464555"/>
                </a:cubicBezTo>
                <a:cubicBezTo>
                  <a:pt x="8031622" y="475949"/>
                  <a:pt x="8084192" y="470252"/>
                  <a:pt x="8130922" y="475949"/>
                </a:cubicBezTo>
                <a:cubicBezTo>
                  <a:pt x="8136763" y="478798"/>
                  <a:pt x="8142604" y="481647"/>
                  <a:pt x="8148446" y="481647"/>
                </a:cubicBezTo>
                <a:cubicBezTo>
                  <a:pt x="8136763" y="484495"/>
                  <a:pt x="8130922" y="487344"/>
                  <a:pt x="8125081" y="490192"/>
                </a:cubicBezTo>
                <a:cubicBezTo>
                  <a:pt x="8066668" y="484495"/>
                  <a:pt x="8014097" y="470252"/>
                  <a:pt x="7955685" y="475949"/>
                </a:cubicBezTo>
                <a:cubicBezTo>
                  <a:pt x="7932320" y="478798"/>
                  <a:pt x="7914797" y="473101"/>
                  <a:pt x="7903114" y="464555"/>
                </a:cubicBezTo>
                <a:cubicBezTo>
                  <a:pt x="7920638" y="464555"/>
                  <a:pt x="7932320" y="464555"/>
                  <a:pt x="7944002" y="461707"/>
                </a:cubicBezTo>
                <a:close/>
                <a:moveTo>
                  <a:pt x="9637963" y="458861"/>
                </a:moveTo>
                <a:cubicBezTo>
                  <a:pt x="9643803" y="458861"/>
                  <a:pt x="9655486" y="458861"/>
                  <a:pt x="9661328" y="458861"/>
                </a:cubicBezTo>
                <a:cubicBezTo>
                  <a:pt x="9667169" y="458861"/>
                  <a:pt x="9673011" y="461709"/>
                  <a:pt x="9684694" y="461709"/>
                </a:cubicBezTo>
                <a:cubicBezTo>
                  <a:pt x="9819042" y="478801"/>
                  <a:pt x="9953391" y="507288"/>
                  <a:pt x="10087739" y="524380"/>
                </a:cubicBezTo>
                <a:cubicBezTo>
                  <a:pt x="10134468" y="530077"/>
                  <a:pt x="10169516" y="538622"/>
                  <a:pt x="10163675" y="552865"/>
                </a:cubicBezTo>
                <a:cubicBezTo>
                  <a:pt x="10046850" y="532925"/>
                  <a:pt x="9935866" y="518682"/>
                  <a:pt x="9819042" y="507288"/>
                </a:cubicBezTo>
                <a:cubicBezTo>
                  <a:pt x="9789834" y="501590"/>
                  <a:pt x="9760630" y="498741"/>
                  <a:pt x="9737265" y="493044"/>
                </a:cubicBezTo>
                <a:cubicBezTo>
                  <a:pt x="9702217" y="481650"/>
                  <a:pt x="9626281" y="475952"/>
                  <a:pt x="9637963" y="458861"/>
                </a:cubicBezTo>
                <a:close/>
                <a:moveTo>
                  <a:pt x="7500068" y="456010"/>
                </a:moveTo>
                <a:cubicBezTo>
                  <a:pt x="7505911" y="456010"/>
                  <a:pt x="7511751" y="458859"/>
                  <a:pt x="7517594" y="458859"/>
                </a:cubicBezTo>
                <a:cubicBezTo>
                  <a:pt x="7517594" y="458859"/>
                  <a:pt x="7517594" y="461708"/>
                  <a:pt x="7517594" y="464556"/>
                </a:cubicBezTo>
                <a:cubicBezTo>
                  <a:pt x="7529276" y="467405"/>
                  <a:pt x="7540958" y="467405"/>
                  <a:pt x="7558481" y="467405"/>
                </a:cubicBezTo>
                <a:cubicBezTo>
                  <a:pt x="7570164" y="467405"/>
                  <a:pt x="7587687" y="470253"/>
                  <a:pt x="7599369" y="470253"/>
                </a:cubicBezTo>
                <a:cubicBezTo>
                  <a:pt x="7599369" y="470253"/>
                  <a:pt x="7599369" y="470253"/>
                  <a:pt x="7605210" y="470253"/>
                </a:cubicBezTo>
                <a:cubicBezTo>
                  <a:pt x="7611052" y="470253"/>
                  <a:pt x="7616895" y="470253"/>
                  <a:pt x="7616895" y="473102"/>
                </a:cubicBezTo>
                <a:cubicBezTo>
                  <a:pt x="7651942" y="470253"/>
                  <a:pt x="7686989" y="467405"/>
                  <a:pt x="7733720" y="470253"/>
                </a:cubicBezTo>
                <a:cubicBezTo>
                  <a:pt x="7751243" y="473102"/>
                  <a:pt x="7768767" y="473102"/>
                  <a:pt x="7774609" y="467405"/>
                </a:cubicBezTo>
                <a:cubicBezTo>
                  <a:pt x="7797972" y="458859"/>
                  <a:pt x="7838861" y="461708"/>
                  <a:pt x="7873909" y="464556"/>
                </a:cubicBezTo>
                <a:cubicBezTo>
                  <a:pt x="7897273" y="478799"/>
                  <a:pt x="7868067" y="481647"/>
                  <a:pt x="7833021" y="484496"/>
                </a:cubicBezTo>
                <a:cubicBezTo>
                  <a:pt x="7862226" y="490193"/>
                  <a:pt x="7879750" y="493042"/>
                  <a:pt x="7856384" y="501588"/>
                </a:cubicBezTo>
                <a:cubicBezTo>
                  <a:pt x="7780449" y="495890"/>
                  <a:pt x="7704512" y="490193"/>
                  <a:pt x="7628578" y="487345"/>
                </a:cubicBezTo>
                <a:cubicBezTo>
                  <a:pt x="7581847" y="478799"/>
                  <a:pt x="7517594" y="473102"/>
                  <a:pt x="7476704" y="475951"/>
                </a:cubicBezTo>
                <a:cubicBezTo>
                  <a:pt x="7400769" y="478799"/>
                  <a:pt x="7354037" y="464556"/>
                  <a:pt x="7295627" y="458859"/>
                </a:cubicBezTo>
                <a:cubicBezTo>
                  <a:pt x="7377403" y="461708"/>
                  <a:pt x="7435816" y="453161"/>
                  <a:pt x="7500068" y="456010"/>
                </a:cubicBezTo>
                <a:close/>
                <a:moveTo>
                  <a:pt x="7073657" y="450312"/>
                </a:moveTo>
                <a:cubicBezTo>
                  <a:pt x="7120386" y="453161"/>
                  <a:pt x="7172957" y="450312"/>
                  <a:pt x="7219688" y="461707"/>
                </a:cubicBezTo>
                <a:cubicBezTo>
                  <a:pt x="7196325" y="467404"/>
                  <a:pt x="7161276" y="458858"/>
                  <a:pt x="7137912" y="461707"/>
                </a:cubicBezTo>
                <a:cubicBezTo>
                  <a:pt x="7108706" y="458858"/>
                  <a:pt x="7079498" y="458858"/>
                  <a:pt x="7073657" y="450312"/>
                </a:cubicBezTo>
                <a:close/>
                <a:moveTo>
                  <a:pt x="5140207" y="436068"/>
                </a:moveTo>
                <a:cubicBezTo>
                  <a:pt x="5146048" y="436068"/>
                  <a:pt x="5151890" y="436068"/>
                  <a:pt x="5163571" y="436068"/>
                </a:cubicBezTo>
                <a:cubicBezTo>
                  <a:pt x="5186936" y="438917"/>
                  <a:pt x="5204462" y="438917"/>
                  <a:pt x="5227825" y="438917"/>
                </a:cubicBezTo>
                <a:cubicBezTo>
                  <a:pt x="5192779" y="447463"/>
                  <a:pt x="5146048" y="444614"/>
                  <a:pt x="5105160" y="447463"/>
                </a:cubicBezTo>
                <a:cubicBezTo>
                  <a:pt x="5093478" y="444614"/>
                  <a:pt x="5081794" y="444614"/>
                  <a:pt x="5058429" y="441765"/>
                </a:cubicBezTo>
                <a:cubicBezTo>
                  <a:pt x="5093478" y="438917"/>
                  <a:pt x="5116841" y="438917"/>
                  <a:pt x="5140207" y="436068"/>
                </a:cubicBezTo>
                <a:close/>
                <a:moveTo>
                  <a:pt x="7167117" y="433221"/>
                </a:moveTo>
                <a:cubicBezTo>
                  <a:pt x="7196325" y="433221"/>
                  <a:pt x="7225531" y="436069"/>
                  <a:pt x="7248897" y="436069"/>
                </a:cubicBezTo>
                <a:cubicBezTo>
                  <a:pt x="7219688" y="438918"/>
                  <a:pt x="7196325" y="441766"/>
                  <a:pt x="7167117" y="433221"/>
                </a:cubicBezTo>
                <a:close/>
                <a:moveTo>
                  <a:pt x="3265183" y="430375"/>
                </a:moveTo>
                <a:cubicBezTo>
                  <a:pt x="3288549" y="430375"/>
                  <a:pt x="3306072" y="433224"/>
                  <a:pt x="3288549" y="441770"/>
                </a:cubicBezTo>
                <a:cubicBezTo>
                  <a:pt x="3154199" y="478802"/>
                  <a:pt x="3002329" y="487348"/>
                  <a:pt x="2850453" y="495894"/>
                </a:cubicBezTo>
                <a:cubicBezTo>
                  <a:pt x="2844615" y="495894"/>
                  <a:pt x="2838774" y="495894"/>
                  <a:pt x="2832930" y="493045"/>
                </a:cubicBezTo>
                <a:cubicBezTo>
                  <a:pt x="2827090" y="507288"/>
                  <a:pt x="2780359" y="515834"/>
                  <a:pt x="2739473" y="521531"/>
                </a:cubicBezTo>
                <a:cubicBezTo>
                  <a:pt x="2663537" y="530077"/>
                  <a:pt x="2593442" y="538622"/>
                  <a:pt x="2523347" y="547168"/>
                </a:cubicBezTo>
                <a:cubicBezTo>
                  <a:pt x="2494140" y="550017"/>
                  <a:pt x="2470773" y="547168"/>
                  <a:pt x="2441567" y="552865"/>
                </a:cubicBezTo>
                <a:cubicBezTo>
                  <a:pt x="2388995" y="555714"/>
                  <a:pt x="2330584" y="564260"/>
                  <a:pt x="2278012" y="564260"/>
                </a:cubicBezTo>
                <a:lnTo>
                  <a:pt x="2274508" y="563120"/>
                </a:lnTo>
                <a:lnTo>
                  <a:pt x="2278012" y="561411"/>
                </a:lnTo>
                <a:cubicBezTo>
                  <a:pt x="2278012" y="561411"/>
                  <a:pt x="2275092" y="562123"/>
                  <a:pt x="2273633" y="562836"/>
                </a:cubicBezTo>
                <a:lnTo>
                  <a:pt x="2274508" y="563120"/>
                </a:lnTo>
                <a:lnTo>
                  <a:pt x="2272172" y="564260"/>
                </a:lnTo>
                <a:cubicBezTo>
                  <a:pt x="2260491" y="569958"/>
                  <a:pt x="2248807" y="569958"/>
                  <a:pt x="2260491" y="569958"/>
                </a:cubicBezTo>
                <a:cubicBezTo>
                  <a:pt x="2248807" y="569958"/>
                  <a:pt x="2242965" y="569958"/>
                  <a:pt x="2237124" y="569958"/>
                </a:cubicBezTo>
                <a:cubicBezTo>
                  <a:pt x="2237124" y="569958"/>
                  <a:pt x="2231284" y="569958"/>
                  <a:pt x="2231284" y="569958"/>
                </a:cubicBezTo>
                <a:cubicBezTo>
                  <a:pt x="2225442" y="569958"/>
                  <a:pt x="2219601" y="569958"/>
                  <a:pt x="2219601" y="569958"/>
                </a:cubicBezTo>
                <a:cubicBezTo>
                  <a:pt x="2213759" y="572807"/>
                  <a:pt x="2207918" y="572807"/>
                  <a:pt x="2202078" y="575655"/>
                </a:cubicBezTo>
                <a:cubicBezTo>
                  <a:pt x="2190394" y="578504"/>
                  <a:pt x="2172873" y="581352"/>
                  <a:pt x="2161189" y="584201"/>
                </a:cubicBezTo>
                <a:cubicBezTo>
                  <a:pt x="2143665" y="587049"/>
                  <a:pt x="2126142" y="589898"/>
                  <a:pt x="2108619" y="592747"/>
                </a:cubicBezTo>
                <a:cubicBezTo>
                  <a:pt x="2096935" y="592747"/>
                  <a:pt x="2091095" y="595595"/>
                  <a:pt x="2079411" y="595595"/>
                </a:cubicBezTo>
                <a:cubicBezTo>
                  <a:pt x="2015155" y="601292"/>
                  <a:pt x="1950905" y="612687"/>
                  <a:pt x="1892491" y="612687"/>
                </a:cubicBezTo>
                <a:cubicBezTo>
                  <a:pt x="1892491" y="609838"/>
                  <a:pt x="1892491" y="609838"/>
                  <a:pt x="1892491" y="609838"/>
                </a:cubicBezTo>
                <a:cubicBezTo>
                  <a:pt x="1839922" y="624081"/>
                  <a:pt x="1775667" y="632627"/>
                  <a:pt x="1717256" y="644021"/>
                </a:cubicBezTo>
                <a:cubicBezTo>
                  <a:pt x="1717256" y="644021"/>
                  <a:pt x="1711415" y="644021"/>
                  <a:pt x="1711415" y="646870"/>
                </a:cubicBezTo>
                <a:cubicBezTo>
                  <a:pt x="1670525" y="658264"/>
                  <a:pt x="1635477" y="661113"/>
                  <a:pt x="1600430" y="658264"/>
                </a:cubicBezTo>
                <a:cubicBezTo>
                  <a:pt x="1594589" y="658264"/>
                  <a:pt x="1588748" y="658264"/>
                  <a:pt x="1588748" y="658264"/>
                </a:cubicBezTo>
                <a:cubicBezTo>
                  <a:pt x="1577065" y="663962"/>
                  <a:pt x="1559542" y="666811"/>
                  <a:pt x="1542018" y="669659"/>
                </a:cubicBezTo>
                <a:cubicBezTo>
                  <a:pt x="1483606" y="678205"/>
                  <a:pt x="1419352" y="686751"/>
                  <a:pt x="1360940" y="698145"/>
                </a:cubicBezTo>
                <a:cubicBezTo>
                  <a:pt x="1331733" y="703842"/>
                  <a:pt x="1296688" y="706691"/>
                  <a:pt x="1273323" y="718085"/>
                </a:cubicBezTo>
                <a:cubicBezTo>
                  <a:pt x="1273323" y="720934"/>
                  <a:pt x="1279163" y="720934"/>
                  <a:pt x="1285005" y="720934"/>
                </a:cubicBezTo>
                <a:cubicBezTo>
                  <a:pt x="1314211" y="720934"/>
                  <a:pt x="1343416" y="715237"/>
                  <a:pt x="1372624" y="712388"/>
                </a:cubicBezTo>
                <a:cubicBezTo>
                  <a:pt x="1454399" y="692448"/>
                  <a:pt x="1542018" y="681054"/>
                  <a:pt x="1629637" y="669659"/>
                </a:cubicBezTo>
                <a:cubicBezTo>
                  <a:pt x="1769826" y="652567"/>
                  <a:pt x="1910016" y="632627"/>
                  <a:pt x="2050204" y="609838"/>
                </a:cubicBezTo>
                <a:cubicBezTo>
                  <a:pt x="2096935" y="606990"/>
                  <a:pt x="2143665" y="601292"/>
                  <a:pt x="2190394" y="592747"/>
                </a:cubicBezTo>
                <a:cubicBezTo>
                  <a:pt x="2242965" y="589898"/>
                  <a:pt x="2307220" y="567108"/>
                  <a:pt x="2359790" y="575655"/>
                </a:cubicBezTo>
                <a:cubicBezTo>
                  <a:pt x="2365631" y="575655"/>
                  <a:pt x="2371472" y="572807"/>
                  <a:pt x="2377311" y="572807"/>
                </a:cubicBezTo>
                <a:cubicBezTo>
                  <a:pt x="2394838" y="572807"/>
                  <a:pt x="2406519" y="572807"/>
                  <a:pt x="2418201" y="569958"/>
                </a:cubicBezTo>
                <a:cubicBezTo>
                  <a:pt x="2570078" y="552865"/>
                  <a:pt x="2716107" y="538622"/>
                  <a:pt x="2867979" y="524380"/>
                </a:cubicBezTo>
                <a:cubicBezTo>
                  <a:pt x="2897184" y="521531"/>
                  <a:pt x="2932234" y="518682"/>
                  <a:pt x="2955597" y="518682"/>
                </a:cubicBezTo>
                <a:cubicBezTo>
                  <a:pt x="2990646" y="521531"/>
                  <a:pt x="3031533" y="512985"/>
                  <a:pt x="3072420" y="510137"/>
                </a:cubicBezTo>
                <a:cubicBezTo>
                  <a:pt x="3095788" y="507288"/>
                  <a:pt x="3119151" y="504439"/>
                  <a:pt x="3148358" y="501591"/>
                </a:cubicBezTo>
                <a:cubicBezTo>
                  <a:pt x="3177563" y="504439"/>
                  <a:pt x="3200929" y="501591"/>
                  <a:pt x="3230135" y="498742"/>
                </a:cubicBezTo>
                <a:cubicBezTo>
                  <a:pt x="3446266" y="484499"/>
                  <a:pt x="3662388" y="467407"/>
                  <a:pt x="3872657" y="461709"/>
                </a:cubicBezTo>
                <a:cubicBezTo>
                  <a:pt x="3913546" y="458861"/>
                  <a:pt x="3960276" y="453164"/>
                  <a:pt x="4001165" y="456013"/>
                </a:cubicBezTo>
                <a:cubicBezTo>
                  <a:pt x="4007005" y="456013"/>
                  <a:pt x="4012847" y="456013"/>
                  <a:pt x="4018688" y="456013"/>
                </a:cubicBezTo>
                <a:cubicBezTo>
                  <a:pt x="4018688" y="453164"/>
                  <a:pt x="4024530" y="453164"/>
                  <a:pt x="4024530" y="453164"/>
                </a:cubicBezTo>
                <a:cubicBezTo>
                  <a:pt x="4030371" y="453164"/>
                  <a:pt x="4036213" y="453164"/>
                  <a:pt x="4042054" y="453164"/>
                </a:cubicBezTo>
                <a:cubicBezTo>
                  <a:pt x="4082942" y="450315"/>
                  <a:pt x="4123830" y="450315"/>
                  <a:pt x="4164720" y="447467"/>
                </a:cubicBezTo>
                <a:cubicBezTo>
                  <a:pt x="4205608" y="444618"/>
                  <a:pt x="4246497" y="441770"/>
                  <a:pt x="4287386" y="441770"/>
                </a:cubicBezTo>
                <a:cubicBezTo>
                  <a:pt x="4363322" y="444618"/>
                  <a:pt x="4445098" y="438921"/>
                  <a:pt x="4526877" y="436072"/>
                </a:cubicBezTo>
                <a:cubicBezTo>
                  <a:pt x="4532717" y="436072"/>
                  <a:pt x="4544400" y="436072"/>
                  <a:pt x="4550243" y="436072"/>
                </a:cubicBezTo>
                <a:cubicBezTo>
                  <a:pt x="4567766" y="433224"/>
                  <a:pt x="4579448" y="436072"/>
                  <a:pt x="4591130" y="438921"/>
                </a:cubicBezTo>
                <a:cubicBezTo>
                  <a:pt x="4596972" y="441770"/>
                  <a:pt x="4602813" y="441770"/>
                  <a:pt x="4608655" y="444618"/>
                </a:cubicBezTo>
                <a:cubicBezTo>
                  <a:pt x="4632019" y="441770"/>
                  <a:pt x="4661225" y="441770"/>
                  <a:pt x="4690433" y="438921"/>
                </a:cubicBezTo>
                <a:cubicBezTo>
                  <a:pt x="4713797" y="441770"/>
                  <a:pt x="4748844" y="438921"/>
                  <a:pt x="4778049" y="438921"/>
                </a:cubicBezTo>
                <a:cubicBezTo>
                  <a:pt x="4848145" y="438921"/>
                  <a:pt x="4918241" y="436072"/>
                  <a:pt x="5000019" y="438921"/>
                </a:cubicBezTo>
                <a:cubicBezTo>
                  <a:pt x="4918241" y="450315"/>
                  <a:pt x="4842304" y="441770"/>
                  <a:pt x="4778049" y="453164"/>
                </a:cubicBezTo>
                <a:cubicBezTo>
                  <a:pt x="4754684" y="450315"/>
                  <a:pt x="4731320" y="450315"/>
                  <a:pt x="4702114" y="453164"/>
                </a:cubicBezTo>
                <a:cubicBezTo>
                  <a:pt x="4667067" y="456013"/>
                  <a:pt x="4632019" y="456013"/>
                  <a:pt x="4596972" y="453164"/>
                </a:cubicBezTo>
                <a:cubicBezTo>
                  <a:pt x="4585289" y="456013"/>
                  <a:pt x="4579448" y="458861"/>
                  <a:pt x="4567766" y="461709"/>
                </a:cubicBezTo>
                <a:lnTo>
                  <a:pt x="4513845" y="465654"/>
                </a:lnTo>
                <a:lnTo>
                  <a:pt x="4499132" y="465270"/>
                </a:lnTo>
                <a:lnTo>
                  <a:pt x="4371820" y="470255"/>
                </a:lnTo>
                <a:lnTo>
                  <a:pt x="4310750" y="470255"/>
                </a:lnTo>
                <a:cubicBezTo>
                  <a:pt x="4299069" y="470255"/>
                  <a:pt x="4293227" y="470255"/>
                  <a:pt x="4281546" y="470255"/>
                </a:cubicBezTo>
                <a:cubicBezTo>
                  <a:pt x="4246497" y="470255"/>
                  <a:pt x="4211449" y="470255"/>
                  <a:pt x="4176403" y="470255"/>
                </a:cubicBezTo>
                <a:cubicBezTo>
                  <a:pt x="4170561" y="470255"/>
                  <a:pt x="4164720" y="467407"/>
                  <a:pt x="4164720" y="467407"/>
                </a:cubicBezTo>
                <a:cubicBezTo>
                  <a:pt x="4147195" y="470255"/>
                  <a:pt x="4141354" y="473104"/>
                  <a:pt x="4129672" y="478802"/>
                </a:cubicBezTo>
                <a:cubicBezTo>
                  <a:pt x="4141354" y="478802"/>
                  <a:pt x="4147195" y="478802"/>
                  <a:pt x="4158878" y="478802"/>
                </a:cubicBezTo>
                <a:cubicBezTo>
                  <a:pt x="4170561" y="478802"/>
                  <a:pt x="4176403" y="478802"/>
                  <a:pt x="4188084" y="478802"/>
                </a:cubicBezTo>
                <a:cubicBezTo>
                  <a:pt x="4223132" y="478802"/>
                  <a:pt x="4258180" y="475952"/>
                  <a:pt x="4299069" y="473104"/>
                </a:cubicBezTo>
                <a:lnTo>
                  <a:pt x="4371820" y="470255"/>
                </a:lnTo>
                <a:lnTo>
                  <a:pt x="4392528" y="470255"/>
                </a:lnTo>
                <a:cubicBezTo>
                  <a:pt x="4421734" y="468832"/>
                  <a:pt x="4450941" y="468832"/>
                  <a:pt x="4480147" y="468119"/>
                </a:cubicBezTo>
                <a:lnTo>
                  <a:pt x="4513845" y="465654"/>
                </a:lnTo>
                <a:lnTo>
                  <a:pt x="4690433" y="470255"/>
                </a:lnTo>
                <a:cubicBezTo>
                  <a:pt x="4696273" y="470255"/>
                  <a:pt x="4707956" y="470255"/>
                  <a:pt x="4713797" y="470255"/>
                </a:cubicBezTo>
                <a:cubicBezTo>
                  <a:pt x="4725479" y="467407"/>
                  <a:pt x="4737161" y="467407"/>
                  <a:pt x="4754684" y="467407"/>
                </a:cubicBezTo>
                <a:cubicBezTo>
                  <a:pt x="4818939" y="464558"/>
                  <a:pt x="4877351" y="467407"/>
                  <a:pt x="4941606" y="467407"/>
                </a:cubicBezTo>
                <a:cubicBezTo>
                  <a:pt x="4947446" y="470255"/>
                  <a:pt x="4947446" y="473104"/>
                  <a:pt x="4947446" y="473104"/>
                </a:cubicBezTo>
                <a:cubicBezTo>
                  <a:pt x="4947446" y="473104"/>
                  <a:pt x="4953287" y="473104"/>
                  <a:pt x="4953287" y="473104"/>
                </a:cubicBezTo>
                <a:cubicBezTo>
                  <a:pt x="4982493" y="467407"/>
                  <a:pt x="5011700" y="467407"/>
                  <a:pt x="5040906" y="467407"/>
                </a:cubicBezTo>
                <a:cubicBezTo>
                  <a:pt x="5192779" y="461709"/>
                  <a:pt x="5344651" y="467407"/>
                  <a:pt x="5496525" y="467407"/>
                </a:cubicBezTo>
                <a:cubicBezTo>
                  <a:pt x="5519888" y="467407"/>
                  <a:pt x="5549095" y="470255"/>
                  <a:pt x="5572460" y="473104"/>
                </a:cubicBezTo>
                <a:cubicBezTo>
                  <a:pt x="5607506" y="475952"/>
                  <a:pt x="5648396" y="470255"/>
                  <a:pt x="5683443" y="473104"/>
                </a:cubicBezTo>
                <a:cubicBezTo>
                  <a:pt x="5730174" y="481651"/>
                  <a:pt x="5794427" y="478802"/>
                  <a:pt x="5841156" y="481651"/>
                </a:cubicBezTo>
                <a:cubicBezTo>
                  <a:pt x="5911252" y="490197"/>
                  <a:pt x="5993028" y="478802"/>
                  <a:pt x="6051442" y="493045"/>
                </a:cubicBezTo>
                <a:cubicBezTo>
                  <a:pt x="6051442" y="493045"/>
                  <a:pt x="6057283" y="493045"/>
                  <a:pt x="6057283" y="493045"/>
                </a:cubicBezTo>
                <a:cubicBezTo>
                  <a:pt x="6074807" y="493045"/>
                  <a:pt x="6086490" y="493045"/>
                  <a:pt x="6104012" y="493045"/>
                </a:cubicBezTo>
                <a:cubicBezTo>
                  <a:pt x="6127378" y="495894"/>
                  <a:pt x="6150744" y="495894"/>
                  <a:pt x="6174108" y="498742"/>
                </a:cubicBezTo>
                <a:cubicBezTo>
                  <a:pt x="6203314" y="504439"/>
                  <a:pt x="6250043" y="501591"/>
                  <a:pt x="6279252" y="507288"/>
                </a:cubicBezTo>
                <a:cubicBezTo>
                  <a:pt x="6349345" y="510137"/>
                  <a:pt x="6419440" y="510137"/>
                  <a:pt x="6483693" y="518682"/>
                </a:cubicBezTo>
                <a:cubicBezTo>
                  <a:pt x="6530423" y="518682"/>
                  <a:pt x="6571312" y="527228"/>
                  <a:pt x="6623882" y="524380"/>
                </a:cubicBezTo>
                <a:cubicBezTo>
                  <a:pt x="6682296" y="524380"/>
                  <a:pt x="6740708" y="521531"/>
                  <a:pt x="6804961" y="527228"/>
                </a:cubicBezTo>
                <a:cubicBezTo>
                  <a:pt x="6863374" y="530077"/>
                  <a:pt x="6927627" y="538622"/>
                  <a:pt x="6962676" y="521531"/>
                </a:cubicBezTo>
                <a:cubicBezTo>
                  <a:pt x="6968516" y="521531"/>
                  <a:pt x="6980199" y="521531"/>
                  <a:pt x="6991882" y="521531"/>
                </a:cubicBezTo>
                <a:cubicBezTo>
                  <a:pt x="7038611" y="521531"/>
                  <a:pt x="7091184" y="518682"/>
                  <a:pt x="7143754" y="521531"/>
                </a:cubicBezTo>
                <a:cubicBezTo>
                  <a:pt x="7143754" y="524380"/>
                  <a:pt x="7143754" y="524380"/>
                  <a:pt x="7149596" y="524380"/>
                </a:cubicBezTo>
                <a:cubicBezTo>
                  <a:pt x="7149596" y="524380"/>
                  <a:pt x="7155437" y="524380"/>
                  <a:pt x="7161277" y="524380"/>
                </a:cubicBezTo>
                <a:cubicBezTo>
                  <a:pt x="7172959" y="524380"/>
                  <a:pt x="7178800" y="524380"/>
                  <a:pt x="7184642" y="524380"/>
                </a:cubicBezTo>
                <a:cubicBezTo>
                  <a:pt x="7237214" y="532925"/>
                  <a:pt x="7278102" y="541471"/>
                  <a:pt x="7243055" y="555714"/>
                </a:cubicBezTo>
                <a:cubicBezTo>
                  <a:pt x="7231371" y="561411"/>
                  <a:pt x="7266420" y="561411"/>
                  <a:pt x="7283944" y="564260"/>
                </a:cubicBezTo>
                <a:cubicBezTo>
                  <a:pt x="7289784" y="564260"/>
                  <a:pt x="7295627" y="564260"/>
                  <a:pt x="7301467" y="564260"/>
                </a:cubicBezTo>
                <a:cubicBezTo>
                  <a:pt x="7342357" y="561411"/>
                  <a:pt x="7383246" y="564260"/>
                  <a:pt x="7424132" y="569958"/>
                </a:cubicBezTo>
                <a:cubicBezTo>
                  <a:pt x="7482545" y="578504"/>
                  <a:pt x="7546800" y="584201"/>
                  <a:pt x="7605212" y="587049"/>
                </a:cubicBezTo>
                <a:cubicBezTo>
                  <a:pt x="7716195" y="592747"/>
                  <a:pt x="7815496" y="601292"/>
                  <a:pt x="7920640" y="612687"/>
                </a:cubicBezTo>
                <a:cubicBezTo>
                  <a:pt x="7949844" y="615535"/>
                  <a:pt x="7984894" y="618384"/>
                  <a:pt x="8019940" y="621232"/>
                </a:cubicBezTo>
                <a:cubicBezTo>
                  <a:pt x="8049146" y="621232"/>
                  <a:pt x="8060828" y="618384"/>
                  <a:pt x="8066670" y="612687"/>
                </a:cubicBezTo>
                <a:cubicBezTo>
                  <a:pt x="8072511" y="606990"/>
                  <a:pt x="8049146" y="604141"/>
                  <a:pt x="8031623" y="601292"/>
                </a:cubicBezTo>
                <a:cubicBezTo>
                  <a:pt x="7973211" y="592747"/>
                  <a:pt x="7914798" y="581352"/>
                  <a:pt x="7844702" y="581352"/>
                </a:cubicBezTo>
                <a:cubicBezTo>
                  <a:pt x="7803814" y="581352"/>
                  <a:pt x="7768767" y="578504"/>
                  <a:pt x="7739560" y="569958"/>
                </a:cubicBezTo>
                <a:cubicBezTo>
                  <a:pt x="7838862" y="561411"/>
                  <a:pt x="7938161" y="569958"/>
                  <a:pt x="8025782" y="575655"/>
                </a:cubicBezTo>
                <a:cubicBezTo>
                  <a:pt x="8078353" y="575655"/>
                  <a:pt x="8130924" y="575655"/>
                  <a:pt x="8177655" y="587049"/>
                </a:cubicBezTo>
                <a:cubicBezTo>
                  <a:pt x="8294479" y="609838"/>
                  <a:pt x="8411304" y="612687"/>
                  <a:pt x="8528128" y="615535"/>
                </a:cubicBezTo>
                <a:cubicBezTo>
                  <a:pt x="8539811" y="615535"/>
                  <a:pt x="8557335" y="618384"/>
                  <a:pt x="8569017" y="618384"/>
                </a:cubicBezTo>
                <a:cubicBezTo>
                  <a:pt x="8621588" y="609838"/>
                  <a:pt x="8533969" y="598444"/>
                  <a:pt x="8539811" y="589898"/>
                </a:cubicBezTo>
                <a:cubicBezTo>
                  <a:pt x="8633271" y="592747"/>
                  <a:pt x="8715048" y="609838"/>
                  <a:pt x="8796826" y="621232"/>
                </a:cubicBezTo>
                <a:cubicBezTo>
                  <a:pt x="8831872" y="624081"/>
                  <a:pt x="8861080" y="632627"/>
                  <a:pt x="8896126" y="629778"/>
                </a:cubicBezTo>
                <a:cubicBezTo>
                  <a:pt x="8977904" y="638324"/>
                  <a:pt x="9059681" y="649718"/>
                  <a:pt x="9141458" y="655415"/>
                </a:cubicBezTo>
                <a:cubicBezTo>
                  <a:pt x="9170665" y="658264"/>
                  <a:pt x="9205713" y="658264"/>
                  <a:pt x="9229077" y="666811"/>
                </a:cubicBezTo>
                <a:cubicBezTo>
                  <a:pt x="9380950" y="681054"/>
                  <a:pt x="9532822" y="703842"/>
                  <a:pt x="9678854" y="732328"/>
                </a:cubicBezTo>
                <a:cubicBezTo>
                  <a:pt x="9737266" y="743723"/>
                  <a:pt x="9783996" y="760817"/>
                  <a:pt x="9854090" y="769362"/>
                </a:cubicBezTo>
                <a:cubicBezTo>
                  <a:pt x="9859932" y="772211"/>
                  <a:pt x="9871615" y="777908"/>
                  <a:pt x="9889138" y="783605"/>
                </a:cubicBezTo>
                <a:cubicBezTo>
                  <a:pt x="9918344" y="800696"/>
                  <a:pt x="9918344" y="800696"/>
                  <a:pt x="9848248" y="797848"/>
                </a:cubicBezTo>
                <a:cubicBezTo>
                  <a:pt x="9830727" y="794999"/>
                  <a:pt x="9807360" y="792150"/>
                  <a:pt x="9789836" y="789302"/>
                </a:cubicBezTo>
                <a:cubicBezTo>
                  <a:pt x="9754789" y="786453"/>
                  <a:pt x="9713901" y="786453"/>
                  <a:pt x="9678854" y="775060"/>
                </a:cubicBezTo>
                <a:cubicBezTo>
                  <a:pt x="9678854" y="772211"/>
                  <a:pt x="9667170" y="772211"/>
                  <a:pt x="9667170" y="769362"/>
                </a:cubicBezTo>
                <a:cubicBezTo>
                  <a:pt x="9655487" y="769362"/>
                  <a:pt x="9649647" y="766513"/>
                  <a:pt x="9643806" y="766513"/>
                </a:cubicBezTo>
                <a:cubicBezTo>
                  <a:pt x="9637966" y="766513"/>
                  <a:pt x="9637966" y="769362"/>
                  <a:pt x="9637966" y="769362"/>
                </a:cubicBezTo>
                <a:cubicBezTo>
                  <a:pt x="9602916" y="769362"/>
                  <a:pt x="9567870" y="763665"/>
                  <a:pt x="9538664" y="755118"/>
                </a:cubicBezTo>
                <a:cubicBezTo>
                  <a:pt x="9526981" y="755118"/>
                  <a:pt x="9521140" y="752269"/>
                  <a:pt x="9515299" y="752269"/>
                </a:cubicBezTo>
                <a:cubicBezTo>
                  <a:pt x="9497774" y="752269"/>
                  <a:pt x="9486093" y="752269"/>
                  <a:pt x="9474409" y="746571"/>
                </a:cubicBezTo>
                <a:cubicBezTo>
                  <a:pt x="9462726" y="746571"/>
                  <a:pt x="9456886" y="743723"/>
                  <a:pt x="9451045" y="743723"/>
                </a:cubicBezTo>
                <a:cubicBezTo>
                  <a:pt x="9415997" y="743723"/>
                  <a:pt x="9386792" y="735177"/>
                  <a:pt x="9351743" y="732328"/>
                </a:cubicBezTo>
                <a:cubicBezTo>
                  <a:pt x="9316696" y="726631"/>
                  <a:pt x="9293332" y="723783"/>
                  <a:pt x="9281648" y="726631"/>
                </a:cubicBezTo>
                <a:cubicBezTo>
                  <a:pt x="9269967" y="729480"/>
                  <a:pt x="9264125" y="735177"/>
                  <a:pt x="9275807" y="743723"/>
                </a:cubicBezTo>
                <a:cubicBezTo>
                  <a:pt x="9264125" y="760817"/>
                  <a:pt x="9188189" y="743723"/>
                  <a:pt x="9158982" y="749421"/>
                </a:cubicBezTo>
                <a:cubicBezTo>
                  <a:pt x="9182348" y="757968"/>
                  <a:pt x="9217394" y="755118"/>
                  <a:pt x="9240760" y="763665"/>
                </a:cubicBezTo>
                <a:cubicBezTo>
                  <a:pt x="9252442" y="766513"/>
                  <a:pt x="9258284" y="766513"/>
                  <a:pt x="9264125" y="766513"/>
                </a:cubicBezTo>
                <a:cubicBezTo>
                  <a:pt x="9275807" y="763665"/>
                  <a:pt x="9287490" y="763665"/>
                  <a:pt x="9305013" y="766513"/>
                </a:cubicBezTo>
                <a:cubicBezTo>
                  <a:pt x="9451045" y="789302"/>
                  <a:pt x="9602916" y="812091"/>
                  <a:pt x="9754789" y="823485"/>
                </a:cubicBezTo>
                <a:cubicBezTo>
                  <a:pt x="9813202" y="826333"/>
                  <a:pt x="9848248" y="834879"/>
                  <a:pt x="9889138" y="846274"/>
                </a:cubicBezTo>
                <a:cubicBezTo>
                  <a:pt x="9918344" y="854819"/>
                  <a:pt x="9918344" y="860518"/>
                  <a:pt x="9877456" y="860518"/>
                </a:cubicBezTo>
                <a:cubicBezTo>
                  <a:pt x="9854090" y="860518"/>
                  <a:pt x="9836567" y="854819"/>
                  <a:pt x="9819044" y="851971"/>
                </a:cubicBezTo>
                <a:cubicBezTo>
                  <a:pt x="9766472" y="840576"/>
                  <a:pt x="9719742" y="834879"/>
                  <a:pt x="9649647" y="832031"/>
                </a:cubicBezTo>
                <a:cubicBezTo>
                  <a:pt x="9702218" y="843425"/>
                  <a:pt x="9737266" y="854819"/>
                  <a:pt x="9743106" y="863365"/>
                </a:cubicBezTo>
                <a:cubicBezTo>
                  <a:pt x="9789836" y="871911"/>
                  <a:pt x="9842408" y="883306"/>
                  <a:pt x="9889138" y="889002"/>
                </a:cubicBezTo>
                <a:cubicBezTo>
                  <a:pt x="10023488" y="906095"/>
                  <a:pt x="10157836" y="928882"/>
                  <a:pt x="10280501" y="960219"/>
                </a:cubicBezTo>
                <a:cubicBezTo>
                  <a:pt x="10315549" y="971613"/>
                  <a:pt x="10344756" y="974461"/>
                  <a:pt x="10327231" y="985856"/>
                </a:cubicBezTo>
                <a:cubicBezTo>
                  <a:pt x="10321391" y="991553"/>
                  <a:pt x="10338914" y="1000098"/>
                  <a:pt x="10368120" y="1005797"/>
                </a:cubicBezTo>
                <a:cubicBezTo>
                  <a:pt x="10391485" y="1011494"/>
                  <a:pt x="10414850" y="1014342"/>
                  <a:pt x="10426531" y="1022887"/>
                </a:cubicBezTo>
                <a:cubicBezTo>
                  <a:pt x="10455739" y="1034282"/>
                  <a:pt x="10484944" y="1042828"/>
                  <a:pt x="10519992" y="1048526"/>
                </a:cubicBezTo>
                <a:cubicBezTo>
                  <a:pt x="10537517" y="1054223"/>
                  <a:pt x="10555040" y="1059921"/>
                  <a:pt x="10578405" y="1065618"/>
                </a:cubicBezTo>
                <a:cubicBezTo>
                  <a:pt x="10584246" y="1068466"/>
                  <a:pt x="10584246" y="1068466"/>
                  <a:pt x="10584246" y="1068466"/>
                </a:cubicBezTo>
                <a:cubicBezTo>
                  <a:pt x="10590088" y="1065618"/>
                  <a:pt x="10584246" y="1065618"/>
                  <a:pt x="10595929" y="1065618"/>
                </a:cubicBezTo>
                <a:cubicBezTo>
                  <a:pt x="10625134" y="1074164"/>
                  <a:pt x="10660183" y="1079861"/>
                  <a:pt x="10671865" y="1091255"/>
                </a:cubicBezTo>
                <a:cubicBezTo>
                  <a:pt x="10701071" y="1105498"/>
                  <a:pt x="10765324" y="1111195"/>
                  <a:pt x="10794532" y="1128288"/>
                </a:cubicBezTo>
                <a:cubicBezTo>
                  <a:pt x="10905515" y="1159622"/>
                  <a:pt x="11016498" y="1190957"/>
                  <a:pt x="11109958" y="1227989"/>
                </a:cubicBezTo>
                <a:cubicBezTo>
                  <a:pt x="11121640" y="1233686"/>
                  <a:pt x="11133323" y="1239384"/>
                  <a:pt x="11150846" y="1242232"/>
                </a:cubicBezTo>
                <a:cubicBezTo>
                  <a:pt x="11215100" y="1259323"/>
                  <a:pt x="11267671" y="1279264"/>
                  <a:pt x="11314401" y="1299205"/>
                </a:cubicBezTo>
                <a:cubicBezTo>
                  <a:pt x="11378655" y="1319146"/>
                  <a:pt x="11442909" y="1336237"/>
                  <a:pt x="11472116" y="1361875"/>
                </a:cubicBezTo>
                <a:cubicBezTo>
                  <a:pt x="11518844" y="1401756"/>
                  <a:pt x="11559734" y="1438788"/>
                  <a:pt x="11600622" y="1475819"/>
                </a:cubicBezTo>
                <a:cubicBezTo>
                  <a:pt x="11664876" y="1492911"/>
                  <a:pt x="11688242" y="1510003"/>
                  <a:pt x="11711606" y="1529943"/>
                </a:cubicBezTo>
                <a:cubicBezTo>
                  <a:pt x="11758336" y="1544186"/>
                  <a:pt x="11787542" y="1561278"/>
                  <a:pt x="11828432" y="1575521"/>
                </a:cubicBezTo>
                <a:cubicBezTo>
                  <a:pt x="11863478" y="1586916"/>
                  <a:pt x="11881002" y="1598310"/>
                  <a:pt x="11904366" y="1609705"/>
                </a:cubicBezTo>
                <a:cubicBezTo>
                  <a:pt x="11933574" y="1623947"/>
                  <a:pt x="11962780" y="1638189"/>
                  <a:pt x="11951096" y="1649584"/>
                </a:cubicBezTo>
                <a:cubicBezTo>
                  <a:pt x="11974462" y="1666675"/>
                  <a:pt x="12009510" y="1680919"/>
                  <a:pt x="12044556" y="1695162"/>
                </a:cubicBezTo>
                <a:cubicBezTo>
                  <a:pt x="12138018" y="1729345"/>
                  <a:pt x="12138018" y="1729345"/>
                  <a:pt x="12138018" y="1757831"/>
                </a:cubicBezTo>
                <a:cubicBezTo>
                  <a:pt x="12138018" y="1763529"/>
                  <a:pt x="12143858" y="1769226"/>
                  <a:pt x="12155540" y="1777772"/>
                </a:cubicBezTo>
                <a:cubicBezTo>
                  <a:pt x="12173064" y="1789166"/>
                  <a:pt x="12178906" y="1797712"/>
                  <a:pt x="12173064" y="1803409"/>
                </a:cubicBezTo>
                <a:cubicBezTo>
                  <a:pt x="12161382" y="1809106"/>
                  <a:pt x="12184746" y="1823349"/>
                  <a:pt x="12190588" y="1831895"/>
                </a:cubicBezTo>
                <a:lnTo>
                  <a:pt x="12192000" y="1833343"/>
                </a:lnTo>
                <a:lnTo>
                  <a:pt x="12192000" y="3311893"/>
                </a:lnTo>
                <a:lnTo>
                  <a:pt x="12186207" y="3309615"/>
                </a:lnTo>
                <a:cubicBezTo>
                  <a:pt x="12173065" y="3303205"/>
                  <a:pt x="12164303" y="3296083"/>
                  <a:pt x="12167224" y="3287533"/>
                </a:cubicBezTo>
                <a:cubicBezTo>
                  <a:pt x="12167224" y="3281845"/>
                  <a:pt x="12184746" y="3281845"/>
                  <a:pt x="12161382" y="3267600"/>
                </a:cubicBezTo>
                <a:cubicBezTo>
                  <a:pt x="12138018" y="3259058"/>
                  <a:pt x="12120494" y="3250510"/>
                  <a:pt x="12097128" y="3247663"/>
                </a:cubicBezTo>
                <a:cubicBezTo>
                  <a:pt x="12073764" y="3244807"/>
                  <a:pt x="12056240" y="3241961"/>
                  <a:pt x="12032874" y="3239115"/>
                </a:cubicBezTo>
                <a:cubicBezTo>
                  <a:pt x="12021192" y="3236264"/>
                  <a:pt x="12009510" y="3233414"/>
                  <a:pt x="11997828" y="3224868"/>
                </a:cubicBezTo>
                <a:cubicBezTo>
                  <a:pt x="11968622" y="3202081"/>
                  <a:pt x="11933574" y="3193534"/>
                  <a:pt x="11892684" y="3187837"/>
                </a:cubicBezTo>
                <a:cubicBezTo>
                  <a:pt x="11898526" y="3199232"/>
                  <a:pt x="11916050" y="3207778"/>
                  <a:pt x="11933574" y="3213474"/>
                </a:cubicBezTo>
                <a:cubicBezTo>
                  <a:pt x="12015350" y="3236264"/>
                  <a:pt x="12056240" y="3276140"/>
                  <a:pt x="12120494" y="3304632"/>
                </a:cubicBezTo>
                <a:cubicBezTo>
                  <a:pt x="12149700" y="3318867"/>
                  <a:pt x="12143858" y="3321724"/>
                  <a:pt x="12108812" y="3324573"/>
                </a:cubicBezTo>
                <a:cubicBezTo>
                  <a:pt x="12108812" y="3321724"/>
                  <a:pt x="12102970" y="3321724"/>
                  <a:pt x="12097128" y="3318867"/>
                </a:cubicBezTo>
                <a:cubicBezTo>
                  <a:pt x="12091286" y="3316023"/>
                  <a:pt x="12073764" y="3310329"/>
                  <a:pt x="12067924" y="3313181"/>
                </a:cubicBezTo>
                <a:cubicBezTo>
                  <a:pt x="12038716" y="3330263"/>
                  <a:pt x="11991986" y="3307473"/>
                  <a:pt x="11951096" y="3290393"/>
                </a:cubicBezTo>
                <a:cubicBezTo>
                  <a:pt x="11898526" y="3270453"/>
                  <a:pt x="11886844" y="3250510"/>
                  <a:pt x="11898526" y="3233414"/>
                </a:cubicBezTo>
                <a:cubicBezTo>
                  <a:pt x="11898526" y="3230568"/>
                  <a:pt x="11898526" y="3230568"/>
                  <a:pt x="11898526" y="3227721"/>
                </a:cubicBezTo>
                <a:cubicBezTo>
                  <a:pt x="11875162" y="3216323"/>
                  <a:pt x="11851796" y="3204929"/>
                  <a:pt x="11834272" y="3190687"/>
                </a:cubicBezTo>
                <a:cubicBezTo>
                  <a:pt x="11834272" y="3193534"/>
                  <a:pt x="11828432" y="3193534"/>
                  <a:pt x="11834272" y="3196382"/>
                </a:cubicBezTo>
                <a:cubicBezTo>
                  <a:pt x="11857638" y="3207778"/>
                  <a:pt x="11863478" y="3219173"/>
                  <a:pt x="11863478" y="3230568"/>
                </a:cubicBezTo>
                <a:cubicBezTo>
                  <a:pt x="11851796" y="3224868"/>
                  <a:pt x="11845954" y="3222021"/>
                  <a:pt x="11834272" y="3219173"/>
                </a:cubicBezTo>
                <a:cubicBezTo>
                  <a:pt x="11816750" y="3213474"/>
                  <a:pt x="11805066" y="3216323"/>
                  <a:pt x="11816750" y="3222021"/>
                </a:cubicBezTo>
                <a:cubicBezTo>
                  <a:pt x="11857638" y="3247663"/>
                  <a:pt x="11869320" y="3273295"/>
                  <a:pt x="11916050" y="3298927"/>
                </a:cubicBezTo>
                <a:cubicBezTo>
                  <a:pt x="11910208" y="3316023"/>
                  <a:pt x="11881002" y="3304632"/>
                  <a:pt x="11857638" y="3296082"/>
                </a:cubicBezTo>
                <a:cubicBezTo>
                  <a:pt x="11834272" y="3287533"/>
                  <a:pt x="11828432" y="3278999"/>
                  <a:pt x="11834272" y="3270453"/>
                </a:cubicBezTo>
                <a:cubicBezTo>
                  <a:pt x="11834272" y="3264746"/>
                  <a:pt x="11845954" y="3259058"/>
                  <a:pt x="11822590" y="3247663"/>
                </a:cubicBezTo>
                <a:cubicBezTo>
                  <a:pt x="11787542" y="3256202"/>
                  <a:pt x="11758336" y="3247663"/>
                  <a:pt x="11670718" y="3204929"/>
                </a:cubicBezTo>
                <a:cubicBezTo>
                  <a:pt x="11682402" y="3204929"/>
                  <a:pt x="11717448" y="3216323"/>
                  <a:pt x="11699922" y="3199232"/>
                </a:cubicBezTo>
                <a:cubicBezTo>
                  <a:pt x="11688242" y="3184988"/>
                  <a:pt x="11711606" y="3190687"/>
                  <a:pt x="11723290" y="3190687"/>
                </a:cubicBezTo>
                <a:cubicBezTo>
                  <a:pt x="11711606" y="3187837"/>
                  <a:pt x="11705764" y="3182142"/>
                  <a:pt x="11699922" y="3179292"/>
                </a:cubicBezTo>
                <a:cubicBezTo>
                  <a:pt x="11664876" y="3150807"/>
                  <a:pt x="11659034" y="3150807"/>
                  <a:pt x="11606464" y="3147957"/>
                </a:cubicBezTo>
                <a:cubicBezTo>
                  <a:pt x="11588940" y="3147957"/>
                  <a:pt x="11577258" y="3142259"/>
                  <a:pt x="11565574" y="3142259"/>
                </a:cubicBezTo>
                <a:cubicBezTo>
                  <a:pt x="11542210" y="3139412"/>
                  <a:pt x="11536370" y="3145107"/>
                  <a:pt x="11553892" y="3156502"/>
                </a:cubicBezTo>
                <a:cubicBezTo>
                  <a:pt x="11571416" y="3165048"/>
                  <a:pt x="11583100" y="3176442"/>
                  <a:pt x="11600622" y="3184988"/>
                </a:cubicBezTo>
                <a:cubicBezTo>
                  <a:pt x="11606464" y="3187837"/>
                  <a:pt x="11600622" y="3187837"/>
                  <a:pt x="11594780" y="3187837"/>
                </a:cubicBezTo>
                <a:cubicBezTo>
                  <a:pt x="11594780" y="3187837"/>
                  <a:pt x="11588940" y="3190687"/>
                  <a:pt x="11588940" y="3190687"/>
                </a:cubicBezTo>
                <a:cubicBezTo>
                  <a:pt x="11571416" y="3210626"/>
                  <a:pt x="11542210" y="3210626"/>
                  <a:pt x="11495480" y="3187837"/>
                </a:cubicBezTo>
                <a:cubicBezTo>
                  <a:pt x="11477956" y="3179292"/>
                  <a:pt x="11454590" y="3170746"/>
                  <a:pt x="11437068" y="3165048"/>
                </a:cubicBezTo>
                <a:cubicBezTo>
                  <a:pt x="11407861" y="3156502"/>
                  <a:pt x="11372815" y="3156502"/>
                  <a:pt x="11355290" y="3145107"/>
                </a:cubicBezTo>
                <a:cubicBezTo>
                  <a:pt x="11331925" y="3128015"/>
                  <a:pt x="11372815" y="3128015"/>
                  <a:pt x="11366973" y="3113771"/>
                </a:cubicBezTo>
                <a:cubicBezTo>
                  <a:pt x="11366973" y="3113771"/>
                  <a:pt x="11366973" y="3110926"/>
                  <a:pt x="11366973" y="3110926"/>
                </a:cubicBezTo>
                <a:cubicBezTo>
                  <a:pt x="11366973" y="3108074"/>
                  <a:pt x="11361132" y="3108074"/>
                  <a:pt x="11355290" y="3105225"/>
                </a:cubicBezTo>
                <a:cubicBezTo>
                  <a:pt x="11349449" y="3110926"/>
                  <a:pt x="11343609" y="3110926"/>
                  <a:pt x="11326084" y="3105225"/>
                </a:cubicBezTo>
                <a:cubicBezTo>
                  <a:pt x="11291037" y="3093832"/>
                  <a:pt x="11279354" y="3082438"/>
                  <a:pt x="11261830" y="3068196"/>
                </a:cubicBezTo>
                <a:cubicBezTo>
                  <a:pt x="11238466" y="3048254"/>
                  <a:pt x="11197577" y="3042557"/>
                  <a:pt x="11185894" y="3048254"/>
                </a:cubicBezTo>
                <a:cubicBezTo>
                  <a:pt x="11156688" y="3059650"/>
                  <a:pt x="11133323" y="3056799"/>
                  <a:pt x="11098276" y="3036860"/>
                </a:cubicBezTo>
                <a:cubicBezTo>
                  <a:pt x="11086593" y="3031164"/>
                  <a:pt x="11074910" y="3031164"/>
                  <a:pt x="11063227" y="3031164"/>
                </a:cubicBezTo>
                <a:cubicBezTo>
                  <a:pt x="11051545" y="3031164"/>
                  <a:pt x="11039864" y="3025464"/>
                  <a:pt x="11028181" y="3019768"/>
                </a:cubicBezTo>
                <a:cubicBezTo>
                  <a:pt x="10987293" y="2996980"/>
                  <a:pt x="10963927" y="2994131"/>
                  <a:pt x="10928879" y="3005525"/>
                </a:cubicBezTo>
                <a:cubicBezTo>
                  <a:pt x="10923039" y="3008373"/>
                  <a:pt x="10911356" y="3002677"/>
                  <a:pt x="10899674" y="2999829"/>
                </a:cubicBezTo>
                <a:cubicBezTo>
                  <a:pt x="10905515" y="3011223"/>
                  <a:pt x="10952245" y="3019768"/>
                  <a:pt x="10952245" y="3036860"/>
                </a:cubicBezTo>
                <a:cubicBezTo>
                  <a:pt x="10917197" y="3022617"/>
                  <a:pt x="10882149" y="3011223"/>
                  <a:pt x="10847103" y="2999829"/>
                </a:cubicBezTo>
                <a:cubicBezTo>
                  <a:pt x="10841261" y="3002677"/>
                  <a:pt x="10835420" y="3005525"/>
                  <a:pt x="10817895" y="3005525"/>
                </a:cubicBezTo>
                <a:cubicBezTo>
                  <a:pt x="10812054" y="2991284"/>
                  <a:pt x="10788690" y="2985584"/>
                  <a:pt x="10759484" y="2979890"/>
                </a:cubicBezTo>
                <a:cubicBezTo>
                  <a:pt x="10677705" y="2959948"/>
                  <a:pt x="10677705" y="2962795"/>
                  <a:pt x="10671865" y="2931462"/>
                </a:cubicBezTo>
                <a:cubicBezTo>
                  <a:pt x="10671865" y="2928612"/>
                  <a:pt x="10666023" y="2925763"/>
                  <a:pt x="10666023" y="2922915"/>
                </a:cubicBezTo>
                <a:cubicBezTo>
                  <a:pt x="10660183" y="2920067"/>
                  <a:pt x="10654342" y="2917217"/>
                  <a:pt x="10654342" y="2917217"/>
                </a:cubicBezTo>
                <a:cubicBezTo>
                  <a:pt x="10642659" y="2914368"/>
                  <a:pt x="10636817" y="2908673"/>
                  <a:pt x="10636817" y="2902974"/>
                </a:cubicBezTo>
                <a:cubicBezTo>
                  <a:pt x="10630976" y="2902974"/>
                  <a:pt x="10625134" y="2902974"/>
                  <a:pt x="10619293" y="2902974"/>
                </a:cubicBezTo>
                <a:cubicBezTo>
                  <a:pt x="10613452" y="2902974"/>
                  <a:pt x="10607611" y="2900126"/>
                  <a:pt x="10601771" y="2900126"/>
                </a:cubicBezTo>
                <a:cubicBezTo>
                  <a:pt x="10601771" y="2900126"/>
                  <a:pt x="10607611" y="2902974"/>
                  <a:pt x="10601771" y="2902974"/>
                </a:cubicBezTo>
                <a:cubicBezTo>
                  <a:pt x="10537517" y="2897278"/>
                  <a:pt x="10537517" y="2897278"/>
                  <a:pt x="10525833" y="2874490"/>
                </a:cubicBezTo>
                <a:cubicBezTo>
                  <a:pt x="10519992" y="2868791"/>
                  <a:pt x="10508310" y="2865943"/>
                  <a:pt x="10502469" y="2860244"/>
                </a:cubicBezTo>
                <a:cubicBezTo>
                  <a:pt x="10484944" y="2857396"/>
                  <a:pt x="10473262" y="2857396"/>
                  <a:pt x="10461581" y="2851699"/>
                </a:cubicBezTo>
                <a:cubicBezTo>
                  <a:pt x="10432373" y="2846002"/>
                  <a:pt x="10426531" y="2826061"/>
                  <a:pt x="10391485" y="2831760"/>
                </a:cubicBezTo>
                <a:cubicBezTo>
                  <a:pt x="10391485" y="2828911"/>
                  <a:pt x="10391485" y="2828911"/>
                  <a:pt x="10391485" y="2828911"/>
                </a:cubicBezTo>
                <a:cubicBezTo>
                  <a:pt x="10356437" y="2823213"/>
                  <a:pt x="10338914" y="2814669"/>
                  <a:pt x="10350597" y="2803274"/>
                </a:cubicBezTo>
                <a:cubicBezTo>
                  <a:pt x="10338914" y="2786182"/>
                  <a:pt x="10292183" y="2771938"/>
                  <a:pt x="10280501" y="2754847"/>
                </a:cubicBezTo>
                <a:cubicBezTo>
                  <a:pt x="10280501" y="2751998"/>
                  <a:pt x="10280501" y="2749151"/>
                  <a:pt x="10274660" y="2746301"/>
                </a:cubicBezTo>
                <a:cubicBezTo>
                  <a:pt x="10268820" y="2743453"/>
                  <a:pt x="10268820" y="2737756"/>
                  <a:pt x="10268820" y="2734908"/>
                </a:cubicBezTo>
                <a:cubicBezTo>
                  <a:pt x="10233770" y="2723511"/>
                  <a:pt x="10216249" y="2740604"/>
                  <a:pt x="10181199" y="2734908"/>
                </a:cubicBezTo>
                <a:cubicBezTo>
                  <a:pt x="10169518" y="2743453"/>
                  <a:pt x="10146153" y="2743453"/>
                  <a:pt x="10116947" y="2732058"/>
                </a:cubicBezTo>
                <a:cubicBezTo>
                  <a:pt x="10105264" y="2720664"/>
                  <a:pt x="10111105" y="2712118"/>
                  <a:pt x="10128628" y="2709269"/>
                </a:cubicBezTo>
                <a:cubicBezTo>
                  <a:pt x="10105264" y="2700723"/>
                  <a:pt x="10099423" y="2692179"/>
                  <a:pt x="10081899" y="2680781"/>
                </a:cubicBezTo>
                <a:cubicBezTo>
                  <a:pt x="10070217" y="2677933"/>
                  <a:pt x="10052693" y="2675085"/>
                  <a:pt x="10041009" y="2675085"/>
                </a:cubicBezTo>
                <a:cubicBezTo>
                  <a:pt x="10041009" y="2675085"/>
                  <a:pt x="10035169" y="2672237"/>
                  <a:pt x="10029328" y="2672237"/>
                </a:cubicBezTo>
                <a:cubicBezTo>
                  <a:pt x="9982597" y="2660842"/>
                  <a:pt x="9935867" y="2657994"/>
                  <a:pt x="9889138" y="2643750"/>
                </a:cubicBezTo>
                <a:cubicBezTo>
                  <a:pt x="9889138" y="2643750"/>
                  <a:pt x="9889138" y="2640901"/>
                  <a:pt x="9889138" y="2640901"/>
                </a:cubicBezTo>
                <a:cubicBezTo>
                  <a:pt x="9883298" y="2640901"/>
                  <a:pt x="9883298" y="2640901"/>
                  <a:pt x="9883298" y="2643750"/>
                </a:cubicBezTo>
                <a:cubicBezTo>
                  <a:pt x="9889138" y="2646598"/>
                  <a:pt x="9889138" y="2649447"/>
                  <a:pt x="9894979" y="2652297"/>
                </a:cubicBezTo>
                <a:cubicBezTo>
                  <a:pt x="9906662" y="2672237"/>
                  <a:pt x="9877456" y="2657994"/>
                  <a:pt x="9859932" y="2655145"/>
                </a:cubicBezTo>
                <a:cubicBezTo>
                  <a:pt x="9848248" y="2646598"/>
                  <a:pt x="9830727" y="2638053"/>
                  <a:pt x="9813202" y="2632357"/>
                </a:cubicBezTo>
                <a:cubicBezTo>
                  <a:pt x="9813202" y="2632357"/>
                  <a:pt x="9813202" y="2629507"/>
                  <a:pt x="9813202" y="2629507"/>
                </a:cubicBezTo>
                <a:cubicBezTo>
                  <a:pt x="9795677" y="2620961"/>
                  <a:pt x="9783996" y="2615265"/>
                  <a:pt x="9766472" y="2606720"/>
                </a:cubicBezTo>
                <a:cubicBezTo>
                  <a:pt x="9760631" y="2603870"/>
                  <a:pt x="9754789" y="2601021"/>
                  <a:pt x="9754789" y="2598173"/>
                </a:cubicBezTo>
                <a:cubicBezTo>
                  <a:pt x="9737266" y="2592476"/>
                  <a:pt x="9731425" y="2581080"/>
                  <a:pt x="9702218" y="2581080"/>
                </a:cubicBezTo>
                <a:cubicBezTo>
                  <a:pt x="9702218" y="2583929"/>
                  <a:pt x="9708060" y="2586777"/>
                  <a:pt x="9708060" y="2589626"/>
                </a:cubicBezTo>
                <a:cubicBezTo>
                  <a:pt x="9713901" y="2592476"/>
                  <a:pt x="9702218" y="2595324"/>
                  <a:pt x="9702218" y="2598173"/>
                </a:cubicBezTo>
                <a:cubicBezTo>
                  <a:pt x="9708060" y="2601021"/>
                  <a:pt x="9708060" y="2603870"/>
                  <a:pt x="9702218" y="2606720"/>
                </a:cubicBezTo>
                <a:cubicBezTo>
                  <a:pt x="9696377" y="2606720"/>
                  <a:pt x="9696377" y="2606720"/>
                  <a:pt x="9696377" y="2606720"/>
                </a:cubicBezTo>
                <a:cubicBezTo>
                  <a:pt x="9690535" y="2609568"/>
                  <a:pt x="9696377" y="2615265"/>
                  <a:pt x="9690535" y="2615265"/>
                </a:cubicBezTo>
                <a:cubicBezTo>
                  <a:pt x="9690535" y="2615265"/>
                  <a:pt x="9684695" y="2615265"/>
                  <a:pt x="9684695" y="2615265"/>
                </a:cubicBezTo>
                <a:cubicBezTo>
                  <a:pt x="9690535" y="2623811"/>
                  <a:pt x="9696377" y="2632357"/>
                  <a:pt x="9696377" y="2638053"/>
                </a:cubicBezTo>
                <a:cubicBezTo>
                  <a:pt x="9713901" y="2643750"/>
                  <a:pt x="9725583" y="2649447"/>
                  <a:pt x="9719742" y="2657994"/>
                </a:cubicBezTo>
                <a:cubicBezTo>
                  <a:pt x="9719742" y="2660842"/>
                  <a:pt x="9708060" y="2657994"/>
                  <a:pt x="9696377" y="2657994"/>
                </a:cubicBezTo>
                <a:cubicBezTo>
                  <a:pt x="9690535" y="2660842"/>
                  <a:pt x="9690535" y="2663692"/>
                  <a:pt x="9684695" y="2666540"/>
                </a:cubicBezTo>
                <a:cubicBezTo>
                  <a:pt x="9667170" y="2663692"/>
                  <a:pt x="9649647" y="2657994"/>
                  <a:pt x="9632124" y="2652297"/>
                </a:cubicBezTo>
                <a:cubicBezTo>
                  <a:pt x="9626283" y="2652297"/>
                  <a:pt x="9620441" y="2652297"/>
                  <a:pt x="9614599" y="2652297"/>
                </a:cubicBezTo>
                <a:cubicBezTo>
                  <a:pt x="9608758" y="2655145"/>
                  <a:pt x="9602916" y="2655145"/>
                  <a:pt x="9597075" y="2655145"/>
                </a:cubicBezTo>
                <a:cubicBezTo>
                  <a:pt x="9597075" y="2655145"/>
                  <a:pt x="9597075" y="2655145"/>
                  <a:pt x="9591235" y="2655145"/>
                </a:cubicBezTo>
                <a:cubicBezTo>
                  <a:pt x="9597075" y="2660842"/>
                  <a:pt x="9602916" y="2666540"/>
                  <a:pt x="9614599" y="2669387"/>
                </a:cubicBezTo>
                <a:cubicBezTo>
                  <a:pt x="9597075" y="2695028"/>
                  <a:pt x="9597075" y="2695028"/>
                  <a:pt x="9538664" y="2683632"/>
                </a:cubicBezTo>
                <a:cubicBezTo>
                  <a:pt x="9532822" y="2677933"/>
                  <a:pt x="9521140" y="2677933"/>
                  <a:pt x="9509457" y="2677933"/>
                </a:cubicBezTo>
                <a:cubicBezTo>
                  <a:pt x="9486093" y="2669387"/>
                  <a:pt x="9462726" y="2663692"/>
                  <a:pt x="9445205" y="2652297"/>
                </a:cubicBezTo>
                <a:cubicBezTo>
                  <a:pt x="9439363" y="2646598"/>
                  <a:pt x="9433521" y="2640901"/>
                  <a:pt x="9433521" y="2635204"/>
                </a:cubicBezTo>
                <a:cubicBezTo>
                  <a:pt x="9433521" y="2632357"/>
                  <a:pt x="9439363" y="2632357"/>
                  <a:pt x="9439363" y="2632357"/>
                </a:cubicBezTo>
                <a:cubicBezTo>
                  <a:pt x="9433521" y="2629507"/>
                  <a:pt x="9427680" y="2629507"/>
                  <a:pt x="9421838" y="2626659"/>
                </a:cubicBezTo>
                <a:cubicBezTo>
                  <a:pt x="9386792" y="2620961"/>
                  <a:pt x="9351743" y="2615265"/>
                  <a:pt x="9328379" y="2601021"/>
                </a:cubicBezTo>
                <a:cubicBezTo>
                  <a:pt x="9322538" y="2601021"/>
                  <a:pt x="9322538" y="2601021"/>
                  <a:pt x="9316696" y="2598173"/>
                </a:cubicBezTo>
                <a:cubicBezTo>
                  <a:pt x="9316696" y="2598173"/>
                  <a:pt x="9310855" y="2595324"/>
                  <a:pt x="9305013" y="2592476"/>
                </a:cubicBezTo>
                <a:cubicBezTo>
                  <a:pt x="9305013" y="2589626"/>
                  <a:pt x="9310855" y="2589626"/>
                  <a:pt x="9310855" y="2586777"/>
                </a:cubicBezTo>
                <a:cubicBezTo>
                  <a:pt x="9305013" y="2583929"/>
                  <a:pt x="9299173" y="2581080"/>
                  <a:pt x="9299173" y="2578231"/>
                </a:cubicBezTo>
                <a:cubicBezTo>
                  <a:pt x="9299173" y="2575384"/>
                  <a:pt x="9299173" y="2575384"/>
                  <a:pt x="9299173" y="2575384"/>
                </a:cubicBezTo>
                <a:cubicBezTo>
                  <a:pt x="9293332" y="2583929"/>
                  <a:pt x="9287490" y="2592476"/>
                  <a:pt x="9258284" y="2589626"/>
                </a:cubicBezTo>
                <a:cubicBezTo>
                  <a:pt x="9252442" y="2589626"/>
                  <a:pt x="9246602" y="2586777"/>
                  <a:pt x="9240760" y="2586777"/>
                </a:cubicBezTo>
                <a:cubicBezTo>
                  <a:pt x="9234919" y="2586777"/>
                  <a:pt x="9234919" y="2586777"/>
                  <a:pt x="9229077" y="2586777"/>
                </a:cubicBezTo>
                <a:cubicBezTo>
                  <a:pt x="9229077" y="2586777"/>
                  <a:pt x="9229077" y="2586777"/>
                  <a:pt x="9223236" y="2586777"/>
                </a:cubicBezTo>
                <a:cubicBezTo>
                  <a:pt x="9223236" y="2586777"/>
                  <a:pt x="9217394" y="2586777"/>
                  <a:pt x="9211553" y="2586777"/>
                </a:cubicBezTo>
                <a:cubicBezTo>
                  <a:pt x="9205713" y="2583929"/>
                  <a:pt x="9199871" y="2583929"/>
                  <a:pt x="9188189" y="2581080"/>
                </a:cubicBezTo>
                <a:cubicBezTo>
                  <a:pt x="9176506" y="2578231"/>
                  <a:pt x="9170665" y="2578231"/>
                  <a:pt x="9158982" y="2575384"/>
                </a:cubicBezTo>
                <a:cubicBezTo>
                  <a:pt x="9141458" y="2566838"/>
                  <a:pt x="9123935" y="2558291"/>
                  <a:pt x="9118094" y="2546897"/>
                </a:cubicBezTo>
                <a:cubicBezTo>
                  <a:pt x="9118094" y="2546897"/>
                  <a:pt x="9112252" y="2544048"/>
                  <a:pt x="9106411" y="2544048"/>
                </a:cubicBezTo>
                <a:cubicBezTo>
                  <a:pt x="9106411" y="2544048"/>
                  <a:pt x="9106411" y="2541199"/>
                  <a:pt x="9106411" y="2541199"/>
                </a:cubicBezTo>
                <a:cubicBezTo>
                  <a:pt x="9106411" y="2541199"/>
                  <a:pt x="9100571" y="2538351"/>
                  <a:pt x="9100571" y="2538351"/>
                </a:cubicBezTo>
                <a:cubicBezTo>
                  <a:pt x="9088887" y="2535503"/>
                  <a:pt x="9083046" y="2535503"/>
                  <a:pt x="9071364" y="2535503"/>
                </a:cubicBezTo>
                <a:cubicBezTo>
                  <a:pt x="9030475" y="2529805"/>
                  <a:pt x="9007111" y="2521259"/>
                  <a:pt x="8995428" y="2507016"/>
                </a:cubicBezTo>
                <a:cubicBezTo>
                  <a:pt x="9001270" y="2495622"/>
                  <a:pt x="8995428" y="2481379"/>
                  <a:pt x="9036316" y="2481379"/>
                </a:cubicBezTo>
                <a:cubicBezTo>
                  <a:pt x="9083046" y="2484226"/>
                  <a:pt x="9123935" y="2489923"/>
                  <a:pt x="9153142" y="2507016"/>
                </a:cubicBezTo>
                <a:cubicBezTo>
                  <a:pt x="9164823" y="2515563"/>
                  <a:pt x="9147300" y="2515563"/>
                  <a:pt x="9129777" y="2521259"/>
                </a:cubicBezTo>
                <a:cubicBezTo>
                  <a:pt x="9182348" y="2521259"/>
                  <a:pt x="9223236" y="2521259"/>
                  <a:pt x="9264125" y="2538351"/>
                </a:cubicBezTo>
                <a:cubicBezTo>
                  <a:pt x="9293332" y="2526957"/>
                  <a:pt x="9293332" y="2521259"/>
                  <a:pt x="9229077" y="2507016"/>
                </a:cubicBezTo>
                <a:cubicBezTo>
                  <a:pt x="9229077" y="2507016"/>
                  <a:pt x="9229077" y="2507016"/>
                  <a:pt x="9223236" y="2507016"/>
                </a:cubicBezTo>
                <a:cubicBezTo>
                  <a:pt x="9188189" y="2507016"/>
                  <a:pt x="9188189" y="2495622"/>
                  <a:pt x="9176506" y="2487075"/>
                </a:cubicBezTo>
                <a:cubicBezTo>
                  <a:pt x="9164823" y="2484226"/>
                  <a:pt x="9153142" y="2481379"/>
                  <a:pt x="9135618" y="2478529"/>
                </a:cubicBezTo>
                <a:cubicBezTo>
                  <a:pt x="9123935" y="2478529"/>
                  <a:pt x="9106411" y="2475681"/>
                  <a:pt x="9094729" y="2469983"/>
                </a:cubicBezTo>
                <a:cubicBezTo>
                  <a:pt x="9083046" y="2467135"/>
                  <a:pt x="9077206" y="2467135"/>
                  <a:pt x="9065523" y="2464287"/>
                </a:cubicBezTo>
                <a:cubicBezTo>
                  <a:pt x="9065523" y="2461437"/>
                  <a:pt x="9059681" y="2461437"/>
                  <a:pt x="9053841" y="2461437"/>
                </a:cubicBezTo>
                <a:cubicBezTo>
                  <a:pt x="9042158" y="2464287"/>
                  <a:pt x="9030475" y="2467135"/>
                  <a:pt x="9030475" y="2472833"/>
                </a:cubicBezTo>
                <a:cubicBezTo>
                  <a:pt x="9024633" y="2475681"/>
                  <a:pt x="9012952" y="2478529"/>
                  <a:pt x="8995428" y="2475681"/>
                </a:cubicBezTo>
                <a:cubicBezTo>
                  <a:pt x="8983745" y="2472833"/>
                  <a:pt x="8977904" y="2469983"/>
                  <a:pt x="8972062" y="2467135"/>
                </a:cubicBezTo>
                <a:cubicBezTo>
                  <a:pt x="8972062" y="2461437"/>
                  <a:pt x="8966221" y="2455741"/>
                  <a:pt x="8966221" y="2450043"/>
                </a:cubicBezTo>
                <a:cubicBezTo>
                  <a:pt x="8954539" y="2452892"/>
                  <a:pt x="8942857" y="2450043"/>
                  <a:pt x="8937016" y="2447195"/>
                </a:cubicBezTo>
                <a:cubicBezTo>
                  <a:pt x="8931174" y="2444347"/>
                  <a:pt x="8931174" y="2444347"/>
                  <a:pt x="8931174" y="2441497"/>
                </a:cubicBezTo>
                <a:cubicBezTo>
                  <a:pt x="8925333" y="2438650"/>
                  <a:pt x="8913650" y="2435801"/>
                  <a:pt x="8907809" y="2435801"/>
                </a:cubicBezTo>
                <a:cubicBezTo>
                  <a:pt x="8896126" y="2432952"/>
                  <a:pt x="8890285" y="2430103"/>
                  <a:pt x="8884445" y="2430103"/>
                </a:cubicBezTo>
                <a:cubicBezTo>
                  <a:pt x="8884445" y="2430103"/>
                  <a:pt x="8884445" y="2432952"/>
                  <a:pt x="8884445" y="2432952"/>
                </a:cubicBezTo>
                <a:cubicBezTo>
                  <a:pt x="8907809" y="2441497"/>
                  <a:pt x="8907809" y="2452892"/>
                  <a:pt x="8901968" y="2461437"/>
                </a:cubicBezTo>
                <a:cubicBezTo>
                  <a:pt x="8884445" y="2461437"/>
                  <a:pt x="8866920" y="2458589"/>
                  <a:pt x="8855238" y="2461437"/>
                </a:cubicBezTo>
                <a:cubicBezTo>
                  <a:pt x="8855238" y="2464287"/>
                  <a:pt x="8855238" y="2464287"/>
                  <a:pt x="8855238" y="2467135"/>
                </a:cubicBezTo>
                <a:cubicBezTo>
                  <a:pt x="8826031" y="2458589"/>
                  <a:pt x="8802667" y="2452892"/>
                  <a:pt x="8773460" y="2447195"/>
                </a:cubicBezTo>
                <a:cubicBezTo>
                  <a:pt x="8761778" y="2441497"/>
                  <a:pt x="8750096" y="2438650"/>
                  <a:pt x="8732572" y="2435801"/>
                </a:cubicBezTo>
                <a:cubicBezTo>
                  <a:pt x="8720889" y="2435801"/>
                  <a:pt x="8709207" y="2432952"/>
                  <a:pt x="8703365" y="2430103"/>
                </a:cubicBezTo>
                <a:cubicBezTo>
                  <a:pt x="8703365" y="2430103"/>
                  <a:pt x="8697524" y="2427254"/>
                  <a:pt x="8691684" y="2427254"/>
                </a:cubicBezTo>
                <a:cubicBezTo>
                  <a:pt x="8685842" y="2427254"/>
                  <a:pt x="8680001" y="2427254"/>
                  <a:pt x="8674159" y="2424407"/>
                </a:cubicBezTo>
                <a:cubicBezTo>
                  <a:pt x="8662477" y="2424407"/>
                  <a:pt x="8644953" y="2421557"/>
                  <a:pt x="8633271" y="2418709"/>
                </a:cubicBezTo>
                <a:cubicBezTo>
                  <a:pt x="8621588" y="2415859"/>
                  <a:pt x="8615748" y="2415859"/>
                  <a:pt x="8604065" y="2413011"/>
                </a:cubicBezTo>
                <a:cubicBezTo>
                  <a:pt x="8557335" y="2398767"/>
                  <a:pt x="8557335" y="2395919"/>
                  <a:pt x="8592382" y="2387372"/>
                </a:cubicBezTo>
                <a:cubicBezTo>
                  <a:pt x="8598223" y="2387372"/>
                  <a:pt x="8592382" y="2384527"/>
                  <a:pt x="8592382" y="2381677"/>
                </a:cubicBezTo>
                <a:cubicBezTo>
                  <a:pt x="8580699" y="2378827"/>
                  <a:pt x="8569017" y="2375981"/>
                  <a:pt x="8557335" y="2373130"/>
                </a:cubicBezTo>
                <a:cubicBezTo>
                  <a:pt x="8510604" y="2361737"/>
                  <a:pt x="8446350" y="2356039"/>
                  <a:pt x="8411304" y="2336099"/>
                </a:cubicBezTo>
                <a:cubicBezTo>
                  <a:pt x="8405462" y="2336099"/>
                  <a:pt x="8399621" y="2336099"/>
                  <a:pt x="8399621" y="2336099"/>
                </a:cubicBezTo>
                <a:cubicBezTo>
                  <a:pt x="8405462" y="2338947"/>
                  <a:pt x="8399621" y="2336099"/>
                  <a:pt x="8405462" y="2338947"/>
                </a:cubicBezTo>
                <a:cubicBezTo>
                  <a:pt x="8428827" y="2347493"/>
                  <a:pt x="8452192" y="2356039"/>
                  <a:pt x="8440510" y="2367433"/>
                </a:cubicBezTo>
                <a:cubicBezTo>
                  <a:pt x="8440510" y="2367433"/>
                  <a:pt x="8434669" y="2367433"/>
                  <a:pt x="8434669" y="2367433"/>
                </a:cubicBezTo>
                <a:cubicBezTo>
                  <a:pt x="8405462" y="2361737"/>
                  <a:pt x="8364574" y="2356039"/>
                  <a:pt x="8352891" y="2347493"/>
                </a:cubicBezTo>
                <a:cubicBezTo>
                  <a:pt x="8323685" y="2327554"/>
                  <a:pt x="8271114" y="2319008"/>
                  <a:pt x="8236066" y="2301917"/>
                </a:cubicBezTo>
                <a:lnTo>
                  <a:pt x="8241908" y="2301917"/>
                </a:lnTo>
                <a:cubicBezTo>
                  <a:pt x="8241908" y="2301917"/>
                  <a:pt x="8241908" y="2299068"/>
                  <a:pt x="8236066" y="2299068"/>
                </a:cubicBezTo>
                <a:cubicBezTo>
                  <a:pt x="8236066" y="2299068"/>
                  <a:pt x="8236066" y="2301917"/>
                  <a:pt x="8236066" y="2301917"/>
                </a:cubicBezTo>
                <a:lnTo>
                  <a:pt x="8212701" y="2301917"/>
                </a:lnTo>
                <a:cubicBezTo>
                  <a:pt x="8201018" y="2307612"/>
                  <a:pt x="8183495" y="2313310"/>
                  <a:pt x="8183495" y="2321856"/>
                </a:cubicBezTo>
                <a:cubicBezTo>
                  <a:pt x="8177655" y="2330400"/>
                  <a:pt x="8160130" y="2336099"/>
                  <a:pt x="8130924" y="2338947"/>
                </a:cubicBezTo>
                <a:cubicBezTo>
                  <a:pt x="8107559" y="2338947"/>
                  <a:pt x="8084193" y="2341796"/>
                  <a:pt x="8072511" y="2347493"/>
                </a:cubicBezTo>
                <a:cubicBezTo>
                  <a:pt x="8066670" y="2361737"/>
                  <a:pt x="8037463" y="2370282"/>
                  <a:pt x="8025782" y="2381677"/>
                </a:cubicBezTo>
                <a:cubicBezTo>
                  <a:pt x="8019940" y="2387372"/>
                  <a:pt x="8002416" y="2384527"/>
                  <a:pt x="7990734" y="2384527"/>
                </a:cubicBezTo>
                <a:cubicBezTo>
                  <a:pt x="7979052" y="2384527"/>
                  <a:pt x="7973211" y="2387372"/>
                  <a:pt x="7973211" y="2390223"/>
                </a:cubicBezTo>
                <a:cubicBezTo>
                  <a:pt x="7973211" y="2390223"/>
                  <a:pt x="7973211" y="2390223"/>
                  <a:pt x="7979052" y="2390223"/>
                </a:cubicBezTo>
                <a:cubicBezTo>
                  <a:pt x="7996575" y="2390223"/>
                  <a:pt x="8008257" y="2393070"/>
                  <a:pt x="8019940" y="2398767"/>
                </a:cubicBezTo>
                <a:cubicBezTo>
                  <a:pt x="8025782" y="2404465"/>
                  <a:pt x="8037463" y="2404465"/>
                  <a:pt x="8043305" y="2407314"/>
                </a:cubicBezTo>
                <a:cubicBezTo>
                  <a:pt x="8066670" y="2413011"/>
                  <a:pt x="8084193" y="2415859"/>
                  <a:pt x="8107559" y="2418709"/>
                </a:cubicBezTo>
                <a:cubicBezTo>
                  <a:pt x="8113401" y="2418709"/>
                  <a:pt x="8125082" y="2418709"/>
                  <a:pt x="8136764" y="2418709"/>
                </a:cubicBezTo>
                <a:cubicBezTo>
                  <a:pt x="8148447" y="2418709"/>
                  <a:pt x="8154289" y="2421557"/>
                  <a:pt x="8160130" y="2421557"/>
                </a:cubicBezTo>
                <a:cubicBezTo>
                  <a:pt x="8189335" y="2427254"/>
                  <a:pt x="8218543" y="2430103"/>
                  <a:pt x="8241908" y="2435801"/>
                </a:cubicBezTo>
                <a:cubicBezTo>
                  <a:pt x="8253589" y="2438650"/>
                  <a:pt x="8259431" y="2441497"/>
                  <a:pt x="8265272" y="2444347"/>
                </a:cubicBezTo>
                <a:cubicBezTo>
                  <a:pt x="8306162" y="2450043"/>
                  <a:pt x="8312002" y="2461437"/>
                  <a:pt x="8323685" y="2472833"/>
                </a:cubicBezTo>
                <a:cubicBezTo>
                  <a:pt x="8317843" y="2475681"/>
                  <a:pt x="8312002" y="2475681"/>
                  <a:pt x="8300320" y="2475681"/>
                </a:cubicBezTo>
                <a:cubicBezTo>
                  <a:pt x="8282795" y="2475681"/>
                  <a:pt x="8271114" y="2475681"/>
                  <a:pt x="8259431" y="2472833"/>
                </a:cubicBezTo>
                <a:cubicBezTo>
                  <a:pt x="8253589" y="2469983"/>
                  <a:pt x="8241908" y="2469983"/>
                  <a:pt x="8236066" y="2467135"/>
                </a:cubicBezTo>
                <a:cubicBezTo>
                  <a:pt x="8224384" y="2467135"/>
                  <a:pt x="8218543" y="2458589"/>
                  <a:pt x="8206860" y="2464287"/>
                </a:cubicBezTo>
                <a:cubicBezTo>
                  <a:pt x="8201018" y="2467135"/>
                  <a:pt x="8189335" y="2469983"/>
                  <a:pt x="8171813" y="2469983"/>
                </a:cubicBezTo>
                <a:cubicBezTo>
                  <a:pt x="8160130" y="2467135"/>
                  <a:pt x="8154289" y="2467135"/>
                  <a:pt x="8142606" y="2467135"/>
                </a:cubicBezTo>
                <a:cubicBezTo>
                  <a:pt x="8107559" y="2467135"/>
                  <a:pt x="8130924" y="2472833"/>
                  <a:pt x="8136764" y="2478529"/>
                </a:cubicBezTo>
                <a:cubicBezTo>
                  <a:pt x="8142606" y="2478529"/>
                  <a:pt x="8142606" y="2481379"/>
                  <a:pt x="8142606" y="2484226"/>
                </a:cubicBezTo>
                <a:cubicBezTo>
                  <a:pt x="8142606" y="2487075"/>
                  <a:pt x="8142606" y="2487075"/>
                  <a:pt x="8142606" y="2487075"/>
                </a:cubicBezTo>
                <a:cubicBezTo>
                  <a:pt x="8142606" y="2487075"/>
                  <a:pt x="8148447" y="2489923"/>
                  <a:pt x="8148447" y="2489923"/>
                </a:cubicBezTo>
                <a:cubicBezTo>
                  <a:pt x="8148447" y="2489923"/>
                  <a:pt x="8148447" y="2492772"/>
                  <a:pt x="8148447" y="2492772"/>
                </a:cubicBezTo>
                <a:cubicBezTo>
                  <a:pt x="8154289" y="2492772"/>
                  <a:pt x="8154289" y="2492772"/>
                  <a:pt x="8154289" y="2492772"/>
                </a:cubicBezTo>
                <a:cubicBezTo>
                  <a:pt x="8154289" y="2492772"/>
                  <a:pt x="8154289" y="2489923"/>
                  <a:pt x="8160130" y="2489923"/>
                </a:cubicBezTo>
                <a:cubicBezTo>
                  <a:pt x="8212701" y="2498471"/>
                  <a:pt x="8265272" y="2507016"/>
                  <a:pt x="8312002" y="2518411"/>
                </a:cubicBezTo>
                <a:cubicBezTo>
                  <a:pt x="8317843" y="2518411"/>
                  <a:pt x="8323685" y="2518411"/>
                  <a:pt x="8329525" y="2518411"/>
                </a:cubicBezTo>
                <a:cubicBezTo>
                  <a:pt x="8352891" y="2524108"/>
                  <a:pt x="8387938" y="2524108"/>
                  <a:pt x="8411304" y="2532653"/>
                </a:cubicBezTo>
                <a:cubicBezTo>
                  <a:pt x="8422987" y="2535503"/>
                  <a:pt x="8434669" y="2538351"/>
                  <a:pt x="8452192" y="2538351"/>
                </a:cubicBezTo>
                <a:cubicBezTo>
                  <a:pt x="8452192" y="2538351"/>
                  <a:pt x="8458033" y="2538351"/>
                  <a:pt x="8458033" y="2538351"/>
                </a:cubicBezTo>
                <a:cubicBezTo>
                  <a:pt x="8463875" y="2538351"/>
                  <a:pt x="8469716" y="2538351"/>
                  <a:pt x="8469716" y="2541199"/>
                </a:cubicBezTo>
                <a:cubicBezTo>
                  <a:pt x="8469716" y="2544048"/>
                  <a:pt x="8469716" y="2544048"/>
                  <a:pt x="8475557" y="2544048"/>
                </a:cubicBezTo>
                <a:cubicBezTo>
                  <a:pt x="8481398" y="2541199"/>
                  <a:pt x="8487240" y="2541199"/>
                  <a:pt x="8498923" y="2544048"/>
                </a:cubicBezTo>
                <a:cubicBezTo>
                  <a:pt x="8516446" y="2558291"/>
                  <a:pt x="8551494" y="2563987"/>
                  <a:pt x="8586540" y="2558291"/>
                </a:cubicBezTo>
                <a:cubicBezTo>
                  <a:pt x="8604065" y="2555443"/>
                  <a:pt x="8621588" y="2558291"/>
                  <a:pt x="8639111" y="2563987"/>
                </a:cubicBezTo>
                <a:cubicBezTo>
                  <a:pt x="8691684" y="2581080"/>
                  <a:pt x="8744255" y="2589626"/>
                  <a:pt x="8802667" y="2601021"/>
                </a:cubicBezTo>
                <a:cubicBezTo>
                  <a:pt x="8814349" y="2603870"/>
                  <a:pt x="8831872" y="2603870"/>
                  <a:pt x="8837714" y="2609568"/>
                </a:cubicBezTo>
                <a:cubicBezTo>
                  <a:pt x="8861080" y="2626659"/>
                  <a:pt x="8901968" y="2632357"/>
                  <a:pt x="8942857" y="2635204"/>
                </a:cubicBezTo>
                <a:cubicBezTo>
                  <a:pt x="8948697" y="2643750"/>
                  <a:pt x="8960379" y="2649447"/>
                  <a:pt x="8977904" y="2652297"/>
                </a:cubicBezTo>
                <a:cubicBezTo>
                  <a:pt x="8977904" y="2655145"/>
                  <a:pt x="8977904" y="2657994"/>
                  <a:pt x="8977904" y="2657994"/>
                </a:cubicBezTo>
                <a:cubicBezTo>
                  <a:pt x="9036316" y="2677933"/>
                  <a:pt x="9100571" y="2697875"/>
                  <a:pt x="9176506" y="2712118"/>
                </a:cubicBezTo>
                <a:cubicBezTo>
                  <a:pt x="9182348" y="2712118"/>
                  <a:pt x="9182348" y="2712118"/>
                  <a:pt x="9182348" y="2712118"/>
                </a:cubicBezTo>
                <a:cubicBezTo>
                  <a:pt x="9188189" y="2712118"/>
                  <a:pt x="9194031" y="2712118"/>
                  <a:pt x="9199871" y="2712118"/>
                </a:cubicBezTo>
                <a:cubicBezTo>
                  <a:pt x="9211553" y="2714967"/>
                  <a:pt x="9223236" y="2717816"/>
                  <a:pt x="9234919" y="2723511"/>
                </a:cubicBezTo>
                <a:cubicBezTo>
                  <a:pt x="9240760" y="2726362"/>
                  <a:pt x="9252442" y="2726362"/>
                  <a:pt x="9258284" y="2729209"/>
                </a:cubicBezTo>
                <a:cubicBezTo>
                  <a:pt x="9299173" y="2757695"/>
                  <a:pt x="9369267" y="2769093"/>
                  <a:pt x="9433521" y="2783334"/>
                </a:cubicBezTo>
                <a:cubicBezTo>
                  <a:pt x="9474409" y="2791879"/>
                  <a:pt x="9515299" y="2800425"/>
                  <a:pt x="9550345" y="2814669"/>
                </a:cubicBezTo>
                <a:cubicBezTo>
                  <a:pt x="9579553" y="2820364"/>
                  <a:pt x="9597075" y="2828911"/>
                  <a:pt x="9602916" y="2840306"/>
                </a:cubicBezTo>
                <a:cubicBezTo>
                  <a:pt x="9602916" y="2848850"/>
                  <a:pt x="9614599" y="2860244"/>
                  <a:pt x="9626283" y="2868791"/>
                </a:cubicBezTo>
                <a:cubicBezTo>
                  <a:pt x="9632124" y="2868791"/>
                  <a:pt x="9632124" y="2871639"/>
                  <a:pt x="9637966" y="2871639"/>
                </a:cubicBezTo>
                <a:cubicBezTo>
                  <a:pt x="9725583" y="2897278"/>
                  <a:pt x="9824885" y="2911521"/>
                  <a:pt x="9912503" y="2940007"/>
                </a:cubicBezTo>
                <a:cubicBezTo>
                  <a:pt x="9935867" y="2957099"/>
                  <a:pt x="9988438" y="2968494"/>
                  <a:pt x="10011805" y="2991284"/>
                </a:cubicBezTo>
                <a:cubicBezTo>
                  <a:pt x="9982597" y="2991284"/>
                  <a:pt x="9953392" y="2991284"/>
                  <a:pt x="9924186" y="2979890"/>
                </a:cubicBezTo>
                <a:cubicBezTo>
                  <a:pt x="9912503" y="2977039"/>
                  <a:pt x="9906662" y="2977039"/>
                  <a:pt x="9900821" y="2979890"/>
                </a:cubicBezTo>
                <a:cubicBezTo>
                  <a:pt x="9859932" y="2974191"/>
                  <a:pt x="9824885" y="2979890"/>
                  <a:pt x="9789836" y="2971343"/>
                </a:cubicBezTo>
                <a:cubicBezTo>
                  <a:pt x="9743106" y="2957099"/>
                  <a:pt x="9690535" y="2951402"/>
                  <a:pt x="9649647" y="2934310"/>
                </a:cubicBezTo>
                <a:cubicBezTo>
                  <a:pt x="9637966" y="2931462"/>
                  <a:pt x="9626283" y="2928612"/>
                  <a:pt x="9614599" y="2925763"/>
                </a:cubicBezTo>
                <a:cubicBezTo>
                  <a:pt x="9608758" y="2922915"/>
                  <a:pt x="9602916" y="2920067"/>
                  <a:pt x="9591235" y="2920067"/>
                </a:cubicBezTo>
                <a:cubicBezTo>
                  <a:pt x="9579553" y="2920067"/>
                  <a:pt x="9573711" y="2917217"/>
                  <a:pt x="9562028" y="2914368"/>
                </a:cubicBezTo>
                <a:cubicBezTo>
                  <a:pt x="9550345" y="2911521"/>
                  <a:pt x="9538664" y="2908673"/>
                  <a:pt x="9526981" y="2905824"/>
                </a:cubicBezTo>
                <a:cubicBezTo>
                  <a:pt x="9526981" y="2902974"/>
                  <a:pt x="9521140" y="2900126"/>
                  <a:pt x="9515299" y="2900126"/>
                </a:cubicBezTo>
                <a:cubicBezTo>
                  <a:pt x="9515299" y="2900126"/>
                  <a:pt x="9509457" y="2897278"/>
                  <a:pt x="9503616" y="2897278"/>
                </a:cubicBezTo>
                <a:cubicBezTo>
                  <a:pt x="9462726" y="2885883"/>
                  <a:pt x="9415997" y="2874490"/>
                  <a:pt x="9375109" y="2865943"/>
                </a:cubicBezTo>
                <a:cubicBezTo>
                  <a:pt x="9363426" y="2863093"/>
                  <a:pt x="9345903" y="2857396"/>
                  <a:pt x="9328379" y="2854548"/>
                </a:cubicBezTo>
                <a:cubicBezTo>
                  <a:pt x="9310855" y="2851699"/>
                  <a:pt x="9293332" y="2846002"/>
                  <a:pt x="9275807" y="2843154"/>
                </a:cubicBezTo>
                <a:cubicBezTo>
                  <a:pt x="9269967" y="2848850"/>
                  <a:pt x="9293332" y="2857396"/>
                  <a:pt x="9299173" y="2865943"/>
                </a:cubicBezTo>
                <a:cubicBezTo>
                  <a:pt x="9269967" y="2863093"/>
                  <a:pt x="9258284" y="2848850"/>
                  <a:pt x="9240760" y="2848850"/>
                </a:cubicBezTo>
                <a:cubicBezTo>
                  <a:pt x="9217394" y="2848850"/>
                  <a:pt x="9199871" y="2848850"/>
                  <a:pt x="9188189" y="2840306"/>
                </a:cubicBezTo>
                <a:cubicBezTo>
                  <a:pt x="9170665" y="2868791"/>
                  <a:pt x="9170665" y="2868791"/>
                  <a:pt x="9112252" y="2871639"/>
                </a:cubicBezTo>
                <a:cubicBezTo>
                  <a:pt x="9094729" y="2868791"/>
                  <a:pt x="9077206" y="2863093"/>
                  <a:pt x="9059681" y="2860244"/>
                </a:cubicBezTo>
                <a:cubicBezTo>
                  <a:pt x="9001270" y="2843154"/>
                  <a:pt x="8937016" y="2837456"/>
                  <a:pt x="8878603" y="2823213"/>
                </a:cubicBezTo>
                <a:cubicBezTo>
                  <a:pt x="8866920" y="2823213"/>
                  <a:pt x="8849397" y="2820364"/>
                  <a:pt x="8837714" y="2817519"/>
                </a:cubicBezTo>
                <a:cubicBezTo>
                  <a:pt x="8831872" y="2814669"/>
                  <a:pt x="8820191" y="2814669"/>
                  <a:pt x="8814349" y="2811819"/>
                </a:cubicBezTo>
                <a:cubicBezTo>
                  <a:pt x="8808509" y="2811819"/>
                  <a:pt x="8808509" y="2808973"/>
                  <a:pt x="8802667" y="2806122"/>
                </a:cubicBezTo>
                <a:cubicBezTo>
                  <a:pt x="8790984" y="2803274"/>
                  <a:pt x="8779301" y="2800425"/>
                  <a:pt x="8767618" y="2797578"/>
                </a:cubicBezTo>
                <a:cubicBezTo>
                  <a:pt x="8738413" y="2791879"/>
                  <a:pt x="8709207" y="2786182"/>
                  <a:pt x="8680001" y="2791879"/>
                </a:cubicBezTo>
                <a:cubicBezTo>
                  <a:pt x="8656636" y="2791879"/>
                  <a:pt x="8633271" y="2791879"/>
                  <a:pt x="8621588" y="2789032"/>
                </a:cubicBezTo>
                <a:cubicBezTo>
                  <a:pt x="8604065" y="2786182"/>
                  <a:pt x="8574857" y="2783334"/>
                  <a:pt x="8580699" y="2794728"/>
                </a:cubicBezTo>
                <a:cubicBezTo>
                  <a:pt x="8580699" y="2797578"/>
                  <a:pt x="8586540" y="2797578"/>
                  <a:pt x="8592382" y="2800425"/>
                </a:cubicBezTo>
                <a:cubicBezTo>
                  <a:pt x="8598223" y="2800425"/>
                  <a:pt x="8598223" y="2800425"/>
                  <a:pt x="8598223" y="2800425"/>
                </a:cubicBezTo>
                <a:cubicBezTo>
                  <a:pt x="8609906" y="2800425"/>
                  <a:pt x="8615748" y="2800425"/>
                  <a:pt x="8621588" y="2803274"/>
                </a:cubicBezTo>
                <a:cubicBezTo>
                  <a:pt x="8656636" y="2823213"/>
                  <a:pt x="8715048" y="2823213"/>
                  <a:pt x="8755936" y="2837456"/>
                </a:cubicBezTo>
                <a:cubicBezTo>
                  <a:pt x="8785143" y="2843154"/>
                  <a:pt x="8808509" y="2848850"/>
                  <a:pt x="8837714" y="2854548"/>
                </a:cubicBezTo>
                <a:cubicBezTo>
                  <a:pt x="8866920" y="2863093"/>
                  <a:pt x="8907809" y="2865943"/>
                  <a:pt x="8931174" y="2877337"/>
                </a:cubicBezTo>
                <a:cubicBezTo>
                  <a:pt x="9012952" y="2891581"/>
                  <a:pt x="9094729" y="2908673"/>
                  <a:pt x="9170665" y="2931462"/>
                </a:cubicBezTo>
                <a:cubicBezTo>
                  <a:pt x="9182348" y="2934310"/>
                  <a:pt x="9194031" y="2937158"/>
                  <a:pt x="9205713" y="2942855"/>
                </a:cubicBezTo>
                <a:cubicBezTo>
                  <a:pt x="9258284" y="2957099"/>
                  <a:pt x="9316696" y="2965646"/>
                  <a:pt x="9363426" y="2985584"/>
                </a:cubicBezTo>
                <a:cubicBezTo>
                  <a:pt x="9410155" y="3011223"/>
                  <a:pt x="9468568" y="3028315"/>
                  <a:pt x="9532822" y="3045405"/>
                </a:cubicBezTo>
                <a:cubicBezTo>
                  <a:pt x="9532822" y="3048254"/>
                  <a:pt x="9544504" y="3053951"/>
                  <a:pt x="9538664" y="3056799"/>
                </a:cubicBezTo>
                <a:cubicBezTo>
                  <a:pt x="9491934" y="3045405"/>
                  <a:pt x="9445205" y="3034012"/>
                  <a:pt x="9398474" y="3022617"/>
                </a:cubicBezTo>
                <a:cubicBezTo>
                  <a:pt x="9380950" y="3014071"/>
                  <a:pt x="9357584" y="3014071"/>
                  <a:pt x="9340061" y="3005525"/>
                </a:cubicBezTo>
                <a:cubicBezTo>
                  <a:pt x="9334219" y="3005525"/>
                  <a:pt x="9334219" y="3002677"/>
                  <a:pt x="9328379" y="3002677"/>
                </a:cubicBezTo>
                <a:cubicBezTo>
                  <a:pt x="9299173" y="2996980"/>
                  <a:pt x="9264125" y="2994131"/>
                  <a:pt x="9234919" y="2985584"/>
                </a:cubicBezTo>
                <a:cubicBezTo>
                  <a:pt x="9229077" y="2982738"/>
                  <a:pt x="9223236" y="2982738"/>
                  <a:pt x="9211553" y="2979890"/>
                </a:cubicBezTo>
                <a:cubicBezTo>
                  <a:pt x="9205713" y="2979890"/>
                  <a:pt x="9199871" y="2977039"/>
                  <a:pt x="9194031" y="2977039"/>
                </a:cubicBezTo>
                <a:cubicBezTo>
                  <a:pt x="9240760" y="2985584"/>
                  <a:pt x="9275807" y="2996980"/>
                  <a:pt x="9299173" y="3016919"/>
                </a:cubicBezTo>
                <a:cubicBezTo>
                  <a:pt x="9305013" y="3022617"/>
                  <a:pt x="9316696" y="3028315"/>
                  <a:pt x="9328379" y="3034012"/>
                </a:cubicBezTo>
                <a:cubicBezTo>
                  <a:pt x="9334219" y="3036860"/>
                  <a:pt x="9345903" y="3036860"/>
                  <a:pt x="9351743" y="3039708"/>
                </a:cubicBezTo>
                <a:cubicBezTo>
                  <a:pt x="9357584" y="3039708"/>
                  <a:pt x="9369267" y="3039708"/>
                  <a:pt x="9380950" y="3042557"/>
                </a:cubicBezTo>
                <a:cubicBezTo>
                  <a:pt x="9486093" y="3065346"/>
                  <a:pt x="9579553" y="3093832"/>
                  <a:pt x="9673012" y="3122319"/>
                </a:cubicBezTo>
                <a:cubicBezTo>
                  <a:pt x="9678854" y="3125166"/>
                  <a:pt x="9684695" y="3125166"/>
                  <a:pt x="9690535" y="3128015"/>
                </a:cubicBezTo>
                <a:cubicBezTo>
                  <a:pt x="9690535" y="3125166"/>
                  <a:pt x="9696377" y="3125166"/>
                  <a:pt x="9696377" y="3125166"/>
                </a:cubicBezTo>
                <a:cubicBezTo>
                  <a:pt x="9725583" y="3133713"/>
                  <a:pt x="9760631" y="3142259"/>
                  <a:pt x="9789836" y="3150807"/>
                </a:cubicBezTo>
                <a:cubicBezTo>
                  <a:pt x="9795677" y="3150807"/>
                  <a:pt x="9801519" y="3153654"/>
                  <a:pt x="9801519" y="3153654"/>
                </a:cubicBezTo>
                <a:cubicBezTo>
                  <a:pt x="9807360" y="3165048"/>
                  <a:pt x="9819044" y="3173594"/>
                  <a:pt x="9830727" y="3184988"/>
                </a:cubicBezTo>
                <a:cubicBezTo>
                  <a:pt x="9836567" y="3202081"/>
                  <a:pt x="9813202" y="3202081"/>
                  <a:pt x="9789836" y="3204929"/>
                </a:cubicBezTo>
                <a:cubicBezTo>
                  <a:pt x="9760631" y="3207778"/>
                  <a:pt x="9743106" y="3196382"/>
                  <a:pt x="9725583" y="3187837"/>
                </a:cubicBezTo>
                <a:cubicBezTo>
                  <a:pt x="9725583" y="3184988"/>
                  <a:pt x="9719742" y="3184988"/>
                  <a:pt x="9719742" y="3182142"/>
                </a:cubicBezTo>
                <a:cubicBezTo>
                  <a:pt x="9713901" y="3182142"/>
                  <a:pt x="9713901" y="3182142"/>
                  <a:pt x="9708060" y="3179292"/>
                </a:cubicBezTo>
                <a:cubicBezTo>
                  <a:pt x="9643806" y="3159353"/>
                  <a:pt x="9573711" y="3136560"/>
                  <a:pt x="9503616" y="3116620"/>
                </a:cubicBezTo>
                <a:cubicBezTo>
                  <a:pt x="9497774" y="3116620"/>
                  <a:pt x="9497774" y="3113771"/>
                  <a:pt x="9491934" y="3110926"/>
                </a:cubicBezTo>
                <a:cubicBezTo>
                  <a:pt x="9474409" y="3108074"/>
                  <a:pt x="9451045" y="3096680"/>
                  <a:pt x="9439363" y="3102379"/>
                </a:cubicBezTo>
                <a:cubicBezTo>
                  <a:pt x="9421838" y="3108074"/>
                  <a:pt x="9427680" y="3116620"/>
                  <a:pt x="9445205" y="3128015"/>
                </a:cubicBezTo>
                <a:cubicBezTo>
                  <a:pt x="9456886" y="3130865"/>
                  <a:pt x="9462726" y="3136560"/>
                  <a:pt x="9468568" y="3139412"/>
                </a:cubicBezTo>
                <a:cubicBezTo>
                  <a:pt x="9480251" y="3147957"/>
                  <a:pt x="9491934" y="3156502"/>
                  <a:pt x="9497774" y="3165048"/>
                </a:cubicBezTo>
                <a:cubicBezTo>
                  <a:pt x="9503616" y="3170746"/>
                  <a:pt x="9515299" y="3173594"/>
                  <a:pt x="9521140" y="3179292"/>
                </a:cubicBezTo>
                <a:cubicBezTo>
                  <a:pt x="9526981" y="3187837"/>
                  <a:pt x="9544504" y="3199232"/>
                  <a:pt x="9526981" y="3204929"/>
                </a:cubicBezTo>
                <a:cubicBezTo>
                  <a:pt x="9503616" y="3210626"/>
                  <a:pt x="9486093" y="3202081"/>
                  <a:pt x="9468568" y="3196382"/>
                </a:cubicBezTo>
                <a:cubicBezTo>
                  <a:pt x="9445205" y="3190687"/>
                  <a:pt x="9421838" y="3187837"/>
                  <a:pt x="9404314" y="3179292"/>
                </a:cubicBezTo>
                <a:cubicBezTo>
                  <a:pt x="9398474" y="3173594"/>
                  <a:pt x="9386792" y="3170746"/>
                  <a:pt x="9380950" y="3167898"/>
                </a:cubicBezTo>
                <a:cubicBezTo>
                  <a:pt x="9316696" y="3153654"/>
                  <a:pt x="9269967" y="3125166"/>
                  <a:pt x="9199871" y="3113771"/>
                </a:cubicBezTo>
                <a:cubicBezTo>
                  <a:pt x="9199871" y="3110926"/>
                  <a:pt x="9199871" y="3110926"/>
                  <a:pt x="9199871" y="3110926"/>
                </a:cubicBezTo>
                <a:cubicBezTo>
                  <a:pt x="9176506" y="3108074"/>
                  <a:pt x="9158982" y="3110926"/>
                  <a:pt x="9141458" y="3113771"/>
                </a:cubicBezTo>
                <a:cubicBezTo>
                  <a:pt x="9135618" y="3113771"/>
                  <a:pt x="9129777" y="3116620"/>
                  <a:pt x="9123935" y="3113771"/>
                </a:cubicBezTo>
                <a:cubicBezTo>
                  <a:pt x="9094729" y="3102379"/>
                  <a:pt x="9053841" y="3102379"/>
                  <a:pt x="9024633" y="3090985"/>
                </a:cubicBezTo>
                <a:cubicBezTo>
                  <a:pt x="9007111" y="3082438"/>
                  <a:pt x="8995428" y="3073890"/>
                  <a:pt x="8977904" y="3068196"/>
                </a:cubicBezTo>
                <a:cubicBezTo>
                  <a:pt x="8972062" y="3065346"/>
                  <a:pt x="8966221" y="3059650"/>
                  <a:pt x="8960379" y="3056799"/>
                </a:cubicBezTo>
                <a:cubicBezTo>
                  <a:pt x="8954539" y="3056799"/>
                  <a:pt x="8954539" y="3053951"/>
                  <a:pt x="8954539" y="3053951"/>
                </a:cubicBezTo>
                <a:cubicBezTo>
                  <a:pt x="8954539" y="3053951"/>
                  <a:pt x="8954539" y="3051103"/>
                  <a:pt x="8954539" y="3051103"/>
                </a:cubicBezTo>
                <a:cubicBezTo>
                  <a:pt x="8948697" y="3051103"/>
                  <a:pt x="8948697" y="3051103"/>
                  <a:pt x="8948697" y="3051103"/>
                </a:cubicBezTo>
                <a:cubicBezTo>
                  <a:pt x="8948697" y="3048254"/>
                  <a:pt x="8948697" y="3048254"/>
                  <a:pt x="8948697" y="3048254"/>
                </a:cubicBezTo>
                <a:cubicBezTo>
                  <a:pt x="8948697" y="3045405"/>
                  <a:pt x="8942857" y="3045405"/>
                  <a:pt x="8942857" y="3042557"/>
                </a:cubicBezTo>
                <a:cubicBezTo>
                  <a:pt x="8937016" y="3039708"/>
                  <a:pt x="8931174" y="3039708"/>
                  <a:pt x="8931174" y="3036860"/>
                </a:cubicBezTo>
                <a:cubicBezTo>
                  <a:pt x="8931174" y="3036860"/>
                  <a:pt x="8925333" y="3034012"/>
                  <a:pt x="8925333" y="3034012"/>
                </a:cubicBezTo>
                <a:cubicBezTo>
                  <a:pt x="8925333" y="3034012"/>
                  <a:pt x="8919491" y="3031164"/>
                  <a:pt x="8919491" y="3028315"/>
                </a:cubicBezTo>
                <a:cubicBezTo>
                  <a:pt x="8919491" y="3025464"/>
                  <a:pt x="8919491" y="3025464"/>
                  <a:pt x="8919491" y="3022617"/>
                </a:cubicBezTo>
                <a:cubicBezTo>
                  <a:pt x="8919491" y="3022617"/>
                  <a:pt x="8919491" y="3019768"/>
                  <a:pt x="8919491" y="3019768"/>
                </a:cubicBezTo>
                <a:cubicBezTo>
                  <a:pt x="8913650" y="3016919"/>
                  <a:pt x="8901968" y="3016919"/>
                  <a:pt x="8901968" y="3014071"/>
                </a:cubicBezTo>
                <a:cubicBezTo>
                  <a:pt x="8901968" y="3011223"/>
                  <a:pt x="8901968" y="3011223"/>
                  <a:pt x="8901968" y="3008373"/>
                </a:cubicBezTo>
                <a:cubicBezTo>
                  <a:pt x="8896126" y="3008373"/>
                  <a:pt x="8896126" y="3008373"/>
                  <a:pt x="8896126" y="3008373"/>
                </a:cubicBezTo>
                <a:cubicBezTo>
                  <a:pt x="8896126" y="3005525"/>
                  <a:pt x="8896126" y="3005525"/>
                  <a:pt x="8896126" y="3005525"/>
                </a:cubicBezTo>
                <a:cubicBezTo>
                  <a:pt x="8896126" y="3002677"/>
                  <a:pt x="8896126" y="3002677"/>
                  <a:pt x="8896126" y="3002677"/>
                </a:cubicBezTo>
                <a:cubicBezTo>
                  <a:pt x="8896126" y="3002677"/>
                  <a:pt x="8890285" y="3002677"/>
                  <a:pt x="8890285" y="3002677"/>
                </a:cubicBezTo>
                <a:cubicBezTo>
                  <a:pt x="8884445" y="2999829"/>
                  <a:pt x="8890285" y="2996980"/>
                  <a:pt x="8890285" y="2994131"/>
                </a:cubicBezTo>
                <a:cubicBezTo>
                  <a:pt x="8896126" y="2991284"/>
                  <a:pt x="8896126" y="2991284"/>
                  <a:pt x="8901968" y="2988434"/>
                </a:cubicBezTo>
                <a:cubicBezTo>
                  <a:pt x="8896126" y="2988434"/>
                  <a:pt x="8890285" y="2985584"/>
                  <a:pt x="8884445" y="2985584"/>
                </a:cubicBezTo>
                <a:cubicBezTo>
                  <a:pt x="8884445" y="2988434"/>
                  <a:pt x="8884445" y="2988434"/>
                  <a:pt x="8884445" y="2988434"/>
                </a:cubicBezTo>
                <a:cubicBezTo>
                  <a:pt x="8878603" y="2988434"/>
                  <a:pt x="8872762" y="2988434"/>
                  <a:pt x="8866920" y="2985584"/>
                </a:cubicBezTo>
                <a:cubicBezTo>
                  <a:pt x="8861080" y="2979890"/>
                  <a:pt x="8855238" y="2977039"/>
                  <a:pt x="8849397" y="2974191"/>
                </a:cubicBezTo>
                <a:cubicBezTo>
                  <a:pt x="8837714" y="2971343"/>
                  <a:pt x="8826031" y="2968494"/>
                  <a:pt x="8814349" y="2965646"/>
                </a:cubicBezTo>
                <a:cubicBezTo>
                  <a:pt x="8755936" y="2948553"/>
                  <a:pt x="8691684" y="2928612"/>
                  <a:pt x="8621588" y="2920067"/>
                </a:cubicBezTo>
                <a:cubicBezTo>
                  <a:pt x="8580699" y="2914368"/>
                  <a:pt x="8545652" y="2902974"/>
                  <a:pt x="8545652" y="2885883"/>
                </a:cubicBezTo>
                <a:cubicBezTo>
                  <a:pt x="8539811" y="2885883"/>
                  <a:pt x="8533969" y="2883034"/>
                  <a:pt x="8528128" y="2883034"/>
                </a:cubicBezTo>
                <a:cubicBezTo>
                  <a:pt x="8504763" y="2874490"/>
                  <a:pt x="8475557" y="2874490"/>
                  <a:pt x="8452192" y="2874490"/>
                </a:cubicBezTo>
                <a:cubicBezTo>
                  <a:pt x="8440510" y="2874490"/>
                  <a:pt x="8434669" y="2874490"/>
                  <a:pt x="8422987" y="2871639"/>
                </a:cubicBezTo>
                <a:cubicBezTo>
                  <a:pt x="8411304" y="2868791"/>
                  <a:pt x="8399621" y="2865943"/>
                  <a:pt x="8387938" y="2863093"/>
                </a:cubicBezTo>
                <a:cubicBezTo>
                  <a:pt x="8376256" y="2865943"/>
                  <a:pt x="8370416" y="2868791"/>
                  <a:pt x="8382096" y="2874490"/>
                </a:cubicBezTo>
                <a:cubicBezTo>
                  <a:pt x="8440510" y="2885883"/>
                  <a:pt x="8498923" y="2902974"/>
                  <a:pt x="8557335" y="2917217"/>
                </a:cubicBezTo>
                <a:cubicBezTo>
                  <a:pt x="8574857" y="2914368"/>
                  <a:pt x="8586540" y="2917217"/>
                  <a:pt x="8598223" y="2922915"/>
                </a:cubicBezTo>
                <a:cubicBezTo>
                  <a:pt x="8615748" y="2925763"/>
                  <a:pt x="8639111" y="2928612"/>
                  <a:pt x="8656636" y="2937158"/>
                </a:cubicBezTo>
                <a:cubicBezTo>
                  <a:pt x="8668318" y="2940007"/>
                  <a:pt x="8674159" y="2942855"/>
                  <a:pt x="8680001" y="2942855"/>
                </a:cubicBezTo>
                <a:cubicBezTo>
                  <a:pt x="8685842" y="2948553"/>
                  <a:pt x="8685842" y="2951402"/>
                  <a:pt x="8685842" y="2957099"/>
                </a:cubicBezTo>
                <a:cubicBezTo>
                  <a:pt x="8697524" y="2957099"/>
                  <a:pt x="8697524" y="2957099"/>
                  <a:pt x="8703365" y="2959948"/>
                </a:cubicBezTo>
                <a:cubicBezTo>
                  <a:pt x="8709207" y="2962795"/>
                  <a:pt x="8709207" y="2962795"/>
                  <a:pt x="8715048" y="2962795"/>
                </a:cubicBezTo>
                <a:cubicBezTo>
                  <a:pt x="8726730" y="2968494"/>
                  <a:pt x="8726730" y="2974191"/>
                  <a:pt x="8732572" y="2979890"/>
                </a:cubicBezTo>
                <a:cubicBezTo>
                  <a:pt x="8732572" y="2991284"/>
                  <a:pt x="8761778" y="3002677"/>
                  <a:pt x="8761778" y="3016919"/>
                </a:cubicBezTo>
                <a:cubicBezTo>
                  <a:pt x="8738413" y="3016919"/>
                  <a:pt x="8715048" y="3016919"/>
                  <a:pt x="8691684" y="3011223"/>
                </a:cubicBezTo>
                <a:cubicBezTo>
                  <a:pt x="8656636" y="2996980"/>
                  <a:pt x="8609906" y="2996980"/>
                  <a:pt x="8574857" y="2985584"/>
                </a:cubicBezTo>
                <a:cubicBezTo>
                  <a:pt x="8533969" y="2971343"/>
                  <a:pt x="8481398" y="2962795"/>
                  <a:pt x="8434669" y="2954250"/>
                </a:cubicBezTo>
                <a:cubicBezTo>
                  <a:pt x="8335367" y="2937158"/>
                  <a:pt x="8241908" y="2917217"/>
                  <a:pt x="8148447" y="2897278"/>
                </a:cubicBezTo>
                <a:cubicBezTo>
                  <a:pt x="8043305" y="2874490"/>
                  <a:pt x="7938161" y="2857396"/>
                  <a:pt x="7833021" y="2834607"/>
                </a:cubicBezTo>
                <a:cubicBezTo>
                  <a:pt x="7827179" y="2834607"/>
                  <a:pt x="7827179" y="2831760"/>
                  <a:pt x="7821338" y="2828911"/>
                </a:cubicBezTo>
                <a:cubicBezTo>
                  <a:pt x="7792132" y="2817519"/>
                  <a:pt x="7751243" y="2814669"/>
                  <a:pt x="7727880" y="2811819"/>
                </a:cubicBezTo>
                <a:cubicBezTo>
                  <a:pt x="7710354" y="2803274"/>
                  <a:pt x="7742115" y="2804343"/>
                  <a:pt x="7741844" y="2800603"/>
                </a:cubicBezTo>
                <a:lnTo>
                  <a:pt x="7729589" y="2795449"/>
                </a:lnTo>
                <a:lnTo>
                  <a:pt x="7733720" y="2794728"/>
                </a:lnTo>
                <a:lnTo>
                  <a:pt x="7745400" y="2794728"/>
                </a:lnTo>
                <a:cubicBezTo>
                  <a:pt x="7745400" y="2791879"/>
                  <a:pt x="7739560" y="2794728"/>
                  <a:pt x="7733720" y="2794728"/>
                </a:cubicBezTo>
                <a:lnTo>
                  <a:pt x="7727880" y="2794728"/>
                </a:lnTo>
                <a:lnTo>
                  <a:pt x="7729589" y="2795449"/>
                </a:lnTo>
                <a:lnTo>
                  <a:pt x="7692829" y="2801849"/>
                </a:lnTo>
                <a:cubicBezTo>
                  <a:pt x="7679686" y="2801849"/>
                  <a:pt x="7666546" y="2799001"/>
                  <a:pt x="7651942" y="2791879"/>
                </a:cubicBezTo>
                <a:cubicBezTo>
                  <a:pt x="7646101" y="2791879"/>
                  <a:pt x="7640261" y="2789032"/>
                  <a:pt x="7634419" y="2789032"/>
                </a:cubicBezTo>
                <a:cubicBezTo>
                  <a:pt x="7540960" y="2783334"/>
                  <a:pt x="7540960" y="2783334"/>
                  <a:pt x="7482545" y="2766241"/>
                </a:cubicBezTo>
                <a:cubicBezTo>
                  <a:pt x="7470864" y="2763392"/>
                  <a:pt x="7459181" y="2760545"/>
                  <a:pt x="7441658" y="2760545"/>
                </a:cubicBezTo>
                <a:cubicBezTo>
                  <a:pt x="7418292" y="2757695"/>
                  <a:pt x="7394929" y="2757695"/>
                  <a:pt x="7371562" y="2754847"/>
                </a:cubicBezTo>
                <a:cubicBezTo>
                  <a:pt x="7354039" y="2754847"/>
                  <a:pt x="7354039" y="2754847"/>
                  <a:pt x="7342357" y="2743453"/>
                </a:cubicBezTo>
                <a:cubicBezTo>
                  <a:pt x="7324833" y="2743453"/>
                  <a:pt x="7307307" y="2740604"/>
                  <a:pt x="7289784" y="2740604"/>
                </a:cubicBezTo>
                <a:cubicBezTo>
                  <a:pt x="7266420" y="2746301"/>
                  <a:pt x="7243055" y="2749151"/>
                  <a:pt x="7213848" y="2743453"/>
                </a:cubicBezTo>
                <a:cubicBezTo>
                  <a:pt x="7184642" y="2737756"/>
                  <a:pt x="7155437" y="2737756"/>
                  <a:pt x="7132072" y="2734908"/>
                </a:cubicBezTo>
                <a:cubicBezTo>
                  <a:pt x="7126230" y="2732058"/>
                  <a:pt x="7120389" y="2726362"/>
                  <a:pt x="7108707" y="2726362"/>
                </a:cubicBezTo>
                <a:cubicBezTo>
                  <a:pt x="7061975" y="2726362"/>
                  <a:pt x="7009406" y="2723511"/>
                  <a:pt x="6974359" y="2709269"/>
                </a:cubicBezTo>
                <a:cubicBezTo>
                  <a:pt x="6898423" y="2706422"/>
                  <a:pt x="6834168" y="2680781"/>
                  <a:pt x="6752390" y="2689327"/>
                </a:cubicBezTo>
                <a:cubicBezTo>
                  <a:pt x="6746549" y="2689327"/>
                  <a:pt x="6740708" y="2686481"/>
                  <a:pt x="6734866" y="2686481"/>
                </a:cubicBezTo>
                <a:cubicBezTo>
                  <a:pt x="6705662" y="2680781"/>
                  <a:pt x="6676453" y="2677933"/>
                  <a:pt x="6647248" y="2669387"/>
                </a:cubicBezTo>
                <a:cubicBezTo>
                  <a:pt x="6623882" y="2675085"/>
                  <a:pt x="6600518" y="2686481"/>
                  <a:pt x="6571312" y="2683632"/>
                </a:cubicBezTo>
                <a:cubicBezTo>
                  <a:pt x="6501217" y="2675085"/>
                  <a:pt x="6425281" y="2680781"/>
                  <a:pt x="6349345" y="2675085"/>
                </a:cubicBezTo>
                <a:cubicBezTo>
                  <a:pt x="6337662" y="2666540"/>
                  <a:pt x="6320139" y="2669387"/>
                  <a:pt x="6302615" y="2669387"/>
                </a:cubicBezTo>
                <a:cubicBezTo>
                  <a:pt x="6267569" y="2666540"/>
                  <a:pt x="6238360" y="2680781"/>
                  <a:pt x="6203314" y="2672237"/>
                </a:cubicBezTo>
                <a:cubicBezTo>
                  <a:pt x="6174108" y="2672237"/>
                  <a:pt x="6150744" y="2672237"/>
                  <a:pt x="6121536" y="2672237"/>
                </a:cubicBezTo>
                <a:cubicBezTo>
                  <a:pt x="6086490" y="2672237"/>
                  <a:pt x="6045600" y="2675085"/>
                  <a:pt x="6010553" y="2669387"/>
                </a:cubicBezTo>
                <a:cubicBezTo>
                  <a:pt x="6004711" y="2669387"/>
                  <a:pt x="6004711" y="2666540"/>
                  <a:pt x="6004711" y="2663692"/>
                </a:cubicBezTo>
                <a:cubicBezTo>
                  <a:pt x="6004711" y="2666540"/>
                  <a:pt x="6004711" y="2666540"/>
                  <a:pt x="6004711" y="2666540"/>
                </a:cubicBezTo>
                <a:cubicBezTo>
                  <a:pt x="6010553" y="2666540"/>
                  <a:pt x="6010553" y="2669387"/>
                  <a:pt x="6010553" y="2669387"/>
                </a:cubicBezTo>
                <a:cubicBezTo>
                  <a:pt x="6004711" y="2669387"/>
                  <a:pt x="6004711" y="2669387"/>
                  <a:pt x="5998870" y="2669387"/>
                </a:cubicBezTo>
                <a:cubicBezTo>
                  <a:pt x="5998870" y="2669387"/>
                  <a:pt x="5993028" y="2669387"/>
                  <a:pt x="5993028" y="2669387"/>
                </a:cubicBezTo>
                <a:cubicBezTo>
                  <a:pt x="5987188" y="2672237"/>
                  <a:pt x="5987188" y="2669387"/>
                  <a:pt x="5981347" y="2669387"/>
                </a:cubicBezTo>
                <a:cubicBezTo>
                  <a:pt x="5975505" y="2669387"/>
                  <a:pt x="5975505" y="2669387"/>
                  <a:pt x="5969664" y="2669387"/>
                </a:cubicBezTo>
                <a:cubicBezTo>
                  <a:pt x="5952141" y="2666540"/>
                  <a:pt x="5940458" y="2666540"/>
                  <a:pt x="5928775" y="2669387"/>
                </a:cubicBezTo>
                <a:cubicBezTo>
                  <a:pt x="5922935" y="2669387"/>
                  <a:pt x="5922935" y="2669387"/>
                  <a:pt x="5917092" y="2669387"/>
                </a:cubicBezTo>
                <a:cubicBezTo>
                  <a:pt x="5864522" y="2669387"/>
                  <a:pt x="5811950" y="2672237"/>
                  <a:pt x="5759380" y="2666540"/>
                </a:cubicBezTo>
                <a:cubicBezTo>
                  <a:pt x="5753537" y="2666540"/>
                  <a:pt x="5753537" y="2666540"/>
                  <a:pt x="5747697" y="2666540"/>
                </a:cubicBezTo>
                <a:lnTo>
                  <a:pt x="5746466" y="2662941"/>
                </a:lnTo>
                <a:lnTo>
                  <a:pt x="5749157" y="2660842"/>
                </a:lnTo>
                <a:lnTo>
                  <a:pt x="5749092" y="2660594"/>
                </a:lnTo>
                <a:lnTo>
                  <a:pt x="5753537" y="2657994"/>
                </a:lnTo>
                <a:cubicBezTo>
                  <a:pt x="5753537" y="2657994"/>
                  <a:pt x="5747697" y="2655145"/>
                  <a:pt x="5747697" y="2655145"/>
                </a:cubicBezTo>
                <a:lnTo>
                  <a:pt x="5749092" y="2660594"/>
                </a:lnTo>
                <a:lnTo>
                  <a:pt x="5746236" y="2662266"/>
                </a:lnTo>
                <a:lnTo>
                  <a:pt x="5746466" y="2662941"/>
                </a:lnTo>
                <a:lnTo>
                  <a:pt x="5741857" y="2666540"/>
                </a:lnTo>
                <a:cubicBezTo>
                  <a:pt x="5736014" y="2669387"/>
                  <a:pt x="5724331" y="2669387"/>
                  <a:pt x="5718491" y="2666540"/>
                </a:cubicBezTo>
                <a:cubicBezTo>
                  <a:pt x="5683443" y="2683632"/>
                  <a:pt x="5636715" y="2689327"/>
                  <a:pt x="5584141" y="2689327"/>
                </a:cubicBezTo>
                <a:cubicBezTo>
                  <a:pt x="5514048" y="2689327"/>
                  <a:pt x="5438112" y="2692179"/>
                  <a:pt x="5368016" y="2697875"/>
                </a:cubicBezTo>
                <a:cubicBezTo>
                  <a:pt x="5356334" y="2697875"/>
                  <a:pt x="5350493" y="2697875"/>
                  <a:pt x="5338810" y="2697875"/>
                </a:cubicBezTo>
                <a:cubicBezTo>
                  <a:pt x="5338810" y="2697875"/>
                  <a:pt x="5338810" y="2697875"/>
                  <a:pt x="5332968" y="2697875"/>
                </a:cubicBezTo>
                <a:cubicBezTo>
                  <a:pt x="5332968" y="2700723"/>
                  <a:pt x="5332968" y="2697875"/>
                  <a:pt x="5327127" y="2697875"/>
                </a:cubicBezTo>
                <a:cubicBezTo>
                  <a:pt x="5303764" y="2692179"/>
                  <a:pt x="5280396" y="2695028"/>
                  <a:pt x="5257033" y="2697875"/>
                </a:cubicBezTo>
                <a:cubicBezTo>
                  <a:pt x="5233668" y="2700723"/>
                  <a:pt x="5216142" y="2703573"/>
                  <a:pt x="5192779" y="2706422"/>
                </a:cubicBezTo>
                <a:cubicBezTo>
                  <a:pt x="5175254" y="2709269"/>
                  <a:pt x="5157731" y="2712118"/>
                  <a:pt x="5140207" y="2709269"/>
                </a:cubicBezTo>
                <a:cubicBezTo>
                  <a:pt x="5046748" y="2714967"/>
                  <a:pt x="4953287" y="2717816"/>
                  <a:pt x="4865671" y="2729209"/>
                </a:cubicBezTo>
                <a:cubicBezTo>
                  <a:pt x="4836462" y="2734908"/>
                  <a:pt x="4801415" y="2740604"/>
                  <a:pt x="4766369" y="2734908"/>
                </a:cubicBezTo>
                <a:cubicBezTo>
                  <a:pt x="4743003" y="2734908"/>
                  <a:pt x="4713797" y="2737756"/>
                  <a:pt x="4690433" y="2740604"/>
                </a:cubicBezTo>
                <a:cubicBezTo>
                  <a:pt x="4672910" y="2740604"/>
                  <a:pt x="4661225" y="2740604"/>
                  <a:pt x="4649542" y="2740604"/>
                </a:cubicBezTo>
                <a:cubicBezTo>
                  <a:pt x="4643701" y="2746301"/>
                  <a:pt x="4626178" y="2743453"/>
                  <a:pt x="4614496" y="2749151"/>
                </a:cubicBezTo>
                <a:cubicBezTo>
                  <a:pt x="4608655" y="2749151"/>
                  <a:pt x="4608655" y="2749151"/>
                  <a:pt x="4602813" y="2749151"/>
                </a:cubicBezTo>
                <a:cubicBezTo>
                  <a:pt x="4579448" y="2751998"/>
                  <a:pt x="4550243" y="2754847"/>
                  <a:pt x="4526877" y="2751998"/>
                </a:cubicBezTo>
                <a:cubicBezTo>
                  <a:pt x="4503511" y="2763392"/>
                  <a:pt x="4468464" y="2760545"/>
                  <a:pt x="4439258" y="2766241"/>
                </a:cubicBezTo>
                <a:cubicBezTo>
                  <a:pt x="4433418" y="2766241"/>
                  <a:pt x="4427577" y="2769093"/>
                  <a:pt x="4415894" y="2769093"/>
                </a:cubicBezTo>
                <a:cubicBezTo>
                  <a:pt x="4410052" y="2769093"/>
                  <a:pt x="4404211" y="2771938"/>
                  <a:pt x="4392528" y="2771938"/>
                </a:cubicBezTo>
                <a:cubicBezTo>
                  <a:pt x="4386686" y="2771938"/>
                  <a:pt x="4386686" y="2771938"/>
                  <a:pt x="4380845" y="2771938"/>
                </a:cubicBezTo>
                <a:cubicBezTo>
                  <a:pt x="4357482" y="2774787"/>
                  <a:pt x="4328274" y="2777637"/>
                  <a:pt x="4304910" y="2780485"/>
                </a:cubicBezTo>
                <a:cubicBezTo>
                  <a:pt x="4252337" y="2789032"/>
                  <a:pt x="4205608" y="2794728"/>
                  <a:pt x="4153037" y="2800425"/>
                </a:cubicBezTo>
                <a:cubicBezTo>
                  <a:pt x="4123830" y="2806122"/>
                  <a:pt x="4100466" y="2808973"/>
                  <a:pt x="4077101" y="2811819"/>
                </a:cubicBezTo>
                <a:cubicBezTo>
                  <a:pt x="4071259" y="2811819"/>
                  <a:pt x="4059576" y="2814669"/>
                  <a:pt x="4053736" y="2814669"/>
                </a:cubicBezTo>
                <a:cubicBezTo>
                  <a:pt x="4042054" y="2814669"/>
                  <a:pt x="4030371" y="2814669"/>
                  <a:pt x="4018688" y="2820364"/>
                </a:cubicBezTo>
                <a:cubicBezTo>
                  <a:pt x="4012847" y="2823213"/>
                  <a:pt x="4012847" y="2823213"/>
                  <a:pt x="4007005" y="2826061"/>
                </a:cubicBezTo>
                <a:cubicBezTo>
                  <a:pt x="3977800" y="2823213"/>
                  <a:pt x="3960276" y="2837456"/>
                  <a:pt x="3931069" y="2834607"/>
                </a:cubicBezTo>
                <a:cubicBezTo>
                  <a:pt x="3936911" y="2828911"/>
                  <a:pt x="3936911" y="2823213"/>
                  <a:pt x="3936911" y="2817519"/>
                </a:cubicBezTo>
                <a:cubicBezTo>
                  <a:pt x="3936911" y="2811819"/>
                  <a:pt x="3931069" y="2808973"/>
                  <a:pt x="3919388" y="2808973"/>
                </a:cubicBezTo>
                <a:cubicBezTo>
                  <a:pt x="3913546" y="2803274"/>
                  <a:pt x="3884340" y="2797578"/>
                  <a:pt x="3925228" y="2791879"/>
                </a:cubicBezTo>
                <a:cubicBezTo>
                  <a:pt x="3931069" y="2791879"/>
                  <a:pt x="3942752" y="2786182"/>
                  <a:pt x="3954435" y="2783334"/>
                </a:cubicBezTo>
                <a:cubicBezTo>
                  <a:pt x="3954435" y="2783334"/>
                  <a:pt x="3960276" y="2783334"/>
                  <a:pt x="3960276" y="2783334"/>
                </a:cubicBezTo>
                <a:cubicBezTo>
                  <a:pt x="3966117" y="2783334"/>
                  <a:pt x="3977800" y="2786182"/>
                  <a:pt x="3983640" y="2786182"/>
                </a:cubicBezTo>
                <a:cubicBezTo>
                  <a:pt x="3983640" y="2783334"/>
                  <a:pt x="3989482" y="2780485"/>
                  <a:pt x="4001165" y="2780485"/>
                </a:cubicBezTo>
                <a:cubicBezTo>
                  <a:pt x="4012847" y="2766241"/>
                  <a:pt x="4042054" y="2763392"/>
                  <a:pt x="4077101" y="2763392"/>
                </a:cubicBezTo>
                <a:cubicBezTo>
                  <a:pt x="4082942" y="2763392"/>
                  <a:pt x="4094624" y="2763392"/>
                  <a:pt x="4106307" y="2763392"/>
                </a:cubicBezTo>
                <a:cubicBezTo>
                  <a:pt x="4106307" y="2760545"/>
                  <a:pt x="4106307" y="2760545"/>
                  <a:pt x="4106307" y="2760545"/>
                </a:cubicBezTo>
                <a:cubicBezTo>
                  <a:pt x="4106307" y="2760545"/>
                  <a:pt x="4106307" y="2760545"/>
                  <a:pt x="4112149" y="2760545"/>
                </a:cubicBezTo>
                <a:cubicBezTo>
                  <a:pt x="4112149" y="2760545"/>
                  <a:pt x="4117989" y="2760545"/>
                  <a:pt x="4117989" y="2760545"/>
                </a:cubicBezTo>
                <a:cubicBezTo>
                  <a:pt x="4117989" y="2760545"/>
                  <a:pt x="4117989" y="2757695"/>
                  <a:pt x="4117989" y="2754847"/>
                </a:cubicBezTo>
                <a:cubicBezTo>
                  <a:pt x="4123830" y="2754847"/>
                  <a:pt x="4129672" y="2751998"/>
                  <a:pt x="4135513" y="2751998"/>
                </a:cubicBezTo>
                <a:cubicBezTo>
                  <a:pt x="4205608" y="2740604"/>
                  <a:pt x="4281546" y="2743453"/>
                  <a:pt x="4345799" y="2726362"/>
                </a:cubicBezTo>
                <a:cubicBezTo>
                  <a:pt x="4526877" y="2706422"/>
                  <a:pt x="4713797" y="2689327"/>
                  <a:pt x="4900717" y="2677933"/>
                </a:cubicBezTo>
                <a:cubicBezTo>
                  <a:pt x="4912400" y="2672237"/>
                  <a:pt x="4935764" y="2669387"/>
                  <a:pt x="4953287" y="2669387"/>
                </a:cubicBezTo>
                <a:cubicBezTo>
                  <a:pt x="4988336" y="2666540"/>
                  <a:pt x="5023382" y="2663692"/>
                  <a:pt x="5058431" y="2660842"/>
                </a:cubicBezTo>
                <a:cubicBezTo>
                  <a:pt x="5169413" y="2655145"/>
                  <a:pt x="5274555" y="2649447"/>
                  <a:pt x="5385540" y="2646598"/>
                </a:cubicBezTo>
                <a:cubicBezTo>
                  <a:pt x="5484842" y="2640901"/>
                  <a:pt x="5578301" y="2638053"/>
                  <a:pt x="5677602" y="2635204"/>
                </a:cubicBezTo>
                <a:cubicBezTo>
                  <a:pt x="5700966" y="2629507"/>
                  <a:pt x="5730174" y="2626659"/>
                  <a:pt x="5759380" y="2623811"/>
                </a:cubicBezTo>
                <a:cubicBezTo>
                  <a:pt x="5800267" y="2623811"/>
                  <a:pt x="5846996" y="2620961"/>
                  <a:pt x="5882046" y="2635204"/>
                </a:cubicBezTo>
                <a:cubicBezTo>
                  <a:pt x="5882046" y="2635204"/>
                  <a:pt x="5887888" y="2635204"/>
                  <a:pt x="5887888" y="2635204"/>
                </a:cubicBezTo>
                <a:cubicBezTo>
                  <a:pt x="5887888" y="2635204"/>
                  <a:pt x="5882046" y="2632357"/>
                  <a:pt x="5893728" y="2629507"/>
                </a:cubicBezTo>
                <a:cubicBezTo>
                  <a:pt x="5940458" y="2620961"/>
                  <a:pt x="5993028" y="2626659"/>
                  <a:pt x="6039757" y="2623811"/>
                </a:cubicBezTo>
                <a:cubicBezTo>
                  <a:pt x="6080649" y="2626659"/>
                  <a:pt x="6121536" y="2626659"/>
                  <a:pt x="6156585" y="2629507"/>
                </a:cubicBezTo>
                <a:cubicBezTo>
                  <a:pt x="6174108" y="2638053"/>
                  <a:pt x="6191631" y="2640901"/>
                  <a:pt x="6214997" y="2632357"/>
                </a:cubicBezTo>
                <a:cubicBezTo>
                  <a:pt x="6261726" y="2629507"/>
                  <a:pt x="6314298" y="2632357"/>
                  <a:pt x="6361028" y="2632357"/>
                </a:cubicBezTo>
                <a:cubicBezTo>
                  <a:pt x="6372711" y="2635204"/>
                  <a:pt x="6390234" y="2635204"/>
                  <a:pt x="6401917" y="2638053"/>
                </a:cubicBezTo>
                <a:cubicBezTo>
                  <a:pt x="6460330" y="2640901"/>
                  <a:pt x="6524582" y="2640901"/>
                  <a:pt x="6582995" y="2643750"/>
                </a:cubicBezTo>
                <a:cubicBezTo>
                  <a:pt x="6635565" y="2646598"/>
                  <a:pt x="6641407" y="2652297"/>
                  <a:pt x="6629724" y="2666540"/>
                </a:cubicBezTo>
                <a:cubicBezTo>
                  <a:pt x="6658930" y="2669387"/>
                  <a:pt x="6670613" y="2666540"/>
                  <a:pt x="6664771" y="2649447"/>
                </a:cubicBezTo>
                <a:cubicBezTo>
                  <a:pt x="6664771" y="2646598"/>
                  <a:pt x="6664771" y="2646598"/>
                  <a:pt x="6664771" y="2643750"/>
                </a:cubicBezTo>
                <a:cubicBezTo>
                  <a:pt x="6623882" y="2640901"/>
                  <a:pt x="6582995" y="2643750"/>
                  <a:pt x="6547946" y="2635204"/>
                </a:cubicBezTo>
                <a:cubicBezTo>
                  <a:pt x="6530423" y="2632357"/>
                  <a:pt x="6518742" y="2632357"/>
                  <a:pt x="6507059" y="2632357"/>
                </a:cubicBezTo>
                <a:cubicBezTo>
                  <a:pt x="6495376" y="2632357"/>
                  <a:pt x="6477853" y="2632357"/>
                  <a:pt x="6466170" y="2632357"/>
                </a:cubicBezTo>
                <a:cubicBezTo>
                  <a:pt x="6442804" y="2626659"/>
                  <a:pt x="6413598" y="2626659"/>
                  <a:pt x="6390234" y="2618114"/>
                </a:cubicBezTo>
                <a:cubicBezTo>
                  <a:pt x="6314298" y="2612415"/>
                  <a:pt x="6238360" y="2612415"/>
                  <a:pt x="6168267" y="2601021"/>
                </a:cubicBezTo>
                <a:cubicBezTo>
                  <a:pt x="6162424" y="2601021"/>
                  <a:pt x="6156585" y="2601021"/>
                  <a:pt x="6144901" y="2601021"/>
                </a:cubicBezTo>
                <a:cubicBezTo>
                  <a:pt x="6144901" y="2598173"/>
                  <a:pt x="6144901" y="2595324"/>
                  <a:pt x="6144901" y="2595324"/>
                </a:cubicBezTo>
                <a:cubicBezTo>
                  <a:pt x="6092330" y="2589626"/>
                  <a:pt x="6039757" y="2586777"/>
                  <a:pt x="5981347" y="2586777"/>
                </a:cubicBezTo>
                <a:cubicBezTo>
                  <a:pt x="5899569" y="2586777"/>
                  <a:pt x="5823633" y="2592476"/>
                  <a:pt x="5741857" y="2589626"/>
                </a:cubicBezTo>
                <a:lnTo>
                  <a:pt x="5537255" y="2592399"/>
                </a:lnTo>
                <a:lnTo>
                  <a:pt x="5531571" y="2589626"/>
                </a:lnTo>
                <a:cubicBezTo>
                  <a:pt x="5531571" y="2589626"/>
                  <a:pt x="5531571" y="2592476"/>
                  <a:pt x="5531571" y="2592476"/>
                </a:cubicBezTo>
                <a:lnTo>
                  <a:pt x="5537255" y="2592399"/>
                </a:lnTo>
                <a:lnTo>
                  <a:pt x="5537412" y="2592476"/>
                </a:lnTo>
                <a:cubicBezTo>
                  <a:pt x="5502365" y="2601021"/>
                  <a:pt x="5467316" y="2601021"/>
                  <a:pt x="5432270" y="2598173"/>
                </a:cubicBezTo>
                <a:cubicBezTo>
                  <a:pt x="5408903" y="2598173"/>
                  <a:pt x="5385540" y="2592476"/>
                  <a:pt x="5362174" y="2595324"/>
                </a:cubicBezTo>
                <a:cubicBezTo>
                  <a:pt x="5356334" y="2598173"/>
                  <a:pt x="5356334" y="2598173"/>
                  <a:pt x="5356334" y="2598173"/>
                </a:cubicBezTo>
                <a:cubicBezTo>
                  <a:pt x="5350493" y="2598173"/>
                  <a:pt x="5350493" y="2598173"/>
                  <a:pt x="5344651" y="2598173"/>
                </a:cubicBezTo>
                <a:cubicBezTo>
                  <a:pt x="5344651" y="2598173"/>
                  <a:pt x="5344651" y="2598173"/>
                  <a:pt x="5338810" y="2598173"/>
                </a:cubicBezTo>
                <a:lnTo>
                  <a:pt x="5332968" y="2598173"/>
                </a:lnTo>
                <a:cubicBezTo>
                  <a:pt x="5239509" y="2606720"/>
                  <a:pt x="5146048" y="2609568"/>
                  <a:pt x="5052589" y="2618114"/>
                </a:cubicBezTo>
                <a:cubicBezTo>
                  <a:pt x="4994176" y="2620961"/>
                  <a:pt x="4935764" y="2626659"/>
                  <a:pt x="4877351" y="2623811"/>
                </a:cubicBezTo>
                <a:cubicBezTo>
                  <a:pt x="4883194" y="2620961"/>
                  <a:pt x="4894874" y="2620961"/>
                  <a:pt x="4900717" y="2618114"/>
                </a:cubicBezTo>
                <a:cubicBezTo>
                  <a:pt x="4889034" y="2618114"/>
                  <a:pt x="4889034" y="2620961"/>
                  <a:pt x="4877351" y="2620961"/>
                </a:cubicBezTo>
                <a:cubicBezTo>
                  <a:pt x="4801415" y="2629507"/>
                  <a:pt x="4725479" y="2632357"/>
                  <a:pt x="4649542" y="2640901"/>
                </a:cubicBezTo>
                <a:cubicBezTo>
                  <a:pt x="4550243" y="2652297"/>
                  <a:pt x="4456781" y="2657994"/>
                  <a:pt x="4363322" y="2672237"/>
                </a:cubicBezTo>
                <a:cubicBezTo>
                  <a:pt x="4258180" y="2686481"/>
                  <a:pt x="4153037" y="2697875"/>
                  <a:pt x="4047895" y="2712118"/>
                </a:cubicBezTo>
                <a:cubicBezTo>
                  <a:pt x="4001165" y="2720664"/>
                  <a:pt x="3948594" y="2729209"/>
                  <a:pt x="3896021" y="2737756"/>
                </a:cubicBezTo>
                <a:cubicBezTo>
                  <a:pt x="3843472" y="2746301"/>
                  <a:pt x="3796742" y="2754847"/>
                  <a:pt x="3744168" y="2757695"/>
                </a:cubicBezTo>
                <a:cubicBezTo>
                  <a:pt x="3732484" y="2763392"/>
                  <a:pt x="3714960" y="2766241"/>
                  <a:pt x="3697439" y="2769093"/>
                </a:cubicBezTo>
                <a:cubicBezTo>
                  <a:pt x="3621501" y="2783334"/>
                  <a:pt x="3539727" y="2797578"/>
                  <a:pt x="3457947" y="2808973"/>
                </a:cubicBezTo>
                <a:cubicBezTo>
                  <a:pt x="3452105" y="2808973"/>
                  <a:pt x="3452105" y="2811819"/>
                  <a:pt x="3446266" y="2811819"/>
                </a:cubicBezTo>
                <a:cubicBezTo>
                  <a:pt x="3434583" y="2820364"/>
                  <a:pt x="3417060" y="2823213"/>
                  <a:pt x="3399536" y="2814669"/>
                </a:cubicBezTo>
                <a:cubicBezTo>
                  <a:pt x="3271024" y="2837456"/>
                  <a:pt x="3148358" y="2860244"/>
                  <a:pt x="3025693" y="2885883"/>
                </a:cubicBezTo>
                <a:cubicBezTo>
                  <a:pt x="3019851" y="2888731"/>
                  <a:pt x="3008171" y="2891581"/>
                  <a:pt x="3002329" y="2891581"/>
                </a:cubicBezTo>
                <a:cubicBezTo>
                  <a:pt x="2990646" y="2894428"/>
                  <a:pt x="2978963" y="2897278"/>
                  <a:pt x="2967279" y="2900126"/>
                </a:cubicBezTo>
                <a:cubicBezTo>
                  <a:pt x="2961438" y="2905824"/>
                  <a:pt x="2943914" y="2905824"/>
                  <a:pt x="2932234" y="2905824"/>
                </a:cubicBezTo>
                <a:cubicBezTo>
                  <a:pt x="2926392" y="2911521"/>
                  <a:pt x="2908867" y="2914368"/>
                  <a:pt x="2897184" y="2917217"/>
                </a:cubicBezTo>
                <a:cubicBezTo>
                  <a:pt x="2792042" y="2940007"/>
                  <a:pt x="2686899" y="2962795"/>
                  <a:pt x="2587601" y="2988434"/>
                </a:cubicBezTo>
                <a:cubicBezTo>
                  <a:pt x="2511664" y="3005525"/>
                  <a:pt x="2441567" y="3025464"/>
                  <a:pt x="2365631" y="3045405"/>
                </a:cubicBezTo>
                <a:cubicBezTo>
                  <a:pt x="2301378" y="3065346"/>
                  <a:pt x="2231284" y="3085285"/>
                  <a:pt x="2161189" y="3102379"/>
                </a:cubicBezTo>
                <a:cubicBezTo>
                  <a:pt x="2096935" y="3116620"/>
                  <a:pt x="2038524" y="3133713"/>
                  <a:pt x="1985952" y="3153654"/>
                </a:cubicBezTo>
                <a:cubicBezTo>
                  <a:pt x="1985952" y="3153654"/>
                  <a:pt x="1985952" y="3153654"/>
                  <a:pt x="1985952" y="3156502"/>
                </a:cubicBezTo>
                <a:cubicBezTo>
                  <a:pt x="1980110" y="3156502"/>
                  <a:pt x="1980110" y="3156502"/>
                  <a:pt x="1974271" y="3156502"/>
                </a:cubicBezTo>
                <a:cubicBezTo>
                  <a:pt x="1921700" y="3170746"/>
                  <a:pt x="1863285" y="3184988"/>
                  <a:pt x="1822397" y="3207778"/>
                </a:cubicBezTo>
                <a:cubicBezTo>
                  <a:pt x="1799031" y="3210626"/>
                  <a:pt x="1781508" y="3216323"/>
                  <a:pt x="1769826" y="3222021"/>
                </a:cubicBezTo>
                <a:cubicBezTo>
                  <a:pt x="1758144" y="3227721"/>
                  <a:pt x="1740620" y="3236264"/>
                  <a:pt x="1717256" y="3236264"/>
                </a:cubicBezTo>
                <a:cubicBezTo>
                  <a:pt x="1705573" y="3241961"/>
                  <a:pt x="1688048" y="3244807"/>
                  <a:pt x="1676365" y="3250510"/>
                </a:cubicBezTo>
                <a:cubicBezTo>
                  <a:pt x="1664684" y="3253354"/>
                  <a:pt x="1658844" y="3256202"/>
                  <a:pt x="1653002" y="3259058"/>
                </a:cubicBezTo>
                <a:cubicBezTo>
                  <a:pt x="1629637" y="3278999"/>
                  <a:pt x="1588748" y="3284689"/>
                  <a:pt x="1553700" y="3293238"/>
                </a:cubicBezTo>
                <a:cubicBezTo>
                  <a:pt x="1547860" y="3298927"/>
                  <a:pt x="1536177" y="3304632"/>
                  <a:pt x="1524494" y="3307473"/>
                </a:cubicBezTo>
                <a:cubicBezTo>
                  <a:pt x="1466083" y="3327416"/>
                  <a:pt x="1413510" y="3347360"/>
                  <a:pt x="1355099" y="3367299"/>
                </a:cubicBezTo>
                <a:cubicBezTo>
                  <a:pt x="1349257" y="3367299"/>
                  <a:pt x="1349257" y="3370148"/>
                  <a:pt x="1343416" y="3370148"/>
                </a:cubicBezTo>
                <a:cubicBezTo>
                  <a:pt x="1331733" y="3375845"/>
                  <a:pt x="1314211" y="3381541"/>
                  <a:pt x="1296688" y="3381541"/>
                </a:cubicBezTo>
                <a:cubicBezTo>
                  <a:pt x="1279163" y="3390088"/>
                  <a:pt x="1261640" y="3395786"/>
                  <a:pt x="1244117" y="3401485"/>
                </a:cubicBezTo>
                <a:cubicBezTo>
                  <a:pt x="1226592" y="3410025"/>
                  <a:pt x="1209069" y="3415727"/>
                  <a:pt x="1191544" y="3421423"/>
                </a:cubicBezTo>
                <a:cubicBezTo>
                  <a:pt x="1162338" y="3441361"/>
                  <a:pt x="1121450" y="3452755"/>
                  <a:pt x="1086402" y="3469850"/>
                </a:cubicBezTo>
                <a:cubicBezTo>
                  <a:pt x="1080563" y="3484087"/>
                  <a:pt x="1051356" y="3495482"/>
                  <a:pt x="1033832" y="3509725"/>
                </a:cubicBezTo>
                <a:cubicBezTo>
                  <a:pt x="1033832" y="3509725"/>
                  <a:pt x="1039673" y="3512573"/>
                  <a:pt x="1039673" y="3512573"/>
                </a:cubicBezTo>
                <a:cubicBezTo>
                  <a:pt x="1033832" y="3515422"/>
                  <a:pt x="1027991" y="3518271"/>
                  <a:pt x="1022151" y="3521118"/>
                </a:cubicBezTo>
                <a:cubicBezTo>
                  <a:pt x="1004626" y="3541059"/>
                  <a:pt x="975420" y="3555303"/>
                  <a:pt x="952055" y="3572394"/>
                </a:cubicBezTo>
                <a:cubicBezTo>
                  <a:pt x="922849" y="3589485"/>
                  <a:pt x="876119" y="3606578"/>
                  <a:pt x="835230" y="3620820"/>
                </a:cubicBezTo>
                <a:cubicBezTo>
                  <a:pt x="823548" y="3623669"/>
                  <a:pt x="811865" y="3620820"/>
                  <a:pt x="806024" y="3617972"/>
                </a:cubicBezTo>
                <a:cubicBezTo>
                  <a:pt x="794342" y="3637912"/>
                  <a:pt x="759294" y="3652155"/>
                  <a:pt x="724246" y="3663549"/>
                </a:cubicBezTo>
                <a:cubicBezTo>
                  <a:pt x="683357" y="3677792"/>
                  <a:pt x="648309" y="3694885"/>
                  <a:pt x="613261" y="3711976"/>
                </a:cubicBezTo>
                <a:cubicBezTo>
                  <a:pt x="601579" y="3720522"/>
                  <a:pt x="584055" y="3729068"/>
                  <a:pt x="560690" y="3734765"/>
                </a:cubicBezTo>
                <a:cubicBezTo>
                  <a:pt x="537320" y="3743311"/>
                  <a:pt x="519796" y="3751856"/>
                  <a:pt x="508113" y="3763251"/>
                </a:cubicBezTo>
                <a:cubicBezTo>
                  <a:pt x="467225" y="3774645"/>
                  <a:pt x="426336" y="3788889"/>
                  <a:pt x="402971" y="3811678"/>
                </a:cubicBezTo>
                <a:cubicBezTo>
                  <a:pt x="385447" y="3820223"/>
                  <a:pt x="367923" y="3828769"/>
                  <a:pt x="344559" y="3834466"/>
                </a:cubicBezTo>
                <a:cubicBezTo>
                  <a:pt x="344559" y="3834466"/>
                  <a:pt x="344559" y="3837315"/>
                  <a:pt x="344559" y="3837315"/>
                </a:cubicBezTo>
                <a:cubicBezTo>
                  <a:pt x="338717" y="3840164"/>
                  <a:pt x="338717" y="3843012"/>
                  <a:pt x="332876" y="3843012"/>
                </a:cubicBezTo>
                <a:cubicBezTo>
                  <a:pt x="327035" y="3854406"/>
                  <a:pt x="315352" y="3862952"/>
                  <a:pt x="297829" y="3871498"/>
                </a:cubicBezTo>
                <a:cubicBezTo>
                  <a:pt x="268623" y="3885742"/>
                  <a:pt x="245258" y="3899985"/>
                  <a:pt x="221892" y="3914228"/>
                </a:cubicBezTo>
                <a:cubicBezTo>
                  <a:pt x="175162" y="3945562"/>
                  <a:pt x="116750" y="3965502"/>
                  <a:pt x="46655" y="3971199"/>
                </a:cubicBezTo>
                <a:cubicBezTo>
                  <a:pt x="29132" y="3972624"/>
                  <a:pt x="14528" y="3975473"/>
                  <a:pt x="1386" y="3979746"/>
                </a:cubicBezTo>
                <a:lnTo>
                  <a:pt x="0" y="3980394"/>
                </a:lnTo>
                <a:lnTo>
                  <a:pt x="0" y="3880029"/>
                </a:lnTo>
                <a:lnTo>
                  <a:pt x="29131" y="3874348"/>
                </a:lnTo>
                <a:cubicBezTo>
                  <a:pt x="29131" y="3874348"/>
                  <a:pt x="34972" y="3874348"/>
                  <a:pt x="34972" y="3874348"/>
                </a:cubicBezTo>
                <a:cubicBezTo>
                  <a:pt x="46655" y="3868649"/>
                  <a:pt x="58337" y="3862952"/>
                  <a:pt x="58337" y="3854406"/>
                </a:cubicBezTo>
                <a:cubicBezTo>
                  <a:pt x="87543" y="3837315"/>
                  <a:pt x="122591" y="3817375"/>
                  <a:pt x="157639" y="3800283"/>
                </a:cubicBezTo>
                <a:cubicBezTo>
                  <a:pt x="169321" y="3794585"/>
                  <a:pt x="175162" y="3791738"/>
                  <a:pt x="181004" y="3786039"/>
                </a:cubicBezTo>
                <a:cubicBezTo>
                  <a:pt x="227733" y="3757554"/>
                  <a:pt x="280306" y="3731916"/>
                  <a:pt x="332876" y="3703430"/>
                </a:cubicBezTo>
                <a:cubicBezTo>
                  <a:pt x="338717" y="3703430"/>
                  <a:pt x="338717" y="3700581"/>
                  <a:pt x="344559" y="3683489"/>
                </a:cubicBezTo>
                <a:cubicBezTo>
                  <a:pt x="350400" y="3680641"/>
                  <a:pt x="362082" y="3677792"/>
                  <a:pt x="367923" y="3674945"/>
                </a:cubicBezTo>
                <a:cubicBezTo>
                  <a:pt x="373765" y="3672095"/>
                  <a:pt x="385447" y="3666399"/>
                  <a:pt x="391288" y="3663549"/>
                </a:cubicBezTo>
                <a:cubicBezTo>
                  <a:pt x="438019" y="3640761"/>
                  <a:pt x="496432" y="3620820"/>
                  <a:pt x="543163" y="3595183"/>
                </a:cubicBezTo>
                <a:cubicBezTo>
                  <a:pt x="572373" y="3575243"/>
                  <a:pt x="607421" y="3561000"/>
                  <a:pt x="642467" y="3546757"/>
                </a:cubicBezTo>
                <a:cubicBezTo>
                  <a:pt x="735929" y="3509725"/>
                  <a:pt x="823548" y="3475546"/>
                  <a:pt x="911167" y="3438515"/>
                </a:cubicBezTo>
                <a:cubicBezTo>
                  <a:pt x="917007" y="3438515"/>
                  <a:pt x="922849" y="3435669"/>
                  <a:pt x="928690" y="3435669"/>
                </a:cubicBezTo>
                <a:cubicBezTo>
                  <a:pt x="934532" y="3432818"/>
                  <a:pt x="940372" y="3429968"/>
                  <a:pt x="940372" y="3427120"/>
                </a:cubicBezTo>
                <a:cubicBezTo>
                  <a:pt x="952055" y="3427120"/>
                  <a:pt x="957897" y="3421423"/>
                  <a:pt x="969578" y="3418572"/>
                </a:cubicBezTo>
                <a:cubicBezTo>
                  <a:pt x="981261" y="3412877"/>
                  <a:pt x="992944" y="3407179"/>
                  <a:pt x="1004626" y="3401485"/>
                </a:cubicBezTo>
                <a:cubicBezTo>
                  <a:pt x="1027991" y="3392937"/>
                  <a:pt x="1045514" y="3384391"/>
                  <a:pt x="1074722" y="3378695"/>
                </a:cubicBezTo>
                <a:cubicBezTo>
                  <a:pt x="1080563" y="3378695"/>
                  <a:pt x="1080563" y="3381541"/>
                  <a:pt x="1086402" y="3381541"/>
                </a:cubicBezTo>
                <a:cubicBezTo>
                  <a:pt x="1092244" y="3378695"/>
                  <a:pt x="1092244" y="3378695"/>
                  <a:pt x="1092244" y="3378695"/>
                </a:cubicBezTo>
                <a:cubicBezTo>
                  <a:pt x="1092244" y="3378695"/>
                  <a:pt x="1092244" y="3375845"/>
                  <a:pt x="1092244" y="3375845"/>
                </a:cubicBezTo>
                <a:cubicBezTo>
                  <a:pt x="1121450" y="3350205"/>
                  <a:pt x="1162338" y="3353057"/>
                  <a:pt x="1203227" y="3355905"/>
                </a:cubicBezTo>
                <a:cubicBezTo>
                  <a:pt x="1203227" y="3355905"/>
                  <a:pt x="1203227" y="3353057"/>
                  <a:pt x="1203227" y="3353057"/>
                </a:cubicBezTo>
                <a:cubicBezTo>
                  <a:pt x="1209069" y="3344514"/>
                  <a:pt x="1226592" y="3335964"/>
                  <a:pt x="1232434" y="3327416"/>
                </a:cubicBezTo>
                <a:cubicBezTo>
                  <a:pt x="1232434" y="3327416"/>
                  <a:pt x="1232434" y="3324573"/>
                  <a:pt x="1232434" y="3324573"/>
                </a:cubicBezTo>
                <a:cubicBezTo>
                  <a:pt x="1238275" y="3316023"/>
                  <a:pt x="1261640" y="3313181"/>
                  <a:pt x="1273323" y="3304632"/>
                </a:cubicBezTo>
                <a:cubicBezTo>
                  <a:pt x="1273323" y="3301786"/>
                  <a:pt x="1279163" y="3301786"/>
                  <a:pt x="1285005" y="3298927"/>
                </a:cubicBezTo>
                <a:cubicBezTo>
                  <a:pt x="1320052" y="3284689"/>
                  <a:pt x="1355099" y="3273295"/>
                  <a:pt x="1395987" y="3273295"/>
                </a:cubicBezTo>
                <a:cubicBezTo>
                  <a:pt x="1395987" y="3273295"/>
                  <a:pt x="1390145" y="3273295"/>
                  <a:pt x="1390145" y="3270453"/>
                </a:cubicBezTo>
                <a:cubicBezTo>
                  <a:pt x="1407670" y="3250510"/>
                  <a:pt x="1454399" y="3247663"/>
                  <a:pt x="1489447" y="3236264"/>
                </a:cubicBezTo>
                <a:cubicBezTo>
                  <a:pt x="1495289" y="3236264"/>
                  <a:pt x="1501129" y="3236264"/>
                  <a:pt x="1506971" y="3236264"/>
                </a:cubicBezTo>
                <a:cubicBezTo>
                  <a:pt x="1542018" y="3227721"/>
                  <a:pt x="1577065" y="3213474"/>
                  <a:pt x="1612113" y="3204929"/>
                </a:cubicBezTo>
                <a:cubicBezTo>
                  <a:pt x="1623796" y="3199232"/>
                  <a:pt x="1635477" y="3196382"/>
                  <a:pt x="1635477" y="3190687"/>
                </a:cubicBezTo>
                <a:cubicBezTo>
                  <a:pt x="1699732" y="3159353"/>
                  <a:pt x="1781508" y="3142259"/>
                  <a:pt x="1851603" y="3119471"/>
                </a:cubicBezTo>
                <a:cubicBezTo>
                  <a:pt x="1910016" y="3102379"/>
                  <a:pt x="1962585" y="3079592"/>
                  <a:pt x="2026840" y="3065346"/>
                </a:cubicBezTo>
                <a:cubicBezTo>
                  <a:pt x="2038524" y="3065346"/>
                  <a:pt x="2044367" y="3062497"/>
                  <a:pt x="2056046" y="3059650"/>
                </a:cubicBezTo>
                <a:cubicBezTo>
                  <a:pt x="2067729" y="3056799"/>
                  <a:pt x="2073571" y="3053951"/>
                  <a:pt x="2079411" y="3051103"/>
                </a:cubicBezTo>
                <a:cubicBezTo>
                  <a:pt x="2085252" y="3051103"/>
                  <a:pt x="2085252" y="3048254"/>
                  <a:pt x="2091095" y="3048254"/>
                </a:cubicBezTo>
                <a:cubicBezTo>
                  <a:pt x="2091095" y="3045405"/>
                  <a:pt x="2096935" y="3045405"/>
                  <a:pt x="2096935" y="3045405"/>
                </a:cubicBezTo>
                <a:cubicBezTo>
                  <a:pt x="2108619" y="3045405"/>
                  <a:pt x="2108619" y="3042557"/>
                  <a:pt x="2114459" y="3039708"/>
                </a:cubicBezTo>
                <a:cubicBezTo>
                  <a:pt x="2126142" y="3034012"/>
                  <a:pt x="2137823" y="3028315"/>
                  <a:pt x="2155349" y="3022617"/>
                </a:cubicBezTo>
                <a:cubicBezTo>
                  <a:pt x="2178714" y="3016919"/>
                  <a:pt x="2196236" y="3014071"/>
                  <a:pt x="2219601" y="3016919"/>
                </a:cubicBezTo>
                <a:cubicBezTo>
                  <a:pt x="2219601" y="3019768"/>
                  <a:pt x="2219601" y="3019768"/>
                  <a:pt x="2219601" y="3019768"/>
                </a:cubicBezTo>
                <a:cubicBezTo>
                  <a:pt x="2248807" y="3008373"/>
                  <a:pt x="2289695" y="2999829"/>
                  <a:pt x="2313061" y="2985584"/>
                </a:cubicBezTo>
                <a:cubicBezTo>
                  <a:pt x="2324744" y="2985584"/>
                  <a:pt x="2336426" y="2982738"/>
                  <a:pt x="2348109" y="2982738"/>
                </a:cubicBezTo>
                <a:cubicBezTo>
                  <a:pt x="2353948" y="2982738"/>
                  <a:pt x="2359790" y="2979890"/>
                  <a:pt x="2371472" y="2977039"/>
                </a:cubicBezTo>
                <a:cubicBezTo>
                  <a:pt x="2377311" y="2977039"/>
                  <a:pt x="2377311" y="2977039"/>
                  <a:pt x="2377311" y="2974191"/>
                </a:cubicBezTo>
                <a:cubicBezTo>
                  <a:pt x="2388995" y="2968494"/>
                  <a:pt x="2406519" y="2962795"/>
                  <a:pt x="2418201" y="2957099"/>
                </a:cubicBezTo>
                <a:cubicBezTo>
                  <a:pt x="2424042" y="2957099"/>
                  <a:pt x="2429883" y="2954250"/>
                  <a:pt x="2435725" y="2954250"/>
                </a:cubicBezTo>
                <a:cubicBezTo>
                  <a:pt x="2459091" y="2951402"/>
                  <a:pt x="2482456" y="2942855"/>
                  <a:pt x="2505822" y="2945704"/>
                </a:cubicBezTo>
                <a:cubicBezTo>
                  <a:pt x="2505822" y="2948553"/>
                  <a:pt x="2505822" y="2948553"/>
                  <a:pt x="2505822" y="2948553"/>
                </a:cubicBezTo>
                <a:cubicBezTo>
                  <a:pt x="2535028" y="2934310"/>
                  <a:pt x="2581761" y="2925763"/>
                  <a:pt x="2610964" y="2911521"/>
                </a:cubicBezTo>
                <a:cubicBezTo>
                  <a:pt x="2616807" y="2908673"/>
                  <a:pt x="2622646" y="2908673"/>
                  <a:pt x="2628489" y="2905824"/>
                </a:cubicBezTo>
                <a:cubicBezTo>
                  <a:pt x="2640174" y="2902974"/>
                  <a:pt x="2651851" y="2900126"/>
                  <a:pt x="2663537" y="2900126"/>
                </a:cubicBezTo>
                <a:cubicBezTo>
                  <a:pt x="2657694" y="2897278"/>
                  <a:pt x="2646012" y="2897278"/>
                  <a:pt x="2646012" y="2891581"/>
                </a:cubicBezTo>
                <a:cubicBezTo>
                  <a:pt x="2640174" y="2877337"/>
                  <a:pt x="2681060" y="2874490"/>
                  <a:pt x="2692740" y="2865943"/>
                </a:cubicBezTo>
                <a:cubicBezTo>
                  <a:pt x="2745314" y="2857396"/>
                  <a:pt x="2797884" y="2843154"/>
                  <a:pt x="2850453" y="2831760"/>
                </a:cubicBezTo>
                <a:cubicBezTo>
                  <a:pt x="2908867" y="2817519"/>
                  <a:pt x="2967279" y="2794728"/>
                  <a:pt x="3037375" y="2794728"/>
                </a:cubicBezTo>
                <a:cubicBezTo>
                  <a:pt x="3049059" y="2794728"/>
                  <a:pt x="3054896" y="2791879"/>
                  <a:pt x="3060739" y="2789032"/>
                </a:cubicBezTo>
                <a:cubicBezTo>
                  <a:pt x="3089944" y="2774787"/>
                  <a:pt x="3130833" y="2771938"/>
                  <a:pt x="3165881" y="2763392"/>
                </a:cubicBezTo>
                <a:cubicBezTo>
                  <a:pt x="3177563" y="2757695"/>
                  <a:pt x="3183405" y="2757695"/>
                  <a:pt x="3195089" y="2757695"/>
                </a:cubicBezTo>
                <a:cubicBezTo>
                  <a:pt x="3259342" y="2737756"/>
                  <a:pt x="3329439" y="2726362"/>
                  <a:pt x="3399536" y="2714967"/>
                </a:cubicBezTo>
                <a:cubicBezTo>
                  <a:pt x="3504678" y="2695028"/>
                  <a:pt x="3609818" y="2677933"/>
                  <a:pt x="3714960" y="2660842"/>
                </a:cubicBezTo>
                <a:cubicBezTo>
                  <a:pt x="3714960" y="2657994"/>
                  <a:pt x="3720809" y="2657994"/>
                  <a:pt x="3720809" y="2657994"/>
                </a:cubicBezTo>
                <a:cubicBezTo>
                  <a:pt x="3761693" y="2652297"/>
                  <a:pt x="3808427" y="2643750"/>
                  <a:pt x="3855146" y="2638053"/>
                </a:cubicBezTo>
                <a:cubicBezTo>
                  <a:pt x="3931069" y="2626659"/>
                  <a:pt x="4001165" y="2618114"/>
                  <a:pt x="4077101" y="2606720"/>
                </a:cubicBezTo>
                <a:cubicBezTo>
                  <a:pt x="4094624" y="2601021"/>
                  <a:pt x="4112149" y="2601021"/>
                  <a:pt x="4129672" y="2595324"/>
                </a:cubicBezTo>
                <a:cubicBezTo>
                  <a:pt x="4141354" y="2592476"/>
                  <a:pt x="4158878" y="2592476"/>
                  <a:pt x="4170561" y="2592476"/>
                </a:cubicBezTo>
                <a:cubicBezTo>
                  <a:pt x="4176403" y="2592476"/>
                  <a:pt x="4176403" y="2592476"/>
                  <a:pt x="4176403" y="2592476"/>
                </a:cubicBezTo>
                <a:cubicBezTo>
                  <a:pt x="4223132" y="2586777"/>
                  <a:pt x="4275703" y="2581080"/>
                  <a:pt x="4322433" y="2575384"/>
                </a:cubicBezTo>
                <a:cubicBezTo>
                  <a:pt x="4369165" y="2569686"/>
                  <a:pt x="4410052" y="2561140"/>
                  <a:pt x="4456781" y="2563987"/>
                </a:cubicBezTo>
                <a:cubicBezTo>
                  <a:pt x="4462624" y="2563987"/>
                  <a:pt x="4462624" y="2563987"/>
                  <a:pt x="4468464" y="2563987"/>
                </a:cubicBezTo>
                <a:cubicBezTo>
                  <a:pt x="4485988" y="2558291"/>
                  <a:pt x="4503511" y="2558291"/>
                  <a:pt x="4521036" y="2555443"/>
                </a:cubicBezTo>
                <a:cubicBezTo>
                  <a:pt x="4585289" y="2549746"/>
                  <a:pt x="4649542" y="2544048"/>
                  <a:pt x="4713797" y="2538351"/>
                </a:cubicBezTo>
                <a:cubicBezTo>
                  <a:pt x="4813099" y="2529805"/>
                  <a:pt x="4912400" y="2515563"/>
                  <a:pt x="5011700" y="2515563"/>
                </a:cubicBezTo>
                <a:cubicBezTo>
                  <a:pt x="5128525" y="2515563"/>
                  <a:pt x="5239509" y="2509865"/>
                  <a:pt x="5356334" y="2504168"/>
                </a:cubicBezTo>
                <a:cubicBezTo>
                  <a:pt x="5368016" y="2504168"/>
                  <a:pt x="5373857" y="2504168"/>
                  <a:pt x="5385540" y="2504168"/>
                </a:cubicBezTo>
                <a:cubicBezTo>
                  <a:pt x="5391380" y="2504168"/>
                  <a:pt x="5397223" y="2504168"/>
                  <a:pt x="5403063" y="2504168"/>
                </a:cubicBezTo>
                <a:cubicBezTo>
                  <a:pt x="5403063" y="2504168"/>
                  <a:pt x="5408903" y="2504168"/>
                  <a:pt x="5408903" y="2504168"/>
                </a:cubicBezTo>
                <a:cubicBezTo>
                  <a:pt x="5461476" y="2504168"/>
                  <a:pt x="5514048" y="2495622"/>
                  <a:pt x="5566618" y="2498471"/>
                </a:cubicBezTo>
                <a:cubicBezTo>
                  <a:pt x="5572460" y="2495622"/>
                  <a:pt x="5578301" y="2492772"/>
                  <a:pt x="5584141" y="2492772"/>
                </a:cubicBezTo>
                <a:cubicBezTo>
                  <a:pt x="5601664" y="2489923"/>
                  <a:pt x="5625032" y="2489923"/>
                  <a:pt x="5648396" y="2489923"/>
                </a:cubicBezTo>
                <a:cubicBezTo>
                  <a:pt x="5765221" y="2489923"/>
                  <a:pt x="5870363" y="2501318"/>
                  <a:pt x="5987188" y="2498471"/>
                </a:cubicBezTo>
                <a:cubicBezTo>
                  <a:pt x="6057283" y="2504168"/>
                  <a:pt x="6121536" y="2504168"/>
                  <a:pt x="6191631" y="2504168"/>
                </a:cubicBezTo>
                <a:cubicBezTo>
                  <a:pt x="6203314" y="2504168"/>
                  <a:pt x="6209155" y="2504168"/>
                  <a:pt x="6214997" y="2504168"/>
                </a:cubicBezTo>
                <a:cubicBezTo>
                  <a:pt x="6285092" y="2509865"/>
                  <a:pt x="6355185" y="2509865"/>
                  <a:pt x="6425281" y="2509865"/>
                </a:cubicBezTo>
                <a:cubicBezTo>
                  <a:pt x="6425281" y="2507016"/>
                  <a:pt x="6425281" y="2507016"/>
                  <a:pt x="6425281" y="2507016"/>
                </a:cubicBezTo>
                <a:cubicBezTo>
                  <a:pt x="6419440" y="2507016"/>
                  <a:pt x="6419440" y="2507016"/>
                  <a:pt x="6419440" y="2507016"/>
                </a:cubicBezTo>
                <a:cubicBezTo>
                  <a:pt x="6401917" y="2504168"/>
                  <a:pt x="6378551" y="2501318"/>
                  <a:pt x="6355185" y="2501318"/>
                </a:cubicBezTo>
                <a:cubicBezTo>
                  <a:pt x="6261726" y="2498471"/>
                  <a:pt x="6174108" y="2498471"/>
                  <a:pt x="6080649" y="2495622"/>
                </a:cubicBezTo>
                <a:cubicBezTo>
                  <a:pt x="6080649" y="2495622"/>
                  <a:pt x="6080649" y="2495622"/>
                  <a:pt x="6080649" y="2492772"/>
                </a:cubicBezTo>
                <a:cubicBezTo>
                  <a:pt x="6080649" y="2492772"/>
                  <a:pt x="6074807" y="2492772"/>
                  <a:pt x="6068966" y="2492772"/>
                </a:cubicBezTo>
                <a:cubicBezTo>
                  <a:pt x="6045600" y="2489923"/>
                  <a:pt x="6022237" y="2495622"/>
                  <a:pt x="5998870" y="2489923"/>
                </a:cubicBezTo>
                <a:cubicBezTo>
                  <a:pt x="5998870" y="2489923"/>
                  <a:pt x="5993028" y="2489923"/>
                  <a:pt x="5987188" y="2489923"/>
                </a:cubicBezTo>
                <a:cubicBezTo>
                  <a:pt x="5975505" y="2489923"/>
                  <a:pt x="5969664" y="2489923"/>
                  <a:pt x="5957982" y="2489923"/>
                </a:cubicBezTo>
                <a:cubicBezTo>
                  <a:pt x="5946298" y="2487075"/>
                  <a:pt x="5928775" y="2487075"/>
                  <a:pt x="5917092" y="2489923"/>
                </a:cubicBezTo>
                <a:cubicBezTo>
                  <a:pt x="5905411" y="2487075"/>
                  <a:pt x="5905411" y="2484226"/>
                  <a:pt x="5905411" y="2481379"/>
                </a:cubicBezTo>
                <a:cubicBezTo>
                  <a:pt x="5876205" y="2475681"/>
                  <a:pt x="5846996" y="2475681"/>
                  <a:pt x="5817793" y="2472833"/>
                </a:cubicBezTo>
                <a:cubicBezTo>
                  <a:pt x="5806108" y="2472833"/>
                  <a:pt x="5788586" y="2469983"/>
                  <a:pt x="5776903" y="2469983"/>
                </a:cubicBezTo>
                <a:cubicBezTo>
                  <a:pt x="5753537" y="2472833"/>
                  <a:pt x="5730174" y="2472833"/>
                  <a:pt x="5706808" y="2472833"/>
                </a:cubicBezTo>
                <a:cubicBezTo>
                  <a:pt x="5695126" y="2472833"/>
                  <a:pt x="5677602" y="2472833"/>
                  <a:pt x="5665919" y="2472833"/>
                </a:cubicBezTo>
                <a:cubicBezTo>
                  <a:pt x="5654236" y="2472833"/>
                  <a:pt x="5648396" y="2472833"/>
                  <a:pt x="5636715" y="2472833"/>
                </a:cubicBezTo>
                <a:cubicBezTo>
                  <a:pt x="5619189" y="2472833"/>
                  <a:pt x="5595824" y="2475681"/>
                  <a:pt x="5584141" y="2469983"/>
                </a:cubicBezTo>
                <a:cubicBezTo>
                  <a:pt x="5560777" y="2461437"/>
                  <a:pt x="5537412" y="2461437"/>
                  <a:pt x="5508205" y="2461437"/>
                </a:cubicBezTo>
                <a:cubicBezTo>
                  <a:pt x="5408903" y="2461437"/>
                  <a:pt x="5315444" y="2467135"/>
                  <a:pt x="5216142" y="2467135"/>
                </a:cubicBezTo>
                <a:cubicBezTo>
                  <a:pt x="5204462" y="2472833"/>
                  <a:pt x="5192779" y="2475681"/>
                  <a:pt x="5175254" y="2475681"/>
                </a:cubicBezTo>
                <a:cubicBezTo>
                  <a:pt x="5122684" y="2475681"/>
                  <a:pt x="5075955" y="2478529"/>
                  <a:pt x="5023382" y="2478529"/>
                </a:cubicBezTo>
                <a:cubicBezTo>
                  <a:pt x="5023382" y="2478529"/>
                  <a:pt x="5017540" y="2478529"/>
                  <a:pt x="5011700" y="2478529"/>
                </a:cubicBezTo>
                <a:lnTo>
                  <a:pt x="5011654" y="2478530"/>
                </a:lnTo>
                <a:lnTo>
                  <a:pt x="4946716" y="2484936"/>
                </a:lnTo>
                <a:lnTo>
                  <a:pt x="4915643" y="2485893"/>
                </a:lnTo>
                <a:lnTo>
                  <a:pt x="4877351" y="2492772"/>
                </a:lnTo>
                <a:cubicBezTo>
                  <a:pt x="4842304" y="2492772"/>
                  <a:pt x="4807258" y="2498471"/>
                  <a:pt x="4772209" y="2504168"/>
                </a:cubicBezTo>
                <a:lnTo>
                  <a:pt x="4759066" y="2502030"/>
                </a:lnTo>
                <a:lnTo>
                  <a:pt x="4760526" y="2501318"/>
                </a:lnTo>
                <a:cubicBezTo>
                  <a:pt x="4760526" y="2498471"/>
                  <a:pt x="4754684" y="2498471"/>
                  <a:pt x="4748844" y="2498471"/>
                </a:cubicBezTo>
                <a:cubicBezTo>
                  <a:pt x="4754684" y="2498471"/>
                  <a:pt x="4754684" y="2501318"/>
                  <a:pt x="4754684" y="2501318"/>
                </a:cubicBezTo>
                <a:lnTo>
                  <a:pt x="4759066" y="2502030"/>
                </a:lnTo>
                <a:lnTo>
                  <a:pt x="4748844" y="2507016"/>
                </a:lnTo>
                <a:cubicBezTo>
                  <a:pt x="4637859" y="2521259"/>
                  <a:pt x="4532717" y="2529805"/>
                  <a:pt x="4421735" y="2535503"/>
                </a:cubicBezTo>
                <a:cubicBezTo>
                  <a:pt x="4334116" y="2544048"/>
                  <a:pt x="4240657" y="2552594"/>
                  <a:pt x="4153037" y="2563987"/>
                </a:cubicBezTo>
                <a:cubicBezTo>
                  <a:pt x="4141354" y="2563987"/>
                  <a:pt x="4135513" y="2566838"/>
                  <a:pt x="4117989" y="2552594"/>
                </a:cubicBezTo>
                <a:cubicBezTo>
                  <a:pt x="4100466" y="2555443"/>
                  <a:pt x="4077101" y="2558291"/>
                  <a:pt x="4059576" y="2561140"/>
                </a:cubicBezTo>
                <a:cubicBezTo>
                  <a:pt x="3989482" y="2572535"/>
                  <a:pt x="3919388" y="2575384"/>
                  <a:pt x="3849319" y="2586777"/>
                </a:cubicBezTo>
                <a:cubicBezTo>
                  <a:pt x="3843472" y="2589626"/>
                  <a:pt x="3843472" y="2589626"/>
                  <a:pt x="3837629" y="2589626"/>
                </a:cubicBezTo>
                <a:cubicBezTo>
                  <a:pt x="3779213" y="2606720"/>
                  <a:pt x="3714960" y="2609568"/>
                  <a:pt x="3656546" y="2620961"/>
                </a:cubicBezTo>
                <a:cubicBezTo>
                  <a:pt x="3644863" y="2623811"/>
                  <a:pt x="3639027" y="2626659"/>
                  <a:pt x="3627344" y="2626659"/>
                </a:cubicBezTo>
                <a:cubicBezTo>
                  <a:pt x="3492995" y="2643750"/>
                  <a:pt x="3370328" y="2672237"/>
                  <a:pt x="3241818" y="2695028"/>
                </a:cubicBezTo>
                <a:cubicBezTo>
                  <a:pt x="3235975" y="2695028"/>
                  <a:pt x="3235975" y="2697875"/>
                  <a:pt x="3230135" y="2697875"/>
                </a:cubicBezTo>
                <a:cubicBezTo>
                  <a:pt x="3212610" y="2700723"/>
                  <a:pt x="3200929" y="2703573"/>
                  <a:pt x="3189245" y="2706422"/>
                </a:cubicBezTo>
                <a:cubicBezTo>
                  <a:pt x="3177563" y="2706422"/>
                  <a:pt x="3165881" y="2706422"/>
                  <a:pt x="3160039" y="2712118"/>
                </a:cubicBezTo>
                <a:cubicBezTo>
                  <a:pt x="3142516" y="2717816"/>
                  <a:pt x="3124990" y="2720664"/>
                  <a:pt x="3107468" y="2723511"/>
                </a:cubicBezTo>
                <a:cubicBezTo>
                  <a:pt x="3084104" y="2726362"/>
                  <a:pt x="3066580" y="2734908"/>
                  <a:pt x="3043215" y="2734908"/>
                </a:cubicBezTo>
                <a:cubicBezTo>
                  <a:pt x="2996488" y="2746301"/>
                  <a:pt x="2943914" y="2757695"/>
                  <a:pt x="2891344" y="2769093"/>
                </a:cubicBezTo>
                <a:cubicBezTo>
                  <a:pt x="2821248" y="2783334"/>
                  <a:pt x="2756996" y="2800425"/>
                  <a:pt x="2686899" y="2814669"/>
                </a:cubicBezTo>
                <a:cubicBezTo>
                  <a:pt x="2681060" y="2814669"/>
                  <a:pt x="2681060" y="2817519"/>
                  <a:pt x="2675220" y="2817519"/>
                </a:cubicBezTo>
                <a:cubicBezTo>
                  <a:pt x="2558395" y="2848850"/>
                  <a:pt x="2441567" y="2877337"/>
                  <a:pt x="2324744" y="2905824"/>
                </a:cubicBezTo>
                <a:cubicBezTo>
                  <a:pt x="2318903" y="2905824"/>
                  <a:pt x="2313061" y="2905824"/>
                  <a:pt x="2313061" y="2902974"/>
                </a:cubicBezTo>
                <a:cubicBezTo>
                  <a:pt x="2313061" y="2905824"/>
                  <a:pt x="2307220" y="2905824"/>
                  <a:pt x="2307220" y="2905824"/>
                </a:cubicBezTo>
                <a:cubicBezTo>
                  <a:pt x="2301378" y="2905824"/>
                  <a:pt x="2295539" y="2905824"/>
                  <a:pt x="2289695" y="2905824"/>
                </a:cubicBezTo>
                <a:cubicBezTo>
                  <a:pt x="2283855" y="2905824"/>
                  <a:pt x="2278012" y="2908673"/>
                  <a:pt x="2272172" y="2905824"/>
                </a:cubicBezTo>
                <a:cubicBezTo>
                  <a:pt x="2278012" y="2905824"/>
                  <a:pt x="2278012" y="2902974"/>
                  <a:pt x="2283855" y="2902974"/>
                </a:cubicBezTo>
                <a:cubicBezTo>
                  <a:pt x="2283855" y="2902974"/>
                  <a:pt x="2289695" y="2900126"/>
                  <a:pt x="2289695" y="2900126"/>
                </a:cubicBezTo>
                <a:cubicBezTo>
                  <a:pt x="2272172" y="2891581"/>
                  <a:pt x="2237124" y="2894428"/>
                  <a:pt x="2202078" y="2900126"/>
                </a:cubicBezTo>
                <a:cubicBezTo>
                  <a:pt x="2167030" y="2905824"/>
                  <a:pt x="2137823" y="2917217"/>
                  <a:pt x="2108619" y="2925763"/>
                </a:cubicBezTo>
                <a:cubicBezTo>
                  <a:pt x="2044367" y="2945704"/>
                  <a:pt x="1974271" y="2959948"/>
                  <a:pt x="1910016" y="2982738"/>
                </a:cubicBezTo>
                <a:cubicBezTo>
                  <a:pt x="1851603" y="3002677"/>
                  <a:pt x="1787350" y="3019768"/>
                  <a:pt x="1723095" y="3034012"/>
                </a:cubicBezTo>
                <a:cubicBezTo>
                  <a:pt x="1711415" y="3042557"/>
                  <a:pt x="1688048" y="3048254"/>
                  <a:pt x="1670525" y="3053951"/>
                </a:cubicBezTo>
                <a:cubicBezTo>
                  <a:pt x="1623796" y="3068196"/>
                  <a:pt x="1577065" y="3085285"/>
                  <a:pt x="1530335" y="3099532"/>
                </a:cubicBezTo>
                <a:cubicBezTo>
                  <a:pt x="1483606" y="3105225"/>
                  <a:pt x="1454399" y="3116620"/>
                  <a:pt x="1425193" y="3133713"/>
                </a:cubicBezTo>
                <a:cubicBezTo>
                  <a:pt x="1425193" y="3133713"/>
                  <a:pt x="1425193" y="3136560"/>
                  <a:pt x="1425193" y="3136560"/>
                </a:cubicBezTo>
                <a:cubicBezTo>
                  <a:pt x="1425193" y="3136560"/>
                  <a:pt x="1425193" y="3136560"/>
                  <a:pt x="1419352" y="3136560"/>
                </a:cubicBezTo>
                <a:cubicBezTo>
                  <a:pt x="1366782" y="3145107"/>
                  <a:pt x="1325894" y="3162201"/>
                  <a:pt x="1285005" y="3179292"/>
                </a:cubicBezTo>
                <a:cubicBezTo>
                  <a:pt x="1255798" y="3190687"/>
                  <a:pt x="1226592" y="3202081"/>
                  <a:pt x="1191544" y="3210626"/>
                </a:cubicBezTo>
                <a:cubicBezTo>
                  <a:pt x="1185704" y="3210626"/>
                  <a:pt x="1185704" y="3213474"/>
                  <a:pt x="1179863" y="3213474"/>
                </a:cubicBezTo>
                <a:cubicBezTo>
                  <a:pt x="1174021" y="3213474"/>
                  <a:pt x="1174021" y="3213474"/>
                  <a:pt x="1168179" y="3216323"/>
                </a:cubicBezTo>
                <a:cubicBezTo>
                  <a:pt x="1150656" y="3224868"/>
                  <a:pt x="1121450" y="3233414"/>
                  <a:pt x="1098085" y="3236264"/>
                </a:cubicBezTo>
                <a:cubicBezTo>
                  <a:pt x="1086402" y="3250510"/>
                  <a:pt x="1051356" y="3256202"/>
                  <a:pt x="1027991" y="3267600"/>
                </a:cubicBezTo>
                <a:cubicBezTo>
                  <a:pt x="1022151" y="3267600"/>
                  <a:pt x="1022151" y="3270453"/>
                  <a:pt x="1016309" y="3270453"/>
                </a:cubicBezTo>
                <a:cubicBezTo>
                  <a:pt x="992944" y="3281845"/>
                  <a:pt x="963738" y="3290393"/>
                  <a:pt x="940372" y="3301786"/>
                </a:cubicBezTo>
                <a:cubicBezTo>
                  <a:pt x="917007" y="3313181"/>
                  <a:pt x="876119" y="3318867"/>
                  <a:pt x="858596" y="3333120"/>
                </a:cubicBezTo>
                <a:cubicBezTo>
                  <a:pt x="841071" y="3338810"/>
                  <a:pt x="823548" y="3344514"/>
                  <a:pt x="806024" y="3350205"/>
                </a:cubicBezTo>
                <a:cubicBezTo>
                  <a:pt x="700880" y="3404332"/>
                  <a:pt x="566532" y="3444212"/>
                  <a:pt x="461385" y="3501179"/>
                </a:cubicBezTo>
                <a:cubicBezTo>
                  <a:pt x="455542" y="3504026"/>
                  <a:pt x="449701" y="3504026"/>
                  <a:pt x="443859" y="3506877"/>
                </a:cubicBezTo>
                <a:cubicBezTo>
                  <a:pt x="391288" y="3523969"/>
                  <a:pt x="356240" y="3546757"/>
                  <a:pt x="315352" y="3566696"/>
                </a:cubicBezTo>
                <a:cubicBezTo>
                  <a:pt x="297829" y="3583789"/>
                  <a:pt x="280306" y="3598031"/>
                  <a:pt x="251098" y="3612276"/>
                </a:cubicBezTo>
                <a:cubicBezTo>
                  <a:pt x="227733" y="3623669"/>
                  <a:pt x="216052" y="3635063"/>
                  <a:pt x="221892" y="3649306"/>
                </a:cubicBezTo>
                <a:cubicBezTo>
                  <a:pt x="227733" y="3657852"/>
                  <a:pt x="221892" y="3666399"/>
                  <a:pt x="204369" y="3672095"/>
                </a:cubicBezTo>
                <a:cubicBezTo>
                  <a:pt x="198527" y="3680641"/>
                  <a:pt x="192686" y="3686338"/>
                  <a:pt x="175162" y="3689187"/>
                </a:cubicBezTo>
                <a:cubicBezTo>
                  <a:pt x="145956" y="3694885"/>
                  <a:pt x="128433" y="3709128"/>
                  <a:pt x="122591" y="3720522"/>
                </a:cubicBezTo>
                <a:cubicBezTo>
                  <a:pt x="105068" y="3726219"/>
                  <a:pt x="93385" y="3731916"/>
                  <a:pt x="75862" y="3737613"/>
                </a:cubicBezTo>
                <a:cubicBezTo>
                  <a:pt x="52497" y="3740462"/>
                  <a:pt x="40814" y="3749008"/>
                  <a:pt x="23291" y="3757554"/>
                </a:cubicBezTo>
                <a:cubicBezTo>
                  <a:pt x="29131" y="3754705"/>
                  <a:pt x="29131" y="3749008"/>
                  <a:pt x="29131" y="3743311"/>
                </a:cubicBezTo>
                <a:cubicBezTo>
                  <a:pt x="29131" y="3726219"/>
                  <a:pt x="58337" y="3709128"/>
                  <a:pt x="81703" y="3694885"/>
                </a:cubicBezTo>
                <a:cubicBezTo>
                  <a:pt x="81703" y="3694885"/>
                  <a:pt x="87543" y="3692035"/>
                  <a:pt x="87543" y="3692035"/>
                </a:cubicBezTo>
                <a:cubicBezTo>
                  <a:pt x="93385" y="3689187"/>
                  <a:pt x="99227" y="3686338"/>
                  <a:pt x="105068" y="3686338"/>
                </a:cubicBezTo>
                <a:cubicBezTo>
                  <a:pt x="110910" y="3686338"/>
                  <a:pt x="116750" y="3683489"/>
                  <a:pt x="122591" y="3683489"/>
                </a:cubicBezTo>
                <a:cubicBezTo>
                  <a:pt x="128433" y="3683489"/>
                  <a:pt x="140115" y="3680641"/>
                  <a:pt x="145956" y="3680641"/>
                </a:cubicBezTo>
                <a:cubicBezTo>
                  <a:pt x="145956" y="3680641"/>
                  <a:pt x="151798" y="3680641"/>
                  <a:pt x="151798" y="3680641"/>
                </a:cubicBezTo>
                <a:cubicBezTo>
                  <a:pt x="140115" y="3677792"/>
                  <a:pt x="128433" y="3672095"/>
                  <a:pt x="140115" y="3660701"/>
                </a:cubicBezTo>
                <a:cubicBezTo>
                  <a:pt x="128433" y="3669246"/>
                  <a:pt x="110910" y="3677792"/>
                  <a:pt x="93385" y="3680641"/>
                </a:cubicBezTo>
                <a:cubicBezTo>
                  <a:pt x="99227" y="3683489"/>
                  <a:pt x="93385" y="3686338"/>
                  <a:pt x="93385" y="3689187"/>
                </a:cubicBezTo>
                <a:cubicBezTo>
                  <a:pt x="75862" y="3697732"/>
                  <a:pt x="64179" y="3694885"/>
                  <a:pt x="46655" y="3694885"/>
                </a:cubicBezTo>
                <a:cubicBezTo>
                  <a:pt x="-75" y="3711976"/>
                  <a:pt x="-75" y="3711976"/>
                  <a:pt x="5766" y="3731916"/>
                </a:cubicBezTo>
                <a:cubicBezTo>
                  <a:pt x="11608" y="3731916"/>
                  <a:pt x="11608" y="3734765"/>
                  <a:pt x="17449" y="3737613"/>
                </a:cubicBezTo>
                <a:lnTo>
                  <a:pt x="0" y="3747541"/>
                </a:lnTo>
                <a:lnTo>
                  <a:pt x="0" y="3679653"/>
                </a:lnTo>
                <a:lnTo>
                  <a:pt x="25481" y="3666398"/>
                </a:lnTo>
                <a:cubicBezTo>
                  <a:pt x="43735" y="3657140"/>
                  <a:pt x="61258" y="3647882"/>
                  <a:pt x="75862" y="3637912"/>
                </a:cubicBezTo>
                <a:cubicBezTo>
                  <a:pt x="99227" y="3617972"/>
                  <a:pt x="128433" y="3598031"/>
                  <a:pt x="169321" y="3583789"/>
                </a:cubicBezTo>
                <a:cubicBezTo>
                  <a:pt x="169321" y="3580939"/>
                  <a:pt x="175162" y="3580939"/>
                  <a:pt x="181004" y="3580939"/>
                </a:cubicBezTo>
                <a:cubicBezTo>
                  <a:pt x="181004" y="3578092"/>
                  <a:pt x="181004" y="3575243"/>
                  <a:pt x="186845" y="3572394"/>
                </a:cubicBezTo>
                <a:cubicBezTo>
                  <a:pt x="256940" y="3535363"/>
                  <a:pt x="309511" y="3495482"/>
                  <a:pt x="373765" y="3458456"/>
                </a:cubicBezTo>
                <a:cubicBezTo>
                  <a:pt x="385447" y="3444212"/>
                  <a:pt x="408813" y="3438515"/>
                  <a:pt x="432178" y="3427120"/>
                </a:cubicBezTo>
                <a:cubicBezTo>
                  <a:pt x="455542" y="3415727"/>
                  <a:pt x="467225" y="3418572"/>
                  <a:pt x="467225" y="3429968"/>
                </a:cubicBezTo>
                <a:cubicBezTo>
                  <a:pt x="467225" y="3435669"/>
                  <a:pt x="461385" y="3438515"/>
                  <a:pt x="461385" y="3444212"/>
                </a:cubicBezTo>
                <a:cubicBezTo>
                  <a:pt x="513955" y="3429968"/>
                  <a:pt x="554849" y="3407179"/>
                  <a:pt x="601579" y="3390088"/>
                </a:cubicBezTo>
                <a:cubicBezTo>
                  <a:pt x="624944" y="3384391"/>
                  <a:pt x="642467" y="3370148"/>
                  <a:pt x="671675" y="3367299"/>
                </a:cubicBezTo>
                <a:cubicBezTo>
                  <a:pt x="677515" y="3367299"/>
                  <a:pt x="671675" y="3370148"/>
                  <a:pt x="677515" y="3370148"/>
                </a:cubicBezTo>
                <a:cubicBezTo>
                  <a:pt x="677515" y="3370148"/>
                  <a:pt x="677515" y="3367299"/>
                  <a:pt x="677515" y="3367299"/>
                </a:cubicBezTo>
                <a:cubicBezTo>
                  <a:pt x="677515" y="3364451"/>
                  <a:pt x="677515" y="3361599"/>
                  <a:pt x="683357" y="3358755"/>
                </a:cubicBezTo>
                <a:cubicBezTo>
                  <a:pt x="700880" y="3344514"/>
                  <a:pt x="741771" y="3335964"/>
                  <a:pt x="759294" y="3318867"/>
                </a:cubicBezTo>
                <a:cubicBezTo>
                  <a:pt x="765136" y="3318867"/>
                  <a:pt x="765136" y="3316023"/>
                  <a:pt x="770977" y="3313181"/>
                </a:cubicBezTo>
                <a:cubicBezTo>
                  <a:pt x="788500" y="3307473"/>
                  <a:pt x="800183" y="3298927"/>
                  <a:pt x="817707" y="3293238"/>
                </a:cubicBezTo>
                <a:cubicBezTo>
                  <a:pt x="823548" y="3290393"/>
                  <a:pt x="823548" y="3290393"/>
                  <a:pt x="829390" y="3290393"/>
                </a:cubicBezTo>
                <a:cubicBezTo>
                  <a:pt x="829390" y="3290393"/>
                  <a:pt x="829390" y="3287533"/>
                  <a:pt x="829390" y="3287533"/>
                </a:cubicBezTo>
                <a:cubicBezTo>
                  <a:pt x="835230" y="3284689"/>
                  <a:pt x="835230" y="3281845"/>
                  <a:pt x="841071" y="3278999"/>
                </a:cubicBezTo>
                <a:cubicBezTo>
                  <a:pt x="846913" y="3276140"/>
                  <a:pt x="858596" y="3273295"/>
                  <a:pt x="870278" y="3270453"/>
                </a:cubicBezTo>
                <a:cubicBezTo>
                  <a:pt x="899484" y="3259058"/>
                  <a:pt x="922849" y="3250510"/>
                  <a:pt x="946214" y="3239115"/>
                </a:cubicBezTo>
                <a:cubicBezTo>
                  <a:pt x="957897" y="3224868"/>
                  <a:pt x="1004626" y="3216323"/>
                  <a:pt x="1016309" y="3202081"/>
                </a:cubicBezTo>
                <a:cubicBezTo>
                  <a:pt x="1039673" y="3193534"/>
                  <a:pt x="1068880" y="3182142"/>
                  <a:pt x="1092244" y="3173594"/>
                </a:cubicBezTo>
                <a:cubicBezTo>
                  <a:pt x="1121450" y="3153654"/>
                  <a:pt x="1168179" y="3145107"/>
                  <a:pt x="1203227" y="3130865"/>
                </a:cubicBezTo>
                <a:cubicBezTo>
                  <a:pt x="1209069" y="3130865"/>
                  <a:pt x="1209069" y="3130865"/>
                  <a:pt x="1214910" y="3128015"/>
                </a:cubicBezTo>
                <a:cubicBezTo>
                  <a:pt x="1238275" y="3119471"/>
                  <a:pt x="1261640" y="3110926"/>
                  <a:pt x="1285005" y="3102379"/>
                </a:cubicBezTo>
                <a:cubicBezTo>
                  <a:pt x="1320052" y="3096680"/>
                  <a:pt x="1349257" y="3079592"/>
                  <a:pt x="1390145" y="3079592"/>
                </a:cubicBezTo>
                <a:cubicBezTo>
                  <a:pt x="1395987" y="3076742"/>
                  <a:pt x="1407670" y="3073890"/>
                  <a:pt x="1413510" y="3071044"/>
                </a:cubicBezTo>
                <a:cubicBezTo>
                  <a:pt x="1413510" y="3071044"/>
                  <a:pt x="1419352" y="3068196"/>
                  <a:pt x="1425193" y="3065346"/>
                </a:cubicBezTo>
                <a:cubicBezTo>
                  <a:pt x="1483606" y="3045405"/>
                  <a:pt x="1547860" y="3028315"/>
                  <a:pt x="1612113" y="3008373"/>
                </a:cubicBezTo>
                <a:cubicBezTo>
                  <a:pt x="1612113" y="3005525"/>
                  <a:pt x="1617954" y="3005525"/>
                  <a:pt x="1617954" y="3005525"/>
                </a:cubicBezTo>
                <a:cubicBezTo>
                  <a:pt x="1623796" y="2999829"/>
                  <a:pt x="1629637" y="2996980"/>
                  <a:pt x="1641319" y="2996980"/>
                </a:cubicBezTo>
                <a:cubicBezTo>
                  <a:pt x="1647161" y="2994131"/>
                  <a:pt x="1653002" y="2991284"/>
                  <a:pt x="1658844" y="2988434"/>
                </a:cubicBezTo>
                <a:cubicBezTo>
                  <a:pt x="1769826" y="2954250"/>
                  <a:pt x="1880811" y="2922915"/>
                  <a:pt x="1991793" y="2891581"/>
                </a:cubicBezTo>
                <a:cubicBezTo>
                  <a:pt x="2015155" y="2883034"/>
                  <a:pt x="2038524" y="2877337"/>
                  <a:pt x="2061887" y="2871639"/>
                </a:cubicBezTo>
                <a:cubicBezTo>
                  <a:pt x="2085252" y="2865943"/>
                  <a:pt x="2108619" y="2860244"/>
                  <a:pt x="2137823" y="2860244"/>
                </a:cubicBezTo>
                <a:cubicBezTo>
                  <a:pt x="2137823" y="2860244"/>
                  <a:pt x="2143665" y="2857396"/>
                  <a:pt x="2143665" y="2857396"/>
                </a:cubicBezTo>
                <a:cubicBezTo>
                  <a:pt x="2149508" y="2854548"/>
                  <a:pt x="2155349" y="2854548"/>
                  <a:pt x="2161189" y="2851699"/>
                </a:cubicBezTo>
                <a:cubicBezTo>
                  <a:pt x="2167030" y="2848850"/>
                  <a:pt x="2172873" y="2846002"/>
                  <a:pt x="2178714" y="2846002"/>
                </a:cubicBezTo>
                <a:cubicBezTo>
                  <a:pt x="2202078" y="2846002"/>
                  <a:pt x="2225442" y="2840306"/>
                  <a:pt x="2237124" y="2831760"/>
                </a:cubicBezTo>
                <a:cubicBezTo>
                  <a:pt x="2242965" y="2828911"/>
                  <a:pt x="2248807" y="2826061"/>
                  <a:pt x="2254649" y="2826061"/>
                </a:cubicBezTo>
                <a:cubicBezTo>
                  <a:pt x="2266332" y="2828911"/>
                  <a:pt x="2272172" y="2826061"/>
                  <a:pt x="2278012" y="2826061"/>
                </a:cubicBezTo>
                <a:cubicBezTo>
                  <a:pt x="2301378" y="2820364"/>
                  <a:pt x="2324744" y="2814669"/>
                  <a:pt x="2348109" y="2808973"/>
                </a:cubicBezTo>
                <a:cubicBezTo>
                  <a:pt x="2353948" y="2806122"/>
                  <a:pt x="2359790" y="2803274"/>
                  <a:pt x="2365631" y="2797578"/>
                </a:cubicBezTo>
                <a:cubicBezTo>
                  <a:pt x="2388995" y="2789032"/>
                  <a:pt x="2412361" y="2783334"/>
                  <a:pt x="2441567" y="2786182"/>
                </a:cubicBezTo>
                <a:cubicBezTo>
                  <a:pt x="2441567" y="2786182"/>
                  <a:pt x="2441567" y="2783334"/>
                  <a:pt x="2441567" y="2783334"/>
                </a:cubicBezTo>
                <a:cubicBezTo>
                  <a:pt x="2447408" y="2777637"/>
                  <a:pt x="2459091" y="2771938"/>
                  <a:pt x="2470773" y="2769093"/>
                </a:cubicBezTo>
                <a:cubicBezTo>
                  <a:pt x="2494140" y="2757695"/>
                  <a:pt x="2517505" y="2746301"/>
                  <a:pt x="2552553" y="2740604"/>
                </a:cubicBezTo>
                <a:cubicBezTo>
                  <a:pt x="2564237" y="2737756"/>
                  <a:pt x="2570078" y="2734908"/>
                  <a:pt x="2581761" y="2734908"/>
                </a:cubicBezTo>
                <a:cubicBezTo>
                  <a:pt x="2564237" y="2717816"/>
                  <a:pt x="2564237" y="2714967"/>
                  <a:pt x="2616807" y="2703573"/>
                </a:cubicBezTo>
                <a:cubicBezTo>
                  <a:pt x="2651851" y="2695028"/>
                  <a:pt x="2686899" y="2683632"/>
                  <a:pt x="2721949" y="2672237"/>
                </a:cubicBezTo>
                <a:cubicBezTo>
                  <a:pt x="2727791" y="2672237"/>
                  <a:pt x="2733631" y="2669387"/>
                  <a:pt x="2739473" y="2669387"/>
                </a:cubicBezTo>
                <a:cubicBezTo>
                  <a:pt x="2780359" y="2663692"/>
                  <a:pt x="2821248" y="2652297"/>
                  <a:pt x="2862138" y="2640901"/>
                </a:cubicBezTo>
                <a:cubicBezTo>
                  <a:pt x="2873821" y="2635204"/>
                  <a:pt x="2885504" y="2632357"/>
                  <a:pt x="2897184" y="2629507"/>
                </a:cubicBezTo>
                <a:cubicBezTo>
                  <a:pt x="2914707" y="2626659"/>
                  <a:pt x="2938072" y="2626659"/>
                  <a:pt x="2955597" y="2626659"/>
                </a:cubicBezTo>
                <a:cubicBezTo>
                  <a:pt x="2961438" y="2623811"/>
                  <a:pt x="2967279" y="2623811"/>
                  <a:pt x="2967279" y="2620961"/>
                </a:cubicBezTo>
                <a:cubicBezTo>
                  <a:pt x="2990646" y="2615265"/>
                  <a:pt x="3014009" y="2609568"/>
                  <a:pt x="3037375" y="2601021"/>
                </a:cubicBezTo>
                <a:cubicBezTo>
                  <a:pt x="3043215" y="2601021"/>
                  <a:pt x="3049059" y="2598173"/>
                  <a:pt x="3054896" y="2598173"/>
                </a:cubicBezTo>
                <a:cubicBezTo>
                  <a:pt x="3060739" y="2598173"/>
                  <a:pt x="3060739" y="2598173"/>
                  <a:pt x="3066580" y="2598173"/>
                </a:cubicBezTo>
                <a:cubicBezTo>
                  <a:pt x="3072420" y="2589626"/>
                  <a:pt x="3072420" y="2583929"/>
                  <a:pt x="3078262" y="2575384"/>
                </a:cubicBezTo>
                <a:cubicBezTo>
                  <a:pt x="3031533" y="2575384"/>
                  <a:pt x="3002329" y="2592476"/>
                  <a:pt x="2949756" y="2589626"/>
                </a:cubicBezTo>
                <a:cubicBezTo>
                  <a:pt x="3002329" y="2572535"/>
                  <a:pt x="3054896" y="2561140"/>
                  <a:pt x="3107468" y="2549746"/>
                </a:cubicBezTo>
                <a:cubicBezTo>
                  <a:pt x="3119151" y="2544048"/>
                  <a:pt x="3130833" y="2538351"/>
                  <a:pt x="3148358" y="2532653"/>
                </a:cubicBezTo>
                <a:cubicBezTo>
                  <a:pt x="3189245" y="2521259"/>
                  <a:pt x="3235975" y="2518411"/>
                  <a:pt x="3271024" y="2507016"/>
                </a:cubicBezTo>
                <a:cubicBezTo>
                  <a:pt x="3276866" y="2507016"/>
                  <a:pt x="3282707" y="2504168"/>
                  <a:pt x="3288549" y="2504168"/>
                </a:cubicBezTo>
                <a:cubicBezTo>
                  <a:pt x="3294391" y="2504168"/>
                  <a:pt x="3300231" y="2501318"/>
                  <a:pt x="3306072" y="2501318"/>
                </a:cubicBezTo>
                <a:cubicBezTo>
                  <a:pt x="3311915" y="2498471"/>
                  <a:pt x="3323597" y="2495622"/>
                  <a:pt x="3335280" y="2492772"/>
                </a:cubicBezTo>
                <a:cubicBezTo>
                  <a:pt x="3317755" y="2495622"/>
                  <a:pt x="3306072" y="2498471"/>
                  <a:pt x="3288549" y="2501318"/>
                </a:cubicBezTo>
                <a:cubicBezTo>
                  <a:pt x="3276866" y="2501318"/>
                  <a:pt x="3271024" y="2504168"/>
                  <a:pt x="3265183" y="2504168"/>
                </a:cubicBezTo>
                <a:cubicBezTo>
                  <a:pt x="3189245" y="2524108"/>
                  <a:pt x="3095788" y="2532653"/>
                  <a:pt x="3014009" y="2552594"/>
                </a:cubicBezTo>
                <a:cubicBezTo>
                  <a:pt x="2961438" y="2563987"/>
                  <a:pt x="2897184" y="2578231"/>
                  <a:pt x="2838774" y="2575384"/>
                </a:cubicBezTo>
                <a:cubicBezTo>
                  <a:pt x="2733631" y="2595324"/>
                  <a:pt x="2634330" y="2615265"/>
                  <a:pt x="2535028" y="2638053"/>
                </a:cubicBezTo>
                <a:cubicBezTo>
                  <a:pt x="2447408" y="2657994"/>
                  <a:pt x="2353948" y="2675085"/>
                  <a:pt x="2278012" y="2700723"/>
                </a:cubicBezTo>
                <a:cubicBezTo>
                  <a:pt x="2260491" y="2706422"/>
                  <a:pt x="2231284" y="2712118"/>
                  <a:pt x="2207918" y="2714967"/>
                </a:cubicBezTo>
                <a:cubicBezTo>
                  <a:pt x="2190394" y="2714967"/>
                  <a:pt x="2184553" y="2712118"/>
                  <a:pt x="2184553" y="2706422"/>
                </a:cubicBezTo>
                <a:cubicBezTo>
                  <a:pt x="2155349" y="2709269"/>
                  <a:pt x="2131983" y="2717816"/>
                  <a:pt x="2102777" y="2723511"/>
                </a:cubicBezTo>
                <a:cubicBezTo>
                  <a:pt x="1962585" y="2760545"/>
                  <a:pt x="1822397" y="2797578"/>
                  <a:pt x="1682207" y="2837456"/>
                </a:cubicBezTo>
                <a:cubicBezTo>
                  <a:pt x="1641319" y="2848850"/>
                  <a:pt x="1594589" y="2860244"/>
                  <a:pt x="1547860" y="2865943"/>
                </a:cubicBezTo>
                <a:cubicBezTo>
                  <a:pt x="1547860" y="2868791"/>
                  <a:pt x="1547860" y="2868791"/>
                  <a:pt x="1547860" y="2868791"/>
                </a:cubicBezTo>
                <a:cubicBezTo>
                  <a:pt x="1542018" y="2871639"/>
                  <a:pt x="1542018" y="2871639"/>
                  <a:pt x="1536177" y="2871639"/>
                </a:cubicBezTo>
                <a:cubicBezTo>
                  <a:pt x="1477764" y="2888731"/>
                  <a:pt x="1419352" y="2908673"/>
                  <a:pt x="1360940" y="2925763"/>
                </a:cubicBezTo>
                <a:cubicBezTo>
                  <a:pt x="1337574" y="2931462"/>
                  <a:pt x="1314211" y="2940007"/>
                  <a:pt x="1290846" y="2948553"/>
                </a:cubicBezTo>
                <a:cubicBezTo>
                  <a:pt x="1179863" y="2991284"/>
                  <a:pt x="1063039" y="3031164"/>
                  <a:pt x="946214" y="3065346"/>
                </a:cubicBezTo>
                <a:cubicBezTo>
                  <a:pt x="940372" y="3073890"/>
                  <a:pt x="922849" y="3079592"/>
                  <a:pt x="905326" y="3085285"/>
                </a:cubicBezTo>
                <a:cubicBezTo>
                  <a:pt x="852754" y="3108074"/>
                  <a:pt x="788500" y="3128015"/>
                  <a:pt x="759294" y="3156502"/>
                </a:cubicBezTo>
                <a:cubicBezTo>
                  <a:pt x="753452" y="3159353"/>
                  <a:pt x="753452" y="3159353"/>
                  <a:pt x="747610" y="3162201"/>
                </a:cubicBezTo>
                <a:cubicBezTo>
                  <a:pt x="735929" y="3165048"/>
                  <a:pt x="706722" y="3184988"/>
                  <a:pt x="712563" y="3162201"/>
                </a:cubicBezTo>
                <a:cubicBezTo>
                  <a:pt x="718406" y="3156502"/>
                  <a:pt x="700880" y="3159353"/>
                  <a:pt x="689198" y="3162201"/>
                </a:cubicBezTo>
                <a:cubicBezTo>
                  <a:pt x="671675" y="3167898"/>
                  <a:pt x="659992" y="3173594"/>
                  <a:pt x="642467" y="3179292"/>
                </a:cubicBezTo>
                <a:cubicBezTo>
                  <a:pt x="589896" y="3204929"/>
                  <a:pt x="531478" y="3230568"/>
                  <a:pt x="467225" y="3250510"/>
                </a:cubicBezTo>
                <a:cubicBezTo>
                  <a:pt x="467225" y="3253354"/>
                  <a:pt x="461385" y="3256202"/>
                  <a:pt x="461385" y="3259058"/>
                </a:cubicBezTo>
                <a:cubicBezTo>
                  <a:pt x="426336" y="3276140"/>
                  <a:pt x="397130" y="3296082"/>
                  <a:pt x="350400" y="3304632"/>
                </a:cubicBezTo>
                <a:cubicBezTo>
                  <a:pt x="344559" y="3307473"/>
                  <a:pt x="338717" y="3310329"/>
                  <a:pt x="338717" y="3313181"/>
                </a:cubicBezTo>
                <a:cubicBezTo>
                  <a:pt x="327035" y="3324573"/>
                  <a:pt x="303671" y="3330263"/>
                  <a:pt x="280306" y="3338810"/>
                </a:cubicBezTo>
                <a:cubicBezTo>
                  <a:pt x="274464" y="3350205"/>
                  <a:pt x="262781" y="3358755"/>
                  <a:pt x="239417" y="3367299"/>
                </a:cubicBezTo>
                <a:cubicBezTo>
                  <a:pt x="221892" y="3372995"/>
                  <a:pt x="204369" y="3378695"/>
                  <a:pt x="204369" y="3384391"/>
                </a:cubicBezTo>
                <a:cubicBezTo>
                  <a:pt x="198527" y="3407179"/>
                  <a:pt x="157639" y="3421423"/>
                  <a:pt x="122591" y="3435669"/>
                </a:cubicBezTo>
                <a:cubicBezTo>
                  <a:pt x="87543" y="3447063"/>
                  <a:pt x="64179" y="3461302"/>
                  <a:pt x="40814" y="3475546"/>
                </a:cubicBezTo>
                <a:cubicBezTo>
                  <a:pt x="23291" y="3486936"/>
                  <a:pt x="29131" y="3489785"/>
                  <a:pt x="46655" y="3492633"/>
                </a:cubicBezTo>
                <a:cubicBezTo>
                  <a:pt x="40814" y="3495482"/>
                  <a:pt x="40814" y="3495482"/>
                  <a:pt x="40814" y="3498330"/>
                </a:cubicBezTo>
                <a:cubicBezTo>
                  <a:pt x="34972" y="3504026"/>
                  <a:pt x="23291" y="3504026"/>
                  <a:pt x="17449" y="3504026"/>
                </a:cubicBezTo>
                <a:cubicBezTo>
                  <a:pt x="11608" y="3504026"/>
                  <a:pt x="11608" y="3501179"/>
                  <a:pt x="11608" y="3501179"/>
                </a:cubicBezTo>
                <a:lnTo>
                  <a:pt x="0" y="3503065"/>
                </a:lnTo>
                <a:lnTo>
                  <a:pt x="0" y="1025347"/>
                </a:lnTo>
                <a:lnTo>
                  <a:pt x="45195" y="1009713"/>
                </a:lnTo>
                <a:cubicBezTo>
                  <a:pt x="67100" y="1003660"/>
                  <a:pt x="90464" y="998675"/>
                  <a:pt x="116750" y="994402"/>
                </a:cubicBezTo>
                <a:cubicBezTo>
                  <a:pt x="128433" y="994402"/>
                  <a:pt x="140115" y="991553"/>
                  <a:pt x="151798" y="985856"/>
                </a:cubicBezTo>
                <a:cubicBezTo>
                  <a:pt x="163479" y="983008"/>
                  <a:pt x="175162" y="980158"/>
                  <a:pt x="192686" y="977311"/>
                </a:cubicBezTo>
                <a:cubicBezTo>
                  <a:pt x="227733" y="974461"/>
                  <a:pt x="256940" y="957370"/>
                  <a:pt x="291988" y="957370"/>
                </a:cubicBezTo>
                <a:cubicBezTo>
                  <a:pt x="327035" y="943127"/>
                  <a:pt x="362082" y="928882"/>
                  <a:pt x="414653" y="920338"/>
                </a:cubicBezTo>
                <a:cubicBezTo>
                  <a:pt x="432178" y="906095"/>
                  <a:pt x="473066" y="897548"/>
                  <a:pt x="513955" y="889002"/>
                </a:cubicBezTo>
                <a:cubicBezTo>
                  <a:pt x="554849" y="880457"/>
                  <a:pt x="595738" y="871911"/>
                  <a:pt x="630786" y="860518"/>
                </a:cubicBezTo>
                <a:cubicBezTo>
                  <a:pt x="607421" y="863365"/>
                  <a:pt x="589896" y="866214"/>
                  <a:pt x="572373" y="869062"/>
                </a:cubicBezTo>
                <a:cubicBezTo>
                  <a:pt x="554849" y="871911"/>
                  <a:pt x="543163" y="874760"/>
                  <a:pt x="531478" y="877608"/>
                </a:cubicBezTo>
                <a:cubicBezTo>
                  <a:pt x="508113" y="883306"/>
                  <a:pt x="484749" y="889002"/>
                  <a:pt x="461385" y="897548"/>
                </a:cubicBezTo>
                <a:cubicBezTo>
                  <a:pt x="449701" y="900397"/>
                  <a:pt x="432178" y="903246"/>
                  <a:pt x="420494" y="906095"/>
                </a:cubicBezTo>
                <a:cubicBezTo>
                  <a:pt x="408813" y="908943"/>
                  <a:pt x="397130" y="908943"/>
                  <a:pt x="385447" y="911791"/>
                </a:cubicBezTo>
                <a:cubicBezTo>
                  <a:pt x="356240" y="923186"/>
                  <a:pt x="327035" y="928882"/>
                  <a:pt x="286146" y="928882"/>
                </a:cubicBezTo>
                <a:cubicBezTo>
                  <a:pt x="286146" y="928882"/>
                  <a:pt x="280306" y="928882"/>
                  <a:pt x="280306" y="928882"/>
                </a:cubicBezTo>
                <a:cubicBezTo>
                  <a:pt x="274464" y="931732"/>
                  <a:pt x="274464" y="931732"/>
                  <a:pt x="274464" y="931732"/>
                </a:cubicBezTo>
                <a:cubicBezTo>
                  <a:pt x="251098" y="937428"/>
                  <a:pt x="227733" y="943127"/>
                  <a:pt x="204369" y="945976"/>
                </a:cubicBezTo>
                <a:cubicBezTo>
                  <a:pt x="140115" y="960219"/>
                  <a:pt x="75862" y="980158"/>
                  <a:pt x="5766" y="991553"/>
                </a:cubicBezTo>
                <a:lnTo>
                  <a:pt x="0" y="997177"/>
                </a:lnTo>
                <a:lnTo>
                  <a:pt x="0" y="919010"/>
                </a:lnTo>
                <a:lnTo>
                  <a:pt x="94115" y="896124"/>
                </a:lnTo>
                <a:cubicBezTo>
                  <a:pt x="182464" y="876184"/>
                  <a:pt x="271543" y="857668"/>
                  <a:pt x="362082" y="840576"/>
                </a:cubicBezTo>
                <a:cubicBezTo>
                  <a:pt x="397130" y="834879"/>
                  <a:pt x="426336" y="826333"/>
                  <a:pt x="461385" y="817788"/>
                </a:cubicBezTo>
                <a:cubicBezTo>
                  <a:pt x="484749" y="812091"/>
                  <a:pt x="513955" y="806394"/>
                  <a:pt x="549003" y="800696"/>
                </a:cubicBezTo>
                <a:cubicBezTo>
                  <a:pt x="554849" y="800696"/>
                  <a:pt x="566532" y="800696"/>
                  <a:pt x="572373" y="800696"/>
                </a:cubicBezTo>
                <a:cubicBezTo>
                  <a:pt x="648309" y="783605"/>
                  <a:pt x="730088" y="766513"/>
                  <a:pt x="811865" y="752269"/>
                </a:cubicBezTo>
                <a:cubicBezTo>
                  <a:pt x="917007" y="726631"/>
                  <a:pt x="1027991" y="712388"/>
                  <a:pt x="1138973" y="695297"/>
                </a:cubicBezTo>
                <a:cubicBezTo>
                  <a:pt x="1138973" y="695297"/>
                  <a:pt x="1144815" y="695297"/>
                  <a:pt x="1144815" y="695297"/>
                </a:cubicBezTo>
                <a:cubicBezTo>
                  <a:pt x="1144815" y="692448"/>
                  <a:pt x="1138973" y="692448"/>
                  <a:pt x="1144815" y="689599"/>
                </a:cubicBezTo>
                <a:cubicBezTo>
                  <a:pt x="1174021" y="681054"/>
                  <a:pt x="1209069" y="675356"/>
                  <a:pt x="1238275" y="672508"/>
                </a:cubicBezTo>
                <a:cubicBezTo>
                  <a:pt x="1261640" y="669659"/>
                  <a:pt x="1285005" y="666811"/>
                  <a:pt x="1308369" y="663962"/>
                </a:cubicBezTo>
                <a:cubicBezTo>
                  <a:pt x="1483606" y="638324"/>
                  <a:pt x="1658844" y="606990"/>
                  <a:pt x="1839922" y="587049"/>
                </a:cubicBezTo>
                <a:cubicBezTo>
                  <a:pt x="1851603" y="587049"/>
                  <a:pt x="1869128" y="584201"/>
                  <a:pt x="1880811" y="584201"/>
                </a:cubicBezTo>
                <a:cubicBezTo>
                  <a:pt x="1863285" y="587049"/>
                  <a:pt x="1845762" y="587049"/>
                  <a:pt x="1834080" y="587049"/>
                </a:cubicBezTo>
                <a:cubicBezTo>
                  <a:pt x="1863285" y="581352"/>
                  <a:pt x="1898334" y="575655"/>
                  <a:pt x="1933382" y="569958"/>
                </a:cubicBezTo>
                <a:cubicBezTo>
                  <a:pt x="1939222" y="569958"/>
                  <a:pt x="1939222" y="572807"/>
                  <a:pt x="1939222" y="572807"/>
                </a:cubicBezTo>
                <a:cubicBezTo>
                  <a:pt x="1962585" y="569958"/>
                  <a:pt x="1980110" y="569958"/>
                  <a:pt x="1997635" y="569958"/>
                </a:cubicBezTo>
                <a:cubicBezTo>
                  <a:pt x="2009316" y="569958"/>
                  <a:pt x="2015155" y="567108"/>
                  <a:pt x="2020999" y="567108"/>
                </a:cubicBezTo>
                <a:cubicBezTo>
                  <a:pt x="2044367" y="564260"/>
                  <a:pt x="2061887" y="561411"/>
                  <a:pt x="2085252" y="561411"/>
                </a:cubicBezTo>
                <a:cubicBezTo>
                  <a:pt x="2091095" y="561411"/>
                  <a:pt x="2096935" y="558562"/>
                  <a:pt x="2102777" y="558562"/>
                </a:cubicBezTo>
                <a:cubicBezTo>
                  <a:pt x="2161189" y="544319"/>
                  <a:pt x="2225442" y="532925"/>
                  <a:pt x="2289695" y="532925"/>
                </a:cubicBezTo>
                <a:cubicBezTo>
                  <a:pt x="2383153" y="512985"/>
                  <a:pt x="2470773" y="515834"/>
                  <a:pt x="2564237" y="501591"/>
                </a:cubicBezTo>
                <a:cubicBezTo>
                  <a:pt x="2651851" y="493045"/>
                  <a:pt x="2739473" y="478802"/>
                  <a:pt x="2821248" y="475952"/>
                </a:cubicBezTo>
                <a:cubicBezTo>
                  <a:pt x="2832930" y="473104"/>
                  <a:pt x="2850453" y="473104"/>
                  <a:pt x="2862138" y="464558"/>
                </a:cubicBezTo>
                <a:cubicBezTo>
                  <a:pt x="2897184" y="458861"/>
                  <a:pt x="2926392" y="456013"/>
                  <a:pt x="2955597" y="456013"/>
                </a:cubicBezTo>
                <a:cubicBezTo>
                  <a:pt x="2996488" y="458861"/>
                  <a:pt x="3037375" y="453164"/>
                  <a:pt x="3078262" y="447467"/>
                </a:cubicBezTo>
                <a:cubicBezTo>
                  <a:pt x="3136675" y="441770"/>
                  <a:pt x="3189245" y="438921"/>
                  <a:pt x="3247658" y="433224"/>
                </a:cubicBezTo>
                <a:cubicBezTo>
                  <a:pt x="3253500" y="433224"/>
                  <a:pt x="3259342" y="430375"/>
                  <a:pt x="3265183" y="430375"/>
                </a:cubicBezTo>
                <a:close/>
                <a:moveTo>
                  <a:pt x="8738412" y="416132"/>
                </a:moveTo>
                <a:cubicBezTo>
                  <a:pt x="8767618" y="421830"/>
                  <a:pt x="8796824" y="424678"/>
                  <a:pt x="8826031" y="430375"/>
                </a:cubicBezTo>
                <a:cubicBezTo>
                  <a:pt x="8814348" y="424678"/>
                  <a:pt x="8802666" y="421830"/>
                  <a:pt x="8790983" y="416132"/>
                </a:cubicBezTo>
                <a:cubicBezTo>
                  <a:pt x="8773460" y="418981"/>
                  <a:pt x="8755936" y="418981"/>
                  <a:pt x="8738412" y="416132"/>
                </a:cubicBezTo>
                <a:close/>
                <a:moveTo>
                  <a:pt x="7856384" y="384797"/>
                </a:moveTo>
                <a:cubicBezTo>
                  <a:pt x="7868067" y="384797"/>
                  <a:pt x="7873909" y="387646"/>
                  <a:pt x="7879749" y="387646"/>
                </a:cubicBezTo>
                <a:cubicBezTo>
                  <a:pt x="7879749" y="384797"/>
                  <a:pt x="7873909" y="384797"/>
                  <a:pt x="7862226" y="384797"/>
                </a:cubicBezTo>
                <a:cubicBezTo>
                  <a:pt x="7862226" y="384797"/>
                  <a:pt x="7856384" y="384797"/>
                  <a:pt x="7856384" y="384797"/>
                </a:cubicBezTo>
                <a:close/>
                <a:moveTo>
                  <a:pt x="9153140" y="299339"/>
                </a:moveTo>
                <a:cubicBezTo>
                  <a:pt x="9194030" y="302188"/>
                  <a:pt x="9229076" y="307884"/>
                  <a:pt x="9269965" y="313582"/>
                </a:cubicBezTo>
                <a:cubicBezTo>
                  <a:pt x="9287489" y="316431"/>
                  <a:pt x="9281647" y="319278"/>
                  <a:pt x="9275805" y="322128"/>
                </a:cubicBezTo>
                <a:cubicBezTo>
                  <a:pt x="9240759" y="322128"/>
                  <a:pt x="9199871" y="316431"/>
                  <a:pt x="9164822" y="307884"/>
                </a:cubicBezTo>
                <a:cubicBezTo>
                  <a:pt x="9158980" y="307884"/>
                  <a:pt x="9147299" y="305036"/>
                  <a:pt x="9141458" y="305036"/>
                </a:cubicBezTo>
                <a:cubicBezTo>
                  <a:pt x="9141458" y="302188"/>
                  <a:pt x="9135617" y="296491"/>
                  <a:pt x="9153140" y="299339"/>
                </a:cubicBezTo>
                <a:close/>
                <a:moveTo>
                  <a:pt x="8598223" y="299338"/>
                </a:moveTo>
                <a:cubicBezTo>
                  <a:pt x="8604063" y="299338"/>
                  <a:pt x="8609905" y="302187"/>
                  <a:pt x="8609905" y="302187"/>
                </a:cubicBezTo>
                <a:cubicBezTo>
                  <a:pt x="8604063" y="307884"/>
                  <a:pt x="8592382" y="307884"/>
                  <a:pt x="8574857" y="305035"/>
                </a:cubicBezTo>
                <a:cubicBezTo>
                  <a:pt x="8580699" y="302187"/>
                  <a:pt x="8580699" y="299338"/>
                  <a:pt x="8598223" y="299338"/>
                </a:cubicBezTo>
                <a:close/>
                <a:moveTo>
                  <a:pt x="9188188" y="270852"/>
                </a:moveTo>
                <a:cubicBezTo>
                  <a:pt x="9211553" y="270852"/>
                  <a:pt x="9234918" y="273701"/>
                  <a:pt x="9252441" y="279398"/>
                </a:cubicBezTo>
                <a:cubicBezTo>
                  <a:pt x="9264124" y="282247"/>
                  <a:pt x="9281648" y="282247"/>
                  <a:pt x="9293330" y="285095"/>
                </a:cubicBezTo>
                <a:cubicBezTo>
                  <a:pt x="9322536" y="290792"/>
                  <a:pt x="9340061" y="296490"/>
                  <a:pt x="9322536" y="302187"/>
                </a:cubicBezTo>
                <a:cubicBezTo>
                  <a:pt x="9310853" y="307884"/>
                  <a:pt x="9287489" y="302187"/>
                  <a:pt x="9264124" y="299338"/>
                </a:cubicBezTo>
                <a:cubicBezTo>
                  <a:pt x="9229076" y="290792"/>
                  <a:pt x="9205711" y="282247"/>
                  <a:pt x="9188188" y="270852"/>
                </a:cubicBezTo>
                <a:close/>
                <a:moveTo>
                  <a:pt x="6477851" y="248775"/>
                </a:moveTo>
                <a:cubicBezTo>
                  <a:pt x="6512899" y="249487"/>
                  <a:pt x="6547945" y="250912"/>
                  <a:pt x="6582994" y="250912"/>
                </a:cubicBezTo>
                <a:cubicBezTo>
                  <a:pt x="6641405" y="250912"/>
                  <a:pt x="6693976" y="253761"/>
                  <a:pt x="6746548" y="253761"/>
                </a:cubicBezTo>
                <a:cubicBezTo>
                  <a:pt x="6875054" y="256609"/>
                  <a:pt x="7003564" y="262307"/>
                  <a:pt x="7126229" y="256609"/>
                </a:cubicBezTo>
                <a:cubicBezTo>
                  <a:pt x="7143753" y="253761"/>
                  <a:pt x="7172959" y="253761"/>
                  <a:pt x="7196325" y="253761"/>
                </a:cubicBezTo>
                <a:cubicBezTo>
                  <a:pt x="7248895" y="253761"/>
                  <a:pt x="7301467" y="256609"/>
                  <a:pt x="7354037" y="259458"/>
                </a:cubicBezTo>
                <a:cubicBezTo>
                  <a:pt x="7359879" y="259458"/>
                  <a:pt x="7354037" y="259458"/>
                  <a:pt x="7359879" y="259458"/>
                </a:cubicBezTo>
                <a:cubicBezTo>
                  <a:pt x="7511750" y="265155"/>
                  <a:pt x="7657781" y="276549"/>
                  <a:pt x="7809656" y="282247"/>
                </a:cubicBezTo>
                <a:cubicBezTo>
                  <a:pt x="7856384" y="285095"/>
                  <a:pt x="7903114" y="285095"/>
                  <a:pt x="7938161" y="290792"/>
                </a:cubicBezTo>
                <a:cubicBezTo>
                  <a:pt x="7944003" y="290792"/>
                  <a:pt x="7955685" y="290792"/>
                  <a:pt x="7961526" y="287944"/>
                </a:cubicBezTo>
                <a:cubicBezTo>
                  <a:pt x="7973209" y="287944"/>
                  <a:pt x="7984892" y="287944"/>
                  <a:pt x="7996574" y="287944"/>
                </a:cubicBezTo>
                <a:cubicBezTo>
                  <a:pt x="8130922" y="299339"/>
                  <a:pt x="8271112" y="307885"/>
                  <a:pt x="8405461" y="322128"/>
                </a:cubicBezTo>
                <a:cubicBezTo>
                  <a:pt x="8411302" y="322128"/>
                  <a:pt x="8422985" y="324976"/>
                  <a:pt x="8428826" y="324976"/>
                </a:cubicBezTo>
                <a:cubicBezTo>
                  <a:pt x="8463873" y="336371"/>
                  <a:pt x="8510604" y="336371"/>
                  <a:pt x="8551492" y="342068"/>
                </a:cubicBezTo>
                <a:cubicBezTo>
                  <a:pt x="8679999" y="356311"/>
                  <a:pt x="8802666" y="367705"/>
                  <a:pt x="8925331" y="381948"/>
                </a:cubicBezTo>
                <a:cubicBezTo>
                  <a:pt x="8966219" y="387646"/>
                  <a:pt x="9001269" y="390495"/>
                  <a:pt x="9042156" y="396192"/>
                </a:cubicBezTo>
                <a:cubicBezTo>
                  <a:pt x="9123934" y="407587"/>
                  <a:pt x="9129775" y="407587"/>
                  <a:pt x="9123934" y="430375"/>
                </a:cubicBezTo>
                <a:cubicBezTo>
                  <a:pt x="9118092" y="427527"/>
                  <a:pt x="9112251" y="427527"/>
                  <a:pt x="9106409" y="427527"/>
                </a:cubicBezTo>
                <a:cubicBezTo>
                  <a:pt x="9059680" y="433224"/>
                  <a:pt x="9001269" y="421830"/>
                  <a:pt x="8948697" y="418981"/>
                </a:cubicBezTo>
                <a:cubicBezTo>
                  <a:pt x="9001269" y="430375"/>
                  <a:pt x="9047998" y="436072"/>
                  <a:pt x="9100569" y="438921"/>
                </a:cubicBezTo>
                <a:cubicBezTo>
                  <a:pt x="9112251" y="441770"/>
                  <a:pt x="9123934" y="444618"/>
                  <a:pt x="9135617" y="444618"/>
                </a:cubicBezTo>
                <a:cubicBezTo>
                  <a:pt x="9141458" y="444618"/>
                  <a:pt x="9147300" y="447467"/>
                  <a:pt x="9153140" y="447467"/>
                </a:cubicBezTo>
                <a:cubicBezTo>
                  <a:pt x="9188188" y="450315"/>
                  <a:pt x="9223234" y="453164"/>
                  <a:pt x="9252441" y="461709"/>
                </a:cubicBezTo>
                <a:cubicBezTo>
                  <a:pt x="9246601" y="461709"/>
                  <a:pt x="9246601" y="461709"/>
                  <a:pt x="9246601" y="464558"/>
                </a:cubicBezTo>
                <a:cubicBezTo>
                  <a:pt x="9334219" y="470255"/>
                  <a:pt x="9398472" y="493045"/>
                  <a:pt x="9491933" y="501591"/>
                </a:cubicBezTo>
                <a:cubicBezTo>
                  <a:pt x="9480250" y="515834"/>
                  <a:pt x="9439362" y="510137"/>
                  <a:pt x="9445203" y="507288"/>
                </a:cubicBezTo>
                <a:cubicBezTo>
                  <a:pt x="9392632" y="501591"/>
                  <a:pt x="9340061" y="490197"/>
                  <a:pt x="9299172" y="498742"/>
                </a:cubicBezTo>
                <a:cubicBezTo>
                  <a:pt x="9293330" y="501591"/>
                  <a:pt x="9275807" y="498742"/>
                  <a:pt x="9264124" y="495894"/>
                </a:cubicBezTo>
                <a:cubicBezTo>
                  <a:pt x="9211553" y="478801"/>
                  <a:pt x="9135617" y="473104"/>
                  <a:pt x="9065521" y="464558"/>
                </a:cubicBezTo>
                <a:cubicBezTo>
                  <a:pt x="9024633" y="458861"/>
                  <a:pt x="9024633" y="470255"/>
                  <a:pt x="8995427" y="470255"/>
                </a:cubicBezTo>
                <a:cubicBezTo>
                  <a:pt x="8960379" y="464558"/>
                  <a:pt x="8942856" y="453164"/>
                  <a:pt x="8896125" y="450315"/>
                </a:cubicBezTo>
                <a:cubicBezTo>
                  <a:pt x="8861079" y="467407"/>
                  <a:pt x="8796824" y="450315"/>
                  <a:pt x="8738412" y="447467"/>
                </a:cubicBezTo>
                <a:cubicBezTo>
                  <a:pt x="8691682" y="441770"/>
                  <a:pt x="8639111" y="438921"/>
                  <a:pt x="8592380" y="433224"/>
                </a:cubicBezTo>
                <a:cubicBezTo>
                  <a:pt x="8580699" y="430375"/>
                  <a:pt x="8574857" y="430375"/>
                  <a:pt x="8569017" y="430375"/>
                </a:cubicBezTo>
                <a:cubicBezTo>
                  <a:pt x="8533968" y="427527"/>
                  <a:pt x="8493080" y="424678"/>
                  <a:pt x="8463873" y="416132"/>
                </a:cubicBezTo>
                <a:cubicBezTo>
                  <a:pt x="8458032" y="416132"/>
                  <a:pt x="8452190" y="413284"/>
                  <a:pt x="8446350" y="413284"/>
                </a:cubicBezTo>
                <a:cubicBezTo>
                  <a:pt x="8428826" y="413284"/>
                  <a:pt x="8417144" y="413284"/>
                  <a:pt x="8399619" y="413284"/>
                </a:cubicBezTo>
                <a:cubicBezTo>
                  <a:pt x="8393778" y="416132"/>
                  <a:pt x="8393778" y="418981"/>
                  <a:pt x="8417144" y="424678"/>
                </a:cubicBezTo>
                <a:cubicBezTo>
                  <a:pt x="8469715" y="433224"/>
                  <a:pt x="8528126" y="438921"/>
                  <a:pt x="8586539" y="444618"/>
                </a:cubicBezTo>
                <a:cubicBezTo>
                  <a:pt x="8598222" y="444618"/>
                  <a:pt x="8615746" y="447467"/>
                  <a:pt x="8627428" y="447467"/>
                </a:cubicBezTo>
                <a:cubicBezTo>
                  <a:pt x="8639111" y="444618"/>
                  <a:pt x="8656634" y="447467"/>
                  <a:pt x="8668316" y="450315"/>
                </a:cubicBezTo>
                <a:cubicBezTo>
                  <a:pt x="8679999" y="450315"/>
                  <a:pt x="8685841" y="453164"/>
                  <a:pt x="8691682" y="453164"/>
                </a:cubicBezTo>
                <a:cubicBezTo>
                  <a:pt x="8697524" y="456013"/>
                  <a:pt x="8703364" y="456013"/>
                  <a:pt x="8709206" y="456013"/>
                </a:cubicBezTo>
                <a:cubicBezTo>
                  <a:pt x="8814348" y="467407"/>
                  <a:pt x="8925331" y="478801"/>
                  <a:pt x="9036315" y="495894"/>
                </a:cubicBezTo>
                <a:cubicBezTo>
                  <a:pt x="9059680" y="501591"/>
                  <a:pt x="9083046" y="501591"/>
                  <a:pt x="9083046" y="510137"/>
                </a:cubicBezTo>
                <a:cubicBezTo>
                  <a:pt x="9258282" y="535774"/>
                  <a:pt x="9439362" y="550017"/>
                  <a:pt x="9608756" y="581352"/>
                </a:cubicBezTo>
                <a:cubicBezTo>
                  <a:pt x="9655487" y="589898"/>
                  <a:pt x="9702217" y="595595"/>
                  <a:pt x="9719742" y="584201"/>
                </a:cubicBezTo>
                <a:cubicBezTo>
                  <a:pt x="9748946" y="595595"/>
                  <a:pt x="9754788" y="601292"/>
                  <a:pt x="9748946" y="609838"/>
                </a:cubicBezTo>
                <a:cubicBezTo>
                  <a:pt x="9743105" y="612687"/>
                  <a:pt x="9743105" y="615535"/>
                  <a:pt x="9743105" y="615535"/>
                </a:cubicBezTo>
                <a:cubicBezTo>
                  <a:pt x="9743105" y="615535"/>
                  <a:pt x="9737265" y="615535"/>
                  <a:pt x="9731423" y="615535"/>
                </a:cubicBezTo>
                <a:cubicBezTo>
                  <a:pt x="9737265" y="615535"/>
                  <a:pt x="9743105" y="618384"/>
                  <a:pt x="9743105" y="618384"/>
                </a:cubicBezTo>
                <a:cubicBezTo>
                  <a:pt x="9783996" y="632627"/>
                  <a:pt x="9830725" y="635475"/>
                  <a:pt x="9877455" y="644021"/>
                </a:cubicBezTo>
                <a:cubicBezTo>
                  <a:pt x="9912503" y="649718"/>
                  <a:pt x="9959232" y="652567"/>
                  <a:pt x="9965074" y="666811"/>
                </a:cubicBezTo>
                <a:cubicBezTo>
                  <a:pt x="9906661" y="661113"/>
                  <a:pt x="9859930" y="646870"/>
                  <a:pt x="9801517" y="641172"/>
                </a:cubicBezTo>
                <a:cubicBezTo>
                  <a:pt x="9778154" y="638324"/>
                  <a:pt x="9760630" y="635475"/>
                  <a:pt x="9737265" y="632627"/>
                </a:cubicBezTo>
                <a:cubicBezTo>
                  <a:pt x="9702217" y="626929"/>
                  <a:pt x="9667169" y="621232"/>
                  <a:pt x="9632123" y="615535"/>
                </a:cubicBezTo>
                <a:cubicBezTo>
                  <a:pt x="9620440" y="612687"/>
                  <a:pt x="9602916" y="612687"/>
                  <a:pt x="9591235" y="609838"/>
                </a:cubicBezTo>
                <a:cubicBezTo>
                  <a:pt x="9591235" y="609838"/>
                  <a:pt x="9591235" y="606990"/>
                  <a:pt x="9585393" y="606990"/>
                </a:cubicBezTo>
                <a:cubicBezTo>
                  <a:pt x="9579552" y="606990"/>
                  <a:pt x="9579552" y="606990"/>
                  <a:pt x="9579552" y="606990"/>
                </a:cubicBezTo>
                <a:cubicBezTo>
                  <a:pt x="9585393" y="606990"/>
                  <a:pt x="9585393" y="609838"/>
                  <a:pt x="9591235" y="609838"/>
                </a:cubicBezTo>
                <a:cubicBezTo>
                  <a:pt x="9579552" y="609838"/>
                  <a:pt x="9573710" y="606990"/>
                  <a:pt x="9567868" y="606990"/>
                </a:cubicBezTo>
                <a:cubicBezTo>
                  <a:pt x="9556185" y="606990"/>
                  <a:pt x="9550344" y="604141"/>
                  <a:pt x="9544504" y="604141"/>
                </a:cubicBezTo>
                <a:cubicBezTo>
                  <a:pt x="9497773" y="601292"/>
                  <a:pt x="9468568" y="595595"/>
                  <a:pt x="9456885" y="584201"/>
                </a:cubicBezTo>
                <a:cubicBezTo>
                  <a:pt x="9451043" y="575655"/>
                  <a:pt x="9439362" y="575655"/>
                  <a:pt x="9421837" y="572807"/>
                </a:cubicBezTo>
                <a:cubicBezTo>
                  <a:pt x="9316695" y="561411"/>
                  <a:pt x="9205711" y="538622"/>
                  <a:pt x="9106409" y="547168"/>
                </a:cubicBezTo>
                <a:cubicBezTo>
                  <a:pt x="9088886" y="541471"/>
                  <a:pt x="9059680" y="541471"/>
                  <a:pt x="9059680" y="532925"/>
                </a:cubicBezTo>
                <a:cubicBezTo>
                  <a:pt x="9047998" y="532925"/>
                  <a:pt x="9036315" y="532925"/>
                  <a:pt x="9024633" y="532925"/>
                </a:cubicBezTo>
                <a:cubicBezTo>
                  <a:pt x="9012950" y="532925"/>
                  <a:pt x="9007110" y="530077"/>
                  <a:pt x="9001269" y="530077"/>
                </a:cubicBezTo>
                <a:cubicBezTo>
                  <a:pt x="8972061" y="532925"/>
                  <a:pt x="8954539" y="524380"/>
                  <a:pt x="8942856" y="518682"/>
                </a:cubicBezTo>
                <a:cubicBezTo>
                  <a:pt x="8931173" y="515834"/>
                  <a:pt x="8913648" y="515834"/>
                  <a:pt x="8901967" y="512985"/>
                </a:cubicBezTo>
                <a:cubicBezTo>
                  <a:pt x="8843554" y="504439"/>
                  <a:pt x="8790983" y="498742"/>
                  <a:pt x="8732570" y="493045"/>
                </a:cubicBezTo>
                <a:cubicBezTo>
                  <a:pt x="8633270" y="495894"/>
                  <a:pt x="8557334" y="484499"/>
                  <a:pt x="8481397" y="461709"/>
                </a:cubicBezTo>
                <a:cubicBezTo>
                  <a:pt x="8440509" y="467407"/>
                  <a:pt x="8434667" y="470255"/>
                  <a:pt x="8493080" y="478801"/>
                </a:cubicBezTo>
                <a:cubicBezTo>
                  <a:pt x="8498921" y="478801"/>
                  <a:pt x="8504763" y="481651"/>
                  <a:pt x="8516444" y="484499"/>
                </a:cubicBezTo>
                <a:cubicBezTo>
                  <a:pt x="8522285" y="487348"/>
                  <a:pt x="8528126" y="487348"/>
                  <a:pt x="8533968" y="487348"/>
                </a:cubicBezTo>
                <a:cubicBezTo>
                  <a:pt x="8569017" y="495894"/>
                  <a:pt x="8563175" y="498742"/>
                  <a:pt x="8539809" y="501591"/>
                </a:cubicBezTo>
                <a:cubicBezTo>
                  <a:pt x="8569017" y="510137"/>
                  <a:pt x="8621587" y="515834"/>
                  <a:pt x="8644951" y="527228"/>
                </a:cubicBezTo>
                <a:cubicBezTo>
                  <a:pt x="8650793" y="527228"/>
                  <a:pt x="8656634" y="527228"/>
                  <a:pt x="8662476" y="527228"/>
                </a:cubicBezTo>
                <a:cubicBezTo>
                  <a:pt x="8674158" y="527228"/>
                  <a:pt x="8691682" y="530077"/>
                  <a:pt x="8703364" y="532925"/>
                </a:cubicBezTo>
                <a:cubicBezTo>
                  <a:pt x="8750095" y="538622"/>
                  <a:pt x="8796824" y="544319"/>
                  <a:pt x="8837712" y="544319"/>
                </a:cubicBezTo>
                <a:cubicBezTo>
                  <a:pt x="8849395" y="547168"/>
                  <a:pt x="8855237" y="550017"/>
                  <a:pt x="8866919" y="552865"/>
                </a:cubicBezTo>
                <a:cubicBezTo>
                  <a:pt x="8878602" y="552865"/>
                  <a:pt x="8884443" y="552865"/>
                  <a:pt x="8896125" y="552865"/>
                </a:cubicBezTo>
                <a:cubicBezTo>
                  <a:pt x="8907808" y="552865"/>
                  <a:pt x="8919490" y="555714"/>
                  <a:pt x="8937014" y="555714"/>
                </a:cubicBezTo>
                <a:cubicBezTo>
                  <a:pt x="8948697" y="555714"/>
                  <a:pt x="8954539" y="558562"/>
                  <a:pt x="8966219" y="558562"/>
                </a:cubicBezTo>
                <a:cubicBezTo>
                  <a:pt x="8972061" y="558562"/>
                  <a:pt x="8972061" y="561411"/>
                  <a:pt x="8977902" y="561411"/>
                </a:cubicBezTo>
                <a:cubicBezTo>
                  <a:pt x="9007110" y="561411"/>
                  <a:pt x="9030473" y="564260"/>
                  <a:pt x="9053840" y="561411"/>
                </a:cubicBezTo>
                <a:cubicBezTo>
                  <a:pt x="9077204" y="564260"/>
                  <a:pt x="9118092" y="567108"/>
                  <a:pt x="9077204" y="572807"/>
                </a:cubicBezTo>
                <a:cubicBezTo>
                  <a:pt x="9071363" y="572807"/>
                  <a:pt x="9059680" y="575655"/>
                  <a:pt x="9053840" y="575655"/>
                </a:cubicBezTo>
                <a:cubicBezTo>
                  <a:pt x="9053840" y="575655"/>
                  <a:pt x="9059680" y="575655"/>
                  <a:pt x="9059680" y="575655"/>
                </a:cubicBezTo>
                <a:cubicBezTo>
                  <a:pt x="9100569" y="581352"/>
                  <a:pt x="9147300" y="587049"/>
                  <a:pt x="9188188" y="592747"/>
                </a:cubicBezTo>
                <a:cubicBezTo>
                  <a:pt x="9240759" y="601292"/>
                  <a:pt x="9293330" y="609838"/>
                  <a:pt x="9281648" y="626929"/>
                </a:cubicBezTo>
                <a:cubicBezTo>
                  <a:pt x="9281648" y="626929"/>
                  <a:pt x="9275807" y="629778"/>
                  <a:pt x="9275807" y="629778"/>
                </a:cubicBezTo>
                <a:cubicBezTo>
                  <a:pt x="9258282" y="635475"/>
                  <a:pt x="9234918" y="632627"/>
                  <a:pt x="9205711" y="626929"/>
                </a:cubicBezTo>
                <a:cubicBezTo>
                  <a:pt x="9164822" y="618384"/>
                  <a:pt x="9123934" y="612687"/>
                  <a:pt x="9083046" y="609838"/>
                </a:cubicBezTo>
                <a:cubicBezTo>
                  <a:pt x="9024633" y="612687"/>
                  <a:pt x="8972061" y="601292"/>
                  <a:pt x="8913648" y="592747"/>
                </a:cubicBezTo>
                <a:cubicBezTo>
                  <a:pt x="8901967" y="589898"/>
                  <a:pt x="8884443" y="587049"/>
                  <a:pt x="8872760" y="584201"/>
                </a:cubicBezTo>
                <a:cubicBezTo>
                  <a:pt x="8861079" y="581352"/>
                  <a:pt x="8855237" y="581352"/>
                  <a:pt x="8843554" y="578504"/>
                </a:cubicBezTo>
                <a:cubicBezTo>
                  <a:pt x="8820189" y="575655"/>
                  <a:pt x="8790983" y="569957"/>
                  <a:pt x="8767618" y="567108"/>
                </a:cubicBezTo>
                <a:cubicBezTo>
                  <a:pt x="8726729" y="561411"/>
                  <a:pt x="8685841" y="558562"/>
                  <a:pt x="8650793" y="550017"/>
                </a:cubicBezTo>
                <a:cubicBezTo>
                  <a:pt x="8644951" y="550017"/>
                  <a:pt x="8639111" y="550017"/>
                  <a:pt x="8633270" y="550017"/>
                </a:cubicBezTo>
                <a:cubicBezTo>
                  <a:pt x="8615746" y="547168"/>
                  <a:pt x="8598222" y="550017"/>
                  <a:pt x="8580699" y="550017"/>
                </a:cubicBezTo>
                <a:cubicBezTo>
                  <a:pt x="8574857" y="550017"/>
                  <a:pt x="8563175" y="547168"/>
                  <a:pt x="8551492" y="547168"/>
                </a:cubicBezTo>
                <a:cubicBezTo>
                  <a:pt x="8399619" y="527228"/>
                  <a:pt x="8382096" y="521531"/>
                  <a:pt x="8382096" y="495894"/>
                </a:cubicBezTo>
                <a:cubicBezTo>
                  <a:pt x="8399619" y="490197"/>
                  <a:pt x="8428826" y="493045"/>
                  <a:pt x="8458032" y="493045"/>
                </a:cubicBezTo>
                <a:cubicBezTo>
                  <a:pt x="8405461" y="484499"/>
                  <a:pt x="8352890" y="475952"/>
                  <a:pt x="8294477" y="470255"/>
                </a:cubicBezTo>
                <a:cubicBezTo>
                  <a:pt x="8265271" y="467407"/>
                  <a:pt x="8236065" y="467407"/>
                  <a:pt x="8230223" y="458861"/>
                </a:cubicBezTo>
                <a:cubicBezTo>
                  <a:pt x="8241906" y="458861"/>
                  <a:pt x="8259429" y="461709"/>
                  <a:pt x="8271112" y="458861"/>
                </a:cubicBezTo>
                <a:cubicBezTo>
                  <a:pt x="8282794" y="461709"/>
                  <a:pt x="8288636" y="461709"/>
                  <a:pt x="8294477" y="461709"/>
                </a:cubicBezTo>
                <a:cubicBezTo>
                  <a:pt x="8288636" y="456013"/>
                  <a:pt x="8276954" y="453164"/>
                  <a:pt x="8259429" y="450315"/>
                </a:cubicBezTo>
                <a:cubicBezTo>
                  <a:pt x="8253589" y="450315"/>
                  <a:pt x="8253589" y="450315"/>
                  <a:pt x="8253589" y="450315"/>
                </a:cubicBezTo>
                <a:cubicBezTo>
                  <a:pt x="8236065" y="447467"/>
                  <a:pt x="8218541" y="447467"/>
                  <a:pt x="8206858" y="447467"/>
                </a:cubicBezTo>
                <a:cubicBezTo>
                  <a:pt x="8130922" y="447467"/>
                  <a:pt x="8107558" y="436072"/>
                  <a:pt x="8084192" y="421830"/>
                </a:cubicBezTo>
                <a:cubicBezTo>
                  <a:pt x="8072510" y="421830"/>
                  <a:pt x="8066668" y="421830"/>
                  <a:pt x="8060828" y="421830"/>
                </a:cubicBezTo>
                <a:cubicBezTo>
                  <a:pt x="8037462" y="427527"/>
                  <a:pt x="8014097" y="430375"/>
                  <a:pt x="7990732" y="436072"/>
                </a:cubicBezTo>
                <a:cubicBezTo>
                  <a:pt x="7973209" y="433224"/>
                  <a:pt x="7955685" y="430375"/>
                  <a:pt x="7932321" y="433224"/>
                </a:cubicBezTo>
                <a:cubicBezTo>
                  <a:pt x="7914797" y="436072"/>
                  <a:pt x="7903114" y="436072"/>
                  <a:pt x="7885590" y="438921"/>
                </a:cubicBezTo>
                <a:cubicBezTo>
                  <a:pt x="7821336" y="444618"/>
                  <a:pt x="7745400" y="444618"/>
                  <a:pt x="7669465" y="438921"/>
                </a:cubicBezTo>
                <a:cubicBezTo>
                  <a:pt x="7669465" y="441770"/>
                  <a:pt x="7657781" y="444618"/>
                  <a:pt x="7646098" y="447467"/>
                </a:cubicBezTo>
                <a:cubicBezTo>
                  <a:pt x="7640258" y="447467"/>
                  <a:pt x="7628575" y="450315"/>
                  <a:pt x="7622735" y="450315"/>
                </a:cubicBezTo>
                <a:cubicBezTo>
                  <a:pt x="7576004" y="447467"/>
                  <a:pt x="7523434" y="444618"/>
                  <a:pt x="7500067" y="430375"/>
                </a:cubicBezTo>
                <a:cubicBezTo>
                  <a:pt x="7494227" y="430375"/>
                  <a:pt x="7488385" y="427527"/>
                  <a:pt x="7482545" y="427527"/>
                </a:cubicBezTo>
                <a:cubicBezTo>
                  <a:pt x="7465021" y="424678"/>
                  <a:pt x="7453338" y="424678"/>
                  <a:pt x="7435815" y="424678"/>
                </a:cubicBezTo>
                <a:cubicBezTo>
                  <a:pt x="7424132" y="424678"/>
                  <a:pt x="7418292" y="424678"/>
                  <a:pt x="7412449" y="424678"/>
                </a:cubicBezTo>
                <a:cubicBezTo>
                  <a:pt x="7342356" y="424678"/>
                  <a:pt x="7272260" y="416132"/>
                  <a:pt x="7202165" y="413284"/>
                </a:cubicBezTo>
                <a:cubicBezTo>
                  <a:pt x="7178799" y="410435"/>
                  <a:pt x="7161276" y="410435"/>
                  <a:pt x="7137912" y="410435"/>
                </a:cubicBezTo>
                <a:cubicBezTo>
                  <a:pt x="7097023" y="416132"/>
                  <a:pt x="7056134" y="413284"/>
                  <a:pt x="7015245" y="410435"/>
                </a:cubicBezTo>
                <a:cubicBezTo>
                  <a:pt x="6980199" y="407587"/>
                  <a:pt x="6950992" y="404738"/>
                  <a:pt x="6921784" y="404738"/>
                </a:cubicBezTo>
                <a:cubicBezTo>
                  <a:pt x="6816644" y="404738"/>
                  <a:pt x="6711502" y="399041"/>
                  <a:pt x="6606358" y="399041"/>
                </a:cubicBezTo>
                <a:cubicBezTo>
                  <a:pt x="6571312" y="399041"/>
                  <a:pt x="6530422" y="396192"/>
                  <a:pt x="6495374" y="401889"/>
                </a:cubicBezTo>
                <a:cubicBezTo>
                  <a:pt x="6483692" y="401889"/>
                  <a:pt x="6466167" y="401889"/>
                  <a:pt x="6454487" y="401889"/>
                </a:cubicBezTo>
                <a:cubicBezTo>
                  <a:pt x="6448644" y="399041"/>
                  <a:pt x="6436961" y="396192"/>
                  <a:pt x="6431120" y="396192"/>
                </a:cubicBezTo>
                <a:cubicBezTo>
                  <a:pt x="6419438" y="396192"/>
                  <a:pt x="6413597" y="396192"/>
                  <a:pt x="6407755" y="396192"/>
                </a:cubicBezTo>
                <a:cubicBezTo>
                  <a:pt x="6384391" y="399041"/>
                  <a:pt x="6361025" y="399041"/>
                  <a:pt x="6366868" y="390495"/>
                </a:cubicBezTo>
                <a:cubicBezTo>
                  <a:pt x="6390232" y="387646"/>
                  <a:pt x="6407755" y="384797"/>
                  <a:pt x="6431120" y="384797"/>
                </a:cubicBezTo>
                <a:cubicBezTo>
                  <a:pt x="6588835" y="390495"/>
                  <a:pt x="6740706" y="390495"/>
                  <a:pt x="6898420" y="390495"/>
                </a:cubicBezTo>
                <a:cubicBezTo>
                  <a:pt x="6927626" y="390495"/>
                  <a:pt x="6950992" y="390495"/>
                  <a:pt x="6974356" y="396192"/>
                </a:cubicBezTo>
                <a:cubicBezTo>
                  <a:pt x="6986038" y="384797"/>
                  <a:pt x="7026928" y="384797"/>
                  <a:pt x="7067815" y="384797"/>
                </a:cubicBezTo>
                <a:cubicBezTo>
                  <a:pt x="7114546" y="384797"/>
                  <a:pt x="7155436" y="387646"/>
                  <a:pt x="7196325" y="387646"/>
                </a:cubicBezTo>
                <a:cubicBezTo>
                  <a:pt x="7260577" y="390495"/>
                  <a:pt x="7330673" y="393344"/>
                  <a:pt x="7394926" y="393344"/>
                </a:cubicBezTo>
                <a:cubicBezTo>
                  <a:pt x="7447498" y="396192"/>
                  <a:pt x="7500067" y="393344"/>
                  <a:pt x="7546800" y="404738"/>
                </a:cubicBezTo>
                <a:cubicBezTo>
                  <a:pt x="7552640" y="407587"/>
                  <a:pt x="7558481" y="407587"/>
                  <a:pt x="7558481" y="410435"/>
                </a:cubicBezTo>
                <a:cubicBezTo>
                  <a:pt x="7628575" y="404738"/>
                  <a:pt x="7710354" y="407587"/>
                  <a:pt x="7786290" y="413284"/>
                </a:cubicBezTo>
                <a:cubicBezTo>
                  <a:pt x="7757083" y="407587"/>
                  <a:pt x="7716194" y="404738"/>
                  <a:pt x="7681147" y="401889"/>
                </a:cubicBezTo>
                <a:cubicBezTo>
                  <a:pt x="7628575" y="396192"/>
                  <a:pt x="7564322" y="399041"/>
                  <a:pt x="7535117" y="381948"/>
                </a:cubicBezTo>
                <a:cubicBezTo>
                  <a:pt x="7523434" y="384797"/>
                  <a:pt x="7511750" y="384797"/>
                  <a:pt x="7494227" y="381948"/>
                </a:cubicBezTo>
                <a:cubicBezTo>
                  <a:pt x="7494227" y="381948"/>
                  <a:pt x="7488385" y="381948"/>
                  <a:pt x="7488385" y="381948"/>
                </a:cubicBezTo>
                <a:cubicBezTo>
                  <a:pt x="7494227" y="384797"/>
                  <a:pt x="7505908" y="384797"/>
                  <a:pt x="7500067" y="387646"/>
                </a:cubicBezTo>
                <a:cubicBezTo>
                  <a:pt x="7470862" y="396192"/>
                  <a:pt x="7418292" y="393344"/>
                  <a:pt x="7371560" y="390495"/>
                </a:cubicBezTo>
                <a:cubicBezTo>
                  <a:pt x="7283944" y="381948"/>
                  <a:pt x="7202165" y="379100"/>
                  <a:pt x="7120386" y="376251"/>
                </a:cubicBezTo>
                <a:cubicBezTo>
                  <a:pt x="7102866" y="373403"/>
                  <a:pt x="7085340" y="373403"/>
                  <a:pt x="7073657" y="367705"/>
                </a:cubicBezTo>
                <a:cubicBezTo>
                  <a:pt x="7009405" y="364857"/>
                  <a:pt x="6945150" y="367705"/>
                  <a:pt x="6886737" y="356311"/>
                </a:cubicBezTo>
                <a:cubicBezTo>
                  <a:pt x="6950992" y="356311"/>
                  <a:pt x="7015245" y="359159"/>
                  <a:pt x="7079498" y="359159"/>
                </a:cubicBezTo>
                <a:cubicBezTo>
                  <a:pt x="7149594" y="359159"/>
                  <a:pt x="7213848" y="359159"/>
                  <a:pt x="7283944" y="359159"/>
                </a:cubicBezTo>
                <a:cubicBezTo>
                  <a:pt x="7283944" y="356311"/>
                  <a:pt x="7278101" y="356311"/>
                  <a:pt x="7283944" y="353462"/>
                </a:cubicBezTo>
                <a:cubicBezTo>
                  <a:pt x="7318990" y="347765"/>
                  <a:pt x="7359879" y="347765"/>
                  <a:pt x="7400769" y="347765"/>
                </a:cubicBezTo>
                <a:cubicBezTo>
                  <a:pt x="7301467" y="347765"/>
                  <a:pt x="7202165" y="344917"/>
                  <a:pt x="7102866" y="339219"/>
                </a:cubicBezTo>
                <a:cubicBezTo>
                  <a:pt x="7079498" y="339219"/>
                  <a:pt x="7056134" y="336371"/>
                  <a:pt x="7038611" y="333522"/>
                </a:cubicBezTo>
                <a:cubicBezTo>
                  <a:pt x="7015245" y="330674"/>
                  <a:pt x="6991881" y="330674"/>
                  <a:pt x="6968515" y="330674"/>
                </a:cubicBezTo>
                <a:cubicBezTo>
                  <a:pt x="6962676" y="330674"/>
                  <a:pt x="6956833" y="330674"/>
                  <a:pt x="6950992" y="330674"/>
                </a:cubicBezTo>
                <a:cubicBezTo>
                  <a:pt x="6910104" y="333522"/>
                  <a:pt x="6863374" y="327825"/>
                  <a:pt x="6822484" y="330674"/>
                </a:cubicBezTo>
                <a:cubicBezTo>
                  <a:pt x="6816644" y="330674"/>
                  <a:pt x="6804961" y="330674"/>
                  <a:pt x="6793278" y="330674"/>
                </a:cubicBezTo>
                <a:cubicBezTo>
                  <a:pt x="6787438" y="327825"/>
                  <a:pt x="6775755" y="327825"/>
                  <a:pt x="6764072" y="327825"/>
                </a:cubicBezTo>
                <a:cubicBezTo>
                  <a:pt x="6752389" y="327825"/>
                  <a:pt x="6746548" y="324976"/>
                  <a:pt x="6734865" y="324976"/>
                </a:cubicBezTo>
                <a:cubicBezTo>
                  <a:pt x="6664770" y="305036"/>
                  <a:pt x="6758232" y="305036"/>
                  <a:pt x="6793278" y="305036"/>
                </a:cubicBezTo>
                <a:cubicBezTo>
                  <a:pt x="6822484" y="305036"/>
                  <a:pt x="6851691" y="302188"/>
                  <a:pt x="6875054" y="299339"/>
                </a:cubicBezTo>
                <a:cubicBezTo>
                  <a:pt x="6822484" y="296491"/>
                  <a:pt x="6764072" y="293641"/>
                  <a:pt x="6711502" y="299339"/>
                </a:cubicBezTo>
                <a:cubicBezTo>
                  <a:pt x="6699819" y="299339"/>
                  <a:pt x="6688136" y="299339"/>
                  <a:pt x="6676453" y="299339"/>
                </a:cubicBezTo>
                <a:cubicBezTo>
                  <a:pt x="6658930" y="299339"/>
                  <a:pt x="6647247" y="296491"/>
                  <a:pt x="6629722" y="293641"/>
                </a:cubicBezTo>
                <a:cubicBezTo>
                  <a:pt x="6582994" y="293641"/>
                  <a:pt x="6530422" y="287944"/>
                  <a:pt x="6477850" y="290792"/>
                </a:cubicBezTo>
                <a:cubicBezTo>
                  <a:pt x="6425280" y="293641"/>
                  <a:pt x="6372708" y="296491"/>
                  <a:pt x="6320138" y="287944"/>
                </a:cubicBezTo>
                <a:cubicBezTo>
                  <a:pt x="6320138" y="285095"/>
                  <a:pt x="6337662" y="282247"/>
                  <a:pt x="6349342" y="282247"/>
                </a:cubicBezTo>
                <a:cubicBezTo>
                  <a:pt x="6372708" y="282247"/>
                  <a:pt x="6390232" y="279398"/>
                  <a:pt x="6390232" y="273701"/>
                </a:cubicBezTo>
                <a:cubicBezTo>
                  <a:pt x="6366868" y="268004"/>
                  <a:pt x="6325979" y="270852"/>
                  <a:pt x="6302613" y="268004"/>
                </a:cubicBezTo>
                <a:cubicBezTo>
                  <a:pt x="6279249" y="253761"/>
                  <a:pt x="6320138" y="253761"/>
                  <a:pt x="6366868" y="253761"/>
                </a:cubicBezTo>
                <a:cubicBezTo>
                  <a:pt x="6372708" y="253761"/>
                  <a:pt x="6366868" y="250912"/>
                  <a:pt x="6372708" y="250912"/>
                </a:cubicBezTo>
                <a:cubicBezTo>
                  <a:pt x="6407755" y="248064"/>
                  <a:pt x="6442803" y="248064"/>
                  <a:pt x="6477851" y="248775"/>
                </a:cubicBezTo>
                <a:close/>
                <a:moveTo>
                  <a:pt x="8591650" y="135543"/>
                </a:moveTo>
                <a:cubicBezTo>
                  <a:pt x="8602602" y="136255"/>
                  <a:pt x="8615745" y="138392"/>
                  <a:pt x="8627428" y="139815"/>
                </a:cubicBezTo>
                <a:cubicBezTo>
                  <a:pt x="8709206" y="145513"/>
                  <a:pt x="8790983" y="156908"/>
                  <a:pt x="8866919" y="162605"/>
                </a:cubicBezTo>
                <a:cubicBezTo>
                  <a:pt x="8884442" y="162605"/>
                  <a:pt x="8896125" y="162605"/>
                  <a:pt x="8913648" y="162605"/>
                </a:cubicBezTo>
                <a:cubicBezTo>
                  <a:pt x="8925331" y="159756"/>
                  <a:pt x="8948696" y="165454"/>
                  <a:pt x="8960378" y="162605"/>
                </a:cubicBezTo>
                <a:cubicBezTo>
                  <a:pt x="9001269" y="168302"/>
                  <a:pt x="9024632" y="176848"/>
                  <a:pt x="9012950" y="185394"/>
                </a:cubicBezTo>
                <a:cubicBezTo>
                  <a:pt x="9001269" y="191091"/>
                  <a:pt x="8960378" y="185394"/>
                  <a:pt x="8931173" y="182545"/>
                </a:cubicBezTo>
                <a:cubicBezTo>
                  <a:pt x="8925331" y="182545"/>
                  <a:pt x="8913648" y="179697"/>
                  <a:pt x="8907808" y="179697"/>
                </a:cubicBezTo>
                <a:cubicBezTo>
                  <a:pt x="8814348" y="176848"/>
                  <a:pt x="8720887" y="159756"/>
                  <a:pt x="8621587" y="151211"/>
                </a:cubicBezTo>
                <a:cubicBezTo>
                  <a:pt x="8598222" y="148361"/>
                  <a:pt x="8563174" y="145513"/>
                  <a:pt x="8569016" y="139815"/>
                </a:cubicBezTo>
                <a:cubicBezTo>
                  <a:pt x="8571936" y="135543"/>
                  <a:pt x="8580697" y="134831"/>
                  <a:pt x="8591650" y="135543"/>
                </a:cubicBezTo>
                <a:close/>
                <a:moveTo>
                  <a:pt x="8195175" y="48660"/>
                </a:moveTo>
                <a:cubicBezTo>
                  <a:pt x="8230223" y="51508"/>
                  <a:pt x="8271112" y="54357"/>
                  <a:pt x="8306160" y="57205"/>
                </a:cubicBezTo>
                <a:cubicBezTo>
                  <a:pt x="8323683" y="65751"/>
                  <a:pt x="8364573" y="65751"/>
                  <a:pt x="8382095" y="74297"/>
                </a:cubicBezTo>
                <a:cubicBezTo>
                  <a:pt x="8341207" y="74297"/>
                  <a:pt x="8294477" y="74297"/>
                  <a:pt x="8253588" y="68600"/>
                </a:cubicBezTo>
                <a:cubicBezTo>
                  <a:pt x="8206858" y="65751"/>
                  <a:pt x="8165970" y="60054"/>
                  <a:pt x="8195175" y="48660"/>
                </a:cubicBezTo>
                <a:close/>
                <a:moveTo>
                  <a:pt x="6185790" y="233"/>
                </a:moveTo>
                <a:cubicBezTo>
                  <a:pt x="6250043" y="233"/>
                  <a:pt x="6314298" y="233"/>
                  <a:pt x="6378551" y="233"/>
                </a:cubicBezTo>
                <a:cubicBezTo>
                  <a:pt x="6559629" y="233"/>
                  <a:pt x="6740708" y="-2616"/>
                  <a:pt x="6921786" y="11627"/>
                </a:cubicBezTo>
                <a:cubicBezTo>
                  <a:pt x="7003565" y="5930"/>
                  <a:pt x="7091184" y="8778"/>
                  <a:pt x="7172959" y="5930"/>
                </a:cubicBezTo>
                <a:cubicBezTo>
                  <a:pt x="7260578" y="14476"/>
                  <a:pt x="7342357" y="11627"/>
                  <a:pt x="7429975" y="17324"/>
                </a:cubicBezTo>
                <a:cubicBezTo>
                  <a:pt x="7435816" y="17324"/>
                  <a:pt x="7441658" y="14476"/>
                  <a:pt x="7447499" y="14476"/>
                </a:cubicBezTo>
                <a:cubicBezTo>
                  <a:pt x="7459181" y="14476"/>
                  <a:pt x="7465022" y="14476"/>
                  <a:pt x="7470864" y="14476"/>
                </a:cubicBezTo>
                <a:cubicBezTo>
                  <a:pt x="7511751" y="11627"/>
                  <a:pt x="7552640" y="17324"/>
                  <a:pt x="7593530" y="17324"/>
                </a:cubicBezTo>
                <a:cubicBezTo>
                  <a:pt x="7605212" y="17324"/>
                  <a:pt x="7616895" y="20173"/>
                  <a:pt x="7628578" y="20173"/>
                </a:cubicBezTo>
                <a:cubicBezTo>
                  <a:pt x="7651942" y="20173"/>
                  <a:pt x="7681148" y="23021"/>
                  <a:pt x="7710354" y="25870"/>
                </a:cubicBezTo>
                <a:cubicBezTo>
                  <a:pt x="7733720" y="25870"/>
                  <a:pt x="7762926" y="28719"/>
                  <a:pt x="7786292" y="25870"/>
                </a:cubicBezTo>
                <a:cubicBezTo>
                  <a:pt x="7891432" y="31567"/>
                  <a:pt x="8002416" y="40114"/>
                  <a:pt x="8078353" y="65751"/>
                </a:cubicBezTo>
                <a:cubicBezTo>
                  <a:pt x="8090034" y="68600"/>
                  <a:pt x="8119241" y="71448"/>
                  <a:pt x="8142606" y="74297"/>
                </a:cubicBezTo>
                <a:cubicBezTo>
                  <a:pt x="8206860" y="79994"/>
                  <a:pt x="8271114" y="88540"/>
                  <a:pt x="8335367" y="94237"/>
                </a:cubicBezTo>
                <a:cubicBezTo>
                  <a:pt x="8335367" y="97086"/>
                  <a:pt x="8335367" y="97086"/>
                  <a:pt x="8341208" y="94237"/>
                </a:cubicBezTo>
                <a:cubicBezTo>
                  <a:pt x="8323685" y="117026"/>
                  <a:pt x="8312002" y="117026"/>
                  <a:pt x="8218543" y="99934"/>
                </a:cubicBezTo>
                <a:cubicBezTo>
                  <a:pt x="8125082" y="82843"/>
                  <a:pt x="8019940" y="74297"/>
                  <a:pt x="7920640" y="68600"/>
                </a:cubicBezTo>
                <a:cubicBezTo>
                  <a:pt x="7844702" y="62903"/>
                  <a:pt x="7762926" y="62903"/>
                  <a:pt x="7686989" y="60054"/>
                </a:cubicBezTo>
                <a:cubicBezTo>
                  <a:pt x="7681148" y="60054"/>
                  <a:pt x="7681148" y="60054"/>
                  <a:pt x="7681148" y="60054"/>
                </a:cubicBezTo>
                <a:cubicBezTo>
                  <a:pt x="7681148" y="60054"/>
                  <a:pt x="7675307" y="60054"/>
                  <a:pt x="7675307" y="60054"/>
                </a:cubicBezTo>
                <a:cubicBezTo>
                  <a:pt x="7663625" y="60054"/>
                  <a:pt x="7657784" y="60054"/>
                  <a:pt x="7646101" y="60054"/>
                </a:cubicBezTo>
                <a:cubicBezTo>
                  <a:pt x="7640261" y="60054"/>
                  <a:pt x="7628578" y="60054"/>
                  <a:pt x="7622735" y="62903"/>
                </a:cubicBezTo>
                <a:cubicBezTo>
                  <a:pt x="7628578" y="68600"/>
                  <a:pt x="7616895" y="74297"/>
                  <a:pt x="7599370" y="79994"/>
                </a:cubicBezTo>
                <a:cubicBezTo>
                  <a:pt x="7505911" y="91388"/>
                  <a:pt x="7400769" y="91388"/>
                  <a:pt x="7283944" y="82843"/>
                </a:cubicBezTo>
                <a:cubicBezTo>
                  <a:pt x="7260578" y="88540"/>
                  <a:pt x="7237214" y="85691"/>
                  <a:pt x="7213848" y="85691"/>
                </a:cubicBezTo>
                <a:cubicBezTo>
                  <a:pt x="7178800" y="79994"/>
                  <a:pt x="7143754" y="74297"/>
                  <a:pt x="7102866" y="71448"/>
                </a:cubicBezTo>
                <a:cubicBezTo>
                  <a:pt x="7056135" y="68600"/>
                  <a:pt x="7015246" y="65751"/>
                  <a:pt x="6968516" y="65751"/>
                </a:cubicBezTo>
                <a:cubicBezTo>
                  <a:pt x="6764073" y="65751"/>
                  <a:pt x="6553788" y="57205"/>
                  <a:pt x="6349345" y="62903"/>
                </a:cubicBezTo>
                <a:cubicBezTo>
                  <a:pt x="6168267" y="65751"/>
                  <a:pt x="5981347" y="62903"/>
                  <a:pt x="5800267" y="71448"/>
                </a:cubicBezTo>
                <a:cubicBezTo>
                  <a:pt x="5776903" y="74297"/>
                  <a:pt x="5759378" y="74297"/>
                  <a:pt x="5736014" y="74297"/>
                </a:cubicBezTo>
                <a:cubicBezTo>
                  <a:pt x="5724331" y="74297"/>
                  <a:pt x="5706806" y="74297"/>
                  <a:pt x="5689283" y="74297"/>
                </a:cubicBezTo>
                <a:cubicBezTo>
                  <a:pt x="5671760" y="74297"/>
                  <a:pt x="5654236" y="74297"/>
                  <a:pt x="5630872" y="74297"/>
                </a:cubicBezTo>
                <a:cubicBezTo>
                  <a:pt x="5566617" y="77145"/>
                  <a:pt x="5496522" y="71448"/>
                  <a:pt x="5438110" y="82843"/>
                </a:cubicBezTo>
                <a:cubicBezTo>
                  <a:pt x="5408903" y="94237"/>
                  <a:pt x="5362174" y="94237"/>
                  <a:pt x="5315444" y="97086"/>
                </a:cubicBezTo>
                <a:cubicBezTo>
                  <a:pt x="5122683" y="111329"/>
                  <a:pt x="4924080" y="114177"/>
                  <a:pt x="4731319" y="131270"/>
                </a:cubicBezTo>
                <a:cubicBezTo>
                  <a:pt x="4684590" y="131270"/>
                  <a:pt x="4643701" y="134118"/>
                  <a:pt x="4596972" y="136967"/>
                </a:cubicBezTo>
                <a:cubicBezTo>
                  <a:pt x="4579448" y="136967"/>
                  <a:pt x="4561923" y="136967"/>
                  <a:pt x="4544399" y="139815"/>
                </a:cubicBezTo>
                <a:cubicBezTo>
                  <a:pt x="4427575" y="145513"/>
                  <a:pt x="4322433" y="154058"/>
                  <a:pt x="4217289" y="171150"/>
                </a:cubicBezTo>
                <a:cubicBezTo>
                  <a:pt x="4205608" y="173998"/>
                  <a:pt x="4193925" y="173998"/>
                  <a:pt x="4182243" y="173998"/>
                </a:cubicBezTo>
                <a:cubicBezTo>
                  <a:pt x="4153037" y="173998"/>
                  <a:pt x="4123830" y="173998"/>
                  <a:pt x="4112147" y="168301"/>
                </a:cubicBezTo>
                <a:cubicBezTo>
                  <a:pt x="4112147" y="165453"/>
                  <a:pt x="4117989" y="165453"/>
                  <a:pt x="4117989" y="165453"/>
                </a:cubicBezTo>
                <a:cubicBezTo>
                  <a:pt x="4047893" y="176847"/>
                  <a:pt x="3977799" y="182544"/>
                  <a:pt x="3907705" y="188241"/>
                </a:cubicBezTo>
                <a:cubicBezTo>
                  <a:pt x="3884340" y="191090"/>
                  <a:pt x="3860983" y="196787"/>
                  <a:pt x="3837629" y="199636"/>
                </a:cubicBezTo>
                <a:cubicBezTo>
                  <a:pt x="3831784" y="202484"/>
                  <a:pt x="3820096" y="202484"/>
                  <a:pt x="3808422" y="202484"/>
                </a:cubicBezTo>
                <a:cubicBezTo>
                  <a:pt x="3796735" y="202484"/>
                  <a:pt x="3785053" y="205333"/>
                  <a:pt x="3773367" y="205333"/>
                </a:cubicBezTo>
                <a:cubicBezTo>
                  <a:pt x="3755846" y="208181"/>
                  <a:pt x="3744160" y="211030"/>
                  <a:pt x="3732484" y="213879"/>
                </a:cubicBezTo>
                <a:cubicBezTo>
                  <a:pt x="3487149" y="245214"/>
                  <a:pt x="3235974" y="273700"/>
                  <a:pt x="2990643" y="310731"/>
                </a:cubicBezTo>
                <a:cubicBezTo>
                  <a:pt x="2821246" y="336370"/>
                  <a:pt x="2651850" y="353461"/>
                  <a:pt x="2488295" y="381947"/>
                </a:cubicBezTo>
                <a:cubicBezTo>
                  <a:pt x="2424041" y="393342"/>
                  <a:pt x="2353945" y="407585"/>
                  <a:pt x="2289691" y="401887"/>
                </a:cubicBezTo>
                <a:cubicBezTo>
                  <a:pt x="2289691" y="404736"/>
                  <a:pt x="2295534" y="404736"/>
                  <a:pt x="2289691" y="407585"/>
                </a:cubicBezTo>
                <a:cubicBezTo>
                  <a:pt x="2213756" y="433223"/>
                  <a:pt x="2137821" y="450314"/>
                  <a:pt x="2044361" y="447466"/>
                </a:cubicBezTo>
                <a:cubicBezTo>
                  <a:pt x="2032678" y="450314"/>
                  <a:pt x="2026838" y="450314"/>
                  <a:pt x="2015154" y="450314"/>
                </a:cubicBezTo>
                <a:cubicBezTo>
                  <a:pt x="2026838" y="450314"/>
                  <a:pt x="2038518" y="450314"/>
                  <a:pt x="2044361" y="453163"/>
                </a:cubicBezTo>
                <a:cubicBezTo>
                  <a:pt x="2020995" y="464557"/>
                  <a:pt x="1980104" y="470254"/>
                  <a:pt x="1939221" y="478800"/>
                </a:cubicBezTo>
                <a:cubicBezTo>
                  <a:pt x="1682203" y="527227"/>
                  <a:pt x="1425190" y="578502"/>
                  <a:pt x="1174017" y="632626"/>
                </a:cubicBezTo>
                <a:cubicBezTo>
                  <a:pt x="1127287" y="638323"/>
                  <a:pt x="1086396" y="646869"/>
                  <a:pt x="1039668" y="655414"/>
                </a:cubicBezTo>
                <a:cubicBezTo>
                  <a:pt x="1039668" y="655414"/>
                  <a:pt x="1033828" y="655414"/>
                  <a:pt x="1033828" y="655414"/>
                </a:cubicBezTo>
                <a:cubicBezTo>
                  <a:pt x="987097" y="663960"/>
                  <a:pt x="946209" y="675355"/>
                  <a:pt x="905320" y="686750"/>
                </a:cubicBezTo>
                <a:cubicBezTo>
                  <a:pt x="899478" y="689598"/>
                  <a:pt x="887797" y="692447"/>
                  <a:pt x="876114" y="692447"/>
                </a:cubicBezTo>
                <a:cubicBezTo>
                  <a:pt x="864432" y="695296"/>
                  <a:pt x="852749" y="698144"/>
                  <a:pt x="841067" y="698144"/>
                </a:cubicBezTo>
                <a:cubicBezTo>
                  <a:pt x="765130" y="723781"/>
                  <a:pt x="671671" y="740873"/>
                  <a:pt x="595734" y="763663"/>
                </a:cubicBezTo>
                <a:cubicBezTo>
                  <a:pt x="560686" y="766511"/>
                  <a:pt x="525634" y="772208"/>
                  <a:pt x="513951" y="763663"/>
                </a:cubicBezTo>
                <a:cubicBezTo>
                  <a:pt x="508111" y="760814"/>
                  <a:pt x="513951" y="757966"/>
                  <a:pt x="513951" y="755116"/>
                </a:cubicBezTo>
                <a:cubicBezTo>
                  <a:pt x="531475" y="732327"/>
                  <a:pt x="584051" y="709539"/>
                  <a:pt x="642463" y="683901"/>
                </a:cubicBezTo>
                <a:cubicBezTo>
                  <a:pt x="730083" y="663960"/>
                  <a:pt x="817702" y="644020"/>
                  <a:pt x="899478" y="621231"/>
                </a:cubicBezTo>
                <a:cubicBezTo>
                  <a:pt x="940368" y="609837"/>
                  <a:pt x="987097" y="604140"/>
                  <a:pt x="1027987" y="601291"/>
                </a:cubicBezTo>
                <a:cubicBezTo>
                  <a:pt x="1033828" y="598443"/>
                  <a:pt x="1039668" y="598443"/>
                  <a:pt x="1039668" y="595594"/>
                </a:cubicBezTo>
                <a:cubicBezTo>
                  <a:pt x="1063033" y="592746"/>
                  <a:pt x="1080558" y="587047"/>
                  <a:pt x="1103921" y="584199"/>
                </a:cubicBezTo>
                <a:cubicBezTo>
                  <a:pt x="1115604" y="581350"/>
                  <a:pt x="1133129" y="578502"/>
                  <a:pt x="1144810" y="575653"/>
                </a:cubicBezTo>
                <a:cubicBezTo>
                  <a:pt x="1156492" y="569956"/>
                  <a:pt x="1168175" y="567107"/>
                  <a:pt x="1179858" y="564259"/>
                </a:cubicBezTo>
                <a:cubicBezTo>
                  <a:pt x="1232428" y="547167"/>
                  <a:pt x="1296682" y="544319"/>
                  <a:pt x="1343412" y="527227"/>
                </a:cubicBezTo>
                <a:cubicBezTo>
                  <a:pt x="1401824" y="515833"/>
                  <a:pt x="1460237" y="510136"/>
                  <a:pt x="1506965" y="493043"/>
                </a:cubicBezTo>
                <a:cubicBezTo>
                  <a:pt x="1571219" y="481649"/>
                  <a:pt x="1629632" y="470254"/>
                  <a:pt x="1693886" y="458860"/>
                </a:cubicBezTo>
                <a:cubicBezTo>
                  <a:pt x="1734774" y="450314"/>
                  <a:pt x="1775663" y="441768"/>
                  <a:pt x="1816553" y="436071"/>
                </a:cubicBezTo>
                <a:cubicBezTo>
                  <a:pt x="1927535" y="410434"/>
                  <a:pt x="2044361" y="387644"/>
                  <a:pt x="2167027" y="370553"/>
                </a:cubicBezTo>
                <a:cubicBezTo>
                  <a:pt x="2307215" y="342067"/>
                  <a:pt x="2459088" y="319278"/>
                  <a:pt x="2605120" y="296488"/>
                </a:cubicBezTo>
                <a:cubicBezTo>
                  <a:pt x="2640168" y="285094"/>
                  <a:pt x="2686897" y="282246"/>
                  <a:pt x="2721944" y="279397"/>
                </a:cubicBezTo>
                <a:cubicBezTo>
                  <a:pt x="2768673" y="270851"/>
                  <a:pt x="2815406" y="268003"/>
                  <a:pt x="2856293" y="256608"/>
                </a:cubicBezTo>
                <a:cubicBezTo>
                  <a:pt x="2873817" y="256608"/>
                  <a:pt x="2891340" y="256608"/>
                  <a:pt x="2903023" y="256608"/>
                </a:cubicBezTo>
                <a:cubicBezTo>
                  <a:pt x="2967276" y="245214"/>
                  <a:pt x="3037371" y="233820"/>
                  <a:pt x="3101624" y="228123"/>
                </a:cubicBezTo>
                <a:cubicBezTo>
                  <a:pt x="3253498" y="216727"/>
                  <a:pt x="3387847" y="191090"/>
                  <a:pt x="3533880" y="176847"/>
                </a:cubicBezTo>
                <a:cubicBezTo>
                  <a:pt x="3551401" y="173998"/>
                  <a:pt x="3563085" y="171150"/>
                  <a:pt x="3574768" y="168301"/>
                </a:cubicBezTo>
                <a:cubicBezTo>
                  <a:pt x="3633180" y="162604"/>
                  <a:pt x="3697433" y="156907"/>
                  <a:pt x="3755846" y="151210"/>
                </a:cubicBezTo>
                <a:cubicBezTo>
                  <a:pt x="3855141" y="139815"/>
                  <a:pt x="3966116" y="134118"/>
                  <a:pt x="4065418" y="122723"/>
                </a:cubicBezTo>
                <a:cubicBezTo>
                  <a:pt x="4135513" y="114177"/>
                  <a:pt x="4199766" y="108480"/>
                  <a:pt x="4269863" y="102783"/>
                </a:cubicBezTo>
                <a:cubicBezTo>
                  <a:pt x="4339956" y="88540"/>
                  <a:pt x="4415892" y="88540"/>
                  <a:pt x="4491828" y="82843"/>
                </a:cubicBezTo>
                <a:cubicBezTo>
                  <a:pt x="4503511" y="79994"/>
                  <a:pt x="4521036" y="77145"/>
                  <a:pt x="4538557" y="74297"/>
                </a:cubicBezTo>
                <a:cubicBezTo>
                  <a:pt x="4637859" y="62903"/>
                  <a:pt x="4743002" y="65751"/>
                  <a:pt x="4842304" y="57205"/>
                </a:cubicBezTo>
                <a:cubicBezTo>
                  <a:pt x="4842304" y="57205"/>
                  <a:pt x="4848145" y="57205"/>
                  <a:pt x="4848145" y="57205"/>
                </a:cubicBezTo>
                <a:cubicBezTo>
                  <a:pt x="4853985" y="57205"/>
                  <a:pt x="4859828" y="57205"/>
                  <a:pt x="4865668" y="57205"/>
                </a:cubicBezTo>
                <a:cubicBezTo>
                  <a:pt x="4970810" y="51508"/>
                  <a:pt x="5070111" y="40114"/>
                  <a:pt x="5175254" y="40114"/>
                </a:cubicBezTo>
                <a:cubicBezTo>
                  <a:pt x="5233668" y="28719"/>
                  <a:pt x="5303761" y="31567"/>
                  <a:pt x="5373857" y="28719"/>
                </a:cubicBezTo>
                <a:cubicBezTo>
                  <a:pt x="5408903" y="20173"/>
                  <a:pt x="5449793" y="20173"/>
                  <a:pt x="5490681" y="20173"/>
                </a:cubicBezTo>
                <a:cubicBezTo>
                  <a:pt x="5607506" y="14476"/>
                  <a:pt x="5724331" y="17324"/>
                  <a:pt x="5835316" y="11627"/>
                </a:cubicBezTo>
                <a:cubicBezTo>
                  <a:pt x="5905409" y="5930"/>
                  <a:pt x="5975505" y="5930"/>
                  <a:pt x="6045600" y="5930"/>
                </a:cubicBezTo>
                <a:cubicBezTo>
                  <a:pt x="6086489" y="233"/>
                  <a:pt x="6139058" y="233"/>
                  <a:pt x="6185790" y="233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ln w="41404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9801" name="副标题 9800"/>
          <p:cNvSpPr>
            <a:spLocks noGrp="1"/>
          </p:cNvSpPr>
          <p:nvPr userDrawn="1">
            <p:ph type="subTitle" idx="1"/>
          </p:nvPr>
        </p:nvSpPr>
        <p:spPr>
          <a:xfrm>
            <a:off x="673100" y="5532191"/>
            <a:ext cx="10845800" cy="55879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/>
          </p:nvPr>
        </p:nvSpPr>
        <p:spPr>
          <a:xfrm>
            <a:off x="673100" y="3828106"/>
            <a:ext cx="10845800" cy="1704086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49F7872-58DD-A6A8-E6C0-F252A3DD4AD8}"/>
              </a:ext>
            </a:extLst>
          </p:cNvPr>
          <p:cNvGrpSpPr/>
          <p:nvPr userDrawn="1"/>
        </p:nvGrpSpPr>
        <p:grpSpPr>
          <a:xfrm>
            <a:off x="190500" y="171351"/>
            <a:ext cx="965200" cy="816892"/>
            <a:chOff x="260351" y="72825"/>
            <a:chExt cx="965200" cy="816892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07E7B84B-B835-2037-DC68-C554567AE6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9426" y="72825"/>
              <a:ext cx="527051" cy="506973"/>
            </a:xfrm>
            <a:prstGeom prst="rect">
              <a:avLst/>
            </a:prstGeom>
          </p:spPr>
        </p:pic>
        <p:pic>
          <p:nvPicPr>
            <p:cNvPr id="3" name="Picture 2" descr="https://static.hd1080.pro/wp-content/uploads/2021/09/20210923091855133.jpg">
              <a:extLst>
                <a:ext uri="{FF2B5EF4-FFF2-40B4-BE49-F238E27FC236}">
                  <a16:creationId xmlns:a16="http://schemas.microsoft.com/office/drawing/2014/main" id="{CD6F4B6B-896E-0407-92D7-ED98ADE433B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29618" t="27027" b="29131"/>
            <a:stretch>
              <a:fillRect/>
            </a:stretch>
          </p:blipFill>
          <p:spPr bwMode="auto">
            <a:xfrm>
              <a:off x="260351" y="579798"/>
              <a:ext cx="965200" cy="309919"/>
            </a:xfrm>
            <a:prstGeom prst="rect">
              <a:avLst/>
            </a:prstGeom>
            <a:noFill/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20652"/>
            <a:ext cx="10850563" cy="7175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016002"/>
            <a:ext cx="10850563" cy="5492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8382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8" r:id="rId7"/>
    <p:sldLayoutId id="2147483659" r:id="rId8"/>
    <p:sldLayoutId id="2147483657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5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4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6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diagramQuickStyle" Target="../diagrams/quickStyle4.xml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diagramLayout" Target="../diagrams/layou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svg"/><Relationship Id="rId11" Type="http://schemas.openxmlformats.org/officeDocument/2006/relationships/diagramData" Target="../diagrams/data4.xml"/><Relationship Id="rId5" Type="http://schemas.openxmlformats.org/officeDocument/2006/relationships/image" Target="../media/image35.png"/><Relationship Id="rId15" Type="http://schemas.microsoft.com/office/2007/relationships/diagramDrawing" Target="../diagrams/drawing4.xml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Relationship Id="rId14" Type="http://schemas.openxmlformats.org/officeDocument/2006/relationships/diagramColors" Target="../diagrams/colors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g"/><Relationship Id="rId13" Type="http://schemas.openxmlformats.org/officeDocument/2006/relationships/image" Target="../media/image51.jpg"/><Relationship Id="rId3" Type="http://schemas.openxmlformats.org/officeDocument/2006/relationships/image" Target="../media/image41.jpg"/><Relationship Id="rId7" Type="http://schemas.openxmlformats.org/officeDocument/2006/relationships/image" Target="../media/image45.jpg"/><Relationship Id="rId12" Type="http://schemas.openxmlformats.org/officeDocument/2006/relationships/image" Target="../media/image5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jpg"/><Relationship Id="rId11" Type="http://schemas.openxmlformats.org/officeDocument/2006/relationships/image" Target="../media/image49.jpg"/><Relationship Id="rId5" Type="http://schemas.openxmlformats.org/officeDocument/2006/relationships/image" Target="../media/image43.jpg"/><Relationship Id="rId15" Type="http://schemas.openxmlformats.org/officeDocument/2006/relationships/image" Target="../media/image53.png"/><Relationship Id="rId10" Type="http://schemas.openxmlformats.org/officeDocument/2006/relationships/image" Target="../media/image48.jpg"/><Relationship Id="rId4" Type="http://schemas.openxmlformats.org/officeDocument/2006/relationships/image" Target="../media/image42.jpg"/><Relationship Id="rId9" Type="http://schemas.openxmlformats.org/officeDocument/2006/relationships/image" Target="../media/image47.jpg"/><Relationship Id="rId1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notesSlide" Target="../notesSlides/notesSlide12.xml"/><Relationship Id="rId7" Type="http://schemas.openxmlformats.org/officeDocument/2006/relationships/diagramColors" Target="../diagrams/colors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9525" imgH="9525" progId="TCLayout.ActiveDocument.1">
                  <p:embed/>
                </p:oleObj>
              </mc:Choice>
              <mc:Fallback>
                <p:oleObj name="think-cell Slide" r:id="rId3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93441" y="6289848"/>
            <a:ext cx="340511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C6B83A16-DB0C-64DA-BBB2-27F863B850AB}"/>
              </a:ext>
            </a:extLst>
          </p:cNvPr>
          <p:cNvSpPr txBox="1">
            <a:spLocks/>
          </p:cNvSpPr>
          <p:nvPr/>
        </p:nvSpPr>
        <p:spPr>
          <a:xfrm>
            <a:off x="3176" y="4524241"/>
            <a:ext cx="12188823" cy="13809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6000" dirty="0"/>
              <a:t>交大为达（北京）科技有限公司</a:t>
            </a:r>
            <a:endParaRPr lang="en-US" altLang="zh-CN" sz="6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结构安全风控“光纤数据神经”</a:t>
            </a:r>
            <a:br>
              <a:rPr lang="en-US" altLang="zh-CN" sz="4800" dirty="0"/>
            </a:br>
            <a:r>
              <a:rPr lang="zh-CN" altLang="en-US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团队背景 </a:t>
            </a:r>
            <a:r>
              <a:rPr lang="en-US" altLang="zh-CN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市场痛点 </a:t>
            </a:r>
            <a:r>
              <a:rPr lang="en-US" altLang="zh-CN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解决方案 </a:t>
            </a:r>
            <a:r>
              <a:rPr lang="en-US" altLang="zh-CN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商业模式 </a:t>
            </a:r>
            <a:r>
              <a:rPr lang="en-US" altLang="zh-CN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竞争优势 </a:t>
            </a:r>
            <a:r>
              <a:rPr lang="en-US" altLang="zh-CN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实施计划 </a:t>
            </a:r>
            <a:r>
              <a:rPr lang="en-US" altLang="zh-CN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财务预测 </a:t>
            </a:r>
            <a:r>
              <a:rPr lang="en-US" altLang="zh-CN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| </a:t>
            </a:r>
            <a:r>
              <a:rPr lang="zh-CN" altLang="en-US" sz="2000" kern="1700" dirty="0">
                <a:solidFill>
                  <a:prstClr val="black"/>
                </a:solidFill>
                <a:latin typeface="华光行草_CNKI" panose="02000500000000000000" pitchFamily="2" charset="-122"/>
                <a:ea typeface="华光行草_CNKI" panose="02000500000000000000" pitchFamily="2" charset="-122"/>
                <a:sym typeface="微软雅黑" panose="020B0503020204020204" charset="-122"/>
              </a:rPr>
              <a:t>融资需求</a:t>
            </a:r>
            <a:endParaRPr lang="en-US" altLang="zh-CN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交大为达（北京）科技有限公司介绍</a:t>
            </a:r>
            <a:endParaRPr lang="zh-CN" altLang="en-US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3CB3F2B-5FDD-68B8-860F-F584225D63BC}"/>
              </a:ext>
            </a:extLst>
          </p:cNvPr>
          <p:cNvSpPr txBox="1"/>
          <p:nvPr/>
        </p:nvSpPr>
        <p:spPr>
          <a:xfrm>
            <a:off x="669924" y="916401"/>
            <a:ext cx="10852152" cy="2135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1600" dirty="0"/>
              <a:t>成立于</a:t>
            </a:r>
            <a:r>
              <a:rPr lang="en-US" altLang="zh-CN" sz="1600" dirty="0"/>
              <a:t>2022</a:t>
            </a:r>
            <a:r>
              <a:rPr lang="zh-CN" altLang="en-US" sz="1600" dirty="0"/>
              <a:t>年，总部位于北京，由北京交通大学的教授和博士创立，北京交通大学资产经营管理公司占股</a:t>
            </a:r>
            <a:r>
              <a:rPr lang="en-US" altLang="zh-CN" sz="1600" dirty="0"/>
              <a:t>9.5%</a:t>
            </a:r>
            <a:r>
              <a:rPr lang="zh-CN" altLang="en-US" sz="1600" dirty="0"/>
              <a:t>，主要依托于</a:t>
            </a:r>
            <a:r>
              <a:rPr lang="zh-CN" altLang="en-US" sz="1600" b="1" dirty="0"/>
              <a:t>全光网络与现代通信网教育部重点实验室</a:t>
            </a:r>
            <a:r>
              <a:rPr lang="zh-CN" altLang="en-US" sz="1600" dirty="0"/>
              <a:t>与</a:t>
            </a:r>
            <a:r>
              <a:rPr lang="zh-CN" altLang="en-US" sz="1600" b="1" dirty="0"/>
              <a:t>隧道及地下工程教育部工程研究中心</a:t>
            </a:r>
            <a:r>
              <a:rPr lang="zh-CN" altLang="en-US" sz="1600" dirty="0"/>
              <a:t>的前沿研究成果。</a:t>
            </a:r>
            <a:endParaRPr lang="en-US" altLang="zh-CN" sz="1600" dirty="0"/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1600" b="1" dirty="0"/>
              <a:t>核心技术</a:t>
            </a:r>
            <a:endParaRPr lang="en-US" altLang="zh-CN" sz="1600" b="1" dirty="0"/>
          </a:p>
          <a:p>
            <a:pPr marL="8953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C00000"/>
                </a:solidFill>
              </a:rPr>
              <a:t>光纤光栅阵列技术：</a:t>
            </a:r>
            <a:r>
              <a:rPr lang="zh-CN" altLang="en-US" sz="1600" dirty="0"/>
              <a:t>通过独创的在线连续拉丝成栅工艺，在单根光纤上实现万点级传感器集成，以厘米级感知密度覆盖十公里级监测范围，突破了传统传感技术在容量、精度与成本间的制约，得以低成本、规模化生产。</a:t>
            </a:r>
            <a:endParaRPr lang="en-US" altLang="zh-CN" sz="1600" dirty="0"/>
          </a:p>
          <a:p>
            <a:pPr marL="8953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C00000"/>
                </a:solidFill>
              </a:rPr>
              <a:t>声波级微振动解调仪：</a:t>
            </a:r>
            <a:r>
              <a:rPr lang="zh-CN" altLang="en-US" sz="1600" dirty="0"/>
              <a:t>实现</a:t>
            </a:r>
            <a:r>
              <a:rPr lang="en-US" altLang="zh-CN" sz="1600" dirty="0"/>
              <a:t>2.16pg/√Hz</a:t>
            </a:r>
            <a:r>
              <a:rPr lang="zh-CN" altLang="en-US" sz="1600" dirty="0"/>
              <a:t>超微应变感知，以业内首款模块化</a:t>
            </a:r>
            <a:r>
              <a:rPr lang="en-US" altLang="zh-CN" sz="1600" dirty="0"/>
              <a:t>DAS</a:t>
            </a:r>
            <a:r>
              <a:rPr lang="zh-CN" altLang="en-US" sz="1600" dirty="0"/>
              <a:t>架构突破分布式光纤监测灵敏度极限。</a:t>
            </a:r>
            <a:endParaRPr lang="en-US" altLang="zh-CN" sz="1600" dirty="0"/>
          </a:p>
        </p:txBody>
      </p:sp>
      <p:grpSp>
        <p:nvGrpSpPr>
          <p:cNvPr id="46" name="object 8">
            <a:extLst>
              <a:ext uri="{FF2B5EF4-FFF2-40B4-BE49-F238E27FC236}">
                <a16:creationId xmlns:a16="http://schemas.microsoft.com/office/drawing/2014/main" id="{F9541512-BE2A-D7BD-2615-F9163D2A2214}"/>
              </a:ext>
            </a:extLst>
          </p:cNvPr>
          <p:cNvGrpSpPr/>
          <p:nvPr/>
        </p:nvGrpSpPr>
        <p:grpSpPr>
          <a:xfrm>
            <a:off x="665164" y="2854030"/>
            <a:ext cx="10750550" cy="3416935"/>
            <a:chOff x="958596" y="2676144"/>
            <a:chExt cx="10750550" cy="3416935"/>
          </a:xfrm>
        </p:grpSpPr>
        <p:sp>
          <p:nvSpPr>
            <p:cNvPr id="47" name="object 9">
              <a:extLst>
                <a:ext uri="{FF2B5EF4-FFF2-40B4-BE49-F238E27FC236}">
                  <a16:creationId xmlns:a16="http://schemas.microsoft.com/office/drawing/2014/main" id="{87C3A0FA-C7E8-E817-3F3D-995B33E960F7}"/>
                </a:ext>
              </a:extLst>
            </p:cNvPr>
            <p:cNvSpPr/>
            <p:nvPr/>
          </p:nvSpPr>
          <p:spPr>
            <a:xfrm>
              <a:off x="11153241" y="2676143"/>
              <a:ext cx="528320" cy="389890"/>
            </a:xfrm>
            <a:custGeom>
              <a:avLst/>
              <a:gdLst/>
              <a:ahLst/>
              <a:cxnLst/>
              <a:rect l="l" t="t" r="r" b="b"/>
              <a:pathLst>
                <a:path w="528320" h="389889">
                  <a:moveTo>
                    <a:pt x="527939" y="104343"/>
                  </a:moveTo>
                  <a:lnTo>
                    <a:pt x="488467" y="104343"/>
                  </a:lnTo>
                  <a:lnTo>
                    <a:pt x="148069" y="353542"/>
                  </a:lnTo>
                  <a:lnTo>
                    <a:pt x="162521" y="184531"/>
                  </a:lnTo>
                  <a:lnTo>
                    <a:pt x="250342" y="162915"/>
                  </a:lnTo>
                  <a:lnTo>
                    <a:pt x="155422" y="162915"/>
                  </a:lnTo>
                  <a:lnTo>
                    <a:pt x="39484" y="25920"/>
                  </a:lnTo>
                  <a:lnTo>
                    <a:pt x="212356" y="25920"/>
                  </a:lnTo>
                  <a:lnTo>
                    <a:pt x="13081" y="381"/>
                  </a:lnTo>
                  <a:lnTo>
                    <a:pt x="8763" y="0"/>
                  </a:lnTo>
                  <a:lnTo>
                    <a:pt x="4572" y="1778"/>
                  </a:lnTo>
                  <a:lnTo>
                    <a:pt x="0" y="10045"/>
                  </a:lnTo>
                  <a:lnTo>
                    <a:pt x="1270" y="15252"/>
                  </a:lnTo>
                  <a:lnTo>
                    <a:pt x="4953" y="18808"/>
                  </a:lnTo>
                  <a:lnTo>
                    <a:pt x="139801" y="178422"/>
                  </a:lnTo>
                  <a:lnTo>
                    <a:pt x="122910" y="375272"/>
                  </a:lnTo>
                  <a:lnTo>
                    <a:pt x="123164" y="375272"/>
                  </a:lnTo>
                  <a:lnTo>
                    <a:pt x="122148" y="379984"/>
                  </a:lnTo>
                  <a:lnTo>
                    <a:pt x="124434" y="385064"/>
                  </a:lnTo>
                  <a:lnTo>
                    <a:pt x="133197" y="389890"/>
                  </a:lnTo>
                  <a:lnTo>
                    <a:pt x="137896" y="389509"/>
                  </a:lnTo>
                  <a:lnTo>
                    <a:pt x="141325" y="387223"/>
                  </a:lnTo>
                  <a:lnTo>
                    <a:pt x="141833" y="387096"/>
                  </a:lnTo>
                  <a:lnTo>
                    <a:pt x="187464" y="353555"/>
                  </a:lnTo>
                  <a:lnTo>
                    <a:pt x="527939" y="104343"/>
                  </a:lnTo>
                  <a:close/>
                </a:path>
              </a:pathLst>
            </a:custGeom>
            <a:solidFill>
              <a:srgbClr val="273D82"/>
            </a:solidFill>
          </p:spPr>
          <p:txBody>
            <a:bodyPr wrap="square" lIns="0" tIns="0" rIns="0" bIns="0" rtlCol="0"/>
            <a:lstStyle/>
            <a:p>
              <a:pPr defTabSz="914400"/>
              <a:endParaRPr sz="180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48" name="object 10">
              <a:extLst>
                <a:ext uri="{FF2B5EF4-FFF2-40B4-BE49-F238E27FC236}">
                  <a16:creationId xmlns:a16="http://schemas.microsoft.com/office/drawing/2014/main" id="{C87E130B-073B-E951-B413-E8267DEAC68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8628" y="2813521"/>
              <a:ext cx="182714" cy="126196"/>
            </a:xfrm>
            <a:prstGeom prst="rect">
              <a:avLst/>
            </a:prstGeom>
          </p:spPr>
        </p:pic>
        <p:sp>
          <p:nvSpPr>
            <p:cNvPr id="49" name="object 11">
              <a:extLst>
                <a:ext uri="{FF2B5EF4-FFF2-40B4-BE49-F238E27FC236}">
                  <a16:creationId xmlns:a16="http://schemas.microsoft.com/office/drawing/2014/main" id="{653B3BC0-D859-6E39-FA91-452FDEEAF180}"/>
                </a:ext>
              </a:extLst>
            </p:cNvPr>
            <p:cNvSpPr/>
            <p:nvPr/>
          </p:nvSpPr>
          <p:spPr>
            <a:xfrm>
              <a:off x="11192747" y="2702068"/>
              <a:ext cx="516255" cy="137160"/>
            </a:xfrm>
            <a:custGeom>
              <a:avLst/>
              <a:gdLst/>
              <a:ahLst/>
              <a:cxnLst/>
              <a:rect l="l" t="t" r="r" b="b"/>
              <a:pathLst>
                <a:path w="516254" h="137160">
                  <a:moveTo>
                    <a:pt x="172859" y="0"/>
                  </a:moveTo>
                  <a:lnTo>
                    <a:pt x="0" y="0"/>
                  </a:lnTo>
                  <a:lnTo>
                    <a:pt x="441744" y="56807"/>
                  </a:lnTo>
                  <a:lnTo>
                    <a:pt x="115925" y="136994"/>
                  </a:lnTo>
                  <a:lnTo>
                    <a:pt x="210845" y="136994"/>
                  </a:lnTo>
                  <a:lnTo>
                    <a:pt x="448970" y="78409"/>
                  </a:lnTo>
                  <a:lnTo>
                    <a:pt x="488441" y="78409"/>
                  </a:lnTo>
                  <a:lnTo>
                    <a:pt x="510933" y="61887"/>
                  </a:lnTo>
                  <a:lnTo>
                    <a:pt x="512203" y="60744"/>
                  </a:lnTo>
                  <a:lnTo>
                    <a:pt x="515886" y="54013"/>
                  </a:lnTo>
                  <a:lnTo>
                    <a:pt x="513600" y="47142"/>
                  </a:lnTo>
                  <a:lnTo>
                    <a:pt x="506361" y="43078"/>
                  </a:lnTo>
                  <a:lnTo>
                    <a:pt x="504710" y="42697"/>
                  </a:lnTo>
                  <a:lnTo>
                    <a:pt x="172859" y="0"/>
                  </a:lnTo>
                  <a:close/>
                </a:path>
              </a:pathLst>
            </a:custGeom>
            <a:solidFill>
              <a:srgbClr val="273D82"/>
            </a:solidFill>
          </p:spPr>
          <p:txBody>
            <a:bodyPr wrap="square" lIns="0" tIns="0" rIns="0" bIns="0" rtlCol="0"/>
            <a:lstStyle/>
            <a:p>
              <a:pPr defTabSz="914400"/>
              <a:endParaRPr sz="18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object 12">
              <a:extLst>
                <a:ext uri="{FF2B5EF4-FFF2-40B4-BE49-F238E27FC236}">
                  <a16:creationId xmlns:a16="http://schemas.microsoft.com/office/drawing/2014/main" id="{7DEBF506-132E-02C4-D9C4-875637270E56}"/>
                </a:ext>
              </a:extLst>
            </p:cNvPr>
            <p:cNvSpPr/>
            <p:nvPr/>
          </p:nvSpPr>
          <p:spPr>
            <a:xfrm>
              <a:off x="1257300" y="2857494"/>
              <a:ext cx="9975850" cy="2967355"/>
            </a:xfrm>
            <a:custGeom>
              <a:avLst/>
              <a:gdLst/>
              <a:ahLst/>
              <a:cxnLst/>
              <a:rect l="l" t="t" r="r" b="b"/>
              <a:pathLst>
                <a:path w="9975850" h="2967354">
                  <a:moveTo>
                    <a:pt x="0" y="2939808"/>
                  </a:moveTo>
                  <a:lnTo>
                    <a:pt x="69634" y="2948660"/>
                  </a:lnTo>
                  <a:lnTo>
                    <a:pt x="137147" y="2955696"/>
                  </a:lnTo>
                  <a:lnTo>
                    <a:pt x="202577" y="2960979"/>
                  </a:lnTo>
                  <a:lnTo>
                    <a:pt x="265976" y="2964561"/>
                  </a:lnTo>
                  <a:lnTo>
                    <a:pt x="327393" y="2966478"/>
                  </a:lnTo>
                  <a:lnTo>
                    <a:pt x="386892" y="2966808"/>
                  </a:lnTo>
                  <a:lnTo>
                    <a:pt x="444512" y="2965589"/>
                  </a:lnTo>
                  <a:lnTo>
                    <a:pt x="500291" y="2962884"/>
                  </a:lnTo>
                  <a:lnTo>
                    <a:pt x="554304" y="2958731"/>
                  </a:lnTo>
                  <a:lnTo>
                    <a:pt x="606577" y="2953194"/>
                  </a:lnTo>
                  <a:lnTo>
                    <a:pt x="657174" y="2946311"/>
                  </a:lnTo>
                  <a:lnTo>
                    <a:pt x="706145" y="2938157"/>
                  </a:lnTo>
                  <a:lnTo>
                    <a:pt x="753529" y="2928772"/>
                  </a:lnTo>
                  <a:lnTo>
                    <a:pt x="799388" y="2918206"/>
                  </a:lnTo>
                  <a:lnTo>
                    <a:pt x="843762" y="2906509"/>
                  </a:lnTo>
                  <a:lnTo>
                    <a:pt x="886701" y="2893758"/>
                  </a:lnTo>
                  <a:lnTo>
                    <a:pt x="928268" y="2879979"/>
                  </a:lnTo>
                  <a:lnTo>
                    <a:pt x="968489" y="2865221"/>
                  </a:lnTo>
                  <a:lnTo>
                    <a:pt x="1007440" y="2849562"/>
                  </a:lnTo>
                  <a:lnTo>
                    <a:pt x="1045146" y="2833039"/>
                  </a:lnTo>
                  <a:lnTo>
                    <a:pt x="1081684" y="2815704"/>
                  </a:lnTo>
                  <a:lnTo>
                    <a:pt x="1117079" y="2797619"/>
                  </a:lnTo>
                  <a:lnTo>
                    <a:pt x="1151394" y="2778836"/>
                  </a:lnTo>
                  <a:lnTo>
                    <a:pt x="1184668" y="2759392"/>
                  </a:lnTo>
                  <a:lnTo>
                    <a:pt x="1248333" y="2718765"/>
                  </a:lnTo>
                  <a:lnTo>
                    <a:pt x="1308442" y="2676169"/>
                  </a:lnTo>
                  <a:lnTo>
                    <a:pt x="1365427" y="2632024"/>
                  </a:lnTo>
                  <a:lnTo>
                    <a:pt x="1419656" y="2586748"/>
                  </a:lnTo>
                  <a:lnTo>
                    <a:pt x="1471536" y="2540774"/>
                  </a:lnTo>
                  <a:lnTo>
                    <a:pt x="1521472" y="2494508"/>
                  </a:lnTo>
                  <a:lnTo>
                    <a:pt x="1569859" y="2448382"/>
                  </a:lnTo>
                  <a:lnTo>
                    <a:pt x="1617103" y="2402814"/>
                  </a:lnTo>
                  <a:lnTo>
                    <a:pt x="1640408" y="2380373"/>
                  </a:lnTo>
                  <a:lnTo>
                    <a:pt x="1686661" y="2336431"/>
                  </a:lnTo>
                  <a:lnTo>
                    <a:pt x="1732749" y="2294089"/>
                  </a:lnTo>
                  <a:lnTo>
                    <a:pt x="1779079" y="2253792"/>
                  </a:lnTo>
                  <a:lnTo>
                    <a:pt x="1826044" y="2215946"/>
                  </a:lnTo>
                  <a:lnTo>
                    <a:pt x="1874037" y="2180971"/>
                  </a:lnTo>
                  <a:lnTo>
                    <a:pt x="1923465" y="2149297"/>
                  </a:lnTo>
                  <a:lnTo>
                    <a:pt x="1974735" y="2121331"/>
                  </a:lnTo>
                  <a:lnTo>
                    <a:pt x="2028215" y="2097519"/>
                  </a:lnTo>
                  <a:lnTo>
                    <a:pt x="2084336" y="2078253"/>
                  </a:lnTo>
                  <a:lnTo>
                    <a:pt x="2143467" y="2063978"/>
                  </a:lnTo>
                  <a:lnTo>
                    <a:pt x="2206015" y="2055101"/>
                  </a:lnTo>
                  <a:lnTo>
                    <a:pt x="2255532" y="2051138"/>
                  </a:lnTo>
                  <a:lnTo>
                    <a:pt x="2305100" y="2048497"/>
                  </a:lnTo>
                  <a:lnTo>
                    <a:pt x="2354732" y="2047113"/>
                  </a:lnTo>
                  <a:lnTo>
                    <a:pt x="2404414" y="2046909"/>
                  </a:lnTo>
                  <a:lnTo>
                    <a:pt x="2454135" y="2047811"/>
                  </a:lnTo>
                  <a:lnTo>
                    <a:pt x="2503893" y="2049741"/>
                  </a:lnTo>
                  <a:lnTo>
                    <a:pt x="2553677" y="2052637"/>
                  </a:lnTo>
                  <a:lnTo>
                    <a:pt x="2603487" y="2056434"/>
                  </a:lnTo>
                  <a:lnTo>
                    <a:pt x="2653322" y="2061044"/>
                  </a:lnTo>
                  <a:lnTo>
                    <a:pt x="2703156" y="2066404"/>
                  </a:lnTo>
                  <a:lnTo>
                    <a:pt x="2752991" y="2072436"/>
                  </a:lnTo>
                  <a:lnTo>
                    <a:pt x="2802826" y="2079078"/>
                  </a:lnTo>
                  <a:lnTo>
                    <a:pt x="2852635" y="2086267"/>
                  </a:lnTo>
                  <a:lnTo>
                    <a:pt x="2902445" y="2093899"/>
                  </a:lnTo>
                  <a:lnTo>
                    <a:pt x="2952216" y="2101938"/>
                  </a:lnTo>
                  <a:lnTo>
                    <a:pt x="3001962" y="2110282"/>
                  </a:lnTo>
                  <a:lnTo>
                    <a:pt x="3051670" y="2118880"/>
                  </a:lnTo>
                  <a:lnTo>
                    <a:pt x="3101327" y="2127656"/>
                  </a:lnTo>
                  <a:lnTo>
                    <a:pt x="3150933" y="2136533"/>
                  </a:lnTo>
                  <a:lnTo>
                    <a:pt x="3200488" y="2145436"/>
                  </a:lnTo>
                  <a:lnTo>
                    <a:pt x="3249968" y="2154301"/>
                  </a:lnTo>
                  <a:lnTo>
                    <a:pt x="3299383" y="2163064"/>
                  </a:lnTo>
                  <a:lnTo>
                    <a:pt x="3348710" y="2171636"/>
                  </a:lnTo>
                  <a:lnTo>
                    <a:pt x="3397948" y="2179954"/>
                  </a:lnTo>
                  <a:lnTo>
                    <a:pt x="3447097" y="2187956"/>
                  </a:lnTo>
                  <a:lnTo>
                    <a:pt x="3496144" y="2195550"/>
                  </a:lnTo>
                  <a:lnTo>
                    <a:pt x="3545090" y="2202675"/>
                  </a:lnTo>
                  <a:lnTo>
                    <a:pt x="3593922" y="2209266"/>
                  </a:lnTo>
                  <a:lnTo>
                    <a:pt x="3642626" y="2215235"/>
                  </a:lnTo>
                  <a:lnTo>
                    <a:pt x="3691204" y="2220531"/>
                  </a:lnTo>
                  <a:lnTo>
                    <a:pt x="3739654" y="2225065"/>
                  </a:lnTo>
                  <a:lnTo>
                    <a:pt x="3787952" y="2228773"/>
                  </a:lnTo>
                  <a:lnTo>
                    <a:pt x="3836111" y="2231580"/>
                  </a:lnTo>
                  <a:lnTo>
                    <a:pt x="3884117" y="2233409"/>
                  </a:lnTo>
                  <a:lnTo>
                    <a:pt x="3931958" y="2234209"/>
                  </a:lnTo>
                  <a:lnTo>
                    <a:pt x="3979621" y="2233879"/>
                  </a:lnTo>
                  <a:lnTo>
                    <a:pt x="4027119" y="2232367"/>
                  </a:lnTo>
                  <a:lnTo>
                    <a:pt x="4074426" y="2229612"/>
                  </a:lnTo>
                  <a:lnTo>
                    <a:pt x="4121556" y="2225509"/>
                  </a:lnTo>
                  <a:lnTo>
                    <a:pt x="4168482" y="2220010"/>
                  </a:lnTo>
                  <a:lnTo>
                    <a:pt x="4215206" y="2213051"/>
                  </a:lnTo>
                  <a:lnTo>
                    <a:pt x="4260113" y="2204783"/>
                  </a:lnTo>
                  <a:lnTo>
                    <a:pt x="4303852" y="2195156"/>
                  </a:lnTo>
                  <a:lnTo>
                    <a:pt x="4346511" y="2184222"/>
                  </a:lnTo>
                  <a:lnTo>
                    <a:pt x="4388167" y="2172068"/>
                  </a:lnTo>
                  <a:lnTo>
                    <a:pt x="4428909" y="2158733"/>
                  </a:lnTo>
                  <a:lnTo>
                    <a:pt x="4468799" y="2144280"/>
                  </a:lnTo>
                  <a:lnTo>
                    <a:pt x="4507941" y="2128799"/>
                  </a:lnTo>
                  <a:lnTo>
                    <a:pt x="4546396" y="2112327"/>
                  </a:lnTo>
                  <a:lnTo>
                    <a:pt x="4584255" y="2094941"/>
                  </a:lnTo>
                  <a:lnTo>
                    <a:pt x="4621593" y="2076691"/>
                  </a:lnTo>
                  <a:lnTo>
                    <a:pt x="4658499" y="2057653"/>
                  </a:lnTo>
                  <a:lnTo>
                    <a:pt x="4695050" y="2037892"/>
                  </a:lnTo>
                  <a:lnTo>
                    <a:pt x="4731334" y="2017458"/>
                  </a:lnTo>
                  <a:lnTo>
                    <a:pt x="4767414" y="1996427"/>
                  </a:lnTo>
                  <a:lnTo>
                    <a:pt x="4803381" y="1974862"/>
                  </a:lnTo>
                  <a:lnTo>
                    <a:pt x="4839322" y="1952815"/>
                  </a:lnTo>
                  <a:lnTo>
                    <a:pt x="4875301" y="1930361"/>
                  </a:lnTo>
                  <a:lnTo>
                    <a:pt x="4911420" y="1907552"/>
                  </a:lnTo>
                  <a:lnTo>
                    <a:pt x="4947742" y="1884464"/>
                  </a:lnTo>
                  <a:lnTo>
                    <a:pt x="4984356" y="1861146"/>
                  </a:lnTo>
                  <a:lnTo>
                    <a:pt x="5021351" y="1837689"/>
                  </a:lnTo>
                  <a:lnTo>
                    <a:pt x="5058791" y="1814118"/>
                  </a:lnTo>
                  <a:lnTo>
                    <a:pt x="5096764" y="1790522"/>
                  </a:lnTo>
                  <a:lnTo>
                    <a:pt x="5135346" y="1766963"/>
                  </a:lnTo>
                  <a:lnTo>
                    <a:pt x="5174627" y="1743494"/>
                  </a:lnTo>
                  <a:lnTo>
                    <a:pt x="5214696" y="1720176"/>
                  </a:lnTo>
                  <a:lnTo>
                    <a:pt x="5255602" y="1697088"/>
                  </a:lnTo>
                  <a:lnTo>
                    <a:pt x="5297462" y="1674291"/>
                  </a:lnTo>
                  <a:lnTo>
                    <a:pt x="5340324" y="1651838"/>
                  </a:lnTo>
                  <a:lnTo>
                    <a:pt x="5384292" y="1629790"/>
                  </a:lnTo>
                  <a:lnTo>
                    <a:pt x="5429440" y="1608226"/>
                  </a:lnTo>
                  <a:lnTo>
                    <a:pt x="5475859" y="1587207"/>
                  </a:lnTo>
                  <a:lnTo>
                    <a:pt x="5523598" y="1566773"/>
                  </a:lnTo>
                  <a:lnTo>
                    <a:pt x="5572772" y="1547025"/>
                  </a:lnTo>
                  <a:lnTo>
                    <a:pt x="5623445" y="1527987"/>
                  </a:lnTo>
                  <a:lnTo>
                    <a:pt x="5675706" y="1509750"/>
                  </a:lnTo>
                  <a:lnTo>
                    <a:pt x="5729630" y="1492364"/>
                  </a:lnTo>
                  <a:lnTo>
                    <a:pt x="5785307" y="1475905"/>
                  </a:lnTo>
                  <a:lnTo>
                    <a:pt x="5842787" y="1460423"/>
                  </a:lnTo>
                  <a:lnTo>
                    <a:pt x="5902198" y="1445996"/>
                  </a:lnTo>
                  <a:lnTo>
                    <a:pt x="5963577" y="1432674"/>
                  </a:lnTo>
                  <a:lnTo>
                    <a:pt x="6027039" y="1420520"/>
                  </a:lnTo>
                  <a:lnTo>
                    <a:pt x="6099416" y="1408048"/>
                  </a:lnTo>
                  <a:lnTo>
                    <a:pt x="6170244" y="1396822"/>
                  </a:lnTo>
                  <a:lnTo>
                    <a:pt x="6239560" y="1386751"/>
                  </a:lnTo>
                  <a:lnTo>
                    <a:pt x="6307391" y="1377784"/>
                  </a:lnTo>
                  <a:lnTo>
                    <a:pt x="6373774" y="1369885"/>
                  </a:lnTo>
                  <a:lnTo>
                    <a:pt x="6438709" y="1362976"/>
                  </a:lnTo>
                  <a:lnTo>
                    <a:pt x="6502260" y="1356995"/>
                  </a:lnTo>
                  <a:lnTo>
                    <a:pt x="6564426" y="1351902"/>
                  </a:lnTo>
                  <a:lnTo>
                    <a:pt x="6625247" y="1347622"/>
                  </a:lnTo>
                  <a:lnTo>
                    <a:pt x="6684746" y="1344117"/>
                  </a:lnTo>
                  <a:lnTo>
                    <a:pt x="6742963" y="1341310"/>
                  </a:lnTo>
                  <a:lnTo>
                    <a:pt x="6799910" y="1339151"/>
                  </a:lnTo>
                  <a:lnTo>
                    <a:pt x="6855637" y="1337576"/>
                  </a:lnTo>
                  <a:lnTo>
                    <a:pt x="6910146" y="1336548"/>
                  </a:lnTo>
                  <a:lnTo>
                    <a:pt x="6963473" y="1335976"/>
                  </a:lnTo>
                  <a:lnTo>
                    <a:pt x="7015657" y="1335836"/>
                  </a:lnTo>
                  <a:lnTo>
                    <a:pt x="7066711" y="1336052"/>
                  </a:lnTo>
                  <a:lnTo>
                    <a:pt x="7116673" y="1336560"/>
                  </a:lnTo>
                  <a:lnTo>
                    <a:pt x="7165568" y="1337310"/>
                  </a:lnTo>
                  <a:lnTo>
                    <a:pt x="7213434" y="1338249"/>
                  </a:lnTo>
                  <a:lnTo>
                    <a:pt x="7260272" y="1339316"/>
                  </a:lnTo>
                  <a:lnTo>
                    <a:pt x="7306144" y="1340446"/>
                  </a:lnTo>
                  <a:lnTo>
                    <a:pt x="7351052" y="1341602"/>
                  </a:lnTo>
                  <a:lnTo>
                    <a:pt x="7395032" y="1342694"/>
                  </a:lnTo>
                  <a:lnTo>
                    <a:pt x="7438110" y="1343698"/>
                  </a:lnTo>
                  <a:lnTo>
                    <a:pt x="7480325" y="1344523"/>
                  </a:lnTo>
                  <a:lnTo>
                    <a:pt x="7521689" y="1345133"/>
                  </a:lnTo>
                  <a:lnTo>
                    <a:pt x="7562240" y="1345476"/>
                  </a:lnTo>
                  <a:lnTo>
                    <a:pt x="7602004" y="1345476"/>
                  </a:lnTo>
                  <a:lnTo>
                    <a:pt x="7641018" y="1345082"/>
                  </a:lnTo>
                  <a:lnTo>
                    <a:pt x="7679283" y="1344231"/>
                  </a:lnTo>
                  <a:lnTo>
                    <a:pt x="7753756" y="1340954"/>
                  </a:lnTo>
                  <a:lnTo>
                    <a:pt x="7825625" y="1335176"/>
                  </a:lnTo>
                  <a:lnTo>
                    <a:pt x="7895132" y="1326438"/>
                  </a:lnTo>
                  <a:lnTo>
                    <a:pt x="7974228" y="1313713"/>
                  </a:lnTo>
                  <a:lnTo>
                    <a:pt x="8043519" y="1301051"/>
                  </a:lnTo>
                  <a:lnTo>
                    <a:pt x="8104111" y="1288211"/>
                  </a:lnTo>
                  <a:lnTo>
                    <a:pt x="8157108" y="1274965"/>
                  </a:lnTo>
                  <a:lnTo>
                    <a:pt x="8203641" y="1261071"/>
                  </a:lnTo>
                  <a:lnTo>
                    <a:pt x="8244801" y="1246314"/>
                  </a:lnTo>
                  <a:lnTo>
                    <a:pt x="8281733" y="1230452"/>
                  </a:lnTo>
                  <a:lnTo>
                    <a:pt x="8347316" y="1194485"/>
                  </a:lnTo>
                  <a:lnTo>
                    <a:pt x="8409292" y="1151305"/>
                  </a:lnTo>
                  <a:lnTo>
                    <a:pt x="8441715" y="1126439"/>
                  </a:lnTo>
                  <a:lnTo>
                    <a:pt x="8476576" y="1099083"/>
                  </a:lnTo>
                  <a:lnTo>
                    <a:pt x="8514994" y="1068984"/>
                  </a:lnTo>
                  <a:lnTo>
                    <a:pt x="8558085" y="1035926"/>
                  </a:lnTo>
                  <a:lnTo>
                    <a:pt x="8590826" y="1009624"/>
                  </a:lnTo>
                  <a:lnTo>
                    <a:pt x="8623630" y="980376"/>
                  </a:lnTo>
                  <a:lnTo>
                    <a:pt x="8656497" y="948499"/>
                  </a:lnTo>
                  <a:lnTo>
                    <a:pt x="8689441" y="914323"/>
                  </a:lnTo>
                  <a:lnTo>
                    <a:pt x="8722474" y="878141"/>
                  </a:lnTo>
                  <a:lnTo>
                    <a:pt x="8755583" y="840282"/>
                  </a:lnTo>
                  <a:lnTo>
                    <a:pt x="8788793" y="801077"/>
                  </a:lnTo>
                  <a:lnTo>
                    <a:pt x="8822093" y="760831"/>
                  </a:lnTo>
                  <a:lnTo>
                    <a:pt x="8855506" y="719861"/>
                  </a:lnTo>
                  <a:lnTo>
                    <a:pt x="8889034" y="678497"/>
                  </a:lnTo>
                  <a:lnTo>
                    <a:pt x="8922677" y="637044"/>
                  </a:lnTo>
                  <a:lnTo>
                    <a:pt x="8956446" y="595833"/>
                  </a:lnTo>
                  <a:lnTo>
                    <a:pt x="8990342" y="555167"/>
                  </a:lnTo>
                  <a:lnTo>
                    <a:pt x="9024378" y="515378"/>
                  </a:lnTo>
                  <a:lnTo>
                    <a:pt x="9058554" y="476770"/>
                  </a:lnTo>
                  <a:lnTo>
                    <a:pt x="9092895" y="439686"/>
                  </a:lnTo>
                  <a:lnTo>
                    <a:pt x="9127375" y="404418"/>
                  </a:lnTo>
                  <a:lnTo>
                    <a:pt x="9162021" y="371284"/>
                  </a:lnTo>
                  <a:lnTo>
                    <a:pt x="9196844" y="340626"/>
                  </a:lnTo>
                  <a:lnTo>
                    <a:pt x="9231845" y="312750"/>
                  </a:lnTo>
                  <a:lnTo>
                    <a:pt x="9267024" y="287972"/>
                  </a:lnTo>
                  <a:lnTo>
                    <a:pt x="9331020" y="248970"/>
                  </a:lnTo>
                  <a:lnTo>
                    <a:pt x="9392818" y="214655"/>
                  </a:lnTo>
                  <a:lnTo>
                    <a:pt x="9452317" y="184619"/>
                  </a:lnTo>
                  <a:lnTo>
                    <a:pt x="9509429" y="158445"/>
                  </a:lnTo>
                  <a:lnTo>
                    <a:pt x="9564052" y="135750"/>
                  </a:lnTo>
                  <a:lnTo>
                    <a:pt x="9616109" y="116128"/>
                  </a:lnTo>
                  <a:lnTo>
                    <a:pt x="9665512" y="99174"/>
                  </a:lnTo>
                  <a:lnTo>
                    <a:pt x="9712159" y="84467"/>
                  </a:lnTo>
                  <a:lnTo>
                    <a:pt x="9755974" y="71627"/>
                  </a:lnTo>
                  <a:lnTo>
                    <a:pt x="9796856" y="60248"/>
                  </a:lnTo>
                  <a:lnTo>
                    <a:pt x="9834714" y="49923"/>
                  </a:lnTo>
                  <a:lnTo>
                    <a:pt x="9869462" y="40246"/>
                  </a:lnTo>
                  <a:lnTo>
                    <a:pt x="9901021" y="30822"/>
                  </a:lnTo>
                  <a:lnTo>
                    <a:pt x="9929279" y="21247"/>
                  </a:lnTo>
                  <a:lnTo>
                    <a:pt x="9954158" y="11099"/>
                  </a:lnTo>
                  <a:lnTo>
                    <a:pt x="9975570" y="0"/>
                  </a:lnTo>
                </a:path>
              </a:pathLst>
            </a:custGeom>
            <a:ln w="15874">
              <a:solidFill>
                <a:srgbClr val="273D82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defTabSz="914400"/>
              <a:endParaRPr sz="180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51" name="object 13">
              <a:extLst>
                <a:ext uri="{FF2B5EF4-FFF2-40B4-BE49-F238E27FC236}">
                  <a16:creationId xmlns:a16="http://schemas.microsoft.com/office/drawing/2014/main" id="{2C85B0C6-55DB-5D23-831E-E8E5B458C76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596" y="5600700"/>
              <a:ext cx="495299" cy="492251"/>
            </a:xfrm>
            <a:prstGeom prst="rect">
              <a:avLst/>
            </a:prstGeom>
          </p:spPr>
        </p:pic>
        <p:sp>
          <p:nvSpPr>
            <p:cNvPr id="52" name="object 14">
              <a:extLst>
                <a:ext uri="{FF2B5EF4-FFF2-40B4-BE49-F238E27FC236}">
                  <a16:creationId xmlns:a16="http://schemas.microsoft.com/office/drawing/2014/main" id="{1D7CE589-9783-D987-0722-3F96379A1238}"/>
                </a:ext>
              </a:extLst>
            </p:cNvPr>
            <p:cNvSpPr/>
            <p:nvPr/>
          </p:nvSpPr>
          <p:spPr>
            <a:xfrm>
              <a:off x="1011935" y="5603748"/>
              <a:ext cx="393065" cy="389890"/>
            </a:xfrm>
            <a:custGeom>
              <a:avLst/>
              <a:gdLst/>
              <a:ahLst/>
              <a:cxnLst/>
              <a:rect l="l" t="t" r="r" b="b"/>
              <a:pathLst>
                <a:path w="393065" h="389889">
                  <a:moveTo>
                    <a:pt x="196341" y="0"/>
                  </a:moveTo>
                  <a:lnTo>
                    <a:pt x="151320" y="5143"/>
                  </a:lnTo>
                  <a:lnTo>
                    <a:pt x="109994" y="19811"/>
                  </a:lnTo>
                  <a:lnTo>
                    <a:pt x="73545" y="42824"/>
                  </a:lnTo>
                  <a:lnTo>
                    <a:pt x="43141" y="73012"/>
                  </a:lnTo>
                  <a:lnTo>
                    <a:pt x="19951" y="109194"/>
                  </a:lnTo>
                  <a:lnTo>
                    <a:pt x="5181" y="150202"/>
                  </a:lnTo>
                  <a:lnTo>
                    <a:pt x="0" y="194881"/>
                  </a:lnTo>
                  <a:lnTo>
                    <a:pt x="5181" y="239547"/>
                  </a:lnTo>
                  <a:lnTo>
                    <a:pt x="19951" y="280568"/>
                  </a:lnTo>
                  <a:lnTo>
                    <a:pt x="43141" y="316750"/>
                  </a:lnTo>
                  <a:lnTo>
                    <a:pt x="73545" y="346938"/>
                  </a:lnTo>
                  <a:lnTo>
                    <a:pt x="109994" y="369950"/>
                  </a:lnTo>
                  <a:lnTo>
                    <a:pt x="151320" y="384619"/>
                  </a:lnTo>
                  <a:lnTo>
                    <a:pt x="196341" y="389762"/>
                  </a:lnTo>
                  <a:lnTo>
                    <a:pt x="241363" y="384619"/>
                  </a:lnTo>
                  <a:lnTo>
                    <a:pt x="282689" y="369950"/>
                  </a:lnTo>
                  <a:lnTo>
                    <a:pt x="319150" y="346938"/>
                  </a:lnTo>
                  <a:lnTo>
                    <a:pt x="349554" y="316750"/>
                  </a:lnTo>
                  <a:lnTo>
                    <a:pt x="372732" y="280568"/>
                  </a:lnTo>
                  <a:lnTo>
                    <a:pt x="387502" y="239547"/>
                  </a:lnTo>
                  <a:lnTo>
                    <a:pt x="392683" y="194881"/>
                  </a:lnTo>
                  <a:lnTo>
                    <a:pt x="387502" y="150202"/>
                  </a:lnTo>
                  <a:lnTo>
                    <a:pt x="372732" y="109194"/>
                  </a:lnTo>
                  <a:lnTo>
                    <a:pt x="349554" y="73012"/>
                  </a:lnTo>
                  <a:lnTo>
                    <a:pt x="319150" y="42824"/>
                  </a:lnTo>
                  <a:lnTo>
                    <a:pt x="282689" y="19811"/>
                  </a:lnTo>
                  <a:lnTo>
                    <a:pt x="241363" y="5143"/>
                  </a:lnTo>
                  <a:lnTo>
                    <a:pt x="196341" y="0"/>
                  </a:lnTo>
                  <a:close/>
                </a:path>
              </a:pathLst>
            </a:custGeom>
            <a:solidFill>
              <a:srgbClr val="273D82"/>
            </a:solidFill>
          </p:spPr>
          <p:txBody>
            <a:bodyPr wrap="square" lIns="0" tIns="0" rIns="0" bIns="0" rtlCol="0"/>
            <a:lstStyle/>
            <a:p>
              <a:pPr defTabSz="914400"/>
              <a:endParaRPr sz="180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53" name="object 15">
              <a:extLst>
                <a:ext uri="{FF2B5EF4-FFF2-40B4-BE49-F238E27FC236}">
                  <a16:creationId xmlns:a16="http://schemas.microsoft.com/office/drawing/2014/main" id="{56541EA6-6D88-6B87-F982-6F166F02D24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0513" y="5670804"/>
              <a:ext cx="255529" cy="256029"/>
            </a:xfrm>
            <a:prstGeom prst="rect">
              <a:avLst/>
            </a:prstGeom>
          </p:spPr>
        </p:pic>
        <p:pic>
          <p:nvPicPr>
            <p:cNvPr id="54" name="object 16">
              <a:extLst>
                <a:ext uri="{FF2B5EF4-FFF2-40B4-BE49-F238E27FC236}">
                  <a16:creationId xmlns:a16="http://schemas.microsoft.com/office/drawing/2014/main" id="{83463783-5A83-84E4-DF00-7CD5700E1F9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45663" y="5343144"/>
              <a:ext cx="106667" cy="108191"/>
            </a:xfrm>
            <a:prstGeom prst="rect">
              <a:avLst/>
            </a:prstGeom>
          </p:spPr>
        </p:pic>
      </p:grpSp>
      <p:sp>
        <p:nvSpPr>
          <p:cNvPr id="55" name="object 17">
            <a:extLst>
              <a:ext uri="{FF2B5EF4-FFF2-40B4-BE49-F238E27FC236}">
                <a16:creationId xmlns:a16="http://schemas.microsoft.com/office/drawing/2014/main" id="{9483E1CD-A107-13AC-82BB-918AA183A1FA}"/>
              </a:ext>
            </a:extLst>
          </p:cNvPr>
          <p:cNvSpPr txBox="1"/>
          <p:nvPr/>
        </p:nvSpPr>
        <p:spPr>
          <a:xfrm>
            <a:off x="431395" y="5028092"/>
            <a:ext cx="939800" cy="7637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dirty="0">
                <a:solidFill>
                  <a:prstClr val="black"/>
                </a:solidFill>
                <a:latin typeface="楷体"/>
                <a:cs typeface="楷体"/>
              </a:rPr>
              <a:t>联合交通部，建设全国检测数据直报平台</a:t>
            </a:r>
            <a:r>
              <a:rPr sz="1200" dirty="0">
                <a:solidFill>
                  <a:prstClr val="black"/>
                </a:solidFill>
                <a:latin typeface="楷体"/>
                <a:cs typeface="楷体"/>
              </a:rPr>
              <a:t> </a:t>
            </a:r>
            <a:r>
              <a:rPr sz="1400" b="1" spc="-30" dirty="0">
                <a:solidFill>
                  <a:srgbClr val="273D82"/>
                </a:solidFill>
                <a:latin typeface="Times New Roman"/>
                <a:cs typeface="Times New Roman"/>
              </a:rPr>
              <a:t>20</a:t>
            </a:r>
            <a:r>
              <a:rPr lang="en-US" sz="1400" b="1" spc="-30" dirty="0">
                <a:solidFill>
                  <a:srgbClr val="273D82"/>
                </a:solidFill>
                <a:latin typeface="Times New Roman"/>
                <a:cs typeface="Times New Roman"/>
              </a:rPr>
              <a:t>19</a:t>
            </a:r>
            <a:r>
              <a:rPr sz="1400" b="1" spc="-30" dirty="0">
                <a:solidFill>
                  <a:srgbClr val="273D82"/>
                </a:solidFill>
                <a:latin typeface="Times New Roman"/>
                <a:cs typeface="Times New Roman"/>
              </a:rPr>
              <a:t>.1</a:t>
            </a:r>
            <a:r>
              <a:rPr lang="en-US" sz="1400" b="1" spc="-30" dirty="0">
                <a:solidFill>
                  <a:srgbClr val="273D82"/>
                </a:solidFill>
                <a:latin typeface="Times New Roman"/>
                <a:cs typeface="Times New Roman"/>
              </a:rPr>
              <a:t>2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56" name="object 18">
            <a:extLst>
              <a:ext uri="{FF2B5EF4-FFF2-40B4-BE49-F238E27FC236}">
                <a16:creationId xmlns:a16="http://schemas.microsoft.com/office/drawing/2014/main" id="{7B8D96A2-6A8F-EE9D-5377-C6ABC9087918}"/>
              </a:ext>
            </a:extLst>
          </p:cNvPr>
          <p:cNvSpPr txBox="1"/>
          <p:nvPr/>
        </p:nvSpPr>
        <p:spPr>
          <a:xfrm>
            <a:off x="1745012" y="4612850"/>
            <a:ext cx="1291593" cy="7950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defTabSz="914400">
              <a:spcBef>
                <a:spcPts val="100"/>
              </a:spcBef>
            </a:pPr>
            <a:r>
              <a:rPr lang="zh-CN" altLang="en-US" sz="1200" dirty="0">
                <a:solidFill>
                  <a:prstClr val="black"/>
                </a:solidFill>
                <a:latin typeface="楷体"/>
                <a:cs typeface="楷体"/>
              </a:rPr>
              <a:t>与中交信控集团、中交三公司检测公司达成合作协议</a:t>
            </a:r>
            <a:endParaRPr sz="1200" dirty="0">
              <a:solidFill>
                <a:prstClr val="black"/>
              </a:solidFill>
              <a:latin typeface="楷体"/>
              <a:cs typeface="楷体"/>
            </a:endParaRPr>
          </a:p>
          <a:p>
            <a:pPr marL="393700" defTabSz="914400">
              <a:spcBef>
                <a:spcPts val="110"/>
              </a:spcBef>
            </a:pPr>
            <a:r>
              <a:rPr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2020.</a:t>
            </a:r>
            <a:r>
              <a:rPr lang="en-US"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9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57" name="object 19">
            <a:extLst>
              <a:ext uri="{FF2B5EF4-FFF2-40B4-BE49-F238E27FC236}">
                <a16:creationId xmlns:a16="http://schemas.microsoft.com/office/drawing/2014/main" id="{E3DF97A4-1850-BB38-3DD7-5A1F32945ED1}"/>
              </a:ext>
            </a:extLst>
          </p:cNvPr>
          <p:cNvSpPr txBox="1"/>
          <p:nvPr/>
        </p:nvSpPr>
        <p:spPr>
          <a:xfrm>
            <a:off x="2943156" y="5362573"/>
            <a:ext cx="1829229" cy="46320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65100" algn="ctr" defTabSz="914400">
              <a:spcBef>
                <a:spcPts val="434"/>
              </a:spcBef>
            </a:pPr>
            <a:r>
              <a:rPr sz="1400" b="1" spc="-20" dirty="0">
                <a:solidFill>
                  <a:srgbClr val="273D82"/>
                </a:solidFill>
                <a:latin typeface="Times New Roman"/>
                <a:cs typeface="Times New Roman"/>
              </a:rPr>
              <a:t>202</a:t>
            </a:r>
            <a:r>
              <a:rPr lang="en-US" sz="1400" b="1" spc="-20" dirty="0">
                <a:solidFill>
                  <a:srgbClr val="273D82"/>
                </a:solidFill>
                <a:latin typeface="Times New Roman"/>
                <a:cs typeface="Times New Roman"/>
              </a:rPr>
              <a:t>2</a:t>
            </a:r>
            <a:r>
              <a:rPr sz="1400" b="1" spc="-20" dirty="0">
                <a:solidFill>
                  <a:srgbClr val="273D82"/>
                </a:solidFill>
                <a:latin typeface="Times New Roman"/>
                <a:cs typeface="Times New Roman"/>
              </a:rPr>
              <a:t>.</a:t>
            </a:r>
            <a:r>
              <a:rPr lang="en-US" sz="1400" b="1" spc="-20" dirty="0">
                <a:solidFill>
                  <a:srgbClr val="273D82"/>
                </a:solidFill>
                <a:latin typeface="Times New Roman"/>
                <a:cs typeface="Times New Roman"/>
              </a:rPr>
              <a:t>11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b="1" dirty="0">
                <a:solidFill>
                  <a:prstClr val="black"/>
                </a:solidFill>
                <a:latin typeface="楷体"/>
                <a:cs typeface="楷体"/>
              </a:rPr>
              <a:t>交大为达北京母公司成立 </a:t>
            </a:r>
            <a:endParaRPr lang="en-US" altLang="zh-CN" sz="1200" b="1" dirty="0">
              <a:solidFill>
                <a:prstClr val="black"/>
              </a:solidFill>
              <a:latin typeface="楷体"/>
              <a:cs typeface="楷体"/>
            </a:endParaRPr>
          </a:p>
        </p:txBody>
      </p:sp>
      <p:grpSp>
        <p:nvGrpSpPr>
          <p:cNvPr id="58" name="object 20">
            <a:extLst>
              <a:ext uri="{FF2B5EF4-FFF2-40B4-BE49-F238E27FC236}">
                <a16:creationId xmlns:a16="http://schemas.microsoft.com/office/drawing/2014/main" id="{B89BF64C-D884-2039-09DD-14760C89D99F}"/>
              </a:ext>
            </a:extLst>
          </p:cNvPr>
          <p:cNvGrpSpPr/>
          <p:nvPr/>
        </p:nvGrpSpPr>
        <p:grpSpPr>
          <a:xfrm>
            <a:off x="3622915" y="4897714"/>
            <a:ext cx="458470" cy="473075"/>
            <a:chOff x="3916347" y="4719828"/>
            <a:chExt cx="458470" cy="473075"/>
          </a:xfrm>
        </p:grpSpPr>
        <p:pic>
          <p:nvPicPr>
            <p:cNvPr id="59" name="object 21">
              <a:extLst>
                <a:ext uri="{FF2B5EF4-FFF2-40B4-BE49-F238E27FC236}">
                  <a16:creationId xmlns:a16="http://schemas.microsoft.com/office/drawing/2014/main" id="{7F6F5079-AEE4-A2CA-3CA3-59D95C67F11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16347" y="4734735"/>
              <a:ext cx="457864" cy="457864"/>
            </a:xfrm>
            <a:prstGeom prst="rect">
              <a:avLst/>
            </a:prstGeom>
          </p:spPr>
        </p:pic>
        <p:sp>
          <p:nvSpPr>
            <p:cNvPr id="60" name="object 22">
              <a:extLst>
                <a:ext uri="{FF2B5EF4-FFF2-40B4-BE49-F238E27FC236}">
                  <a16:creationId xmlns:a16="http://schemas.microsoft.com/office/drawing/2014/main" id="{B13C373A-5040-7A3D-ACF4-26A8D3A30643}"/>
                </a:ext>
              </a:extLst>
            </p:cNvPr>
            <p:cNvSpPr/>
            <p:nvPr/>
          </p:nvSpPr>
          <p:spPr>
            <a:xfrm>
              <a:off x="3951732" y="4719828"/>
              <a:ext cx="391795" cy="391795"/>
            </a:xfrm>
            <a:custGeom>
              <a:avLst/>
              <a:gdLst/>
              <a:ahLst/>
              <a:cxnLst/>
              <a:rect l="l" t="t" r="r" b="b"/>
              <a:pathLst>
                <a:path w="391795" h="391795">
                  <a:moveTo>
                    <a:pt x="195770" y="0"/>
                  </a:moveTo>
                  <a:lnTo>
                    <a:pt x="150863" y="5168"/>
                  </a:lnTo>
                  <a:lnTo>
                    <a:pt x="109651" y="19888"/>
                  </a:lnTo>
                  <a:lnTo>
                    <a:pt x="73304" y="42989"/>
                  </a:lnTo>
                  <a:lnTo>
                    <a:pt x="42989" y="73304"/>
                  </a:lnTo>
                  <a:lnTo>
                    <a:pt x="19888" y="109651"/>
                  </a:lnTo>
                  <a:lnTo>
                    <a:pt x="5168" y="150863"/>
                  </a:lnTo>
                  <a:lnTo>
                    <a:pt x="0" y="195770"/>
                  </a:lnTo>
                  <a:lnTo>
                    <a:pt x="5168" y="240677"/>
                  </a:lnTo>
                  <a:lnTo>
                    <a:pt x="19888" y="281889"/>
                  </a:lnTo>
                  <a:lnTo>
                    <a:pt x="42989" y="318236"/>
                  </a:lnTo>
                  <a:lnTo>
                    <a:pt x="73304" y="348551"/>
                  </a:lnTo>
                  <a:lnTo>
                    <a:pt x="109651" y="371652"/>
                  </a:lnTo>
                  <a:lnTo>
                    <a:pt x="150863" y="386372"/>
                  </a:lnTo>
                  <a:lnTo>
                    <a:pt x="195770" y="391541"/>
                  </a:lnTo>
                  <a:lnTo>
                    <a:pt x="240677" y="386372"/>
                  </a:lnTo>
                  <a:lnTo>
                    <a:pt x="281889" y="371652"/>
                  </a:lnTo>
                  <a:lnTo>
                    <a:pt x="318236" y="348551"/>
                  </a:lnTo>
                  <a:lnTo>
                    <a:pt x="348551" y="318236"/>
                  </a:lnTo>
                  <a:lnTo>
                    <a:pt x="371652" y="281889"/>
                  </a:lnTo>
                  <a:lnTo>
                    <a:pt x="386372" y="240677"/>
                  </a:lnTo>
                  <a:lnTo>
                    <a:pt x="391541" y="195770"/>
                  </a:lnTo>
                  <a:lnTo>
                    <a:pt x="386372" y="150863"/>
                  </a:lnTo>
                  <a:lnTo>
                    <a:pt x="371652" y="109651"/>
                  </a:lnTo>
                  <a:lnTo>
                    <a:pt x="348551" y="73304"/>
                  </a:lnTo>
                  <a:lnTo>
                    <a:pt x="318236" y="42989"/>
                  </a:lnTo>
                  <a:lnTo>
                    <a:pt x="281889" y="19888"/>
                  </a:lnTo>
                  <a:lnTo>
                    <a:pt x="240677" y="5168"/>
                  </a:lnTo>
                  <a:lnTo>
                    <a:pt x="195770" y="0"/>
                  </a:lnTo>
                  <a:close/>
                </a:path>
              </a:pathLst>
            </a:custGeom>
            <a:solidFill>
              <a:srgbClr val="273D82"/>
            </a:solidFill>
          </p:spPr>
          <p:txBody>
            <a:bodyPr wrap="square" lIns="0" tIns="0" rIns="0" bIns="0" rtlCol="0"/>
            <a:lstStyle/>
            <a:p>
              <a:pPr defTabSz="914400"/>
              <a:endParaRPr sz="180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61" name="object 23">
              <a:extLst>
                <a:ext uri="{FF2B5EF4-FFF2-40B4-BE49-F238E27FC236}">
                  <a16:creationId xmlns:a16="http://schemas.microsoft.com/office/drawing/2014/main" id="{E61272E0-2B8B-4F64-CF01-AC5EBEC7351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20310" y="4788408"/>
              <a:ext cx="254379" cy="254510"/>
            </a:xfrm>
            <a:prstGeom prst="rect">
              <a:avLst/>
            </a:prstGeom>
          </p:spPr>
        </p:pic>
      </p:grpSp>
      <p:sp>
        <p:nvSpPr>
          <p:cNvPr id="62" name="object 24">
            <a:extLst>
              <a:ext uri="{FF2B5EF4-FFF2-40B4-BE49-F238E27FC236}">
                <a16:creationId xmlns:a16="http://schemas.microsoft.com/office/drawing/2014/main" id="{325BD3B2-75F3-4C87-3118-4633A6D83A74}"/>
              </a:ext>
            </a:extLst>
          </p:cNvPr>
          <p:cNvSpPr txBox="1"/>
          <p:nvPr/>
        </p:nvSpPr>
        <p:spPr>
          <a:xfrm>
            <a:off x="4489201" y="4556558"/>
            <a:ext cx="1179352" cy="637226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dirty="0">
                <a:solidFill>
                  <a:prstClr val="black"/>
                </a:solidFill>
                <a:latin typeface="楷体"/>
                <a:cs typeface="Times New Roman"/>
              </a:rPr>
              <a:t>铁道科学院智慧轨道健康检测</a:t>
            </a:r>
            <a:endParaRPr lang="en-US" sz="1200" dirty="0">
              <a:solidFill>
                <a:prstClr val="black"/>
              </a:solidFill>
              <a:latin typeface="楷体"/>
              <a:cs typeface="Times New Roman"/>
            </a:endParaRPr>
          </a:p>
          <a:p>
            <a:pPr marL="372110" defTabSz="914400">
              <a:spcBef>
                <a:spcPts val="340"/>
              </a:spcBef>
            </a:pPr>
            <a:r>
              <a:rPr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202</a:t>
            </a:r>
            <a:r>
              <a:rPr lang="en-US"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3</a:t>
            </a:r>
            <a:r>
              <a:rPr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.</a:t>
            </a:r>
            <a:r>
              <a:rPr lang="en-US"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7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grpSp>
        <p:nvGrpSpPr>
          <p:cNvPr id="63" name="object 25">
            <a:extLst>
              <a:ext uri="{FF2B5EF4-FFF2-40B4-BE49-F238E27FC236}">
                <a16:creationId xmlns:a16="http://schemas.microsoft.com/office/drawing/2014/main" id="{BFDF5D9F-E523-87C2-2E6F-F35DB9F74757}"/>
              </a:ext>
            </a:extLst>
          </p:cNvPr>
          <p:cNvGrpSpPr/>
          <p:nvPr/>
        </p:nvGrpSpPr>
        <p:grpSpPr>
          <a:xfrm>
            <a:off x="5103052" y="4582245"/>
            <a:ext cx="1295400" cy="710565"/>
            <a:chOff x="5396484" y="4404359"/>
            <a:chExt cx="1295400" cy="710565"/>
          </a:xfrm>
        </p:grpSpPr>
        <p:pic>
          <p:nvPicPr>
            <p:cNvPr id="64" name="object 26">
              <a:extLst>
                <a:ext uri="{FF2B5EF4-FFF2-40B4-BE49-F238E27FC236}">
                  <a16:creationId xmlns:a16="http://schemas.microsoft.com/office/drawing/2014/main" id="{EEC2D23A-7709-005B-3725-8818630ACC45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6484" y="5007863"/>
              <a:ext cx="108203" cy="106679"/>
            </a:xfrm>
            <a:prstGeom prst="rect">
              <a:avLst/>
            </a:prstGeom>
          </p:spPr>
        </p:pic>
        <p:pic>
          <p:nvPicPr>
            <p:cNvPr id="65" name="object 27">
              <a:extLst>
                <a:ext uri="{FF2B5EF4-FFF2-40B4-BE49-F238E27FC236}">
                  <a16:creationId xmlns:a16="http://schemas.microsoft.com/office/drawing/2014/main" id="{52E400FE-1A3E-FA2A-4685-52A8DC8CD8EC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3680" y="4404359"/>
              <a:ext cx="108203" cy="106679"/>
            </a:xfrm>
            <a:prstGeom prst="rect">
              <a:avLst/>
            </a:prstGeom>
          </p:spPr>
        </p:pic>
      </p:grpSp>
      <p:grpSp>
        <p:nvGrpSpPr>
          <p:cNvPr id="68" name="object 30">
            <a:extLst>
              <a:ext uri="{FF2B5EF4-FFF2-40B4-BE49-F238E27FC236}">
                <a16:creationId xmlns:a16="http://schemas.microsoft.com/office/drawing/2014/main" id="{13240081-E6CD-5356-3717-2ABACA1D8E30}"/>
              </a:ext>
            </a:extLst>
          </p:cNvPr>
          <p:cNvGrpSpPr/>
          <p:nvPr/>
        </p:nvGrpSpPr>
        <p:grpSpPr>
          <a:xfrm>
            <a:off x="7175691" y="4121997"/>
            <a:ext cx="493775" cy="493775"/>
            <a:chOff x="7469123" y="3944111"/>
            <a:chExt cx="493775" cy="493775"/>
          </a:xfrm>
        </p:grpSpPr>
        <p:pic>
          <p:nvPicPr>
            <p:cNvPr id="72" name="object 34">
              <a:extLst>
                <a:ext uri="{FF2B5EF4-FFF2-40B4-BE49-F238E27FC236}">
                  <a16:creationId xmlns:a16="http://schemas.microsoft.com/office/drawing/2014/main" id="{48F5472D-5908-68C4-EC42-2940F67716BA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69123" y="3944111"/>
              <a:ext cx="493775" cy="493775"/>
            </a:xfrm>
            <a:prstGeom prst="rect">
              <a:avLst/>
            </a:prstGeom>
          </p:spPr>
        </p:pic>
        <p:sp>
          <p:nvSpPr>
            <p:cNvPr id="73" name="object 35">
              <a:extLst>
                <a:ext uri="{FF2B5EF4-FFF2-40B4-BE49-F238E27FC236}">
                  <a16:creationId xmlns:a16="http://schemas.microsoft.com/office/drawing/2014/main" id="{41C7AB77-FADF-68D0-38EB-025A67C5A482}"/>
                </a:ext>
              </a:extLst>
            </p:cNvPr>
            <p:cNvSpPr/>
            <p:nvPr/>
          </p:nvSpPr>
          <p:spPr>
            <a:xfrm>
              <a:off x="7522464" y="3947159"/>
              <a:ext cx="391795" cy="391795"/>
            </a:xfrm>
            <a:custGeom>
              <a:avLst/>
              <a:gdLst/>
              <a:ahLst/>
              <a:cxnLst/>
              <a:rect l="l" t="t" r="r" b="b"/>
              <a:pathLst>
                <a:path w="391795" h="391795">
                  <a:moveTo>
                    <a:pt x="195770" y="0"/>
                  </a:moveTo>
                  <a:lnTo>
                    <a:pt x="150863" y="5168"/>
                  </a:lnTo>
                  <a:lnTo>
                    <a:pt x="109651" y="19888"/>
                  </a:lnTo>
                  <a:lnTo>
                    <a:pt x="73304" y="42989"/>
                  </a:lnTo>
                  <a:lnTo>
                    <a:pt x="42989" y="73304"/>
                  </a:lnTo>
                  <a:lnTo>
                    <a:pt x="19888" y="109651"/>
                  </a:lnTo>
                  <a:lnTo>
                    <a:pt x="5168" y="150863"/>
                  </a:lnTo>
                  <a:lnTo>
                    <a:pt x="0" y="195770"/>
                  </a:lnTo>
                  <a:lnTo>
                    <a:pt x="5168" y="240677"/>
                  </a:lnTo>
                  <a:lnTo>
                    <a:pt x="19888" y="281889"/>
                  </a:lnTo>
                  <a:lnTo>
                    <a:pt x="42989" y="318236"/>
                  </a:lnTo>
                  <a:lnTo>
                    <a:pt x="73304" y="348551"/>
                  </a:lnTo>
                  <a:lnTo>
                    <a:pt x="109651" y="371652"/>
                  </a:lnTo>
                  <a:lnTo>
                    <a:pt x="150863" y="386372"/>
                  </a:lnTo>
                  <a:lnTo>
                    <a:pt x="195770" y="391541"/>
                  </a:lnTo>
                  <a:lnTo>
                    <a:pt x="240677" y="386372"/>
                  </a:lnTo>
                  <a:lnTo>
                    <a:pt x="281889" y="371652"/>
                  </a:lnTo>
                  <a:lnTo>
                    <a:pt x="318236" y="348551"/>
                  </a:lnTo>
                  <a:lnTo>
                    <a:pt x="348551" y="318236"/>
                  </a:lnTo>
                  <a:lnTo>
                    <a:pt x="371652" y="281889"/>
                  </a:lnTo>
                  <a:lnTo>
                    <a:pt x="386372" y="240677"/>
                  </a:lnTo>
                  <a:lnTo>
                    <a:pt x="391540" y="195770"/>
                  </a:lnTo>
                  <a:lnTo>
                    <a:pt x="386372" y="150863"/>
                  </a:lnTo>
                  <a:lnTo>
                    <a:pt x="371652" y="109651"/>
                  </a:lnTo>
                  <a:lnTo>
                    <a:pt x="348551" y="73304"/>
                  </a:lnTo>
                  <a:lnTo>
                    <a:pt x="318236" y="42989"/>
                  </a:lnTo>
                  <a:lnTo>
                    <a:pt x="281889" y="19888"/>
                  </a:lnTo>
                  <a:lnTo>
                    <a:pt x="240677" y="5168"/>
                  </a:lnTo>
                  <a:lnTo>
                    <a:pt x="195770" y="0"/>
                  </a:lnTo>
                  <a:close/>
                </a:path>
              </a:pathLst>
            </a:custGeom>
            <a:solidFill>
              <a:srgbClr val="273D82"/>
            </a:solidFill>
          </p:spPr>
          <p:txBody>
            <a:bodyPr wrap="square" lIns="0" tIns="0" rIns="0" bIns="0" rtlCol="0"/>
            <a:lstStyle/>
            <a:p>
              <a:pPr defTabSz="914400"/>
              <a:endParaRPr sz="180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74" name="object 36">
              <a:extLst>
                <a:ext uri="{FF2B5EF4-FFF2-40B4-BE49-F238E27FC236}">
                  <a16:creationId xmlns:a16="http://schemas.microsoft.com/office/drawing/2014/main" id="{8D1AED25-7975-6448-BEED-531DA94217A5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91042" y="4017260"/>
              <a:ext cx="254378" cy="252982"/>
            </a:xfrm>
            <a:prstGeom prst="rect">
              <a:avLst/>
            </a:prstGeom>
          </p:spPr>
        </p:pic>
      </p:grpSp>
      <p:sp>
        <p:nvSpPr>
          <p:cNvPr id="75" name="object 37">
            <a:extLst>
              <a:ext uri="{FF2B5EF4-FFF2-40B4-BE49-F238E27FC236}">
                <a16:creationId xmlns:a16="http://schemas.microsoft.com/office/drawing/2014/main" id="{1A28B26A-F960-CE93-0781-DC3D7BC84296}"/>
              </a:ext>
            </a:extLst>
          </p:cNvPr>
          <p:cNvSpPr txBox="1"/>
          <p:nvPr/>
        </p:nvSpPr>
        <p:spPr>
          <a:xfrm>
            <a:off x="7739978" y="3259646"/>
            <a:ext cx="1450312" cy="968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dirty="0">
                <a:solidFill>
                  <a:prstClr val="black"/>
                </a:solidFill>
                <a:latin typeface="楷体"/>
                <a:cs typeface="Times New Roman"/>
              </a:rPr>
              <a:t>全球首个</a:t>
            </a:r>
            <a:r>
              <a:rPr lang="en-US" altLang="zh-CN" sz="1200" dirty="0">
                <a:solidFill>
                  <a:prstClr val="black"/>
                </a:solidFill>
                <a:latin typeface="楷体"/>
                <a:cs typeface="Times New Roman"/>
              </a:rPr>
              <a:t>16</a:t>
            </a:r>
            <a:r>
              <a:rPr lang="zh-CN" altLang="en-US" sz="1200" dirty="0">
                <a:solidFill>
                  <a:prstClr val="black"/>
                </a:solidFill>
                <a:latin typeface="楷体"/>
                <a:cs typeface="Times New Roman"/>
              </a:rPr>
              <a:t>兆瓦浮式风电平台</a:t>
            </a:r>
            <a:endParaRPr lang="en-US" altLang="zh-CN" sz="1200" dirty="0">
              <a:solidFill>
                <a:prstClr val="black"/>
              </a:solidFill>
              <a:latin typeface="楷体"/>
              <a:cs typeface="Times New Roman"/>
            </a:endParaRPr>
          </a:p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dirty="0">
                <a:solidFill>
                  <a:prstClr val="black"/>
                </a:solidFill>
                <a:latin typeface="楷体"/>
                <a:cs typeface="Times New Roman"/>
              </a:rPr>
              <a:t>“</a:t>
            </a:r>
            <a:r>
              <a:rPr lang="zh-CN" altLang="zh-CN" sz="1200" dirty="0">
                <a:solidFill>
                  <a:prstClr val="black"/>
                </a:solidFill>
                <a:latin typeface="楷体"/>
                <a:cs typeface="Times New Roman"/>
              </a:rPr>
              <a:t>中海油陆丰能源</a:t>
            </a:r>
            <a:r>
              <a:rPr lang="zh-CN" altLang="en-US" sz="1200" dirty="0">
                <a:solidFill>
                  <a:prstClr val="black"/>
                </a:solidFill>
                <a:latin typeface="楷体"/>
                <a:cs typeface="Times New Roman"/>
              </a:rPr>
              <a:t>”海洋平台系智慧泊缆</a:t>
            </a:r>
            <a:endParaRPr lang="en-US" altLang="zh-CN" sz="1200" dirty="0">
              <a:solidFill>
                <a:prstClr val="black"/>
              </a:solidFill>
              <a:latin typeface="楷体"/>
              <a:cs typeface="Times New Roman"/>
            </a:endParaRPr>
          </a:p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sz="1400" b="1" spc="5" dirty="0">
                <a:solidFill>
                  <a:srgbClr val="273D82"/>
                </a:solidFill>
                <a:latin typeface="Times New Roman"/>
                <a:cs typeface="Times New Roman"/>
              </a:rPr>
              <a:t>202</a:t>
            </a:r>
            <a:r>
              <a:rPr lang="en-US" sz="1400" b="1" spc="5" dirty="0">
                <a:solidFill>
                  <a:srgbClr val="273D82"/>
                </a:solidFill>
                <a:latin typeface="Times New Roman"/>
                <a:cs typeface="Times New Roman"/>
              </a:rPr>
              <a:t>5</a:t>
            </a:r>
            <a:r>
              <a:rPr sz="1400" b="1" spc="5" dirty="0">
                <a:solidFill>
                  <a:srgbClr val="273D82"/>
                </a:solidFill>
                <a:latin typeface="Times New Roman"/>
                <a:cs typeface="Times New Roman"/>
              </a:rPr>
              <a:t>.</a:t>
            </a:r>
            <a:r>
              <a:rPr lang="en-US" sz="1400" b="1" spc="5" dirty="0">
                <a:solidFill>
                  <a:srgbClr val="273D82"/>
                </a:solidFill>
                <a:latin typeface="Times New Roman"/>
                <a:cs typeface="Times New Roman"/>
              </a:rPr>
              <a:t>10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76" name="object 38">
            <a:extLst>
              <a:ext uri="{FF2B5EF4-FFF2-40B4-BE49-F238E27FC236}">
                <a16:creationId xmlns:a16="http://schemas.microsoft.com/office/drawing/2014/main" id="{B59FBB72-1EED-204E-9693-579E9B9CD705}"/>
              </a:ext>
            </a:extLst>
          </p:cNvPr>
          <p:cNvSpPr txBox="1"/>
          <p:nvPr/>
        </p:nvSpPr>
        <p:spPr>
          <a:xfrm>
            <a:off x="10290872" y="4261325"/>
            <a:ext cx="1456142" cy="803553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algn="ctr" defTabSz="914400">
              <a:spcBef>
                <a:spcPts val="195"/>
              </a:spcBef>
            </a:pPr>
            <a:r>
              <a:rPr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202</a:t>
            </a:r>
            <a:r>
              <a:rPr lang="en-US"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6</a:t>
            </a:r>
            <a:r>
              <a:rPr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.</a:t>
            </a:r>
            <a:r>
              <a:rPr lang="en-US"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1</a:t>
            </a:r>
          </a:p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b="1" dirty="0">
                <a:solidFill>
                  <a:srgbClr val="C00000"/>
                </a:solidFill>
                <a:latin typeface="楷体"/>
                <a:cs typeface="Times New Roman"/>
              </a:rPr>
              <a:t>成立大湾区子公司，在大湾区部署</a:t>
            </a:r>
            <a:endParaRPr lang="en-US" altLang="zh-CN" sz="1200" b="1" dirty="0">
              <a:solidFill>
                <a:srgbClr val="C00000"/>
              </a:solidFill>
              <a:latin typeface="楷体"/>
              <a:cs typeface="Times New Roman"/>
            </a:endParaRPr>
          </a:p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b="1" dirty="0">
                <a:solidFill>
                  <a:srgbClr val="C00000"/>
                </a:solidFill>
                <a:latin typeface="楷体"/>
                <a:cs typeface="Times New Roman"/>
              </a:rPr>
              <a:t>结构安全</a:t>
            </a:r>
            <a:r>
              <a:rPr lang="en-US" altLang="zh-CN" sz="1200" b="1" dirty="0">
                <a:solidFill>
                  <a:srgbClr val="C00000"/>
                </a:solidFill>
                <a:latin typeface="楷体"/>
                <a:cs typeface="Times New Roman"/>
              </a:rPr>
              <a:t>AI</a:t>
            </a:r>
            <a:r>
              <a:rPr lang="zh-CN" altLang="en-US" sz="1200" b="1" dirty="0">
                <a:solidFill>
                  <a:srgbClr val="C00000"/>
                </a:solidFill>
                <a:latin typeface="楷体"/>
                <a:cs typeface="Times New Roman"/>
              </a:rPr>
              <a:t>产品中心</a:t>
            </a:r>
            <a:endParaRPr lang="en-US" altLang="zh-CN" sz="1200" b="1" dirty="0">
              <a:solidFill>
                <a:srgbClr val="C00000"/>
              </a:solidFill>
              <a:latin typeface="楷体"/>
              <a:cs typeface="Times New Roman"/>
            </a:endParaRPr>
          </a:p>
        </p:txBody>
      </p:sp>
      <p:grpSp>
        <p:nvGrpSpPr>
          <p:cNvPr id="77" name="object 39">
            <a:extLst>
              <a:ext uri="{FF2B5EF4-FFF2-40B4-BE49-F238E27FC236}">
                <a16:creationId xmlns:a16="http://schemas.microsoft.com/office/drawing/2014/main" id="{6877E5DA-E267-9836-17D4-A24D165EB9DD}"/>
              </a:ext>
            </a:extLst>
          </p:cNvPr>
          <p:cNvGrpSpPr/>
          <p:nvPr/>
        </p:nvGrpSpPr>
        <p:grpSpPr>
          <a:xfrm>
            <a:off x="359472" y="3163402"/>
            <a:ext cx="11521440" cy="3558539"/>
            <a:chOff x="652904" y="2985516"/>
            <a:chExt cx="11521440" cy="3558539"/>
          </a:xfrm>
        </p:grpSpPr>
        <p:pic>
          <p:nvPicPr>
            <p:cNvPr id="78" name="object 40">
              <a:extLst>
                <a:ext uri="{FF2B5EF4-FFF2-40B4-BE49-F238E27FC236}">
                  <a16:creationId xmlns:a16="http://schemas.microsoft.com/office/drawing/2014/main" id="{22E7C6BC-20C3-089C-C86B-F08718C023C5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83756" y="4073646"/>
              <a:ext cx="228600" cy="222504"/>
            </a:xfrm>
            <a:prstGeom prst="rect">
              <a:avLst/>
            </a:prstGeom>
          </p:spPr>
        </p:pic>
        <p:pic>
          <p:nvPicPr>
            <p:cNvPr id="79" name="object 41">
              <a:extLst>
                <a:ext uri="{FF2B5EF4-FFF2-40B4-BE49-F238E27FC236}">
                  <a16:creationId xmlns:a16="http://schemas.microsoft.com/office/drawing/2014/main" id="{B055D7A5-2A2B-6011-16BD-0A8628172A77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909053" y="3546353"/>
              <a:ext cx="231648" cy="224027"/>
            </a:xfrm>
            <a:prstGeom prst="rect">
              <a:avLst/>
            </a:prstGeom>
          </p:spPr>
        </p:pic>
        <p:pic>
          <p:nvPicPr>
            <p:cNvPr id="80" name="object 42">
              <a:extLst>
                <a:ext uri="{FF2B5EF4-FFF2-40B4-BE49-F238E27FC236}">
                  <a16:creationId xmlns:a16="http://schemas.microsoft.com/office/drawing/2014/main" id="{7DA9F56A-1CCA-0981-771B-82AEC4B1D17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97895" y="2985516"/>
              <a:ext cx="108202" cy="108203"/>
            </a:xfrm>
            <a:prstGeom prst="rect">
              <a:avLst/>
            </a:prstGeom>
          </p:spPr>
        </p:pic>
        <p:pic>
          <p:nvPicPr>
            <p:cNvPr id="81" name="object 43">
              <a:extLst>
                <a:ext uri="{FF2B5EF4-FFF2-40B4-BE49-F238E27FC236}">
                  <a16:creationId xmlns:a16="http://schemas.microsoft.com/office/drawing/2014/main" id="{586BDCAA-7E9C-4551-C425-C623E340EBA9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2904" y="6096000"/>
              <a:ext cx="11521440" cy="448055"/>
            </a:xfrm>
            <a:prstGeom prst="rect">
              <a:avLst/>
            </a:prstGeom>
          </p:spPr>
        </p:pic>
        <p:pic>
          <p:nvPicPr>
            <p:cNvPr id="82" name="object 44">
              <a:extLst>
                <a:ext uri="{FF2B5EF4-FFF2-40B4-BE49-F238E27FC236}">
                  <a16:creationId xmlns:a16="http://schemas.microsoft.com/office/drawing/2014/main" id="{0A0EC41A-9EA5-F90E-AF5B-7AA44EC655DA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2459" y="6121907"/>
              <a:ext cx="11430000" cy="318515"/>
            </a:xfrm>
            <a:prstGeom prst="rect">
              <a:avLst/>
            </a:prstGeom>
          </p:spPr>
        </p:pic>
      </p:grpSp>
      <p:sp>
        <p:nvSpPr>
          <p:cNvPr id="83" name="object 49">
            <a:extLst>
              <a:ext uri="{FF2B5EF4-FFF2-40B4-BE49-F238E27FC236}">
                <a16:creationId xmlns:a16="http://schemas.microsoft.com/office/drawing/2014/main" id="{8824D2C8-BBD0-186B-D908-524D28904170}"/>
              </a:ext>
            </a:extLst>
          </p:cNvPr>
          <p:cNvSpPr txBox="1"/>
          <p:nvPr/>
        </p:nvSpPr>
        <p:spPr>
          <a:xfrm>
            <a:off x="412676" y="6320266"/>
            <a:ext cx="11247120" cy="257763"/>
          </a:xfrm>
          <a:prstGeom prst="rect">
            <a:avLst/>
          </a:prstGeom>
        </p:spPr>
        <p:txBody>
          <a:bodyPr vert="horz" wrap="square" lIns="0" tIns="72390" rIns="0" bIns="0" rtlCol="0" anchor="ctr">
            <a:spAutoFit/>
          </a:bodyPr>
          <a:lstStyle/>
          <a:p>
            <a:pPr marL="90805" defTabSz="914400">
              <a:spcBef>
                <a:spcPts val="570"/>
              </a:spcBef>
              <a:tabLst>
                <a:tab pos="2963545" algn="l"/>
                <a:tab pos="6424295" algn="l"/>
              </a:tabLst>
            </a:pPr>
            <a:r>
              <a:rPr sz="1200" b="1" spc="-5" dirty="0">
                <a:solidFill>
                  <a:srgbClr val="171616"/>
                </a:solidFill>
                <a:latin typeface="楷体"/>
                <a:cs typeface="楷体"/>
              </a:rPr>
              <a:t>科研转化，技术沉淀	</a:t>
            </a:r>
            <a:r>
              <a:rPr lang="en-US" sz="1200" b="1" spc="-5" dirty="0">
                <a:solidFill>
                  <a:srgbClr val="171616"/>
                </a:solidFill>
                <a:latin typeface="楷体"/>
                <a:cs typeface="楷体"/>
              </a:rPr>
              <a:t>  </a:t>
            </a:r>
            <a:r>
              <a:rPr lang="zh-CN" altLang="en-US" sz="1200" b="1" spc="-5" dirty="0">
                <a:solidFill>
                  <a:srgbClr val="171616"/>
                </a:solidFill>
                <a:latin typeface="楷体"/>
                <a:cs typeface="楷体"/>
              </a:rPr>
              <a:t>市场布局，建生态圈</a:t>
            </a:r>
            <a:r>
              <a:rPr sz="1200" b="1" spc="-5" dirty="0">
                <a:solidFill>
                  <a:srgbClr val="171616"/>
                </a:solidFill>
                <a:latin typeface="楷体"/>
                <a:cs typeface="楷体"/>
              </a:rPr>
              <a:t>	</a:t>
            </a:r>
            <a:r>
              <a:rPr lang="en-US" sz="1200" b="1" spc="-5" dirty="0">
                <a:solidFill>
                  <a:srgbClr val="171616"/>
                </a:solidFill>
                <a:latin typeface="楷体"/>
                <a:cs typeface="楷体"/>
              </a:rPr>
              <a:t>     </a:t>
            </a:r>
            <a:r>
              <a:rPr lang="zh-CN" altLang="en-US" sz="1200" b="1" spc="-5" dirty="0">
                <a:solidFill>
                  <a:srgbClr val="171616"/>
                </a:solidFill>
                <a:latin typeface="楷体"/>
                <a:cs typeface="楷体"/>
              </a:rPr>
              <a:t>产品规划，迭代开发</a:t>
            </a:r>
            <a:endParaRPr sz="1200" dirty="0">
              <a:solidFill>
                <a:prstClr val="black"/>
              </a:solidFill>
              <a:latin typeface="楷体"/>
              <a:cs typeface="楷体"/>
            </a:endParaRPr>
          </a:p>
        </p:txBody>
      </p:sp>
      <p:sp>
        <p:nvSpPr>
          <p:cNvPr id="86" name="object 37">
            <a:extLst>
              <a:ext uri="{FF2B5EF4-FFF2-40B4-BE49-F238E27FC236}">
                <a16:creationId xmlns:a16="http://schemas.microsoft.com/office/drawing/2014/main" id="{F82BBCDB-D4A0-343B-09CF-275A38A603F0}"/>
              </a:ext>
            </a:extLst>
          </p:cNvPr>
          <p:cNvSpPr txBox="1"/>
          <p:nvPr/>
        </p:nvSpPr>
        <p:spPr>
          <a:xfrm>
            <a:off x="6716895" y="4584810"/>
            <a:ext cx="1179352" cy="77655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en-US" altLang="zh-CN" sz="1400" b="1" spc="5" dirty="0">
                <a:solidFill>
                  <a:srgbClr val="273D82"/>
                </a:solidFill>
                <a:latin typeface="Times New Roman"/>
                <a:cs typeface="Times New Roman"/>
              </a:rPr>
              <a:t>2025.7</a:t>
            </a:r>
          </a:p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dirty="0">
                <a:solidFill>
                  <a:prstClr val="black"/>
                </a:solidFill>
                <a:latin typeface="楷体"/>
                <a:cs typeface="楷体"/>
              </a:rPr>
              <a:t>成立贵州子公司，在贵州部署智慧缆索团队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80609C13-62B7-CD39-A11E-F07D13CF2842}"/>
              </a:ext>
            </a:extLst>
          </p:cNvPr>
          <p:cNvSpPr txBox="1"/>
          <p:nvPr/>
        </p:nvSpPr>
        <p:spPr>
          <a:xfrm>
            <a:off x="5668553" y="3742891"/>
            <a:ext cx="1122681" cy="816377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dirty="0">
                <a:solidFill>
                  <a:prstClr val="black"/>
                </a:solidFill>
                <a:latin typeface="楷体"/>
                <a:cs typeface="Times New Roman"/>
              </a:rPr>
              <a:t>世界第一高桥“花江峡谷大桥”智慧缆索</a:t>
            </a:r>
            <a:endParaRPr lang="zh-CN" altLang="en-US"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372110" defTabSz="914400">
              <a:spcBef>
                <a:spcPts val="340"/>
              </a:spcBef>
            </a:pPr>
            <a:r>
              <a:rPr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202</a:t>
            </a:r>
            <a:r>
              <a:rPr lang="en-US"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4</a:t>
            </a:r>
            <a:r>
              <a:rPr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.</a:t>
            </a:r>
            <a:r>
              <a:rPr lang="en-US"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7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  <p:sp>
        <p:nvSpPr>
          <p:cNvPr id="2" name="object 38">
            <a:extLst>
              <a:ext uri="{FF2B5EF4-FFF2-40B4-BE49-F238E27FC236}">
                <a16:creationId xmlns:a16="http://schemas.microsoft.com/office/drawing/2014/main" id="{1663CB9F-DAC6-D29D-DBAE-16E3A9B6EC3C}"/>
              </a:ext>
            </a:extLst>
          </p:cNvPr>
          <p:cNvSpPr txBox="1"/>
          <p:nvPr/>
        </p:nvSpPr>
        <p:spPr>
          <a:xfrm>
            <a:off x="10368126" y="3254034"/>
            <a:ext cx="1456142" cy="816377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algn="ctr" defTabSz="914400">
              <a:spcBef>
                <a:spcPts val="195"/>
              </a:spcBef>
            </a:pPr>
            <a:r>
              <a:rPr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202</a:t>
            </a:r>
            <a:r>
              <a:rPr lang="en-US"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6</a:t>
            </a:r>
            <a:r>
              <a:rPr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.</a:t>
            </a:r>
            <a:r>
              <a:rPr lang="en-US" sz="1400" b="1" dirty="0">
                <a:solidFill>
                  <a:srgbClr val="273D82"/>
                </a:solidFill>
                <a:latin typeface="Times New Roman"/>
                <a:cs typeface="Times New Roman"/>
              </a:rPr>
              <a:t>1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dirty="0">
                <a:solidFill>
                  <a:prstClr val="black"/>
                </a:solidFill>
                <a:latin typeface="楷体"/>
                <a:cs typeface="Times New Roman"/>
              </a:rPr>
              <a:t>世界第一跨度悬索桥</a:t>
            </a:r>
            <a:endParaRPr lang="en-US" altLang="zh-CN" sz="1200" dirty="0">
              <a:solidFill>
                <a:prstClr val="black"/>
              </a:solidFill>
              <a:latin typeface="楷体"/>
              <a:cs typeface="Times New Roman"/>
            </a:endParaRPr>
          </a:p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dirty="0">
                <a:solidFill>
                  <a:prstClr val="black"/>
                </a:solidFill>
                <a:latin typeface="楷体"/>
                <a:cs typeface="Times New Roman"/>
              </a:rPr>
              <a:t>张靖皋长江大桥</a:t>
            </a:r>
            <a:endParaRPr lang="en-US" altLang="zh-CN" sz="1200" dirty="0">
              <a:solidFill>
                <a:prstClr val="black"/>
              </a:solidFill>
              <a:latin typeface="楷体"/>
              <a:cs typeface="Times New Roman"/>
            </a:endParaRPr>
          </a:p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dirty="0">
                <a:solidFill>
                  <a:prstClr val="black"/>
                </a:solidFill>
                <a:latin typeface="楷体"/>
                <a:cs typeface="Times New Roman"/>
              </a:rPr>
              <a:t>智慧缆索</a:t>
            </a:r>
            <a:endParaRPr lang="en-US" altLang="zh-CN" sz="1200" dirty="0">
              <a:solidFill>
                <a:prstClr val="black"/>
              </a:solidFill>
              <a:latin typeface="楷体"/>
              <a:cs typeface="Times New Roman"/>
            </a:endParaRPr>
          </a:p>
        </p:txBody>
      </p:sp>
      <p:sp>
        <p:nvSpPr>
          <p:cNvPr id="4" name="object 37">
            <a:extLst>
              <a:ext uri="{FF2B5EF4-FFF2-40B4-BE49-F238E27FC236}">
                <a16:creationId xmlns:a16="http://schemas.microsoft.com/office/drawing/2014/main" id="{8FE6D42C-3AF8-D52F-1B31-A1126159E426}"/>
              </a:ext>
            </a:extLst>
          </p:cNvPr>
          <p:cNvSpPr txBox="1"/>
          <p:nvPr/>
        </p:nvSpPr>
        <p:spPr>
          <a:xfrm>
            <a:off x="9165193" y="4083033"/>
            <a:ext cx="1179352" cy="4182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en-US" altLang="zh-CN" sz="1400" b="1" spc="5" dirty="0">
                <a:solidFill>
                  <a:srgbClr val="273D82"/>
                </a:solidFill>
                <a:latin typeface="Times New Roman"/>
                <a:cs typeface="Times New Roman"/>
              </a:rPr>
              <a:t>2025.11</a:t>
            </a:r>
          </a:p>
          <a:p>
            <a:pPr marL="12700" marR="5080" algn="ctr" defTabSz="914400">
              <a:lnSpc>
                <a:spcPct val="97400"/>
              </a:lnSpc>
              <a:spcBef>
                <a:spcPts val="135"/>
              </a:spcBef>
            </a:pPr>
            <a:r>
              <a:rPr lang="zh-CN" altLang="en-US" sz="1200" dirty="0">
                <a:solidFill>
                  <a:prstClr val="black"/>
                </a:solidFill>
                <a:latin typeface="楷体"/>
                <a:cs typeface="楷体"/>
              </a:rPr>
              <a:t>成立宁波公司</a:t>
            </a:r>
            <a:endParaRPr sz="1400" dirty="0">
              <a:solidFill>
                <a:prstClr val="black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8650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9F670-8D2B-8044-099A-30310FFD9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6090A9A-9666-D831-3419-05EED2A1A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联合创始人</a:t>
            </a:r>
            <a:endParaRPr lang="zh-CN" altLang="en-US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4EFA313-5B63-ABC4-D590-6A1089AA2E03}"/>
              </a:ext>
            </a:extLst>
          </p:cNvPr>
          <p:cNvGrpSpPr/>
          <p:nvPr/>
        </p:nvGrpSpPr>
        <p:grpSpPr>
          <a:xfrm>
            <a:off x="9175558" y="1169085"/>
            <a:ext cx="2377440" cy="5315485"/>
            <a:chOff x="8064821" y="1541534"/>
            <a:chExt cx="2377440" cy="5315485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BA01F90-3C74-D127-BF2C-72BE31B56035}"/>
                </a:ext>
              </a:extLst>
            </p:cNvPr>
            <p:cNvPicPr preferRelativeResize="0"/>
            <p:nvPr/>
          </p:nvPicPr>
          <p:blipFill>
            <a:blip r:embed="rId3"/>
            <a:srcRect t="253" b="253"/>
            <a:stretch/>
          </p:blipFill>
          <p:spPr>
            <a:xfrm>
              <a:off x="8561174" y="1989090"/>
              <a:ext cx="1371600" cy="1371600"/>
            </a:xfrm>
            <a:prstGeom prst="flowChartConnector">
              <a:avLst/>
            </a:prstGeom>
          </p:spPr>
        </p:pic>
        <p:sp>
          <p:nvSpPr>
            <p:cNvPr id="9" name="object 55">
              <a:extLst>
                <a:ext uri="{FF2B5EF4-FFF2-40B4-BE49-F238E27FC236}">
                  <a16:creationId xmlns:a16="http://schemas.microsoft.com/office/drawing/2014/main" id="{6AE535C1-D00A-0988-B267-745F9D858777}"/>
                </a:ext>
              </a:extLst>
            </p:cNvPr>
            <p:cNvSpPr/>
            <p:nvPr/>
          </p:nvSpPr>
          <p:spPr>
            <a:xfrm>
              <a:off x="8064821" y="1736379"/>
              <a:ext cx="2377440" cy="5120640"/>
            </a:xfrm>
            <a:custGeom>
              <a:avLst/>
              <a:gdLst/>
              <a:ahLst/>
              <a:cxnLst/>
              <a:rect l="l" t="t" r="r" b="b"/>
              <a:pathLst>
                <a:path w="2917190" h="2044064">
                  <a:moveTo>
                    <a:pt x="0" y="126136"/>
                  </a:moveTo>
                  <a:lnTo>
                    <a:pt x="9912" y="77039"/>
                  </a:lnTo>
                  <a:lnTo>
                    <a:pt x="36945" y="36945"/>
                  </a:lnTo>
                  <a:lnTo>
                    <a:pt x="77039" y="9912"/>
                  </a:lnTo>
                  <a:lnTo>
                    <a:pt x="126136" y="0"/>
                  </a:lnTo>
                  <a:lnTo>
                    <a:pt x="2790799" y="0"/>
                  </a:lnTo>
                  <a:lnTo>
                    <a:pt x="2839896" y="9912"/>
                  </a:lnTo>
                  <a:lnTo>
                    <a:pt x="2879990" y="36945"/>
                  </a:lnTo>
                  <a:lnTo>
                    <a:pt x="2907023" y="77039"/>
                  </a:lnTo>
                  <a:lnTo>
                    <a:pt x="2916936" y="126136"/>
                  </a:lnTo>
                  <a:lnTo>
                    <a:pt x="2916936" y="1917547"/>
                  </a:lnTo>
                  <a:lnTo>
                    <a:pt x="2907023" y="1966644"/>
                  </a:lnTo>
                  <a:lnTo>
                    <a:pt x="2879990" y="2006738"/>
                  </a:lnTo>
                  <a:lnTo>
                    <a:pt x="2839896" y="2033771"/>
                  </a:lnTo>
                  <a:lnTo>
                    <a:pt x="2790799" y="2043684"/>
                  </a:lnTo>
                  <a:lnTo>
                    <a:pt x="126136" y="2043684"/>
                  </a:lnTo>
                  <a:lnTo>
                    <a:pt x="77039" y="2033771"/>
                  </a:lnTo>
                  <a:lnTo>
                    <a:pt x="36945" y="2006738"/>
                  </a:lnTo>
                  <a:lnTo>
                    <a:pt x="9912" y="1966644"/>
                  </a:lnTo>
                  <a:lnTo>
                    <a:pt x="0" y="1917547"/>
                  </a:lnTo>
                  <a:lnTo>
                    <a:pt x="0" y="126136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0" name="object 58">
              <a:extLst>
                <a:ext uri="{FF2B5EF4-FFF2-40B4-BE49-F238E27FC236}">
                  <a16:creationId xmlns:a16="http://schemas.microsoft.com/office/drawing/2014/main" id="{05EB7014-EB3E-729E-B4BD-C54A9CE7A139}"/>
                </a:ext>
              </a:extLst>
            </p:cNvPr>
            <p:cNvSpPr/>
            <p:nvPr/>
          </p:nvSpPr>
          <p:spPr>
            <a:xfrm>
              <a:off x="8315078" y="1541534"/>
              <a:ext cx="1876926" cy="365760"/>
            </a:xfrm>
            <a:custGeom>
              <a:avLst/>
              <a:gdLst/>
              <a:ahLst/>
              <a:cxnLst/>
              <a:rect l="l" t="t" r="r" b="b"/>
              <a:pathLst>
                <a:path w="1771014" h="396240">
                  <a:moveTo>
                    <a:pt x="1704848" y="0"/>
                  </a:moveTo>
                  <a:lnTo>
                    <a:pt x="66040" y="0"/>
                  </a:lnTo>
                  <a:lnTo>
                    <a:pt x="40333" y="5189"/>
                  </a:lnTo>
                  <a:lnTo>
                    <a:pt x="19342" y="19342"/>
                  </a:lnTo>
                  <a:lnTo>
                    <a:pt x="5189" y="40333"/>
                  </a:lnTo>
                  <a:lnTo>
                    <a:pt x="0" y="66039"/>
                  </a:lnTo>
                  <a:lnTo>
                    <a:pt x="0" y="330199"/>
                  </a:lnTo>
                  <a:lnTo>
                    <a:pt x="5189" y="355906"/>
                  </a:lnTo>
                  <a:lnTo>
                    <a:pt x="19342" y="376897"/>
                  </a:lnTo>
                  <a:lnTo>
                    <a:pt x="40333" y="391050"/>
                  </a:lnTo>
                  <a:lnTo>
                    <a:pt x="66040" y="396239"/>
                  </a:lnTo>
                  <a:lnTo>
                    <a:pt x="1704848" y="396239"/>
                  </a:lnTo>
                  <a:lnTo>
                    <a:pt x="1730554" y="391050"/>
                  </a:lnTo>
                  <a:lnTo>
                    <a:pt x="1751545" y="376897"/>
                  </a:lnTo>
                  <a:lnTo>
                    <a:pt x="1765698" y="355906"/>
                  </a:lnTo>
                  <a:lnTo>
                    <a:pt x="1770888" y="330199"/>
                  </a:lnTo>
                  <a:lnTo>
                    <a:pt x="1770888" y="66039"/>
                  </a:lnTo>
                  <a:lnTo>
                    <a:pt x="1765698" y="40333"/>
                  </a:lnTo>
                  <a:lnTo>
                    <a:pt x="1751545" y="19342"/>
                  </a:lnTo>
                  <a:lnTo>
                    <a:pt x="1730554" y="5189"/>
                  </a:lnTo>
                  <a:lnTo>
                    <a:pt x="1704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5" normalizeH="0" baseline="0" noProof="0" dirty="0">
                  <a:ln>
                    <a:noFill/>
                  </a:ln>
                  <a:solidFill>
                    <a:srgbClr val="001F5F"/>
                  </a:solidFill>
                  <a:effectLst/>
                  <a:uLnTx/>
                  <a:uFillTx/>
                  <a:latin typeface="楷体" panose="02010609060101010101" charset="-122"/>
                  <a:ea typeface="微软雅黑" panose="020B0503020204020204" charset="-122"/>
                  <a:cs typeface="+mn-cs"/>
                </a:rPr>
                <a:t>辛晓红 </a:t>
              </a:r>
              <a:r>
                <a:rPr kumimoji="0" lang="en-US" altLang="zh-CN" sz="1600" b="1" i="0" u="none" strike="noStrike" kern="1200" cap="none" spc="5" normalizeH="0" baseline="0" noProof="0" dirty="0">
                  <a:ln>
                    <a:noFill/>
                  </a:ln>
                  <a:solidFill>
                    <a:srgbClr val="001F5F"/>
                  </a:solidFill>
                  <a:effectLst/>
                  <a:uLnTx/>
                  <a:uFillTx/>
                  <a:latin typeface="楷体" panose="02010609060101010101" charset="-122"/>
                  <a:ea typeface="微软雅黑" panose="020B0503020204020204" charset="-122"/>
                  <a:cs typeface="+mn-cs"/>
                </a:rPr>
                <a:t>Ph.D. 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55B18E4-B12A-A50F-E004-B9F70CC33281}"/>
                </a:ext>
              </a:extLst>
            </p:cNvPr>
            <p:cNvSpPr txBox="1"/>
            <p:nvPr/>
          </p:nvSpPr>
          <p:spPr>
            <a:xfrm>
              <a:off x="8138869" y="3251833"/>
              <a:ext cx="2194560" cy="33836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曾任职于美国橡树岭国家实验室交通研究中心、美国佛罗里达州交通署、香港中文大学、同济大学交通工程系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微软雅黑" panose="020B0503020204020204" charset="-122"/>
                <a:ea typeface="Microsoft YaHei"/>
                <a:cs typeface="+mn-cs"/>
              </a:endParaRPr>
            </a:p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15+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年交通科技公司创始人，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3+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年顺丰集团专家销售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微软雅黑" panose="020B0503020204020204" charset="-122"/>
                <a:ea typeface="Microsoft YaHei"/>
                <a:cs typeface="+mn-cs"/>
              </a:endParaRPr>
            </a:p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深圳市高层次人才、智能交通和建筑信息工程专家、深圳市出国留学人员来深创业一等奖，广东省市政工程协会科学进步一等奖（与深圳路桥集团联合，第一负责人）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微软雅黑" panose="020B0503020204020204" charset="-122"/>
                <a:ea typeface="Microsoft YaHei"/>
                <a:cs typeface="+mn-cs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B8202C95-FB9F-FEDC-D9BD-742744D13806}"/>
              </a:ext>
            </a:extLst>
          </p:cNvPr>
          <p:cNvGrpSpPr/>
          <p:nvPr/>
        </p:nvGrpSpPr>
        <p:grpSpPr>
          <a:xfrm>
            <a:off x="636128" y="1169085"/>
            <a:ext cx="2377440" cy="5325277"/>
            <a:chOff x="690127" y="1541534"/>
            <a:chExt cx="2377440" cy="5325277"/>
          </a:xfrm>
        </p:grpSpPr>
        <p:sp>
          <p:nvSpPr>
            <p:cNvPr id="16" name="object 55">
              <a:extLst>
                <a:ext uri="{FF2B5EF4-FFF2-40B4-BE49-F238E27FC236}">
                  <a16:creationId xmlns:a16="http://schemas.microsoft.com/office/drawing/2014/main" id="{9FDD7FCC-F171-9B72-0F9B-628784E4F0FB}"/>
                </a:ext>
              </a:extLst>
            </p:cNvPr>
            <p:cNvSpPr/>
            <p:nvPr/>
          </p:nvSpPr>
          <p:spPr>
            <a:xfrm>
              <a:off x="690127" y="1746171"/>
              <a:ext cx="2377440" cy="5120640"/>
            </a:xfrm>
            <a:custGeom>
              <a:avLst/>
              <a:gdLst/>
              <a:ahLst/>
              <a:cxnLst/>
              <a:rect l="l" t="t" r="r" b="b"/>
              <a:pathLst>
                <a:path w="2917190" h="2044064">
                  <a:moveTo>
                    <a:pt x="0" y="126136"/>
                  </a:moveTo>
                  <a:lnTo>
                    <a:pt x="9912" y="77039"/>
                  </a:lnTo>
                  <a:lnTo>
                    <a:pt x="36945" y="36945"/>
                  </a:lnTo>
                  <a:lnTo>
                    <a:pt x="77039" y="9912"/>
                  </a:lnTo>
                  <a:lnTo>
                    <a:pt x="126136" y="0"/>
                  </a:lnTo>
                  <a:lnTo>
                    <a:pt x="2790799" y="0"/>
                  </a:lnTo>
                  <a:lnTo>
                    <a:pt x="2839896" y="9912"/>
                  </a:lnTo>
                  <a:lnTo>
                    <a:pt x="2879990" y="36945"/>
                  </a:lnTo>
                  <a:lnTo>
                    <a:pt x="2907023" y="77039"/>
                  </a:lnTo>
                  <a:lnTo>
                    <a:pt x="2916936" y="126136"/>
                  </a:lnTo>
                  <a:lnTo>
                    <a:pt x="2916936" y="1917547"/>
                  </a:lnTo>
                  <a:lnTo>
                    <a:pt x="2907023" y="1966644"/>
                  </a:lnTo>
                  <a:lnTo>
                    <a:pt x="2879990" y="2006738"/>
                  </a:lnTo>
                  <a:lnTo>
                    <a:pt x="2839896" y="2033771"/>
                  </a:lnTo>
                  <a:lnTo>
                    <a:pt x="2790799" y="2043684"/>
                  </a:lnTo>
                  <a:lnTo>
                    <a:pt x="126136" y="2043684"/>
                  </a:lnTo>
                  <a:lnTo>
                    <a:pt x="77039" y="2033771"/>
                  </a:lnTo>
                  <a:lnTo>
                    <a:pt x="36945" y="2006738"/>
                  </a:lnTo>
                  <a:lnTo>
                    <a:pt x="9912" y="1966644"/>
                  </a:lnTo>
                  <a:lnTo>
                    <a:pt x="0" y="1917547"/>
                  </a:lnTo>
                  <a:lnTo>
                    <a:pt x="0" y="126136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7" name="object 58">
              <a:extLst>
                <a:ext uri="{FF2B5EF4-FFF2-40B4-BE49-F238E27FC236}">
                  <a16:creationId xmlns:a16="http://schemas.microsoft.com/office/drawing/2014/main" id="{7A8CAD25-282F-0B39-9C36-788894322A6B}"/>
                </a:ext>
              </a:extLst>
            </p:cNvPr>
            <p:cNvSpPr/>
            <p:nvPr/>
          </p:nvSpPr>
          <p:spPr>
            <a:xfrm>
              <a:off x="940384" y="1541534"/>
              <a:ext cx="1876926" cy="365760"/>
            </a:xfrm>
            <a:custGeom>
              <a:avLst/>
              <a:gdLst/>
              <a:ahLst/>
              <a:cxnLst/>
              <a:rect l="l" t="t" r="r" b="b"/>
              <a:pathLst>
                <a:path w="1771014" h="396240">
                  <a:moveTo>
                    <a:pt x="1704848" y="0"/>
                  </a:moveTo>
                  <a:lnTo>
                    <a:pt x="66040" y="0"/>
                  </a:lnTo>
                  <a:lnTo>
                    <a:pt x="40333" y="5189"/>
                  </a:lnTo>
                  <a:lnTo>
                    <a:pt x="19342" y="19342"/>
                  </a:lnTo>
                  <a:lnTo>
                    <a:pt x="5189" y="40333"/>
                  </a:lnTo>
                  <a:lnTo>
                    <a:pt x="0" y="66039"/>
                  </a:lnTo>
                  <a:lnTo>
                    <a:pt x="0" y="330199"/>
                  </a:lnTo>
                  <a:lnTo>
                    <a:pt x="5189" y="355906"/>
                  </a:lnTo>
                  <a:lnTo>
                    <a:pt x="19342" y="376897"/>
                  </a:lnTo>
                  <a:lnTo>
                    <a:pt x="40333" y="391050"/>
                  </a:lnTo>
                  <a:lnTo>
                    <a:pt x="66040" y="396239"/>
                  </a:lnTo>
                  <a:lnTo>
                    <a:pt x="1704848" y="396239"/>
                  </a:lnTo>
                  <a:lnTo>
                    <a:pt x="1730554" y="391050"/>
                  </a:lnTo>
                  <a:lnTo>
                    <a:pt x="1751545" y="376897"/>
                  </a:lnTo>
                  <a:lnTo>
                    <a:pt x="1765698" y="355906"/>
                  </a:lnTo>
                  <a:lnTo>
                    <a:pt x="1770888" y="330199"/>
                  </a:lnTo>
                  <a:lnTo>
                    <a:pt x="1770888" y="66039"/>
                  </a:lnTo>
                  <a:lnTo>
                    <a:pt x="1765698" y="40333"/>
                  </a:lnTo>
                  <a:lnTo>
                    <a:pt x="1751545" y="19342"/>
                  </a:lnTo>
                  <a:lnTo>
                    <a:pt x="1730554" y="5189"/>
                  </a:lnTo>
                  <a:lnTo>
                    <a:pt x="1704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5" normalizeH="0" baseline="0" noProof="0" dirty="0">
                  <a:ln>
                    <a:noFill/>
                  </a:ln>
                  <a:solidFill>
                    <a:srgbClr val="001F5F"/>
                  </a:solidFill>
                  <a:effectLst/>
                  <a:uLnTx/>
                  <a:uFillTx/>
                  <a:latin typeface="楷体" panose="02010609060101010101" charset="-122"/>
                  <a:ea typeface="微软雅黑" panose="020B0503020204020204" charset="-122"/>
                  <a:cs typeface="+mn-cs"/>
                </a:rPr>
                <a:t>宁提纲 </a:t>
              </a:r>
              <a:r>
                <a:rPr kumimoji="0" lang="en-US" altLang="zh-CN" sz="1600" b="1" i="0" u="none" strike="noStrike" kern="1200" cap="none" spc="5" normalizeH="0" baseline="0" noProof="0" dirty="0">
                  <a:ln>
                    <a:noFill/>
                  </a:ln>
                  <a:solidFill>
                    <a:srgbClr val="001F5F"/>
                  </a:solidFill>
                  <a:effectLst/>
                  <a:uLnTx/>
                  <a:uFillTx/>
                  <a:latin typeface="楷体" panose="02010609060101010101" charset="-122"/>
                  <a:ea typeface="微软雅黑" panose="020B0503020204020204" charset="-122"/>
                  <a:cs typeface="+mn-cs"/>
                </a:rPr>
                <a:t>Ph.D.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E53FCBE-E401-23F9-FECA-858F7EBF88C7}"/>
                </a:ext>
              </a:extLst>
            </p:cNvPr>
            <p:cNvSpPr txBox="1"/>
            <p:nvPr/>
          </p:nvSpPr>
          <p:spPr>
            <a:xfrm>
              <a:off x="764175" y="3249784"/>
              <a:ext cx="2194560" cy="10218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171450" marR="0" lvl="0" indent="-171450" defTabSz="914400" fontAlgn="auto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 kumimoji="0" sz="120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defRPr>
              </a:lvl1pPr>
            </a:lstStyle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北京交通大学电子信息工程学院教授、博士生导师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微软雅黑" panose="020B0503020204020204" charset="-122"/>
                <a:ea typeface="Microsoft YaHei"/>
                <a:cs typeface="+mn-cs"/>
              </a:endParaRPr>
            </a:p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研究方向：新型特种光纤与光电器件研发、光纤传感与物联网技术融合应用、电磁场与微波技术、光子芯片与人工智能协同匹配等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微软雅黑" panose="020B0503020204020204" charset="-122"/>
                <a:ea typeface="Microsoft YaHei"/>
                <a:cs typeface="+mn-cs"/>
              </a:endParaRPr>
            </a:p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教育部新世纪优秀人才，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70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余项发明专利</a:t>
              </a: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89132964-238F-2C1B-DC1B-AC0565BB7C0F}"/>
                </a:ext>
              </a:extLst>
            </p:cNvPr>
            <p:cNvPicPr preferRelativeResize="0"/>
            <p:nvPr/>
          </p:nvPicPr>
          <p:blipFill rotWithShape="1">
            <a:blip r:embed="rId4"/>
            <a:srcRect t="62" r="2822" b="22542"/>
            <a:stretch>
              <a:fillRect/>
            </a:stretch>
          </p:blipFill>
          <p:spPr>
            <a:xfrm>
              <a:off x="1158096" y="1989609"/>
              <a:ext cx="1371600" cy="1371600"/>
            </a:xfrm>
            <a:prstGeom prst="flowChartConnector">
              <a:avLst/>
            </a:prstGeom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10A4D76-821E-2526-ED08-64ACC57F2C5C}"/>
              </a:ext>
            </a:extLst>
          </p:cNvPr>
          <p:cNvGrpSpPr/>
          <p:nvPr/>
        </p:nvGrpSpPr>
        <p:grpSpPr>
          <a:xfrm>
            <a:off x="3482605" y="1169085"/>
            <a:ext cx="2377440" cy="5333353"/>
            <a:chOff x="4377474" y="1541534"/>
            <a:chExt cx="2377440" cy="5333353"/>
          </a:xfrm>
        </p:grpSpPr>
        <p:sp>
          <p:nvSpPr>
            <p:cNvPr id="23" name="object 55">
              <a:extLst>
                <a:ext uri="{FF2B5EF4-FFF2-40B4-BE49-F238E27FC236}">
                  <a16:creationId xmlns:a16="http://schemas.microsoft.com/office/drawing/2014/main" id="{AE4F8824-69ED-92F0-7F42-D289EF742300}"/>
                </a:ext>
              </a:extLst>
            </p:cNvPr>
            <p:cNvSpPr/>
            <p:nvPr/>
          </p:nvSpPr>
          <p:spPr>
            <a:xfrm>
              <a:off x="4377474" y="1754247"/>
              <a:ext cx="2377440" cy="5120640"/>
            </a:xfrm>
            <a:custGeom>
              <a:avLst/>
              <a:gdLst/>
              <a:ahLst/>
              <a:cxnLst/>
              <a:rect l="l" t="t" r="r" b="b"/>
              <a:pathLst>
                <a:path w="2917190" h="2044064">
                  <a:moveTo>
                    <a:pt x="0" y="126136"/>
                  </a:moveTo>
                  <a:lnTo>
                    <a:pt x="9912" y="77039"/>
                  </a:lnTo>
                  <a:lnTo>
                    <a:pt x="36945" y="36945"/>
                  </a:lnTo>
                  <a:lnTo>
                    <a:pt x="77039" y="9912"/>
                  </a:lnTo>
                  <a:lnTo>
                    <a:pt x="126136" y="0"/>
                  </a:lnTo>
                  <a:lnTo>
                    <a:pt x="2790799" y="0"/>
                  </a:lnTo>
                  <a:lnTo>
                    <a:pt x="2839896" y="9912"/>
                  </a:lnTo>
                  <a:lnTo>
                    <a:pt x="2879990" y="36945"/>
                  </a:lnTo>
                  <a:lnTo>
                    <a:pt x="2907023" y="77039"/>
                  </a:lnTo>
                  <a:lnTo>
                    <a:pt x="2916936" y="126136"/>
                  </a:lnTo>
                  <a:lnTo>
                    <a:pt x="2916936" y="1917547"/>
                  </a:lnTo>
                  <a:lnTo>
                    <a:pt x="2907023" y="1966644"/>
                  </a:lnTo>
                  <a:lnTo>
                    <a:pt x="2879990" y="2006738"/>
                  </a:lnTo>
                  <a:lnTo>
                    <a:pt x="2839896" y="2033771"/>
                  </a:lnTo>
                  <a:lnTo>
                    <a:pt x="2790799" y="2043684"/>
                  </a:lnTo>
                  <a:lnTo>
                    <a:pt x="126136" y="2043684"/>
                  </a:lnTo>
                  <a:lnTo>
                    <a:pt x="77039" y="2033771"/>
                  </a:lnTo>
                  <a:lnTo>
                    <a:pt x="36945" y="2006738"/>
                  </a:lnTo>
                  <a:lnTo>
                    <a:pt x="9912" y="1966644"/>
                  </a:lnTo>
                  <a:lnTo>
                    <a:pt x="0" y="1917547"/>
                  </a:lnTo>
                  <a:lnTo>
                    <a:pt x="0" y="126136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5" name="object 58">
              <a:extLst>
                <a:ext uri="{FF2B5EF4-FFF2-40B4-BE49-F238E27FC236}">
                  <a16:creationId xmlns:a16="http://schemas.microsoft.com/office/drawing/2014/main" id="{B8688644-BE94-FF66-4250-EA8448DCE1B4}"/>
                </a:ext>
              </a:extLst>
            </p:cNvPr>
            <p:cNvSpPr/>
            <p:nvPr/>
          </p:nvSpPr>
          <p:spPr>
            <a:xfrm>
              <a:off x="4627731" y="1541534"/>
              <a:ext cx="1876926" cy="365760"/>
            </a:xfrm>
            <a:custGeom>
              <a:avLst/>
              <a:gdLst/>
              <a:ahLst/>
              <a:cxnLst/>
              <a:rect l="l" t="t" r="r" b="b"/>
              <a:pathLst>
                <a:path w="1771014" h="396240">
                  <a:moveTo>
                    <a:pt x="1704848" y="0"/>
                  </a:moveTo>
                  <a:lnTo>
                    <a:pt x="66040" y="0"/>
                  </a:lnTo>
                  <a:lnTo>
                    <a:pt x="40333" y="5189"/>
                  </a:lnTo>
                  <a:lnTo>
                    <a:pt x="19342" y="19342"/>
                  </a:lnTo>
                  <a:lnTo>
                    <a:pt x="5189" y="40333"/>
                  </a:lnTo>
                  <a:lnTo>
                    <a:pt x="0" y="66039"/>
                  </a:lnTo>
                  <a:lnTo>
                    <a:pt x="0" y="330199"/>
                  </a:lnTo>
                  <a:lnTo>
                    <a:pt x="5189" y="355906"/>
                  </a:lnTo>
                  <a:lnTo>
                    <a:pt x="19342" y="376897"/>
                  </a:lnTo>
                  <a:lnTo>
                    <a:pt x="40333" y="391050"/>
                  </a:lnTo>
                  <a:lnTo>
                    <a:pt x="66040" y="396239"/>
                  </a:lnTo>
                  <a:lnTo>
                    <a:pt x="1704848" y="396239"/>
                  </a:lnTo>
                  <a:lnTo>
                    <a:pt x="1730554" y="391050"/>
                  </a:lnTo>
                  <a:lnTo>
                    <a:pt x="1751545" y="376897"/>
                  </a:lnTo>
                  <a:lnTo>
                    <a:pt x="1765698" y="355906"/>
                  </a:lnTo>
                  <a:lnTo>
                    <a:pt x="1770888" y="330199"/>
                  </a:lnTo>
                  <a:lnTo>
                    <a:pt x="1770888" y="66039"/>
                  </a:lnTo>
                  <a:lnTo>
                    <a:pt x="1765698" y="40333"/>
                  </a:lnTo>
                  <a:lnTo>
                    <a:pt x="1751545" y="19342"/>
                  </a:lnTo>
                  <a:lnTo>
                    <a:pt x="1730554" y="5189"/>
                  </a:lnTo>
                  <a:lnTo>
                    <a:pt x="1704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5" normalizeH="0" baseline="0" noProof="0" dirty="0">
                  <a:ln>
                    <a:noFill/>
                  </a:ln>
                  <a:solidFill>
                    <a:srgbClr val="001F5F"/>
                  </a:solidFill>
                  <a:effectLst/>
                  <a:uLnTx/>
                  <a:uFillTx/>
                  <a:latin typeface="楷体" panose="02010609060101010101" charset="-122"/>
                  <a:ea typeface="微软雅黑" panose="020B0503020204020204" charset="-122"/>
                  <a:cs typeface="+mn-cs"/>
                </a:rPr>
                <a:t>刘胜春 </a:t>
              </a:r>
              <a:r>
                <a:rPr kumimoji="0" lang="en-US" altLang="zh-CN" sz="1600" b="1" i="0" u="none" strike="noStrike" kern="1200" cap="none" spc="5" normalizeH="0" baseline="0" noProof="0" dirty="0">
                  <a:ln>
                    <a:noFill/>
                  </a:ln>
                  <a:solidFill>
                    <a:srgbClr val="001F5F"/>
                  </a:solidFill>
                  <a:effectLst/>
                  <a:uLnTx/>
                  <a:uFillTx/>
                  <a:latin typeface="楷体" panose="02010609060101010101" charset="-122"/>
                  <a:ea typeface="微软雅黑" panose="020B0503020204020204" charset="-122"/>
                  <a:cs typeface="+mn-cs"/>
                </a:rPr>
                <a:t>Ph.D. 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D4901FA4-A9AC-DB10-F428-D2CB812F53CD}"/>
                </a:ext>
              </a:extLst>
            </p:cNvPr>
            <p:cNvSpPr txBox="1"/>
            <p:nvPr/>
          </p:nvSpPr>
          <p:spPr>
            <a:xfrm>
              <a:off x="4451522" y="3249784"/>
              <a:ext cx="2194560" cy="13543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北京交通大学土建学院研究员，武汉理工大学姜德生院士团队主要成员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微软雅黑" panose="020B0503020204020204" charset="-122"/>
                <a:ea typeface="Microsoft YaHei"/>
                <a:cs typeface="+mn-cs"/>
              </a:endParaRPr>
            </a:p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20+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年光纤光栅传感材料与基础设施结构安全监测领域经验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微软雅黑" panose="020B0503020204020204" charset="-122"/>
                <a:ea typeface="Microsoft YaHei"/>
                <a:cs typeface="+mn-cs"/>
              </a:endParaRPr>
            </a:p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成功主导花江峡谷大桥（世界第一高桥）、中海油陆丰能工程源（全球首个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16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兆瓦张力腿浮式风电平台）、张靖皋长江大桥（世界第一跨度悬索桥）等多项世界级重大工程的智慧缆索项目</a:t>
              </a:r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F55FA1E-3EA0-ADA1-6FBA-E65F6D48D9DC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/>
            <a:srcRect l="3216" r="1940" b="-1276"/>
            <a:stretch>
              <a:fillRect/>
            </a:stretch>
          </p:blipFill>
          <p:spPr>
            <a:xfrm>
              <a:off x="4867746" y="1989609"/>
              <a:ext cx="1371600" cy="1371600"/>
            </a:xfrm>
            <a:prstGeom prst="flowChartConnector">
              <a:avLst/>
            </a:prstGeom>
          </p:spPr>
        </p:pic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836853B-5D4E-35E3-C2B3-15C3F52CDED2}"/>
              </a:ext>
            </a:extLst>
          </p:cNvPr>
          <p:cNvGrpSpPr/>
          <p:nvPr/>
        </p:nvGrpSpPr>
        <p:grpSpPr>
          <a:xfrm>
            <a:off x="6329082" y="1169085"/>
            <a:ext cx="2377440" cy="5370981"/>
            <a:chOff x="8064821" y="1541534"/>
            <a:chExt cx="2377440" cy="537098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78D5ECC-544A-5D51-CC3B-D804D25F0AB3}"/>
                </a:ext>
              </a:extLst>
            </p:cNvPr>
            <p:cNvPicPr preferRelativeResize="0"/>
            <p:nvPr/>
          </p:nvPicPr>
          <p:blipFill rotWithShape="1">
            <a:blip r:embed="rId6"/>
            <a:srcRect l="-5312" t="4357" r="-4262" b="22595"/>
            <a:stretch>
              <a:fillRect/>
            </a:stretch>
          </p:blipFill>
          <p:spPr>
            <a:xfrm>
              <a:off x="8561174" y="1989090"/>
              <a:ext cx="1371600" cy="1371600"/>
            </a:xfrm>
            <a:prstGeom prst="flowChartConnector">
              <a:avLst/>
            </a:prstGeom>
          </p:spPr>
        </p:pic>
        <p:sp>
          <p:nvSpPr>
            <p:cNvPr id="12" name="object 55">
              <a:extLst>
                <a:ext uri="{FF2B5EF4-FFF2-40B4-BE49-F238E27FC236}">
                  <a16:creationId xmlns:a16="http://schemas.microsoft.com/office/drawing/2014/main" id="{A0B3C416-C354-E6C6-A7B6-23DF77A8D961}"/>
                </a:ext>
              </a:extLst>
            </p:cNvPr>
            <p:cNvSpPr/>
            <p:nvPr/>
          </p:nvSpPr>
          <p:spPr>
            <a:xfrm>
              <a:off x="8064821" y="1736379"/>
              <a:ext cx="2377440" cy="5120640"/>
            </a:xfrm>
            <a:custGeom>
              <a:avLst/>
              <a:gdLst/>
              <a:ahLst/>
              <a:cxnLst/>
              <a:rect l="l" t="t" r="r" b="b"/>
              <a:pathLst>
                <a:path w="2917190" h="2044064">
                  <a:moveTo>
                    <a:pt x="0" y="126136"/>
                  </a:moveTo>
                  <a:lnTo>
                    <a:pt x="9912" y="77039"/>
                  </a:lnTo>
                  <a:lnTo>
                    <a:pt x="36945" y="36945"/>
                  </a:lnTo>
                  <a:lnTo>
                    <a:pt x="77039" y="9912"/>
                  </a:lnTo>
                  <a:lnTo>
                    <a:pt x="126136" y="0"/>
                  </a:lnTo>
                  <a:lnTo>
                    <a:pt x="2790799" y="0"/>
                  </a:lnTo>
                  <a:lnTo>
                    <a:pt x="2839896" y="9912"/>
                  </a:lnTo>
                  <a:lnTo>
                    <a:pt x="2879990" y="36945"/>
                  </a:lnTo>
                  <a:lnTo>
                    <a:pt x="2907023" y="77039"/>
                  </a:lnTo>
                  <a:lnTo>
                    <a:pt x="2916936" y="126136"/>
                  </a:lnTo>
                  <a:lnTo>
                    <a:pt x="2916936" y="1917547"/>
                  </a:lnTo>
                  <a:lnTo>
                    <a:pt x="2907023" y="1966644"/>
                  </a:lnTo>
                  <a:lnTo>
                    <a:pt x="2879990" y="2006738"/>
                  </a:lnTo>
                  <a:lnTo>
                    <a:pt x="2839896" y="2033771"/>
                  </a:lnTo>
                  <a:lnTo>
                    <a:pt x="2790799" y="2043684"/>
                  </a:lnTo>
                  <a:lnTo>
                    <a:pt x="126136" y="2043684"/>
                  </a:lnTo>
                  <a:lnTo>
                    <a:pt x="77039" y="2033771"/>
                  </a:lnTo>
                  <a:lnTo>
                    <a:pt x="36945" y="2006738"/>
                  </a:lnTo>
                  <a:lnTo>
                    <a:pt x="9912" y="1966644"/>
                  </a:lnTo>
                  <a:lnTo>
                    <a:pt x="0" y="1917547"/>
                  </a:lnTo>
                  <a:lnTo>
                    <a:pt x="0" y="126136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4" name="object 58">
              <a:extLst>
                <a:ext uri="{FF2B5EF4-FFF2-40B4-BE49-F238E27FC236}">
                  <a16:creationId xmlns:a16="http://schemas.microsoft.com/office/drawing/2014/main" id="{6EB60BAD-448A-7CBE-F5D5-1E53FC93A732}"/>
                </a:ext>
              </a:extLst>
            </p:cNvPr>
            <p:cNvSpPr/>
            <p:nvPr/>
          </p:nvSpPr>
          <p:spPr>
            <a:xfrm>
              <a:off x="8315078" y="1541534"/>
              <a:ext cx="1876926" cy="365760"/>
            </a:xfrm>
            <a:custGeom>
              <a:avLst/>
              <a:gdLst/>
              <a:ahLst/>
              <a:cxnLst/>
              <a:rect l="l" t="t" r="r" b="b"/>
              <a:pathLst>
                <a:path w="1771014" h="396240">
                  <a:moveTo>
                    <a:pt x="1704848" y="0"/>
                  </a:moveTo>
                  <a:lnTo>
                    <a:pt x="66040" y="0"/>
                  </a:lnTo>
                  <a:lnTo>
                    <a:pt x="40333" y="5189"/>
                  </a:lnTo>
                  <a:lnTo>
                    <a:pt x="19342" y="19342"/>
                  </a:lnTo>
                  <a:lnTo>
                    <a:pt x="5189" y="40333"/>
                  </a:lnTo>
                  <a:lnTo>
                    <a:pt x="0" y="66039"/>
                  </a:lnTo>
                  <a:lnTo>
                    <a:pt x="0" y="330199"/>
                  </a:lnTo>
                  <a:lnTo>
                    <a:pt x="5189" y="355906"/>
                  </a:lnTo>
                  <a:lnTo>
                    <a:pt x="19342" y="376897"/>
                  </a:lnTo>
                  <a:lnTo>
                    <a:pt x="40333" y="391050"/>
                  </a:lnTo>
                  <a:lnTo>
                    <a:pt x="66040" y="396239"/>
                  </a:lnTo>
                  <a:lnTo>
                    <a:pt x="1704848" y="396239"/>
                  </a:lnTo>
                  <a:lnTo>
                    <a:pt x="1730554" y="391050"/>
                  </a:lnTo>
                  <a:lnTo>
                    <a:pt x="1751545" y="376897"/>
                  </a:lnTo>
                  <a:lnTo>
                    <a:pt x="1765698" y="355906"/>
                  </a:lnTo>
                  <a:lnTo>
                    <a:pt x="1770888" y="330199"/>
                  </a:lnTo>
                  <a:lnTo>
                    <a:pt x="1770888" y="66039"/>
                  </a:lnTo>
                  <a:lnTo>
                    <a:pt x="1765698" y="40333"/>
                  </a:lnTo>
                  <a:lnTo>
                    <a:pt x="1751545" y="19342"/>
                  </a:lnTo>
                  <a:lnTo>
                    <a:pt x="1730554" y="5189"/>
                  </a:lnTo>
                  <a:lnTo>
                    <a:pt x="1704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5" normalizeH="0" baseline="0" noProof="0" dirty="0">
                  <a:ln>
                    <a:noFill/>
                  </a:ln>
                  <a:solidFill>
                    <a:srgbClr val="001F5F"/>
                  </a:solidFill>
                  <a:effectLst/>
                  <a:uLnTx/>
                  <a:uFillTx/>
                  <a:latin typeface="楷体" panose="02010609060101010101" charset="-122"/>
                  <a:ea typeface="微软雅黑" panose="020B0503020204020204" charset="-122"/>
                  <a:cs typeface="+mn-cs"/>
                </a:rPr>
                <a:t>范文孝 </a:t>
              </a:r>
              <a:r>
                <a:rPr kumimoji="0" lang="en-US" altLang="zh-CN" sz="1600" b="1" i="0" u="none" strike="noStrike" kern="1200" cap="none" spc="5" normalizeH="0" baseline="0" noProof="0" dirty="0">
                  <a:ln>
                    <a:noFill/>
                  </a:ln>
                  <a:solidFill>
                    <a:srgbClr val="001F5F"/>
                  </a:solidFill>
                  <a:effectLst/>
                  <a:uLnTx/>
                  <a:uFillTx/>
                  <a:latin typeface="楷体" panose="02010609060101010101" charset="-122"/>
                  <a:ea typeface="微软雅黑" panose="020B0503020204020204" charset="-122"/>
                  <a:cs typeface="+mn-cs"/>
                </a:rPr>
                <a:t>Ph.D. 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9933E1D-6213-B57F-8238-E6C0CF6642CD}"/>
                </a:ext>
              </a:extLst>
            </p:cNvPr>
            <p:cNvSpPr txBox="1"/>
            <p:nvPr/>
          </p:nvSpPr>
          <p:spPr>
            <a:xfrm>
              <a:off x="8138869" y="3251833"/>
              <a:ext cx="2194560" cy="36606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曾任职于交通部公路司及交通部质量监督总站、中铁亚太（新加坡）、中建四公局、辽宁路桥集团、辽宁省交通厅高管局等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微软雅黑" panose="020B0503020204020204" charset="-122"/>
                <a:ea typeface="Microsoft YaHei"/>
                <a:cs typeface="+mn-cs"/>
              </a:endParaRPr>
            </a:p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20+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年施工企业管理，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10+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年高速公路业主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微软雅黑" panose="020B0503020204020204" charset="-122"/>
                <a:ea typeface="Microsoft YaHei"/>
                <a:cs typeface="+mn-cs"/>
              </a:endParaRPr>
            </a:p>
            <a:p>
              <a:pPr marL="171450" marR="0" lvl="0" indent="-171450" algn="l" defTabSz="6096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n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主持过</a:t>
              </a:r>
              <a:r>
                <a:rPr kumimoji="0" lang="zh-CN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交通运输部公路水运工程试验检测机构检测数据直报平台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5B5B5B"/>
                  </a:solidFill>
                  <a:effectLst/>
                  <a:uLnTx/>
                  <a:uFillTx/>
                  <a:latin typeface="微软雅黑" panose="020B0503020204020204" charset="-122"/>
                  <a:ea typeface="Microsoft YaHei"/>
                  <a:cs typeface="+mn-cs"/>
                </a:rPr>
                <a:t>全国运行，参与过辽宁、山西、内蒙古、四川、湖北、云南等省市路基、路面、桥隧等多种工程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5B5B5B"/>
                </a:solidFill>
                <a:effectLst/>
                <a:uLnTx/>
                <a:uFillTx/>
                <a:latin typeface="微软雅黑" panose="020B0503020204020204" charset="-122"/>
                <a:ea typeface="Microsoft YaHei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45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72AA0-EA2B-6BDC-C616-5257F250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111827DE-B327-7630-CDB5-6A8F91062E7C}"/>
              </a:ext>
            </a:extLst>
          </p:cNvPr>
          <p:cNvGrpSpPr/>
          <p:nvPr/>
        </p:nvGrpSpPr>
        <p:grpSpPr>
          <a:xfrm>
            <a:off x="6172918" y="1499515"/>
            <a:ext cx="5794981" cy="3491620"/>
            <a:chOff x="6123139" y="1080383"/>
            <a:chExt cx="5794981" cy="3491620"/>
          </a:xfrm>
        </p:grpSpPr>
        <p:graphicFrame>
          <p:nvGraphicFramePr>
            <p:cNvPr id="24" name="图示 23">
              <a:extLst>
                <a:ext uri="{FF2B5EF4-FFF2-40B4-BE49-F238E27FC236}">
                  <a16:creationId xmlns:a16="http://schemas.microsoft.com/office/drawing/2014/main" id="{A4AAE2BE-C77C-0C45-EB41-0E63C2F7718A}"/>
                </a:ext>
              </a:extLst>
            </p:cNvPr>
            <p:cNvGraphicFramePr/>
            <p:nvPr/>
          </p:nvGraphicFramePr>
          <p:xfrm>
            <a:off x="6123139" y="1080383"/>
            <a:ext cx="5794981" cy="349162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34" name="图片 33" descr="图片包含 图标&#10;&#10;AI 生成的内容可能不正确。">
              <a:extLst>
                <a:ext uri="{FF2B5EF4-FFF2-40B4-BE49-F238E27FC236}">
                  <a16:creationId xmlns:a16="http://schemas.microsoft.com/office/drawing/2014/main" id="{E9887B0A-B0D2-AB58-B1BB-B215EE861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7F8F8"/>
                </a:clrFrom>
                <a:clrTo>
                  <a:srgbClr val="F7F8F8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407047" y="3563106"/>
              <a:ext cx="1277525" cy="548640"/>
            </a:xfrm>
            <a:prstGeom prst="rect">
              <a:avLst/>
            </a:prstGeom>
          </p:spPr>
        </p:pic>
        <p:pic>
          <p:nvPicPr>
            <p:cNvPr id="36" name="图片 35" descr="图标&#10;&#10;AI 生成的内容可能不正确。">
              <a:extLst>
                <a:ext uri="{FF2B5EF4-FFF2-40B4-BE49-F238E27FC236}">
                  <a16:creationId xmlns:a16="http://schemas.microsoft.com/office/drawing/2014/main" id="{1347046F-FF68-CC1F-442A-338D7ECEC35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9">
              <a:clrChange>
                <a:clrFrom>
                  <a:srgbClr val="F8F8F7"/>
                </a:clrFrom>
                <a:clrTo>
                  <a:srgbClr val="F8F8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481048" y="3563106"/>
              <a:ext cx="1280160" cy="548640"/>
            </a:xfrm>
            <a:prstGeom prst="rect">
              <a:avLst/>
            </a:prstGeom>
          </p:spPr>
        </p:pic>
        <p:pic>
          <p:nvPicPr>
            <p:cNvPr id="38" name="图片 37" descr="图片包含 图标&#10;&#10;AI 生成的内容可能不正确。">
              <a:extLst>
                <a:ext uri="{FF2B5EF4-FFF2-40B4-BE49-F238E27FC236}">
                  <a16:creationId xmlns:a16="http://schemas.microsoft.com/office/drawing/2014/main" id="{6F4CA6DD-A179-FED2-28BE-E4BC2BC08E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>
              <a:clrChange>
                <a:clrFrom>
                  <a:srgbClr val="F7F7F7"/>
                </a:clrFrom>
                <a:clrTo>
                  <a:srgbClr val="F7F7F7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557684" y="3563106"/>
              <a:ext cx="1280160" cy="548640"/>
            </a:xfrm>
            <a:prstGeom prst="rect">
              <a:avLst/>
            </a:prstGeom>
          </p:spPr>
        </p:pic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7CCD4887-F04A-D77A-2639-F6AAF6F29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从光到智，基础设施安全风控的“光纤数据神经”</a:t>
            </a:r>
            <a:endParaRPr lang="zh-CN" altLang="en-US" sz="28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AB9E92-D4B3-576B-4044-B561C1FEF79C}"/>
              </a:ext>
            </a:extLst>
          </p:cNvPr>
          <p:cNvSpPr txBox="1"/>
          <p:nvPr/>
        </p:nvSpPr>
        <p:spPr>
          <a:xfrm>
            <a:off x="6795963" y="1225322"/>
            <a:ext cx="465032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+mj-ea"/>
                <a:ea typeface="+mj-ea"/>
              </a:rPr>
              <a:t>过去十年，我们用</a:t>
            </a:r>
            <a:r>
              <a:rPr lang="zh-CN" altLang="en-US" sz="1800" b="1" dirty="0">
                <a:solidFill>
                  <a:srgbClr val="C00000"/>
                </a:solidFill>
                <a:latin typeface="+mj-ea"/>
                <a:ea typeface="+mj-ea"/>
              </a:rPr>
              <a:t>光</a:t>
            </a:r>
            <a:r>
              <a:rPr lang="zh-CN" altLang="en-US" sz="1600" b="1" dirty="0">
                <a:latin typeface="+mj-ea"/>
                <a:ea typeface="+mj-ea"/>
              </a:rPr>
              <a:t>纤传输通信信号</a:t>
            </a:r>
            <a:endParaRPr lang="en-US" altLang="zh-CN" sz="1600" b="1" dirty="0">
              <a:latin typeface="+mj-ea"/>
              <a:ea typeface="+mj-ea"/>
            </a:endParaRPr>
          </a:p>
          <a:p>
            <a:pPr algn="ctr"/>
            <a:r>
              <a:rPr lang="zh-CN" altLang="en-US" sz="1600" b="1" dirty="0">
                <a:latin typeface="+mj-ea"/>
                <a:ea typeface="+mj-ea"/>
              </a:rPr>
              <a:t>未来十年，我们让光纤</a:t>
            </a:r>
            <a:r>
              <a:rPr lang="zh-CN" altLang="en-US" sz="1800" b="1" dirty="0">
                <a:solidFill>
                  <a:srgbClr val="C00000"/>
                </a:solidFill>
                <a:latin typeface="+mj-ea"/>
                <a:ea typeface="+mj-ea"/>
              </a:rPr>
              <a:t>智</a:t>
            </a:r>
            <a:r>
              <a:rPr lang="zh-CN" altLang="en-US" sz="1600" b="1" dirty="0">
                <a:latin typeface="+mj-ea"/>
                <a:ea typeface="+mj-ea"/>
              </a:rPr>
              <a:t>能感知深度结构安全</a:t>
            </a:r>
          </a:p>
          <a:p>
            <a:pPr algn="ctr"/>
            <a:endParaRPr lang="en-US" altLang="zh-CN" sz="1600" b="1" dirty="0">
              <a:latin typeface="+mj-ea"/>
              <a:ea typeface="+mj-ea"/>
            </a:endParaRPr>
          </a:p>
          <a:p>
            <a:pPr algn="ctr"/>
            <a:r>
              <a:rPr lang="zh-CN" altLang="en-US" sz="1600" b="1" dirty="0">
                <a:latin typeface="+mj-ea"/>
                <a:ea typeface="+mj-ea"/>
              </a:rPr>
              <a:t>长距离</a:t>
            </a:r>
            <a:r>
              <a:rPr lang="en-US" altLang="zh-CN" sz="1600" b="1" dirty="0">
                <a:latin typeface="+mj-ea"/>
                <a:ea typeface="+mj-ea"/>
              </a:rPr>
              <a:t>+</a:t>
            </a:r>
            <a:r>
              <a:rPr lang="zh-CN" altLang="en-US" sz="1600" b="1" dirty="0">
                <a:latin typeface="+mj-ea"/>
                <a:ea typeface="+mj-ea"/>
              </a:rPr>
              <a:t>高价值，低成本</a:t>
            </a:r>
            <a:endParaRPr lang="en-US" altLang="zh-CN" sz="1600" b="1" dirty="0">
              <a:latin typeface="+mj-ea"/>
              <a:ea typeface="+mj-ea"/>
            </a:endParaRP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8C4EA441-304A-B1F1-D0A9-EDF759F38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38" y="5003167"/>
            <a:ext cx="5324337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dirty="0">
                <a:latin typeface="Arial" panose="020B0604020202020204" pitchFamily="34" charset="0"/>
              </a:rPr>
              <a:t>价值</a:t>
            </a:r>
            <a:endParaRPr lang="en-US" altLang="zh-CN" sz="1800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16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1400" b="1" dirty="0">
                <a:latin typeface="Arial" panose="020B0604020202020204" pitchFamily="34" charset="0"/>
              </a:rPr>
              <a:t>硬科技解决真问题</a:t>
            </a:r>
            <a:r>
              <a:rPr lang="zh-CN" altLang="zh-CN" sz="1400" dirty="0">
                <a:latin typeface="Arial" panose="020B0604020202020204" pitchFamily="34" charset="0"/>
              </a:rPr>
              <a:t>：</a:t>
            </a:r>
            <a:r>
              <a:rPr lang="zh-CN" altLang="en-US" sz="1400" dirty="0">
                <a:latin typeface="Arial" panose="020B0604020202020204" pitchFamily="34" charset="0"/>
              </a:rPr>
              <a:t>解决基础设施深度结构安全不可见难题</a:t>
            </a:r>
            <a:endParaRPr lang="zh-CN" altLang="zh-CN" sz="14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1400" b="1" dirty="0">
                <a:latin typeface="Arial" panose="020B0604020202020204" pitchFamily="34" charset="0"/>
              </a:rPr>
              <a:t>模式重塑利润链条</a:t>
            </a:r>
            <a:r>
              <a:rPr lang="zh-CN" altLang="zh-CN" sz="1400" dirty="0">
                <a:latin typeface="Arial" panose="020B0604020202020204" pitchFamily="34" charset="0"/>
              </a:rPr>
              <a:t>：</a:t>
            </a:r>
            <a:r>
              <a:rPr lang="zh-CN" altLang="en-US" sz="1400" dirty="0">
                <a:latin typeface="Arial" panose="020B0604020202020204" pitchFamily="34" charset="0"/>
              </a:rPr>
              <a:t>打通“越经济 越安全”价值闭环</a:t>
            </a:r>
            <a:endParaRPr lang="zh-CN" altLang="zh-CN" sz="14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1400" b="1" dirty="0">
                <a:latin typeface="Arial" panose="020B0604020202020204" pitchFamily="34" charset="0"/>
              </a:rPr>
              <a:t>生态锁定爆发通道</a:t>
            </a:r>
            <a:r>
              <a:rPr lang="zh-CN" altLang="en-US" sz="1400" dirty="0">
                <a:latin typeface="Arial" panose="020B0604020202020204" pitchFamily="34" charset="0"/>
              </a:rPr>
              <a:t>：锚定智能驾驶和数据资产两大万亿赛道</a:t>
            </a:r>
            <a:endParaRPr kumimoji="0" lang="zh-CN" altLang="zh-CN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042953E-814A-04C3-397B-75EC721E411F}"/>
              </a:ext>
            </a:extLst>
          </p:cNvPr>
          <p:cNvGrpSpPr/>
          <p:nvPr/>
        </p:nvGrpSpPr>
        <p:grpSpPr>
          <a:xfrm>
            <a:off x="154082" y="1240711"/>
            <a:ext cx="5865002" cy="5148650"/>
            <a:chOff x="154082" y="1240711"/>
            <a:chExt cx="5865002" cy="5148650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7E0A6A99-0DF8-28E5-A839-C227B8819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EFFFE"/>
                </a:clrFrom>
                <a:clrTo>
                  <a:srgbClr val="FEFF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4082" y="1317009"/>
              <a:ext cx="5865002" cy="5014201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1E803D6-2900-AD8F-3DE8-99970D693F21}"/>
                </a:ext>
              </a:extLst>
            </p:cNvPr>
            <p:cNvSpPr txBox="1"/>
            <p:nvPr/>
          </p:nvSpPr>
          <p:spPr>
            <a:xfrm>
              <a:off x="887105" y="1953728"/>
              <a:ext cx="948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山体滑坡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95615BA5-1DB6-65B2-1D63-39FABA7D6BD0}"/>
                </a:ext>
              </a:extLst>
            </p:cNvPr>
            <p:cNvSpPr txBox="1"/>
            <p:nvPr/>
          </p:nvSpPr>
          <p:spPr>
            <a:xfrm>
              <a:off x="4241532" y="2153163"/>
              <a:ext cx="948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隧道火灾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4880820-20D7-21CC-10D7-3AC6BFD573FF}"/>
                </a:ext>
              </a:extLst>
            </p:cNvPr>
            <p:cNvSpPr txBox="1"/>
            <p:nvPr/>
          </p:nvSpPr>
          <p:spPr>
            <a:xfrm>
              <a:off x="3075139" y="3091437"/>
              <a:ext cx="9485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路基沉降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828C158-01A7-7F93-3FF5-FA183CF0CF3D}"/>
                </a:ext>
              </a:extLst>
            </p:cNvPr>
            <p:cNvSpPr txBox="1"/>
            <p:nvPr/>
          </p:nvSpPr>
          <p:spPr>
            <a:xfrm rot="2616077">
              <a:off x="2391861" y="3983690"/>
              <a:ext cx="13894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桥梁缆索损伤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76B3A23-750F-4D72-9C18-24D6BFCD30B1}"/>
                </a:ext>
              </a:extLst>
            </p:cNvPr>
            <p:cNvSpPr txBox="1"/>
            <p:nvPr/>
          </p:nvSpPr>
          <p:spPr>
            <a:xfrm>
              <a:off x="4566248" y="4070488"/>
              <a:ext cx="8229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n w="0"/>
                  <a:solidFill>
                    <a:srgbClr val="C0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解调仪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D1BF8B8-D9CC-2717-824D-CC1B088FC214}"/>
                </a:ext>
              </a:extLst>
            </p:cNvPr>
            <p:cNvSpPr txBox="1"/>
            <p:nvPr/>
          </p:nvSpPr>
          <p:spPr>
            <a:xfrm>
              <a:off x="746271" y="5481418"/>
              <a:ext cx="13710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地铁运营安全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7B4FBB3-7661-A576-97D8-8A349FB60BF9}"/>
                </a:ext>
              </a:extLst>
            </p:cNvPr>
            <p:cNvSpPr txBox="1"/>
            <p:nvPr/>
          </p:nvSpPr>
          <p:spPr>
            <a:xfrm rot="2848593">
              <a:off x="3128710" y="5547739"/>
              <a:ext cx="13610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桥面设施病害</a:t>
              </a: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9825D31D-F1AF-0F94-2930-F5941DB816D0}"/>
                </a:ext>
              </a:extLst>
            </p:cNvPr>
            <p:cNvSpPr txBox="1"/>
            <p:nvPr/>
          </p:nvSpPr>
          <p:spPr>
            <a:xfrm>
              <a:off x="4382650" y="6081584"/>
              <a:ext cx="15324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工程施工安全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65C75E2-0380-171F-E74A-80C6CA7E9FF7}"/>
                </a:ext>
              </a:extLst>
            </p:cNvPr>
            <p:cNvSpPr txBox="1"/>
            <p:nvPr/>
          </p:nvSpPr>
          <p:spPr>
            <a:xfrm>
              <a:off x="2347416" y="1240711"/>
              <a:ext cx="12906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n w="9525">
                    <a:solidFill>
                      <a:schemeClr val="bg1"/>
                    </a:solidFill>
                    <a:prstDash val="solid"/>
                  </a:ln>
                  <a:effectLst>
                    <a:outerShdw blurRad="12700" dist="38100" dir="2700000" algn="tl" rotWithShape="0">
                      <a:schemeClr val="bg1">
                        <a:lumMod val="50000"/>
                      </a:schemeClr>
                    </a:outerShdw>
                  </a:effectLst>
                </a:rPr>
                <a:t>氢储能安全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5615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34EAF-DB79-791F-6E18-F5959AEBE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955EAD5-A971-694A-B18D-1D8F09D7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基础设施安全的“经济困境”</a:t>
            </a:r>
            <a:endParaRPr lang="zh-CN" altLang="en-US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447E14A0-0D98-9094-3CCB-CBA5A1411C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7399220"/>
              </p:ext>
            </p:extLst>
          </p:nvPr>
        </p:nvGraphicFramePr>
        <p:xfrm>
          <a:off x="669924" y="1014029"/>
          <a:ext cx="10965973" cy="5468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756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27D5F-3746-9A2D-6475-C34ABBD6A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9C3AE9D-7807-E454-B86C-ADD331F65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基础设施安全的“经济机遇”之一：重新定义安责险</a:t>
            </a:r>
            <a:endParaRPr lang="zh-CN" altLang="en-US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7BB2F728-9648-D6B9-1CC4-EE8B83D3B36C}"/>
              </a:ext>
            </a:extLst>
          </p:cNvPr>
          <p:cNvGrpSpPr/>
          <p:nvPr/>
        </p:nvGrpSpPr>
        <p:grpSpPr>
          <a:xfrm>
            <a:off x="55849" y="1190640"/>
            <a:ext cx="4680000" cy="3960000"/>
            <a:chOff x="566260" y="1918467"/>
            <a:chExt cx="4680000" cy="3960000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962667A3-3F6F-E86A-CA60-2FE213C59FF7}"/>
                </a:ext>
              </a:extLst>
            </p:cNvPr>
            <p:cNvGrpSpPr/>
            <p:nvPr/>
          </p:nvGrpSpPr>
          <p:grpSpPr>
            <a:xfrm>
              <a:off x="1792691" y="3012269"/>
              <a:ext cx="2160000" cy="1800000"/>
              <a:chOff x="8418886" y="1677347"/>
              <a:chExt cx="3144902" cy="1800104"/>
            </a:xfrm>
          </p:grpSpPr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217F9BBB-20D9-BCB7-F938-545F736BEA14}"/>
                  </a:ext>
                </a:extLst>
              </p:cNvPr>
              <p:cNvSpPr/>
              <p:nvPr/>
            </p:nvSpPr>
            <p:spPr>
              <a:xfrm>
                <a:off x="8418886" y="1677347"/>
                <a:ext cx="3144902" cy="180010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rgbClr val="A11C2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46" name="组合 45">
                <a:extLst>
                  <a:ext uri="{FF2B5EF4-FFF2-40B4-BE49-F238E27FC236}">
                    <a16:creationId xmlns:a16="http://schemas.microsoft.com/office/drawing/2014/main" id="{210C2603-7D3E-C345-D6F3-BBB1D359F240}"/>
                  </a:ext>
                </a:extLst>
              </p:cNvPr>
              <p:cNvGrpSpPr/>
              <p:nvPr/>
            </p:nvGrpSpPr>
            <p:grpSpPr>
              <a:xfrm>
                <a:off x="8774637" y="2083240"/>
                <a:ext cx="2556953" cy="602333"/>
                <a:chOff x="9113960" y="2004736"/>
                <a:chExt cx="2556953" cy="602333"/>
              </a:xfrm>
            </p:grpSpPr>
            <p:grpSp>
              <p:nvGrpSpPr>
                <p:cNvPr id="47" name="组合 46">
                  <a:extLst>
                    <a:ext uri="{FF2B5EF4-FFF2-40B4-BE49-F238E27FC236}">
                      <a16:creationId xmlns:a16="http://schemas.microsoft.com/office/drawing/2014/main" id="{06422A2B-F6FC-D5D2-1458-96236F582E15}"/>
                    </a:ext>
                  </a:extLst>
                </p:cNvPr>
                <p:cNvGrpSpPr/>
                <p:nvPr/>
              </p:nvGrpSpPr>
              <p:grpSpPr>
                <a:xfrm>
                  <a:off x="9113960" y="2004736"/>
                  <a:ext cx="921769" cy="601380"/>
                  <a:chOff x="5322382" y="1620793"/>
                  <a:chExt cx="508175" cy="601380"/>
                </a:xfrm>
              </p:grpSpPr>
              <p:sp>
                <p:nvSpPr>
                  <p:cNvPr id="52" name="棱台 55">
                    <a:extLst>
                      <a:ext uri="{FF2B5EF4-FFF2-40B4-BE49-F238E27FC236}">
                        <a16:creationId xmlns:a16="http://schemas.microsoft.com/office/drawing/2014/main" id="{54B1AAF8-9E8F-57F1-C5A0-19CD95B07B2D}"/>
                      </a:ext>
                    </a:extLst>
                  </p:cNvPr>
                  <p:cNvSpPr/>
                  <p:nvPr/>
                </p:nvSpPr>
                <p:spPr>
                  <a:xfrm>
                    <a:off x="5322382" y="1620793"/>
                    <a:ext cx="508175" cy="601380"/>
                  </a:xfrm>
                  <a:prstGeom prst="bevel">
                    <a:avLst/>
                  </a:prstGeom>
                  <a:solidFill>
                    <a:srgbClr val="F1FFEF"/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50" dirty="0">
                      <a:solidFill>
                        <a:schemeClr val="tx1"/>
                      </a:solidFill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53" name="文本框 52">
                    <a:extLst>
                      <a:ext uri="{FF2B5EF4-FFF2-40B4-BE49-F238E27FC236}">
                        <a16:creationId xmlns:a16="http://schemas.microsoft.com/office/drawing/2014/main" id="{0863E986-A8D3-CA73-4D29-4E4EAB7D12B1}"/>
                      </a:ext>
                    </a:extLst>
                  </p:cNvPr>
                  <p:cNvSpPr txBox="1"/>
                  <p:nvPr/>
                </p:nvSpPr>
                <p:spPr>
                  <a:xfrm>
                    <a:off x="5338693" y="1709269"/>
                    <a:ext cx="475045" cy="41552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kumimoji="1" lang="zh-CN" altLang="en-US" sz="1050" b="1" dirty="0">
                        <a:latin typeface="微软雅黑" panose="020B0503020204020204" charset="-122"/>
                        <a:ea typeface="微软雅黑" panose="020B0503020204020204" charset="-122"/>
                      </a:rPr>
                      <a:t>年度预算平台</a:t>
                    </a:r>
                  </a:p>
                </p:txBody>
              </p:sp>
            </p:grpSp>
            <p:grpSp>
              <p:nvGrpSpPr>
                <p:cNvPr id="48" name="组合 47">
                  <a:extLst>
                    <a:ext uri="{FF2B5EF4-FFF2-40B4-BE49-F238E27FC236}">
                      <a16:creationId xmlns:a16="http://schemas.microsoft.com/office/drawing/2014/main" id="{3166F940-EB06-FB16-551C-C126E1CA2E29}"/>
                    </a:ext>
                  </a:extLst>
                </p:cNvPr>
                <p:cNvGrpSpPr/>
                <p:nvPr/>
              </p:nvGrpSpPr>
              <p:grpSpPr>
                <a:xfrm>
                  <a:off x="10558688" y="2004883"/>
                  <a:ext cx="1112225" cy="602186"/>
                  <a:chOff x="4955020" y="1612557"/>
                  <a:chExt cx="1139710" cy="602186"/>
                </a:xfrm>
              </p:grpSpPr>
              <p:sp>
                <p:nvSpPr>
                  <p:cNvPr id="50" name="棱台 53">
                    <a:extLst>
                      <a:ext uri="{FF2B5EF4-FFF2-40B4-BE49-F238E27FC236}">
                        <a16:creationId xmlns:a16="http://schemas.microsoft.com/office/drawing/2014/main" id="{E92D6F5B-851D-9F61-97D1-B6342EC17A75}"/>
                      </a:ext>
                    </a:extLst>
                  </p:cNvPr>
                  <p:cNvSpPr/>
                  <p:nvPr/>
                </p:nvSpPr>
                <p:spPr>
                  <a:xfrm>
                    <a:off x="4955020" y="1620984"/>
                    <a:ext cx="1139710" cy="593759"/>
                  </a:xfrm>
                  <a:prstGeom prst="bevel">
                    <a:avLst/>
                  </a:prstGeom>
                  <a:solidFill>
                    <a:srgbClr val="F1FFEF"/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 sz="1050" dirty="0">
                      <a:latin typeface="微软雅黑" panose="020B0503020204020204" charset="-122"/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51" name="文本框 50">
                    <a:extLst>
                      <a:ext uri="{FF2B5EF4-FFF2-40B4-BE49-F238E27FC236}">
                        <a16:creationId xmlns:a16="http://schemas.microsoft.com/office/drawing/2014/main" id="{3F096B33-6BD4-03C8-F700-342837B944F0}"/>
                      </a:ext>
                    </a:extLst>
                  </p:cNvPr>
                  <p:cNvSpPr txBox="1"/>
                  <p:nvPr/>
                </p:nvSpPr>
                <p:spPr>
                  <a:xfrm>
                    <a:off x="5071903" y="1612557"/>
                    <a:ext cx="887185" cy="554030"/>
                  </a:xfrm>
                  <a:prstGeom prst="rect">
                    <a:avLst/>
                  </a:prstGeom>
                  <a:solidFill>
                    <a:srgbClr val="F1FFEF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</a:rPr>
                      <a:t>结构安全数字化运营</a:t>
                    </a:r>
                  </a:p>
                </p:txBody>
              </p:sp>
            </p:grpSp>
          </p:grpSp>
        </p:grp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81A0AC9F-5396-3CA7-4FEE-C6CF5ED0C80E}"/>
                </a:ext>
              </a:extLst>
            </p:cNvPr>
            <p:cNvSpPr/>
            <p:nvPr/>
          </p:nvSpPr>
          <p:spPr>
            <a:xfrm>
              <a:off x="1287145" y="2440305"/>
              <a:ext cx="3240000" cy="2880000"/>
            </a:xfrm>
            <a:prstGeom prst="ellipse">
              <a:avLst/>
            </a:prstGeom>
            <a:noFill/>
            <a:ln w="76200">
              <a:solidFill>
                <a:srgbClr val="E6E6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EC5544DF-6D08-C7A6-C417-EB719A94FF1B}"/>
                </a:ext>
              </a:extLst>
            </p:cNvPr>
            <p:cNvSpPr/>
            <p:nvPr/>
          </p:nvSpPr>
          <p:spPr>
            <a:xfrm>
              <a:off x="566260" y="1918467"/>
              <a:ext cx="4680000" cy="3960000"/>
            </a:xfrm>
            <a:prstGeom prst="ellipse">
              <a:avLst/>
            </a:prstGeom>
            <a:noFill/>
            <a:ln w="76200">
              <a:solidFill>
                <a:srgbClr val="E6E6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F3CAABFC-6B8B-60C5-E8DE-D992C14378BB}"/>
                </a:ext>
              </a:extLst>
            </p:cNvPr>
            <p:cNvGrpSpPr/>
            <p:nvPr/>
          </p:nvGrpSpPr>
          <p:grpSpPr>
            <a:xfrm>
              <a:off x="814070" y="3411855"/>
              <a:ext cx="890270" cy="694690"/>
              <a:chOff x="2937656" y="3766985"/>
              <a:chExt cx="1296650" cy="900575"/>
            </a:xfrm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2C041583-5CC4-39ED-D581-B295B299AC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37656" y="3887282"/>
                <a:ext cx="1296650" cy="78027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rgbClr val="C0000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kumimoji="1" lang="zh-CN" altLang="en-US">
                  <a:sym typeface="+mn-ea"/>
                </a:endParaRPr>
              </a:p>
            </p:txBody>
          </p: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4BC1377B-448D-50D8-3F5A-C21A16B90551}"/>
                  </a:ext>
                </a:extLst>
              </p:cNvPr>
              <p:cNvGrpSpPr/>
              <p:nvPr/>
            </p:nvGrpSpPr>
            <p:grpSpPr>
              <a:xfrm>
                <a:off x="3033765" y="3766985"/>
                <a:ext cx="1104433" cy="700170"/>
                <a:chOff x="3137964" y="4230068"/>
                <a:chExt cx="1104433" cy="700170"/>
              </a:xfrm>
            </p:grpSpPr>
            <p:sp>
              <p:nvSpPr>
                <p:cNvPr id="59" name="PA-文本框 39">
                  <a:extLst>
                    <a:ext uri="{FF2B5EF4-FFF2-40B4-BE49-F238E27FC236}">
                      <a16:creationId xmlns:a16="http://schemas.microsoft.com/office/drawing/2014/main" id="{D39AD555-4E8C-A258-09A1-B6762211B288}"/>
                    </a:ext>
                  </a:extLst>
                </p:cNvPr>
                <p:cNvSpPr txBox="1"/>
                <p:nvPr>
                  <p:custDataLst>
                    <p:tags r:id="rId6"/>
                  </p:custDataLst>
                </p:nvPr>
              </p:nvSpPr>
              <p:spPr>
                <a:xfrm>
                  <a:off x="3137964" y="4649364"/>
                  <a:ext cx="1104433" cy="28087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ctr" defTabSz="912495">
                    <a:lnSpc>
                      <a:spcPct val="130000"/>
                    </a:lnSpc>
                    <a:buClrTx/>
                    <a:buSzTx/>
                    <a:buFontTx/>
                  </a:pPr>
                  <a:r>
                    <a:rPr kumimoji="1" lang="zh-CN" altLang="en-US" sz="1200" b="1" dirty="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Arial" panose="020B0604020202020204" pitchFamily="34" charset="0"/>
                    </a:rPr>
                    <a:t>保险公司</a:t>
                  </a:r>
                </a:p>
              </p:txBody>
            </p:sp>
            <p:sp>
              <p:nvSpPr>
                <p:cNvPr id="60" name="Freeform 81">
                  <a:extLst>
                    <a:ext uri="{FF2B5EF4-FFF2-40B4-BE49-F238E27FC236}">
                      <a16:creationId xmlns:a16="http://schemas.microsoft.com/office/drawing/2014/main" id="{6A9A467B-8275-5683-7EB6-6837E7F23287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3434572" y="4230068"/>
                  <a:ext cx="467542" cy="437413"/>
                </a:xfrm>
                <a:custGeom>
                  <a:avLst/>
                  <a:gdLst>
                    <a:gd name="T0" fmla="*/ 18 w 106"/>
                    <a:gd name="T1" fmla="*/ 19 h 106"/>
                    <a:gd name="T2" fmla="*/ 18 w 106"/>
                    <a:gd name="T3" fmla="*/ 87 h 106"/>
                    <a:gd name="T4" fmla="*/ 87 w 106"/>
                    <a:gd name="T5" fmla="*/ 87 h 106"/>
                    <a:gd name="T6" fmla="*/ 87 w 106"/>
                    <a:gd name="T7" fmla="*/ 19 h 106"/>
                    <a:gd name="T8" fmla="*/ 18 w 106"/>
                    <a:gd name="T9" fmla="*/ 19 h 106"/>
                    <a:gd name="T10" fmla="*/ 79 w 106"/>
                    <a:gd name="T11" fmla="*/ 26 h 106"/>
                    <a:gd name="T12" fmla="*/ 60 w 106"/>
                    <a:gd name="T13" fmla="*/ 58 h 106"/>
                    <a:gd name="T14" fmla="*/ 60 w 106"/>
                    <a:gd name="T15" fmla="*/ 59 h 106"/>
                    <a:gd name="T16" fmla="*/ 68 w 106"/>
                    <a:gd name="T17" fmla="*/ 59 h 106"/>
                    <a:gd name="T18" fmla="*/ 70 w 106"/>
                    <a:gd name="T19" fmla="*/ 60 h 106"/>
                    <a:gd name="T20" fmla="*/ 71 w 106"/>
                    <a:gd name="T21" fmla="*/ 61 h 106"/>
                    <a:gd name="T22" fmla="*/ 71 w 106"/>
                    <a:gd name="T23" fmla="*/ 64 h 106"/>
                    <a:gd name="T24" fmla="*/ 70 w 106"/>
                    <a:gd name="T25" fmla="*/ 66 h 106"/>
                    <a:gd name="T26" fmla="*/ 68 w 106"/>
                    <a:gd name="T27" fmla="*/ 66 h 106"/>
                    <a:gd name="T28" fmla="*/ 60 w 106"/>
                    <a:gd name="T29" fmla="*/ 66 h 106"/>
                    <a:gd name="T30" fmla="*/ 60 w 106"/>
                    <a:gd name="T31" fmla="*/ 71 h 106"/>
                    <a:gd name="T32" fmla="*/ 68 w 106"/>
                    <a:gd name="T33" fmla="*/ 71 h 106"/>
                    <a:gd name="T34" fmla="*/ 70 w 106"/>
                    <a:gd name="T35" fmla="*/ 72 h 106"/>
                    <a:gd name="T36" fmla="*/ 71 w 106"/>
                    <a:gd name="T37" fmla="*/ 73 h 106"/>
                    <a:gd name="T38" fmla="*/ 71 w 106"/>
                    <a:gd name="T39" fmla="*/ 76 h 106"/>
                    <a:gd name="T40" fmla="*/ 70 w 106"/>
                    <a:gd name="T41" fmla="*/ 78 h 106"/>
                    <a:gd name="T42" fmla="*/ 68 w 106"/>
                    <a:gd name="T43" fmla="*/ 77 h 106"/>
                    <a:gd name="T44" fmla="*/ 60 w 106"/>
                    <a:gd name="T45" fmla="*/ 77 h 106"/>
                    <a:gd name="T46" fmla="*/ 60 w 106"/>
                    <a:gd name="T47" fmla="*/ 83 h 106"/>
                    <a:gd name="T48" fmla="*/ 60 w 106"/>
                    <a:gd name="T49" fmla="*/ 84 h 106"/>
                    <a:gd name="T50" fmla="*/ 59 w 106"/>
                    <a:gd name="T51" fmla="*/ 84 h 106"/>
                    <a:gd name="T52" fmla="*/ 55 w 106"/>
                    <a:gd name="T53" fmla="*/ 84 h 106"/>
                    <a:gd name="T54" fmla="*/ 54 w 106"/>
                    <a:gd name="T55" fmla="*/ 84 h 106"/>
                    <a:gd name="T56" fmla="*/ 50 w 106"/>
                    <a:gd name="T57" fmla="*/ 84 h 106"/>
                    <a:gd name="T58" fmla="*/ 48 w 106"/>
                    <a:gd name="T59" fmla="*/ 84 h 106"/>
                    <a:gd name="T60" fmla="*/ 48 w 106"/>
                    <a:gd name="T61" fmla="*/ 83 h 106"/>
                    <a:gd name="T62" fmla="*/ 48 w 106"/>
                    <a:gd name="T63" fmla="*/ 77 h 106"/>
                    <a:gd name="T64" fmla="*/ 40 w 106"/>
                    <a:gd name="T65" fmla="*/ 77 h 106"/>
                    <a:gd name="T66" fmla="*/ 38 w 106"/>
                    <a:gd name="T67" fmla="*/ 78 h 106"/>
                    <a:gd name="T68" fmla="*/ 38 w 106"/>
                    <a:gd name="T69" fmla="*/ 76 h 106"/>
                    <a:gd name="T70" fmla="*/ 38 w 106"/>
                    <a:gd name="T71" fmla="*/ 73 h 106"/>
                    <a:gd name="T72" fmla="*/ 38 w 106"/>
                    <a:gd name="T73" fmla="*/ 72 h 106"/>
                    <a:gd name="T74" fmla="*/ 40 w 106"/>
                    <a:gd name="T75" fmla="*/ 71 h 106"/>
                    <a:gd name="T76" fmla="*/ 48 w 106"/>
                    <a:gd name="T77" fmla="*/ 71 h 106"/>
                    <a:gd name="T78" fmla="*/ 48 w 106"/>
                    <a:gd name="T79" fmla="*/ 66 h 106"/>
                    <a:gd name="T80" fmla="*/ 40 w 106"/>
                    <a:gd name="T81" fmla="*/ 66 h 106"/>
                    <a:gd name="T82" fmla="*/ 38 w 106"/>
                    <a:gd name="T83" fmla="*/ 66 h 106"/>
                    <a:gd name="T84" fmla="*/ 38 w 106"/>
                    <a:gd name="T85" fmla="*/ 64 h 106"/>
                    <a:gd name="T86" fmla="*/ 38 w 106"/>
                    <a:gd name="T87" fmla="*/ 61 h 106"/>
                    <a:gd name="T88" fmla="*/ 38 w 106"/>
                    <a:gd name="T89" fmla="*/ 60 h 106"/>
                    <a:gd name="T90" fmla="*/ 40 w 106"/>
                    <a:gd name="T91" fmla="*/ 59 h 106"/>
                    <a:gd name="T92" fmla="*/ 48 w 106"/>
                    <a:gd name="T93" fmla="*/ 59 h 106"/>
                    <a:gd name="T94" fmla="*/ 48 w 106"/>
                    <a:gd name="T95" fmla="*/ 58 h 106"/>
                    <a:gd name="T96" fmla="*/ 30 w 106"/>
                    <a:gd name="T97" fmla="*/ 26 h 106"/>
                    <a:gd name="T98" fmla="*/ 29 w 106"/>
                    <a:gd name="T99" fmla="*/ 25 h 106"/>
                    <a:gd name="T100" fmla="*/ 31 w 106"/>
                    <a:gd name="T101" fmla="*/ 25 h 106"/>
                    <a:gd name="T102" fmla="*/ 39 w 106"/>
                    <a:gd name="T103" fmla="*/ 25 h 106"/>
                    <a:gd name="T104" fmla="*/ 40 w 106"/>
                    <a:gd name="T105" fmla="*/ 25 h 106"/>
                    <a:gd name="T106" fmla="*/ 41 w 106"/>
                    <a:gd name="T107" fmla="*/ 26 h 106"/>
                    <a:gd name="T108" fmla="*/ 54 w 106"/>
                    <a:gd name="T109" fmla="*/ 51 h 106"/>
                    <a:gd name="T110" fmla="*/ 68 w 106"/>
                    <a:gd name="T111" fmla="*/ 26 h 106"/>
                    <a:gd name="T112" fmla="*/ 69 w 106"/>
                    <a:gd name="T113" fmla="*/ 25 h 106"/>
                    <a:gd name="T114" fmla="*/ 70 w 106"/>
                    <a:gd name="T115" fmla="*/ 25 h 106"/>
                    <a:gd name="T116" fmla="*/ 78 w 106"/>
                    <a:gd name="T117" fmla="*/ 25 h 106"/>
                    <a:gd name="T118" fmla="*/ 79 w 106"/>
                    <a:gd name="T119" fmla="*/ 25 h 106"/>
                    <a:gd name="T120" fmla="*/ 79 w 106"/>
                    <a:gd name="T121" fmla="*/ 26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06" h="106">
                      <a:moveTo>
                        <a:pt x="18" y="19"/>
                      </a:moveTo>
                      <a:cubicBezTo>
                        <a:pt x="0" y="37"/>
                        <a:pt x="0" y="68"/>
                        <a:pt x="18" y="87"/>
                      </a:cubicBezTo>
                      <a:cubicBezTo>
                        <a:pt x="37" y="106"/>
                        <a:pt x="68" y="106"/>
                        <a:pt x="87" y="87"/>
                      </a:cubicBezTo>
                      <a:cubicBezTo>
                        <a:pt x="106" y="68"/>
                        <a:pt x="106" y="37"/>
                        <a:pt x="87" y="19"/>
                      </a:cubicBezTo>
                      <a:cubicBezTo>
                        <a:pt x="68" y="0"/>
                        <a:pt x="37" y="0"/>
                        <a:pt x="18" y="19"/>
                      </a:cubicBezTo>
                      <a:close/>
                      <a:moveTo>
                        <a:pt x="79" y="26"/>
                      </a:moveTo>
                      <a:cubicBezTo>
                        <a:pt x="60" y="58"/>
                        <a:pt x="60" y="58"/>
                        <a:pt x="60" y="58"/>
                      </a:cubicBezTo>
                      <a:cubicBezTo>
                        <a:pt x="60" y="59"/>
                        <a:pt x="60" y="59"/>
                        <a:pt x="60" y="59"/>
                      </a:cubicBezTo>
                      <a:cubicBezTo>
                        <a:pt x="68" y="59"/>
                        <a:pt x="68" y="59"/>
                        <a:pt x="68" y="59"/>
                      </a:cubicBezTo>
                      <a:cubicBezTo>
                        <a:pt x="69" y="59"/>
                        <a:pt x="70" y="59"/>
                        <a:pt x="70" y="60"/>
                      </a:cubicBezTo>
                      <a:cubicBezTo>
                        <a:pt x="70" y="60"/>
                        <a:pt x="71" y="60"/>
                        <a:pt x="71" y="61"/>
                      </a:cubicBezTo>
                      <a:cubicBezTo>
                        <a:pt x="71" y="64"/>
                        <a:pt x="71" y="64"/>
                        <a:pt x="71" y="64"/>
                      </a:cubicBezTo>
                      <a:cubicBezTo>
                        <a:pt x="71" y="65"/>
                        <a:pt x="70" y="65"/>
                        <a:pt x="70" y="66"/>
                      </a:cubicBezTo>
                      <a:cubicBezTo>
                        <a:pt x="70" y="66"/>
                        <a:pt x="69" y="66"/>
                        <a:pt x="68" y="66"/>
                      </a:cubicBezTo>
                      <a:cubicBezTo>
                        <a:pt x="60" y="66"/>
                        <a:pt x="60" y="66"/>
                        <a:pt x="60" y="66"/>
                      </a:cubicBezTo>
                      <a:cubicBezTo>
                        <a:pt x="60" y="71"/>
                        <a:pt x="60" y="71"/>
                        <a:pt x="60" y="71"/>
                      </a:cubicBezTo>
                      <a:cubicBezTo>
                        <a:pt x="68" y="71"/>
                        <a:pt x="68" y="71"/>
                        <a:pt x="68" y="71"/>
                      </a:cubicBezTo>
                      <a:cubicBezTo>
                        <a:pt x="69" y="71"/>
                        <a:pt x="70" y="71"/>
                        <a:pt x="70" y="72"/>
                      </a:cubicBezTo>
                      <a:cubicBezTo>
                        <a:pt x="70" y="72"/>
                        <a:pt x="71" y="72"/>
                        <a:pt x="71" y="73"/>
                      </a:cubicBezTo>
                      <a:cubicBezTo>
                        <a:pt x="71" y="76"/>
                        <a:pt x="71" y="76"/>
                        <a:pt x="71" y="76"/>
                      </a:cubicBezTo>
                      <a:cubicBezTo>
                        <a:pt x="71" y="77"/>
                        <a:pt x="70" y="77"/>
                        <a:pt x="70" y="78"/>
                      </a:cubicBezTo>
                      <a:cubicBezTo>
                        <a:pt x="70" y="78"/>
                        <a:pt x="69" y="77"/>
                        <a:pt x="68" y="77"/>
                      </a:cubicBezTo>
                      <a:cubicBezTo>
                        <a:pt x="60" y="77"/>
                        <a:pt x="60" y="77"/>
                        <a:pt x="60" y="77"/>
                      </a:cubicBezTo>
                      <a:cubicBezTo>
                        <a:pt x="60" y="83"/>
                        <a:pt x="60" y="83"/>
                        <a:pt x="60" y="83"/>
                      </a:cubicBezTo>
                      <a:cubicBezTo>
                        <a:pt x="60" y="83"/>
                        <a:pt x="60" y="84"/>
                        <a:pt x="60" y="84"/>
                      </a:cubicBezTo>
                      <a:cubicBezTo>
                        <a:pt x="60" y="84"/>
                        <a:pt x="60" y="84"/>
                        <a:pt x="59" y="84"/>
                      </a:cubicBezTo>
                      <a:cubicBezTo>
                        <a:pt x="55" y="84"/>
                        <a:pt x="55" y="84"/>
                        <a:pt x="55" y="84"/>
                      </a:cubicBezTo>
                      <a:cubicBezTo>
                        <a:pt x="54" y="84"/>
                        <a:pt x="54" y="84"/>
                        <a:pt x="54" y="84"/>
                      </a:cubicBezTo>
                      <a:cubicBezTo>
                        <a:pt x="50" y="84"/>
                        <a:pt x="50" y="84"/>
                        <a:pt x="50" y="84"/>
                      </a:cubicBezTo>
                      <a:cubicBezTo>
                        <a:pt x="49" y="84"/>
                        <a:pt x="48" y="84"/>
                        <a:pt x="48" y="84"/>
                      </a:cubicBezTo>
                      <a:cubicBezTo>
                        <a:pt x="48" y="84"/>
                        <a:pt x="48" y="83"/>
                        <a:pt x="48" y="83"/>
                      </a:cubicBezTo>
                      <a:cubicBezTo>
                        <a:pt x="48" y="77"/>
                        <a:pt x="48" y="77"/>
                        <a:pt x="48" y="77"/>
                      </a:cubicBezTo>
                      <a:cubicBezTo>
                        <a:pt x="40" y="77"/>
                        <a:pt x="40" y="77"/>
                        <a:pt x="40" y="77"/>
                      </a:cubicBezTo>
                      <a:cubicBezTo>
                        <a:pt x="39" y="77"/>
                        <a:pt x="39" y="78"/>
                        <a:pt x="38" y="78"/>
                      </a:cubicBezTo>
                      <a:cubicBezTo>
                        <a:pt x="38" y="77"/>
                        <a:pt x="38" y="77"/>
                        <a:pt x="38" y="76"/>
                      </a:cubicBezTo>
                      <a:cubicBezTo>
                        <a:pt x="38" y="73"/>
                        <a:pt x="38" y="73"/>
                        <a:pt x="38" y="73"/>
                      </a:cubicBezTo>
                      <a:cubicBezTo>
                        <a:pt x="38" y="72"/>
                        <a:pt x="38" y="72"/>
                        <a:pt x="38" y="72"/>
                      </a:cubicBezTo>
                      <a:cubicBezTo>
                        <a:pt x="39" y="71"/>
                        <a:pt x="39" y="71"/>
                        <a:pt x="40" y="71"/>
                      </a:cubicBezTo>
                      <a:cubicBezTo>
                        <a:pt x="48" y="71"/>
                        <a:pt x="48" y="71"/>
                        <a:pt x="48" y="71"/>
                      </a:cubicBezTo>
                      <a:cubicBezTo>
                        <a:pt x="48" y="66"/>
                        <a:pt x="48" y="66"/>
                        <a:pt x="48" y="66"/>
                      </a:cubicBezTo>
                      <a:cubicBezTo>
                        <a:pt x="40" y="66"/>
                        <a:pt x="40" y="66"/>
                        <a:pt x="40" y="66"/>
                      </a:cubicBezTo>
                      <a:cubicBezTo>
                        <a:pt x="39" y="66"/>
                        <a:pt x="39" y="66"/>
                        <a:pt x="38" y="66"/>
                      </a:cubicBezTo>
                      <a:cubicBezTo>
                        <a:pt x="38" y="65"/>
                        <a:pt x="38" y="65"/>
                        <a:pt x="38" y="64"/>
                      </a:cubicBezTo>
                      <a:cubicBezTo>
                        <a:pt x="38" y="61"/>
                        <a:pt x="38" y="61"/>
                        <a:pt x="38" y="61"/>
                      </a:cubicBezTo>
                      <a:cubicBezTo>
                        <a:pt x="38" y="60"/>
                        <a:pt x="38" y="60"/>
                        <a:pt x="38" y="60"/>
                      </a:cubicBezTo>
                      <a:cubicBezTo>
                        <a:pt x="39" y="59"/>
                        <a:pt x="39" y="59"/>
                        <a:pt x="40" y="59"/>
                      </a:cubicBezTo>
                      <a:cubicBezTo>
                        <a:pt x="48" y="59"/>
                        <a:pt x="48" y="59"/>
                        <a:pt x="48" y="59"/>
                      </a:cubicBezTo>
                      <a:cubicBezTo>
                        <a:pt x="48" y="58"/>
                        <a:pt x="48" y="58"/>
                        <a:pt x="48" y="58"/>
                      </a:cubicBezTo>
                      <a:cubicBezTo>
                        <a:pt x="30" y="26"/>
                        <a:pt x="30" y="26"/>
                        <a:pt x="30" y="26"/>
                      </a:cubicBezTo>
                      <a:cubicBezTo>
                        <a:pt x="29" y="26"/>
                        <a:pt x="29" y="25"/>
                        <a:pt x="29" y="25"/>
                      </a:cubicBezTo>
                      <a:cubicBezTo>
                        <a:pt x="30" y="25"/>
                        <a:pt x="30" y="25"/>
                        <a:pt x="31" y="25"/>
                      </a:cubicBezTo>
                      <a:cubicBezTo>
                        <a:pt x="39" y="25"/>
                        <a:pt x="39" y="25"/>
                        <a:pt x="39" y="25"/>
                      </a:cubicBezTo>
                      <a:cubicBezTo>
                        <a:pt x="39" y="25"/>
                        <a:pt x="40" y="25"/>
                        <a:pt x="40" y="25"/>
                      </a:cubicBezTo>
                      <a:cubicBezTo>
                        <a:pt x="40" y="25"/>
                        <a:pt x="41" y="26"/>
                        <a:pt x="41" y="26"/>
                      </a:cubicBezTo>
                      <a:cubicBezTo>
                        <a:pt x="54" y="51"/>
                        <a:pt x="54" y="51"/>
                        <a:pt x="54" y="51"/>
                      </a:cubicBezTo>
                      <a:cubicBezTo>
                        <a:pt x="68" y="26"/>
                        <a:pt x="68" y="26"/>
                        <a:pt x="68" y="26"/>
                      </a:cubicBezTo>
                      <a:cubicBezTo>
                        <a:pt x="68" y="26"/>
                        <a:pt x="68" y="25"/>
                        <a:pt x="69" y="25"/>
                      </a:cubicBezTo>
                      <a:cubicBezTo>
                        <a:pt x="69" y="25"/>
                        <a:pt x="69" y="25"/>
                        <a:pt x="70" y="25"/>
                      </a:cubicBezTo>
                      <a:cubicBezTo>
                        <a:pt x="78" y="25"/>
                        <a:pt x="78" y="25"/>
                        <a:pt x="78" y="25"/>
                      </a:cubicBezTo>
                      <a:cubicBezTo>
                        <a:pt x="78" y="25"/>
                        <a:pt x="79" y="25"/>
                        <a:pt x="79" y="25"/>
                      </a:cubicBezTo>
                      <a:cubicBezTo>
                        <a:pt x="79" y="25"/>
                        <a:pt x="79" y="26"/>
                        <a:pt x="79" y="26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IE" sz="14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46DCD26D-84D5-B9E7-7B92-82CEFF75289A}"/>
                </a:ext>
              </a:extLst>
            </p:cNvPr>
            <p:cNvGrpSpPr/>
            <p:nvPr/>
          </p:nvGrpSpPr>
          <p:grpSpPr>
            <a:xfrm>
              <a:off x="2869498" y="4718050"/>
              <a:ext cx="1968134" cy="745311"/>
              <a:chOff x="5768850" y="4638240"/>
              <a:chExt cx="2957432" cy="1053676"/>
            </a:xfrm>
          </p:grpSpPr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AB0562B8-0DED-ED6F-BD49-89A060A5C5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20851" y="4784251"/>
                <a:ext cx="1352606" cy="70593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rgbClr val="C0000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kumimoji="1" lang="zh-CN" altLang="en-US">
                  <a:sym typeface="+mn-ea"/>
                </a:endParaRPr>
              </a:p>
            </p:txBody>
          </p: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1559F0AE-EBE7-B42E-2EB0-EF562A5A1779}"/>
                  </a:ext>
                </a:extLst>
              </p:cNvPr>
              <p:cNvGrpSpPr/>
              <p:nvPr/>
            </p:nvGrpSpPr>
            <p:grpSpPr>
              <a:xfrm>
                <a:off x="5768850" y="4638240"/>
                <a:ext cx="2957432" cy="1053676"/>
                <a:chOff x="5565687" y="5064635"/>
                <a:chExt cx="2957432" cy="1053676"/>
              </a:xfrm>
            </p:grpSpPr>
            <p:sp>
              <p:nvSpPr>
                <p:cNvPr id="64" name="PA-文本框 39">
                  <a:extLst>
                    <a:ext uri="{FF2B5EF4-FFF2-40B4-BE49-F238E27FC236}">
                      <a16:creationId xmlns:a16="http://schemas.microsoft.com/office/drawing/2014/main" id="{FCEFD67A-4021-C53C-5A72-6B16C1055617}"/>
                    </a:ext>
                  </a:extLst>
                </p:cNvPr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5565687" y="5472616"/>
                  <a:ext cx="2957432" cy="64569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ctr" defTabSz="912495">
                    <a:lnSpc>
                      <a:spcPct val="130000"/>
                    </a:lnSpc>
                    <a:buClrTx/>
                    <a:buSzTx/>
                    <a:buFontTx/>
                  </a:pPr>
                  <a:r>
                    <a:rPr kumimoji="1" lang="zh-CN" altLang="en-US" sz="1200" b="1" dirty="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Arial" panose="020B0604020202020204" pitchFamily="34" charset="0"/>
                    </a:rPr>
                    <a:t>工程参与方</a:t>
                  </a:r>
                  <a:endParaRPr kumimoji="1" lang="en-US" altLang="zh-CN" sz="12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Arial" panose="020B0604020202020204" pitchFamily="34" charset="0"/>
                  </a:endParaRPr>
                </a:p>
                <a:p>
                  <a:pPr lvl="0" algn="ctr" defTabSz="912495">
                    <a:lnSpc>
                      <a:spcPct val="130000"/>
                    </a:lnSpc>
                    <a:buClrTx/>
                    <a:buSzTx/>
                    <a:buFontTx/>
                  </a:pPr>
                  <a:r>
                    <a:rPr kumimoji="1" lang="zh-CN" altLang="en-US" sz="1200" b="1" dirty="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Arial" panose="020B0604020202020204" pitchFamily="34" charset="0"/>
                    </a:rPr>
                    <a:t>（业主、设计、施工和监理）</a:t>
                  </a:r>
                  <a:endParaRPr kumimoji="1" lang="en-US" altLang="zh-CN" sz="12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65" name="truck_31690">
                  <a:extLst>
                    <a:ext uri="{FF2B5EF4-FFF2-40B4-BE49-F238E27FC236}">
                      <a16:creationId xmlns:a16="http://schemas.microsoft.com/office/drawing/2014/main" id="{CC49D76F-4368-1102-CD92-8447A3B0B68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6556322" y="5064635"/>
                  <a:ext cx="766886" cy="359150"/>
                </a:xfrm>
                <a:custGeom>
                  <a:avLst/>
                  <a:gdLst>
                    <a:gd name="T0" fmla="*/ 272 w 7009"/>
                    <a:gd name="T1" fmla="*/ 2851 h 3287"/>
                    <a:gd name="T2" fmla="*/ 1144 w 7009"/>
                    <a:gd name="T3" fmla="*/ 2851 h 3287"/>
                    <a:gd name="T4" fmla="*/ 708 w 7009"/>
                    <a:gd name="T5" fmla="*/ 3153 h 3287"/>
                    <a:gd name="T6" fmla="*/ 708 w 7009"/>
                    <a:gd name="T7" fmla="*/ 2548 h 3287"/>
                    <a:gd name="T8" fmla="*/ 708 w 7009"/>
                    <a:gd name="T9" fmla="*/ 3153 h 3287"/>
                    <a:gd name="T10" fmla="*/ 7009 w 7009"/>
                    <a:gd name="T11" fmla="*/ 1427 h 3287"/>
                    <a:gd name="T12" fmla="*/ 6570 w 7009"/>
                    <a:gd name="T13" fmla="*/ 144 h 3287"/>
                    <a:gd name="T14" fmla="*/ 5046 w 7009"/>
                    <a:gd name="T15" fmla="*/ 227 h 3287"/>
                    <a:gd name="T16" fmla="*/ 5130 w 7009"/>
                    <a:gd name="T17" fmla="*/ 2668 h 3287"/>
                    <a:gd name="T18" fmla="*/ 5957 w 7009"/>
                    <a:gd name="T19" fmla="*/ 2324 h 3287"/>
                    <a:gd name="T20" fmla="*/ 6926 w 7009"/>
                    <a:gd name="T21" fmla="*/ 2668 h 3287"/>
                    <a:gd name="T22" fmla="*/ 7009 w 7009"/>
                    <a:gd name="T23" fmla="*/ 2164 h 3287"/>
                    <a:gd name="T24" fmla="*/ 6931 w 7009"/>
                    <a:gd name="T25" fmla="*/ 1700 h 3287"/>
                    <a:gd name="T26" fmla="*/ 5688 w 7009"/>
                    <a:gd name="T27" fmla="*/ 1426 h 3287"/>
                    <a:gd name="T28" fmla="*/ 5373 w 7009"/>
                    <a:gd name="T29" fmla="*/ 1362 h 3287"/>
                    <a:gd name="T30" fmla="*/ 5688 w 7009"/>
                    <a:gd name="T31" fmla="*/ 1426 h 3287"/>
                    <a:gd name="T32" fmla="*/ 5310 w 7009"/>
                    <a:gd name="T33" fmla="*/ 366 h 3287"/>
                    <a:gd name="T34" fmla="*/ 6650 w 7009"/>
                    <a:gd name="T35" fmla="*/ 1260 h 3287"/>
                    <a:gd name="T36" fmla="*/ 6707 w 7009"/>
                    <a:gd name="T37" fmla="*/ 2474 h 3287"/>
                    <a:gd name="T38" fmla="*/ 6283 w 7009"/>
                    <a:gd name="T39" fmla="*/ 2267 h 3287"/>
                    <a:gd name="T40" fmla="*/ 6707 w 7009"/>
                    <a:gd name="T41" fmla="*/ 2474 h 3287"/>
                    <a:gd name="T42" fmla="*/ 4847 w 7009"/>
                    <a:gd name="T43" fmla="*/ 2188 h 3287"/>
                    <a:gd name="T44" fmla="*/ 2432 w 7009"/>
                    <a:gd name="T45" fmla="*/ 2709 h 3287"/>
                    <a:gd name="T46" fmla="*/ 1331 w 7009"/>
                    <a:gd name="T47" fmla="*/ 2709 h 3287"/>
                    <a:gd name="T48" fmla="*/ 727 w 7009"/>
                    <a:gd name="T49" fmla="*/ 2324 h 3287"/>
                    <a:gd name="T50" fmla="*/ 0 w 7009"/>
                    <a:gd name="T51" fmla="*/ 2459 h 3287"/>
                    <a:gd name="T52" fmla="*/ 51 w 7009"/>
                    <a:gd name="T53" fmla="*/ 2288 h 3287"/>
                    <a:gd name="T54" fmla="*/ 48 w 7009"/>
                    <a:gd name="T55" fmla="*/ 0 h 3287"/>
                    <a:gd name="T56" fmla="*/ 4769 w 7009"/>
                    <a:gd name="T57" fmla="*/ 2084 h 3287"/>
                    <a:gd name="T58" fmla="*/ 291 w 7009"/>
                    <a:gd name="T59" fmla="*/ 2188 h 3287"/>
                    <a:gd name="T60" fmla="*/ 5502 w 7009"/>
                    <a:gd name="T61" fmla="*/ 2851 h 3287"/>
                    <a:gd name="T62" fmla="*/ 6373 w 7009"/>
                    <a:gd name="T63" fmla="*/ 2851 h 3287"/>
                    <a:gd name="T64" fmla="*/ 5937 w 7009"/>
                    <a:gd name="T65" fmla="*/ 3153 h 3287"/>
                    <a:gd name="T66" fmla="*/ 5937 w 7009"/>
                    <a:gd name="T67" fmla="*/ 2548 h 3287"/>
                    <a:gd name="T68" fmla="*/ 5937 w 7009"/>
                    <a:gd name="T69" fmla="*/ 3153 h 3287"/>
                    <a:gd name="T70" fmla="*/ 1427 w 7009"/>
                    <a:gd name="T71" fmla="*/ 2851 h 3287"/>
                    <a:gd name="T72" fmla="*/ 2298 w 7009"/>
                    <a:gd name="T73" fmla="*/ 2851 h 3287"/>
                    <a:gd name="T74" fmla="*/ 1862 w 7009"/>
                    <a:gd name="T75" fmla="*/ 3153 h 3287"/>
                    <a:gd name="T76" fmla="*/ 1862 w 7009"/>
                    <a:gd name="T77" fmla="*/ 2548 h 3287"/>
                    <a:gd name="T78" fmla="*/ 1862 w 7009"/>
                    <a:gd name="T79" fmla="*/ 3153 h 32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009" h="3287">
                      <a:moveTo>
                        <a:pt x="708" y="2415"/>
                      </a:moveTo>
                      <a:cubicBezTo>
                        <a:pt x="467" y="2415"/>
                        <a:pt x="272" y="2611"/>
                        <a:pt x="272" y="2851"/>
                      </a:cubicBezTo>
                      <a:cubicBezTo>
                        <a:pt x="272" y="3091"/>
                        <a:pt x="467" y="3287"/>
                        <a:pt x="708" y="3287"/>
                      </a:cubicBezTo>
                      <a:cubicBezTo>
                        <a:pt x="948" y="3287"/>
                        <a:pt x="1144" y="3091"/>
                        <a:pt x="1144" y="2851"/>
                      </a:cubicBezTo>
                      <a:cubicBezTo>
                        <a:pt x="1144" y="2611"/>
                        <a:pt x="948" y="2415"/>
                        <a:pt x="708" y="2415"/>
                      </a:cubicBezTo>
                      <a:close/>
                      <a:moveTo>
                        <a:pt x="708" y="3153"/>
                      </a:moveTo>
                      <a:cubicBezTo>
                        <a:pt x="541" y="3153"/>
                        <a:pt x="405" y="3018"/>
                        <a:pt x="405" y="2851"/>
                      </a:cubicBezTo>
                      <a:cubicBezTo>
                        <a:pt x="405" y="2684"/>
                        <a:pt x="541" y="2548"/>
                        <a:pt x="708" y="2548"/>
                      </a:cubicBezTo>
                      <a:cubicBezTo>
                        <a:pt x="875" y="2548"/>
                        <a:pt x="1010" y="2684"/>
                        <a:pt x="1010" y="2851"/>
                      </a:cubicBezTo>
                      <a:cubicBezTo>
                        <a:pt x="1010" y="3018"/>
                        <a:pt x="875" y="3153"/>
                        <a:pt x="708" y="3153"/>
                      </a:cubicBezTo>
                      <a:close/>
                      <a:moveTo>
                        <a:pt x="7009" y="1700"/>
                      </a:moveTo>
                      <a:lnTo>
                        <a:pt x="7009" y="1427"/>
                      </a:lnTo>
                      <a:lnTo>
                        <a:pt x="6736" y="227"/>
                      </a:lnTo>
                      <a:cubicBezTo>
                        <a:pt x="6736" y="144"/>
                        <a:pt x="6616" y="144"/>
                        <a:pt x="6570" y="144"/>
                      </a:cubicBezTo>
                      <a:lnTo>
                        <a:pt x="5130" y="144"/>
                      </a:lnTo>
                      <a:cubicBezTo>
                        <a:pt x="5084" y="144"/>
                        <a:pt x="5046" y="153"/>
                        <a:pt x="5046" y="227"/>
                      </a:cubicBezTo>
                      <a:lnTo>
                        <a:pt x="5046" y="2413"/>
                      </a:lnTo>
                      <a:cubicBezTo>
                        <a:pt x="5046" y="2630"/>
                        <a:pt x="5084" y="2668"/>
                        <a:pt x="5130" y="2668"/>
                      </a:cubicBezTo>
                      <a:lnTo>
                        <a:pt x="5423" y="2668"/>
                      </a:lnTo>
                      <a:cubicBezTo>
                        <a:pt x="5515" y="2465"/>
                        <a:pt x="5720" y="2324"/>
                        <a:pt x="5957" y="2324"/>
                      </a:cubicBezTo>
                      <a:cubicBezTo>
                        <a:pt x="6194" y="2324"/>
                        <a:pt x="6398" y="2465"/>
                        <a:pt x="6490" y="2668"/>
                      </a:cubicBezTo>
                      <a:lnTo>
                        <a:pt x="6926" y="2668"/>
                      </a:lnTo>
                      <a:cubicBezTo>
                        <a:pt x="6971" y="2668"/>
                        <a:pt x="7009" y="2630"/>
                        <a:pt x="7009" y="2584"/>
                      </a:cubicBezTo>
                      <a:lnTo>
                        <a:pt x="7009" y="2164"/>
                      </a:lnTo>
                      <a:lnTo>
                        <a:pt x="6931" y="2164"/>
                      </a:lnTo>
                      <a:lnTo>
                        <a:pt x="6931" y="1700"/>
                      </a:lnTo>
                      <a:lnTo>
                        <a:pt x="7009" y="1700"/>
                      </a:lnTo>
                      <a:close/>
                      <a:moveTo>
                        <a:pt x="5688" y="1426"/>
                      </a:moveTo>
                      <a:lnTo>
                        <a:pt x="5373" y="1426"/>
                      </a:lnTo>
                      <a:lnTo>
                        <a:pt x="5373" y="1362"/>
                      </a:lnTo>
                      <a:lnTo>
                        <a:pt x="5688" y="1362"/>
                      </a:lnTo>
                      <a:lnTo>
                        <a:pt x="5688" y="1426"/>
                      </a:lnTo>
                      <a:close/>
                      <a:moveTo>
                        <a:pt x="5310" y="1260"/>
                      </a:moveTo>
                      <a:lnTo>
                        <a:pt x="5310" y="366"/>
                      </a:lnTo>
                      <a:lnTo>
                        <a:pt x="6512" y="366"/>
                      </a:lnTo>
                      <a:lnTo>
                        <a:pt x="6650" y="1260"/>
                      </a:lnTo>
                      <a:lnTo>
                        <a:pt x="5310" y="1260"/>
                      </a:lnTo>
                      <a:close/>
                      <a:moveTo>
                        <a:pt x="6707" y="2474"/>
                      </a:moveTo>
                      <a:lnTo>
                        <a:pt x="6484" y="2474"/>
                      </a:lnTo>
                      <a:cubicBezTo>
                        <a:pt x="6421" y="2353"/>
                        <a:pt x="6283" y="2267"/>
                        <a:pt x="6283" y="2267"/>
                      </a:cubicBezTo>
                      <a:lnTo>
                        <a:pt x="6707" y="2267"/>
                      </a:lnTo>
                      <a:lnTo>
                        <a:pt x="6707" y="2474"/>
                      </a:lnTo>
                      <a:close/>
                      <a:moveTo>
                        <a:pt x="291" y="2188"/>
                      </a:moveTo>
                      <a:lnTo>
                        <a:pt x="4847" y="2188"/>
                      </a:lnTo>
                      <a:lnTo>
                        <a:pt x="4847" y="2709"/>
                      </a:lnTo>
                      <a:lnTo>
                        <a:pt x="2432" y="2709"/>
                      </a:lnTo>
                      <a:cubicBezTo>
                        <a:pt x="2351" y="2484"/>
                        <a:pt x="2135" y="2324"/>
                        <a:pt x="1882" y="2324"/>
                      </a:cubicBezTo>
                      <a:cubicBezTo>
                        <a:pt x="1629" y="2324"/>
                        <a:pt x="1413" y="2484"/>
                        <a:pt x="1331" y="2709"/>
                      </a:cubicBezTo>
                      <a:lnTo>
                        <a:pt x="1278" y="2709"/>
                      </a:lnTo>
                      <a:cubicBezTo>
                        <a:pt x="1196" y="2484"/>
                        <a:pt x="980" y="2324"/>
                        <a:pt x="727" y="2324"/>
                      </a:cubicBezTo>
                      <a:cubicBezTo>
                        <a:pt x="478" y="2324"/>
                        <a:pt x="265" y="2480"/>
                        <a:pt x="181" y="2699"/>
                      </a:cubicBezTo>
                      <a:cubicBezTo>
                        <a:pt x="76" y="2669"/>
                        <a:pt x="0" y="2573"/>
                        <a:pt x="0" y="2459"/>
                      </a:cubicBezTo>
                      <a:lnTo>
                        <a:pt x="0" y="2437"/>
                      </a:lnTo>
                      <a:cubicBezTo>
                        <a:pt x="0" y="2381"/>
                        <a:pt x="19" y="2330"/>
                        <a:pt x="51" y="2288"/>
                      </a:cubicBezTo>
                      <a:lnTo>
                        <a:pt x="51" y="2084"/>
                      </a:lnTo>
                      <a:lnTo>
                        <a:pt x="48" y="0"/>
                      </a:lnTo>
                      <a:lnTo>
                        <a:pt x="4774" y="0"/>
                      </a:lnTo>
                      <a:lnTo>
                        <a:pt x="4769" y="2084"/>
                      </a:lnTo>
                      <a:lnTo>
                        <a:pt x="291" y="2084"/>
                      </a:lnTo>
                      <a:lnTo>
                        <a:pt x="291" y="2188"/>
                      </a:lnTo>
                      <a:close/>
                      <a:moveTo>
                        <a:pt x="5937" y="2415"/>
                      </a:moveTo>
                      <a:cubicBezTo>
                        <a:pt x="5697" y="2415"/>
                        <a:pt x="5502" y="2611"/>
                        <a:pt x="5502" y="2851"/>
                      </a:cubicBezTo>
                      <a:cubicBezTo>
                        <a:pt x="5502" y="3091"/>
                        <a:pt x="5697" y="3287"/>
                        <a:pt x="5937" y="3287"/>
                      </a:cubicBezTo>
                      <a:cubicBezTo>
                        <a:pt x="6178" y="3287"/>
                        <a:pt x="6373" y="3091"/>
                        <a:pt x="6373" y="2851"/>
                      </a:cubicBezTo>
                      <a:cubicBezTo>
                        <a:pt x="6373" y="2611"/>
                        <a:pt x="6178" y="2415"/>
                        <a:pt x="5937" y="2415"/>
                      </a:cubicBezTo>
                      <a:close/>
                      <a:moveTo>
                        <a:pt x="5937" y="3153"/>
                      </a:moveTo>
                      <a:cubicBezTo>
                        <a:pt x="5771" y="3153"/>
                        <a:pt x="5635" y="3018"/>
                        <a:pt x="5635" y="2851"/>
                      </a:cubicBezTo>
                      <a:cubicBezTo>
                        <a:pt x="5635" y="2684"/>
                        <a:pt x="5770" y="2548"/>
                        <a:pt x="5937" y="2548"/>
                      </a:cubicBezTo>
                      <a:cubicBezTo>
                        <a:pt x="6104" y="2548"/>
                        <a:pt x="6240" y="2684"/>
                        <a:pt x="6240" y="2851"/>
                      </a:cubicBezTo>
                      <a:cubicBezTo>
                        <a:pt x="6240" y="3018"/>
                        <a:pt x="6104" y="3153"/>
                        <a:pt x="5937" y="3153"/>
                      </a:cubicBezTo>
                      <a:close/>
                      <a:moveTo>
                        <a:pt x="1862" y="2415"/>
                      </a:moveTo>
                      <a:cubicBezTo>
                        <a:pt x="1622" y="2415"/>
                        <a:pt x="1427" y="2611"/>
                        <a:pt x="1427" y="2851"/>
                      </a:cubicBezTo>
                      <a:cubicBezTo>
                        <a:pt x="1427" y="3091"/>
                        <a:pt x="1622" y="3287"/>
                        <a:pt x="1862" y="3287"/>
                      </a:cubicBezTo>
                      <a:cubicBezTo>
                        <a:pt x="2103" y="3287"/>
                        <a:pt x="2298" y="3091"/>
                        <a:pt x="2298" y="2851"/>
                      </a:cubicBezTo>
                      <a:cubicBezTo>
                        <a:pt x="2298" y="2611"/>
                        <a:pt x="2103" y="2415"/>
                        <a:pt x="1862" y="2415"/>
                      </a:cubicBezTo>
                      <a:close/>
                      <a:moveTo>
                        <a:pt x="1862" y="3153"/>
                      </a:moveTo>
                      <a:cubicBezTo>
                        <a:pt x="1696" y="3153"/>
                        <a:pt x="1560" y="3018"/>
                        <a:pt x="1560" y="2851"/>
                      </a:cubicBezTo>
                      <a:cubicBezTo>
                        <a:pt x="1560" y="2684"/>
                        <a:pt x="1696" y="2548"/>
                        <a:pt x="1862" y="2548"/>
                      </a:cubicBezTo>
                      <a:cubicBezTo>
                        <a:pt x="2029" y="2548"/>
                        <a:pt x="2165" y="2684"/>
                        <a:pt x="2165" y="2851"/>
                      </a:cubicBezTo>
                      <a:cubicBezTo>
                        <a:pt x="2165" y="3018"/>
                        <a:pt x="2029" y="3153"/>
                        <a:pt x="1862" y="3153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txBody>
                <a:bodyPr/>
                <a:lstStyle/>
                <a:p>
                  <a:endParaRPr lang="zh-CN" altLang="en-US" sz="1400" dirty="0"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248710E9-2DB5-A5B6-F832-B25A7C3830F3}"/>
                </a:ext>
              </a:extLst>
            </p:cNvPr>
            <p:cNvGrpSpPr/>
            <p:nvPr/>
          </p:nvGrpSpPr>
          <p:grpSpPr>
            <a:xfrm>
              <a:off x="851899" y="4547234"/>
              <a:ext cx="1968134" cy="1084664"/>
              <a:chOff x="3452420" y="4590984"/>
              <a:chExt cx="2865105" cy="1565115"/>
            </a:xfrm>
          </p:grpSpPr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62F2B62F-35A3-B7C5-7A2A-1C62C629E1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90483" y="4907780"/>
                <a:ext cx="1427272" cy="71675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rgbClr val="C0000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kumimoji="1" lang="zh-CN" altLang="en-US">
                  <a:sym typeface="+mn-ea"/>
                </a:endParaRPr>
              </a:p>
            </p:txBody>
          </p:sp>
          <p:sp>
            <p:nvSpPr>
              <p:cNvPr id="68" name="PA-文本框 39">
                <a:extLst>
                  <a:ext uri="{FF2B5EF4-FFF2-40B4-BE49-F238E27FC236}">
                    <a16:creationId xmlns:a16="http://schemas.microsoft.com/office/drawing/2014/main" id="{1C41AF38-8A43-C3FC-9E10-1156899C11BD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452420" y="5150661"/>
                <a:ext cx="2865105" cy="1005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 defTabSz="912495">
                  <a:lnSpc>
                    <a:spcPct val="130000"/>
                  </a:lnSpc>
                  <a:buClrTx/>
                  <a:buSzTx/>
                  <a:buFontTx/>
                </a:pPr>
                <a:r>
                  <a:rPr kumimoji="1" lang="zh-CN" altLang="en-US" sz="12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Arial" panose="020B0604020202020204" pitchFamily="34" charset="0"/>
                  </a:rPr>
                  <a:t>行业监管方</a:t>
                </a:r>
                <a:endParaRPr kumimoji="1" lang="en-US" altLang="zh-CN" sz="12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  <a:p>
                <a:pPr lvl="0" algn="ctr" defTabSz="912495">
                  <a:lnSpc>
                    <a:spcPct val="130000"/>
                  </a:lnSpc>
                  <a:buClrTx/>
                  <a:buSzTx/>
                  <a:buFontTx/>
                </a:pPr>
                <a:r>
                  <a:rPr kumimoji="1" lang="en-US" altLang="zh-CN" sz="12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Arial" panose="020B0604020202020204" pitchFamily="34" charset="0"/>
                  </a:rPr>
                  <a:t>+</a:t>
                </a:r>
              </a:p>
              <a:p>
                <a:pPr lvl="0" algn="ctr" defTabSz="912495">
                  <a:lnSpc>
                    <a:spcPct val="130000"/>
                  </a:lnSpc>
                  <a:buClrTx/>
                  <a:buSzTx/>
                  <a:buFontTx/>
                </a:pPr>
                <a:r>
                  <a:rPr kumimoji="1" lang="zh-CN" altLang="en-US" sz="12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Arial" panose="020B0604020202020204" pitchFamily="34" charset="0"/>
                  </a:rPr>
                  <a:t>行业管理和公共数据运营方</a:t>
                </a:r>
                <a:endParaRPr kumimoji="1" lang="en-US" altLang="zh-CN" sz="12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9" name="Freeform 48">
                <a:extLst>
                  <a:ext uri="{FF2B5EF4-FFF2-40B4-BE49-F238E27FC236}">
                    <a16:creationId xmlns:a16="http://schemas.microsoft.com/office/drawing/2014/main" id="{A1299861-B8E2-2610-8E28-ABC97CAB35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44767" y="4590984"/>
                <a:ext cx="898960" cy="539951"/>
              </a:xfrm>
              <a:custGeom>
                <a:avLst/>
                <a:gdLst>
                  <a:gd name="T0" fmla="*/ 248 w 392"/>
                  <a:gd name="T1" fmla="*/ 97 h 235"/>
                  <a:gd name="T2" fmla="*/ 255 w 392"/>
                  <a:gd name="T3" fmla="*/ 88 h 235"/>
                  <a:gd name="T4" fmla="*/ 141 w 392"/>
                  <a:gd name="T5" fmla="*/ 97 h 235"/>
                  <a:gd name="T6" fmla="*/ 4 w 392"/>
                  <a:gd name="T7" fmla="*/ 210 h 235"/>
                  <a:gd name="T8" fmla="*/ 4 w 392"/>
                  <a:gd name="T9" fmla="*/ 219 h 235"/>
                  <a:gd name="T10" fmla="*/ 392 w 392"/>
                  <a:gd name="T11" fmla="*/ 214 h 235"/>
                  <a:gd name="T12" fmla="*/ 161 w 392"/>
                  <a:gd name="T13" fmla="*/ 210 h 235"/>
                  <a:gd name="T14" fmla="*/ 173 w 392"/>
                  <a:gd name="T15" fmla="*/ 210 h 235"/>
                  <a:gd name="T16" fmla="*/ 190 w 392"/>
                  <a:gd name="T17" fmla="*/ 97 h 235"/>
                  <a:gd name="T18" fmla="*/ 231 w 392"/>
                  <a:gd name="T19" fmla="*/ 210 h 235"/>
                  <a:gd name="T20" fmla="*/ 231 w 392"/>
                  <a:gd name="T21" fmla="*/ 97 h 235"/>
                  <a:gd name="T22" fmla="*/ 131 w 392"/>
                  <a:gd name="T23" fmla="*/ 226 h 235"/>
                  <a:gd name="T24" fmla="*/ 131 w 392"/>
                  <a:gd name="T25" fmla="*/ 235 h 235"/>
                  <a:gd name="T26" fmla="*/ 265 w 392"/>
                  <a:gd name="T27" fmla="*/ 230 h 235"/>
                  <a:gd name="T28" fmla="*/ 379 w 392"/>
                  <a:gd name="T29" fmla="*/ 204 h 235"/>
                  <a:gd name="T30" fmla="*/ 387 w 392"/>
                  <a:gd name="T31" fmla="*/ 112 h 235"/>
                  <a:gd name="T32" fmla="*/ 258 w 392"/>
                  <a:gd name="T33" fmla="*/ 108 h 235"/>
                  <a:gd name="T34" fmla="*/ 364 w 392"/>
                  <a:gd name="T35" fmla="*/ 127 h 235"/>
                  <a:gd name="T36" fmla="*/ 349 w 392"/>
                  <a:gd name="T37" fmla="*/ 127 h 235"/>
                  <a:gd name="T38" fmla="*/ 364 w 392"/>
                  <a:gd name="T39" fmla="*/ 185 h 235"/>
                  <a:gd name="T40" fmla="*/ 323 w 392"/>
                  <a:gd name="T41" fmla="*/ 127 h 235"/>
                  <a:gd name="T42" fmla="*/ 323 w 392"/>
                  <a:gd name="T43" fmla="*/ 149 h 235"/>
                  <a:gd name="T44" fmla="*/ 339 w 392"/>
                  <a:gd name="T45" fmla="*/ 163 h 235"/>
                  <a:gd name="T46" fmla="*/ 323 w 392"/>
                  <a:gd name="T47" fmla="*/ 163 h 235"/>
                  <a:gd name="T48" fmla="*/ 314 w 392"/>
                  <a:gd name="T49" fmla="*/ 149 h 235"/>
                  <a:gd name="T50" fmla="*/ 298 w 392"/>
                  <a:gd name="T51" fmla="*/ 163 h 235"/>
                  <a:gd name="T52" fmla="*/ 298 w 392"/>
                  <a:gd name="T53" fmla="*/ 185 h 235"/>
                  <a:gd name="T54" fmla="*/ 289 w 392"/>
                  <a:gd name="T55" fmla="*/ 127 h 235"/>
                  <a:gd name="T56" fmla="*/ 273 w 392"/>
                  <a:gd name="T57" fmla="*/ 127 h 235"/>
                  <a:gd name="T58" fmla="*/ 289 w 392"/>
                  <a:gd name="T59" fmla="*/ 185 h 235"/>
                  <a:gd name="T60" fmla="*/ 9 w 392"/>
                  <a:gd name="T61" fmla="*/ 117 h 235"/>
                  <a:gd name="T62" fmla="*/ 134 w 392"/>
                  <a:gd name="T63" fmla="*/ 204 h 235"/>
                  <a:gd name="T64" fmla="*/ 5 w 392"/>
                  <a:gd name="T65" fmla="*/ 112 h 235"/>
                  <a:gd name="T66" fmla="*/ 103 w 392"/>
                  <a:gd name="T67" fmla="*/ 127 h 235"/>
                  <a:gd name="T68" fmla="*/ 103 w 392"/>
                  <a:gd name="T69" fmla="*/ 149 h 235"/>
                  <a:gd name="T70" fmla="*/ 119 w 392"/>
                  <a:gd name="T71" fmla="*/ 163 h 235"/>
                  <a:gd name="T72" fmla="*/ 103 w 392"/>
                  <a:gd name="T73" fmla="*/ 163 h 235"/>
                  <a:gd name="T74" fmla="*/ 94 w 392"/>
                  <a:gd name="T75" fmla="*/ 149 h 235"/>
                  <a:gd name="T76" fmla="*/ 78 w 392"/>
                  <a:gd name="T77" fmla="*/ 163 h 235"/>
                  <a:gd name="T78" fmla="*/ 78 w 392"/>
                  <a:gd name="T79" fmla="*/ 185 h 235"/>
                  <a:gd name="T80" fmla="*/ 69 w 392"/>
                  <a:gd name="T81" fmla="*/ 127 h 235"/>
                  <a:gd name="T82" fmla="*/ 53 w 392"/>
                  <a:gd name="T83" fmla="*/ 127 h 235"/>
                  <a:gd name="T84" fmla="*/ 69 w 392"/>
                  <a:gd name="T85" fmla="*/ 185 h 235"/>
                  <a:gd name="T86" fmla="*/ 28 w 392"/>
                  <a:gd name="T87" fmla="*/ 127 h 235"/>
                  <a:gd name="T88" fmla="*/ 28 w 392"/>
                  <a:gd name="T89" fmla="*/ 149 h 235"/>
                  <a:gd name="T90" fmla="*/ 44 w 392"/>
                  <a:gd name="T91" fmla="*/ 163 h 235"/>
                  <a:gd name="T92" fmla="*/ 28 w 392"/>
                  <a:gd name="T93" fmla="*/ 163 h 235"/>
                  <a:gd name="T94" fmla="*/ 197 w 392"/>
                  <a:gd name="T95" fmla="*/ 53 h 235"/>
                  <a:gd name="T96" fmla="*/ 240 w 392"/>
                  <a:gd name="T97" fmla="*/ 8 h 235"/>
                  <a:gd name="T98" fmla="*/ 196 w 392"/>
                  <a:gd name="T99" fmla="*/ 1 h 235"/>
                  <a:gd name="T100" fmla="*/ 195 w 392"/>
                  <a:gd name="T101" fmla="*/ 53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92" h="235">
                    <a:moveTo>
                      <a:pt x="388" y="210"/>
                    </a:moveTo>
                    <a:cubicBezTo>
                      <a:pt x="248" y="210"/>
                      <a:pt x="248" y="210"/>
                      <a:pt x="248" y="210"/>
                    </a:cubicBezTo>
                    <a:cubicBezTo>
                      <a:pt x="248" y="97"/>
                      <a:pt x="248" y="97"/>
                      <a:pt x="248" y="97"/>
                    </a:cubicBezTo>
                    <a:cubicBezTo>
                      <a:pt x="248" y="97"/>
                      <a:pt x="250" y="97"/>
                      <a:pt x="251" y="97"/>
                    </a:cubicBezTo>
                    <a:cubicBezTo>
                      <a:pt x="253" y="97"/>
                      <a:pt x="255" y="95"/>
                      <a:pt x="255" y="93"/>
                    </a:cubicBezTo>
                    <a:cubicBezTo>
                      <a:pt x="255" y="88"/>
                      <a:pt x="255" y="88"/>
                      <a:pt x="255" y="88"/>
                    </a:cubicBezTo>
                    <a:cubicBezTo>
                      <a:pt x="138" y="88"/>
                      <a:pt x="138" y="88"/>
                      <a:pt x="138" y="88"/>
                    </a:cubicBezTo>
                    <a:cubicBezTo>
                      <a:pt x="138" y="93"/>
                      <a:pt x="138" y="93"/>
                      <a:pt x="138" y="93"/>
                    </a:cubicBezTo>
                    <a:cubicBezTo>
                      <a:pt x="138" y="95"/>
                      <a:pt x="139" y="97"/>
                      <a:pt x="141" y="97"/>
                    </a:cubicBezTo>
                    <a:cubicBezTo>
                      <a:pt x="144" y="97"/>
                      <a:pt x="144" y="97"/>
                      <a:pt x="144" y="97"/>
                    </a:cubicBezTo>
                    <a:cubicBezTo>
                      <a:pt x="144" y="210"/>
                      <a:pt x="144" y="210"/>
                      <a:pt x="144" y="210"/>
                    </a:cubicBezTo>
                    <a:cubicBezTo>
                      <a:pt x="4" y="210"/>
                      <a:pt x="4" y="210"/>
                      <a:pt x="4" y="210"/>
                    </a:cubicBezTo>
                    <a:cubicBezTo>
                      <a:pt x="2" y="210"/>
                      <a:pt x="0" y="212"/>
                      <a:pt x="0" y="214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17"/>
                      <a:pt x="2" y="219"/>
                      <a:pt x="4" y="219"/>
                    </a:cubicBezTo>
                    <a:cubicBezTo>
                      <a:pt x="388" y="219"/>
                      <a:pt x="388" y="219"/>
                      <a:pt x="388" y="219"/>
                    </a:cubicBezTo>
                    <a:cubicBezTo>
                      <a:pt x="391" y="219"/>
                      <a:pt x="392" y="217"/>
                      <a:pt x="392" y="215"/>
                    </a:cubicBezTo>
                    <a:cubicBezTo>
                      <a:pt x="392" y="214"/>
                      <a:pt x="392" y="214"/>
                      <a:pt x="392" y="214"/>
                    </a:cubicBezTo>
                    <a:cubicBezTo>
                      <a:pt x="392" y="212"/>
                      <a:pt x="391" y="210"/>
                      <a:pt x="388" y="210"/>
                    </a:cubicBezTo>
                    <a:close/>
                    <a:moveTo>
                      <a:pt x="173" y="210"/>
                    </a:moveTo>
                    <a:cubicBezTo>
                      <a:pt x="161" y="210"/>
                      <a:pt x="161" y="210"/>
                      <a:pt x="161" y="210"/>
                    </a:cubicBezTo>
                    <a:cubicBezTo>
                      <a:pt x="161" y="97"/>
                      <a:pt x="161" y="97"/>
                      <a:pt x="161" y="97"/>
                    </a:cubicBezTo>
                    <a:cubicBezTo>
                      <a:pt x="173" y="97"/>
                      <a:pt x="173" y="97"/>
                      <a:pt x="173" y="97"/>
                    </a:cubicBezTo>
                    <a:lnTo>
                      <a:pt x="173" y="210"/>
                    </a:lnTo>
                    <a:close/>
                    <a:moveTo>
                      <a:pt x="202" y="210"/>
                    </a:moveTo>
                    <a:cubicBezTo>
                      <a:pt x="190" y="210"/>
                      <a:pt x="190" y="210"/>
                      <a:pt x="190" y="210"/>
                    </a:cubicBezTo>
                    <a:cubicBezTo>
                      <a:pt x="190" y="97"/>
                      <a:pt x="190" y="97"/>
                      <a:pt x="190" y="97"/>
                    </a:cubicBezTo>
                    <a:cubicBezTo>
                      <a:pt x="202" y="97"/>
                      <a:pt x="202" y="97"/>
                      <a:pt x="202" y="97"/>
                    </a:cubicBezTo>
                    <a:lnTo>
                      <a:pt x="202" y="210"/>
                    </a:lnTo>
                    <a:close/>
                    <a:moveTo>
                      <a:pt x="231" y="210"/>
                    </a:moveTo>
                    <a:cubicBezTo>
                      <a:pt x="219" y="210"/>
                      <a:pt x="219" y="210"/>
                      <a:pt x="219" y="210"/>
                    </a:cubicBezTo>
                    <a:cubicBezTo>
                      <a:pt x="219" y="97"/>
                      <a:pt x="219" y="97"/>
                      <a:pt x="219" y="97"/>
                    </a:cubicBezTo>
                    <a:cubicBezTo>
                      <a:pt x="231" y="97"/>
                      <a:pt x="231" y="97"/>
                      <a:pt x="231" y="97"/>
                    </a:cubicBezTo>
                    <a:lnTo>
                      <a:pt x="231" y="210"/>
                    </a:lnTo>
                    <a:close/>
                    <a:moveTo>
                      <a:pt x="261" y="226"/>
                    </a:moveTo>
                    <a:cubicBezTo>
                      <a:pt x="131" y="226"/>
                      <a:pt x="131" y="226"/>
                      <a:pt x="131" y="226"/>
                    </a:cubicBezTo>
                    <a:cubicBezTo>
                      <a:pt x="129" y="226"/>
                      <a:pt x="127" y="228"/>
                      <a:pt x="127" y="230"/>
                    </a:cubicBezTo>
                    <a:cubicBezTo>
                      <a:pt x="127" y="231"/>
                      <a:pt x="127" y="231"/>
                      <a:pt x="127" y="231"/>
                    </a:cubicBezTo>
                    <a:cubicBezTo>
                      <a:pt x="127" y="233"/>
                      <a:pt x="129" y="235"/>
                      <a:pt x="131" y="235"/>
                    </a:cubicBezTo>
                    <a:cubicBezTo>
                      <a:pt x="261" y="235"/>
                      <a:pt x="261" y="235"/>
                      <a:pt x="261" y="235"/>
                    </a:cubicBezTo>
                    <a:cubicBezTo>
                      <a:pt x="264" y="235"/>
                      <a:pt x="265" y="233"/>
                      <a:pt x="265" y="231"/>
                    </a:cubicBezTo>
                    <a:cubicBezTo>
                      <a:pt x="265" y="230"/>
                      <a:pt x="265" y="230"/>
                      <a:pt x="265" y="230"/>
                    </a:cubicBezTo>
                    <a:cubicBezTo>
                      <a:pt x="265" y="228"/>
                      <a:pt x="264" y="226"/>
                      <a:pt x="261" y="226"/>
                    </a:cubicBezTo>
                    <a:close/>
                    <a:moveTo>
                      <a:pt x="258" y="204"/>
                    </a:moveTo>
                    <a:cubicBezTo>
                      <a:pt x="379" y="204"/>
                      <a:pt x="379" y="204"/>
                      <a:pt x="379" y="204"/>
                    </a:cubicBezTo>
                    <a:cubicBezTo>
                      <a:pt x="379" y="117"/>
                      <a:pt x="379" y="117"/>
                      <a:pt x="379" y="117"/>
                    </a:cubicBezTo>
                    <a:cubicBezTo>
                      <a:pt x="379" y="117"/>
                      <a:pt x="381" y="117"/>
                      <a:pt x="383" y="117"/>
                    </a:cubicBezTo>
                    <a:cubicBezTo>
                      <a:pt x="385" y="117"/>
                      <a:pt x="387" y="115"/>
                      <a:pt x="387" y="112"/>
                    </a:cubicBezTo>
                    <a:cubicBezTo>
                      <a:pt x="387" y="112"/>
                      <a:pt x="387" y="112"/>
                      <a:pt x="387" y="112"/>
                    </a:cubicBezTo>
                    <a:cubicBezTo>
                      <a:pt x="387" y="109"/>
                      <a:pt x="385" y="108"/>
                      <a:pt x="383" y="108"/>
                    </a:cubicBezTo>
                    <a:cubicBezTo>
                      <a:pt x="258" y="108"/>
                      <a:pt x="258" y="108"/>
                      <a:pt x="258" y="108"/>
                    </a:cubicBezTo>
                    <a:lnTo>
                      <a:pt x="258" y="204"/>
                    </a:lnTo>
                    <a:close/>
                    <a:moveTo>
                      <a:pt x="349" y="127"/>
                    </a:moveTo>
                    <a:cubicBezTo>
                      <a:pt x="364" y="127"/>
                      <a:pt x="364" y="127"/>
                      <a:pt x="364" y="127"/>
                    </a:cubicBezTo>
                    <a:cubicBezTo>
                      <a:pt x="364" y="149"/>
                      <a:pt x="364" y="149"/>
                      <a:pt x="364" y="149"/>
                    </a:cubicBezTo>
                    <a:cubicBezTo>
                      <a:pt x="349" y="149"/>
                      <a:pt x="349" y="149"/>
                      <a:pt x="349" y="149"/>
                    </a:cubicBezTo>
                    <a:lnTo>
                      <a:pt x="349" y="127"/>
                    </a:lnTo>
                    <a:close/>
                    <a:moveTo>
                      <a:pt x="349" y="163"/>
                    </a:moveTo>
                    <a:cubicBezTo>
                      <a:pt x="364" y="163"/>
                      <a:pt x="364" y="163"/>
                      <a:pt x="364" y="163"/>
                    </a:cubicBezTo>
                    <a:cubicBezTo>
                      <a:pt x="364" y="185"/>
                      <a:pt x="364" y="185"/>
                      <a:pt x="364" y="185"/>
                    </a:cubicBezTo>
                    <a:cubicBezTo>
                      <a:pt x="349" y="185"/>
                      <a:pt x="349" y="185"/>
                      <a:pt x="349" y="185"/>
                    </a:cubicBezTo>
                    <a:lnTo>
                      <a:pt x="349" y="163"/>
                    </a:lnTo>
                    <a:close/>
                    <a:moveTo>
                      <a:pt x="323" y="127"/>
                    </a:moveTo>
                    <a:cubicBezTo>
                      <a:pt x="339" y="127"/>
                      <a:pt x="339" y="127"/>
                      <a:pt x="339" y="127"/>
                    </a:cubicBezTo>
                    <a:cubicBezTo>
                      <a:pt x="339" y="149"/>
                      <a:pt x="339" y="149"/>
                      <a:pt x="339" y="149"/>
                    </a:cubicBezTo>
                    <a:cubicBezTo>
                      <a:pt x="323" y="149"/>
                      <a:pt x="323" y="149"/>
                      <a:pt x="323" y="149"/>
                    </a:cubicBezTo>
                    <a:lnTo>
                      <a:pt x="323" y="127"/>
                    </a:lnTo>
                    <a:close/>
                    <a:moveTo>
                      <a:pt x="323" y="163"/>
                    </a:moveTo>
                    <a:cubicBezTo>
                      <a:pt x="339" y="163"/>
                      <a:pt x="339" y="163"/>
                      <a:pt x="339" y="163"/>
                    </a:cubicBezTo>
                    <a:cubicBezTo>
                      <a:pt x="339" y="185"/>
                      <a:pt x="339" y="185"/>
                      <a:pt x="339" y="185"/>
                    </a:cubicBezTo>
                    <a:cubicBezTo>
                      <a:pt x="323" y="185"/>
                      <a:pt x="323" y="185"/>
                      <a:pt x="323" y="185"/>
                    </a:cubicBezTo>
                    <a:lnTo>
                      <a:pt x="323" y="163"/>
                    </a:lnTo>
                    <a:close/>
                    <a:moveTo>
                      <a:pt x="298" y="127"/>
                    </a:moveTo>
                    <a:cubicBezTo>
                      <a:pt x="314" y="127"/>
                      <a:pt x="314" y="127"/>
                      <a:pt x="314" y="127"/>
                    </a:cubicBezTo>
                    <a:cubicBezTo>
                      <a:pt x="314" y="149"/>
                      <a:pt x="314" y="149"/>
                      <a:pt x="314" y="149"/>
                    </a:cubicBezTo>
                    <a:cubicBezTo>
                      <a:pt x="298" y="149"/>
                      <a:pt x="298" y="149"/>
                      <a:pt x="298" y="149"/>
                    </a:cubicBezTo>
                    <a:lnTo>
                      <a:pt x="298" y="127"/>
                    </a:lnTo>
                    <a:close/>
                    <a:moveTo>
                      <a:pt x="298" y="163"/>
                    </a:moveTo>
                    <a:cubicBezTo>
                      <a:pt x="314" y="163"/>
                      <a:pt x="314" y="163"/>
                      <a:pt x="314" y="163"/>
                    </a:cubicBezTo>
                    <a:cubicBezTo>
                      <a:pt x="314" y="185"/>
                      <a:pt x="314" y="185"/>
                      <a:pt x="314" y="185"/>
                    </a:cubicBezTo>
                    <a:cubicBezTo>
                      <a:pt x="298" y="185"/>
                      <a:pt x="298" y="185"/>
                      <a:pt x="298" y="185"/>
                    </a:cubicBezTo>
                    <a:lnTo>
                      <a:pt x="298" y="163"/>
                    </a:lnTo>
                    <a:close/>
                    <a:moveTo>
                      <a:pt x="273" y="127"/>
                    </a:moveTo>
                    <a:cubicBezTo>
                      <a:pt x="289" y="127"/>
                      <a:pt x="289" y="127"/>
                      <a:pt x="289" y="127"/>
                    </a:cubicBezTo>
                    <a:cubicBezTo>
                      <a:pt x="289" y="149"/>
                      <a:pt x="289" y="149"/>
                      <a:pt x="289" y="149"/>
                    </a:cubicBezTo>
                    <a:cubicBezTo>
                      <a:pt x="273" y="149"/>
                      <a:pt x="273" y="149"/>
                      <a:pt x="273" y="149"/>
                    </a:cubicBezTo>
                    <a:lnTo>
                      <a:pt x="273" y="127"/>
                    </a:lnTo>
                    <a:close/>
                    <a:moveTo>
                      <a:pt x="273" y="163"/>
                    </a:moveTo>
                    <a:cubicBezTo>
                      <a:pt x="289" y="163"/>
                      <a:pt x="289" y="163"/>
                      <a:pt x="289" y="163"/>
                    </a:cubicBezTo>
                    <a:cubicBezTo>
                      <a:pt x="289" y="185"/>
                      <a:pt x="289" y="185"/>
                      <a:pt x="289" y="185"/>
                    </a:cubicBezTo>
                    <a:cubicBezTo>
                      <a:pt x="273" y="185"/>
                      <a:pt x="273" y="185"/>
                      <a:pt x="273" y="185"/>
                    </a:cubicBezTo>
                    <a:lnTo>
                      <a:pt x="273" y="163"/>
                    </a:lnTo>
                    <a:close/>
                    <a:moveTo>
                      <a:pt x="9" y="117"/>
                    </a:moveTo>
                    <a:cubicBezTo>
                      <a:pt x="13" y="117"/>
                      <a:pt x="13" y="117"/>
                      <a:pt x="13" y="117"/>
                    </a:cubicBezTo>
                    <a:cubicBezTo>
                      <a:pt x="13" y="204"/>
                      <a:pt x="13" y="204"/>
                      <a:pt x="13" y="204"/>
                    </a:cubicBezTo>
                    <a:cubicBezTo>
                      <a:pt x="134" y="204"/>
                      <a:pt x="134" y="204"/>
                      <a:pt x="134" y="204"/>
                    </a:cubicBezTo>
                    <a:cubicBezTo>
                      <a:pt x="134" y="108"/>
                      <a:pt x="134" y="108"/>
                      <a:pt x="134" y="108"/>
                    </a:cubicBezTo>
                    <a:cubicBezTo>
                      <a:pt x="9" y="108"/>
                      <a:pt x="9" y="108"/>
                      <a:pt x="9" y="108"/>
                    </a:cubicBezTo>
                    <a:cubicBezTo>
                      <a:pt x="7" y="108"/>
                      <a:pt x="5" y="109"/>
                      <a:pt x="5" y="112"/>
                    </a:cubicBezTo>
                    <a:cubicBezTo>
                      <a:pt x="5" y="112"/>
                      <a:pt x="5" y="112"/>
                      <a:pt x="5" y="112"/>
                    </a:cubicBezTo>
                    <a:cubicBezTo>
                      <a:pt x="5" y="115"/>
                      <a:pt x="7" y="117"/>
                      <a:pt x="9" y="117"/>
                    </a:cubicBezTo>
                    <a:close/>
                    <a:moveTo>
                      <a:pt x="103" y="127"/>
                    </a:moveTo>
                    <a:cubicBezTo>
                      <a:pt x="119" y="127"/>
                      <a:pt x="119" y="127"/>
                      <a:pt x="119" y="127"/>
                    </a:cubicBezTo>
                    <a:cubicBezTo>
                      <a:pt x="119" y="149"/>
                      <a:pt x="119" y="149"/>
                      <a:pt x="119" y="149"/>
                    </a:cubicBezTo>
                    <a:cubicBezTo>
                      <a:pt x="103" y="149"/>
                      <a:pt x="103" y="149"/>
                      <a:pt x="103" y="149"/>
                    </a:cubicBezTo>
                    <a:lnTo>
                      <a:pt x="103" y="127"/>
                    </a:lnTo>
                    <a:close/>
                    <a:moveTo>
                      <a:pt x="103" y="163"/>
                    </a:moveTo>
                    <a:cubicBezTo>
                      <a:pt x="119" y="163"/>
                      <a:pt x="119" y="163"/>
                      <a:pt x="119" y="163"/>
                    </a:cubicBezTo>
                    <a:cubicBezTo>
                      <a:pt x="119" y="185"/>
                      <a:pt x="119" y="185"/>
                      <a:pt x="119" y="185"/>
                    </a:cubicBezTo>
                    <a:cubicBezTo>
                      <a:pt x="103" y="185"/>
                      <a:pt x="103" y="185"/>
                      <a:pt x="103" y="185"/>
                    </a:cubicBezTo>
                    <a:lnTo>
                      <a:pt x="103" y="163"/>
                    </a:lnTo>
                    <a:close/>
                    <a:moveTo>
                      <a:pt x="78" y="127"/>
                    </a:moveTo>
                    <a:cubicBezTo>
                      <a:pt x="94" y="127"/>
                      <a:pt x="94" y="127"/>
                      <a:pt x="94" y="127"/>
                    </a:cubicBezTo>
                    <a:cubicBezTo>
                      <a:pt x="94" y="149"/>
                      <a:pt x="94" y="149"/>
                      <a:pt x="94" y="149"/>
                    </a:cubicBezTo>
                    <a:cubicBezTo>
                      <a:pt x="78" y="149"/>
                      <a:pt x="78" y="149"/>
                      <a:pt x="78" y="149"/>
                    </a:cubicBezTo>
                    <a:lnTo>
                      <a:pt x="78" y="127"/>
                    </a:lnTo>
                    <a:close/>
                    <a:moveTo>
                      <a:pt x="78" y="163"/>
                    </a:moveTo>
                    <a:cubicBezTo>
                      <a:pt x="94" y="163"/>
                      <a:pt x="94" y="163"/>
                      <a:pt x="94" y="163"/>
                    </a:cubicBezTo>
                    <a:cubicBezTo>
                      <a:pt x="94" y="185"/>
                      <a:pt x="94" y="185"/>
                      <a:pt x="94" y="185"/>
                    </a:cubicBezTo>
                    <a:cubicBezTo>
                      <a:pt x="78" y="185"/>
                      <a:pt x="78" y="185"/>
                      <a:pt x="78" y="185"/>
                    </a:cubicBezTo>
                    <a:lnTo>
                      <a:pt x="78" y="163"/>
                    </a:lnTo>
                    <a:close/>
                    <a:moveTo>
                      <a:pt x="53" y="127"/>
                    </a:moveTo>
                    <a:cubicBezTo>
                      <a:pt x="69" y="127"/>
                      <a:pt x="69" y="127"/>
                      <a:pt x="69" y="127"/>
                    </a:cubicBezTo>
                    <a:cubicBezTo>
                      <a:pt x="69" y="149"/>
                      <a:pt x="69" y="149"/>
                      <a:pt x="69" y="149"/>
                    </a:cubicBezTo>
                    <a:cubicBezTo>
                      <a:pt x="53" y="149"/>
                      <a:pt x="53" y="149"/>
                      <a:pt x="53" y="149"/>
                    </a:cubicBezTo>
                    <a:lnTo>
                      <a:pt x="53" y="127"/>
                    </a:lnTo>
                    <a:close/>
                    <a:moveTo>
                      <a:pt x="53" y="163"/>
                    </a:moveTo>
                    <a:cubicBezTo>
                      <a:pt x="69" y="163"/>
                      <a:pt x="69" y="163"/>
                      <a:pt x="69" y="163"/>
                    </a:cubicBezTo>
                    <a:cubicBezTo>
                      <a:pt x="69" y="185"/>
                      <a:pt x="69" y="185"/>
                      <a:pt x="69" y="185"/>
                    </a:cubicBezTo>
                    <a:cubicBezTo>
                      <a:pt x="53" y="185"/>
                      <a:pt x="53" y="185"/>
                      <a:pt x="53" y="185"/>
                    </a:cubicBezTo>
                    <a:lnTo>
                      <a:pt x="53" y="163"/>
                    </a:lnTo>
                    <a:close/>
                    <a:moveTo>
                      <a:pt x="28" y="127"/>
                    </a:moveTo>
                    <a:cubicBezTo>
                      <a:pt x="44" y="127"/>
                      <a:pt x="44" y="127"/>
                      <a:pt x="44" y="127"/>
                    </a:cubicBezTo>
                    <a:cubicBezTo>
                      <a:pt x="44" y="149"/>
                      <a:pt x="44" y="149"/>
                      <a:pt x="44" y="149"/>
                    </a:cubicBezTo>
                    <a:cubicBezTo>
                      <a:pt x="28" y="149"/>
                      <a:pt x="28" y="149"/>
                      <a:pt x="28" y="149"/>
                    </a:cubicBezTo>
                    <a:lnTo>
                      <a:pt x="28" y="127"/>
                    </a:lnTo>
                    <a:close/>
                    <a:moveTo>
                      <a:pt x="28" y="163"/>
                    </a:moveTo>
                    <a:cubicBezTo>
                      <a:pt x="44" y="163"/>
                      <a:pt x="44" y="163"/>
                      <a:pt x="44" y="163"/>
                    </a:cubicBezTo>
                    <a:cubicBezTo>
                      <a:pt x="44" y="185"/>
                      <a:pt x="44" y="185"/>
                      <a:pt x="44" y="185"/>
                    </a:cubicBezTo>
                    <a:cubicBezTo>
                      <a:pt x="28" y="185"/>
                      <a:pt x="28" y="185"/>
                      <a:pt x="28" y="185"/>
                    </a:cubicBezTo>
                    <a:lnTo>
                      <a:pt x="28" y="163"/>
                    </a:lnTo>
                    <a:close/>
                    <a:moveTo>
                      <a:pt x="134" y="83"/>
                    </a:moveTo>
                    <a:cubicBezTo>
                      <a:pt x="259" y="83"/>
                      <a:pt x="259" y="83"/>
                      <a:pt x="259" y="83"/>
                    </a:cubicBezTo>
                    <a:cubicBezTo>
                      <a:pt x="197" y="53"/>
                      <a:pt x="197" y="53"/>
                      <a:pt x="197" y="53"/>
                    </a:cubicBezTo>
                    <a:cubicBezTo>
                      <a:pt x="197" y="33"/>
                      <a:pt x="197" y="33"/>
                      <a:pt x="197" y="33"/>
                    </a:cubicBezTo>
                    <a:cubicBezTo>
                      <a:pt x="211" y="39"/>
                      <a:pt x="225" y="29"/>
                      <a:pt x="240" y="36"/>
                    </a:cubicBezTo>
                    <a:cubicBezTo>
                      <a:pt x="240" y="8"/>
                      <a:pt x="240" y="8"/>
                      <a:pt x="240" y="8"/>
                    </a:cubicBezTo>
                    <a:cubicBezTo>
                      <a:pt x="225" y="0"/>
                      <a:pt x="211" y="11"/>
                      <a:pt x="197" y="4"/>
                    </a:cubicBezTo>
                    <a:cubicBezTo>
                      <a:pt x="197" y="4"/>
                      <a:pt x="198" y="4"/>
                      <a:pt x="198" y="3"/>
                    </a:cubicBezTo>
                    <a:cubicBezTo>
                      <a:pt x="198" y="2"/>
                      <a:pt x="197" y="1"/>
                      <a:pt x="196" y="1"/>
                    </a:cubicBezTo>
                    <a:cubicBezTo>
                      <a:pt x="195" y="1"/>
                      <a:pt x="194" y="2"/>
                      <a:pt x="194" y="3"/>
                    </a:cubicBezTo>
                    <a:cubicBezTo>
                      <a:pt x="194" y="4"/>
                      <a:pt x="195" y="4"/>
                      <a:pt x="195" y="5"/>
                    </a:cubicBezTo>
                    <a:cubicBezTo>
                      <a:pt x="195" y="53"/>
                      <a:pt x="195" y="53"/>
                      <a:pt x="195" y="53"/>
                    </a:cubicBezTo>
                    <a:lnTo>
                      <a:pt x="134" y="83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vert="horz" wrap="square" lIns="86742" tIns="43371" rIns="86742" bIns="43371" numCol="1" anchor="t" anchorCtr="0" compatLnSpc="1"/>
              <a:lstStyle/>
              <a:p>
                <a:endParaRPr lang="en-IE" sz="14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F74983F0-DF68-2AE4-DC5B-A84D3F9D755C}"/>
                </a:ext>
              </a:extLst>
            </p:cNvPr>
            <p:cNvGrpSpPr/>
            <p:nvPr/>
          </p:nvGrpSpPr>
          <p:grpSpPr>
            <a:xfrm>
              <a:off x="3256180" y="2120265"/>
              <a:ext cx="1086714" cy="826478"/>
              <a:chOff x="6957507" y="2888622"/>
              <a:chExt cx="1582766" cy="1007877"/>
            </a:xfrm>
          </p:grpSpPr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EBF17484-08C3-BDCF-7532-947E5E1262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55571" y="3175062"/>
                <a:ext cx="1173645" cy="60718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rgbClr val="C0000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kumimoji="1" lang="zh-CN" altLang="en-US">
                  <a:sym typeface="+mn-ea"/>
                </a:endParaRPr>
              </a:p>
            </p:txBody>
          </p:sp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1DB5DEE5-D352-FC7B-5091-DE19983AAD39}"/>
                  </a:ext>
                </a:extLst>
              </p:cNvPr>
              <p:cNvGrpSpPr/>
              <p:nvPr/>
            </p:nvGrpSpPr>
            <p:grpSpPr>
              <a:xfrm>
                <a:off x="6957507" y="2888622"/>
                <a:ext cx="1582766" cy="1007877"/>
                <a:chOff x="6945632" y="3244877"/>
                <a:chExt cx="1582766" cy="1007877"/>
              </a:xfrm>
            </p:grpSpPr>
            <p:sp>
              <p:nvSpPr>
                <p:cNvPr id="73" name="PA-文本框 39">
                  <a:extLst>
                    <a:ext uri="{FF2B5EF4-FFF2-40B4-BE49-F238E27FC236}">
                      <a16:creationId xmlns:a16="http://schemas.microsoft.com/office/drawing/2014/main" id="{86EDE483-FB53-55D1-CB11-AC19C0A366B6}"/>
                    </a:ext>
                  </a:extLst>
                </p:cNvPr>
                <p:cNvSpPr txBox="1"/>
                <p:nvPr>
                  <p:custDataLst>
                    <p:tags r:id="rId3"/>
                  </p:custDataLst>
                </p:nvPr>
              </p:nvSpPr>
              <p:spPr>
                <a:xfrm>
                  <a:off x="6945632" y="3695781"/>
                  <a:ext cx="1582766" cy="55697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ctr" defTabSz="912495">
                    <a:lnSpc>
                      <a:spcPct val="130000"/>
                    </a:lnSpc>
                    <a:buClrTx/>
                    <a:buSzTx/>
                    <a:buFontTx/>
                  </a:pPr>
                  <a:r>
                    <a:rPr kumimoji="1" lang="zh-CN" altLang="en-US" sz="1200" b="1" dirty="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Arial" panose="020B0604020202020204" pitchFamily="34" charset="0"/>
                    </a:rPr>
                    <a:t>数商</a:t>
                  </a:r>
                  <a:endParaRPr kumimoji="1" lang="en-US" altLang="zh-CN" sz="12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Arial" panose="020B0604020202020204" pitchFamily="34" charset="0"/>
                  </a:endParaRPr>
                </a:p>
                <a:p>
                  <a:pPr lvl="0" algn="ctr" defTabSz="912495">
                    <a:lnSpc>
                      <a:spcPct val="130000"/>
                    </a:lnSpc>
                    <a:buClrTx/>
                    <a:buSzTx/>
                    <a:buFontTx/>
                  </a:pPr>
                  <a:r>
                    <a:rPr kumimoji="1" lang="zh-CN" altLang="en-US" sz="1200" b="1" dirty="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Arial" panose="020B0604020202020204" pitchFamily="34" charset="0"/>
                    </a:rPr>
                    <a:t>可信数据空间</a:t>
                  </a:r>
                </a:p>
              </p:txBody>
            </p:sp>
            <p:grpSp>
              <p:nvGrpSpPr>
                <p:cNvPr id="74" name="组合 73">
                  <a:extLst>
                    <a:ext uri="{FF2B5EF4-FFF2-40B4-BE49-F238E27FC236}">
                      <a16:creationId xmlns:a16="http://schemas.microsoft.com/office/drawing/2014/main" id="{A28D7F44-07A3-CC5C-88F9-0D23B2AAA32A}"/>
                    </a:ext>
                  </a:extLst>
                </p:cNvPr>
                <p:cNvGrpSpPr/>
                <p:nvPr/>
              </p:nvGrpSpPr>
              <p:grpSpPr>
                <a:xfrm>
                  <a:off x="7444463" y="3244877"/>
                  <a:ext cx="480547" cy="482241"/>
                  <a:chOff x="2941408" y="1568017"/>
                  <a:chExt cx="385763" cy="385762"/>
                </a:xfrm>
                <a:solidFill>
                  <a:schemeClr val="tx1">
                    <a:lumMod val="75000"/>
                    <a:lumOff val="25000"/>
                  </a:schemeClr>
                </a:solidFill>
              </p:grpSpPr>
              <p:sp>
                <p:nvSpPr>
                  <p:cNvPr id="75" name="Freeform 23">
                    <a:extLst>
                      <a:ext uri="{FF2B5EF4-FFF2-40B4-BE49-F238E27FC236}">
                        <a16:creationId xmlns:a16="http://schemas.microsoft.com/office/drawing/2014/main" id="{38B84D80-9BD1-C88C-E1DA-B9E7C566AC7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941408" y="1568017"/>
                    <a:ext cx="385763" cy="385762"/>
                  </a:xfrm>
                  <a:custGeom>
                    <a:avLst/>
                    <a:gdLst>
                      <a:gd name="T0" fmla="*/ 292 w 305"/>
                      <a:gd name="T1" fmla="*/ 226 h 305"/>
                      <a:gd name="T2" fmla="*/ 305 w 305"/>
                      <a:gd name="T3" fmla="*/ 192 h 305"/>
                      <a:gd name="T4" fmla="*/ 280 w 305"/>
                      <a:gd name="T5" fmla="*/ 171 h 305"/>
                      <a:gd name="T6" fmla="*/ 279 w 305"/>
                      <a:gd name="T7" fmla="*/ 128 h 305"/>
                      <a:gd name="T8" fmla="*/ 303 w 305"/>
                      <a:gd name="T9" fmla="*/ 106 h 305"/>
                      <a:gd name="T10" fmla="*/ 288 w 305"/>
                      <a:gd name="T11" fmla="*/ 73 h 305"/>
                      <a:gd name="T12" fmla="*/ 256 w 305"/>
                      <a:gd name="T13" fmla="*/ 76 h 305"/>
                      <a:gd name="T14" fmla="*/ 224 w 305"/>
                      <a:gd name="T15" fmla="*/ 46 h 305"/>
                      <a:gd name="T16" fmla="*/ 226 w 305"/>
                      <a:gd name="T17" fmla="*/ 13 h 305"/>
                      <a:gd name="T18" fmla="*/ 192 w 305"/>
                      <a:gd name="T19" fmla="*/ 0 h 305"/>
                      <a:gd name="T20" fmla="*/ 171 w 305"/>
                      <a:gd name="T21" fmla="*/ 26 h 305"/>
                      <a:gd name="T22" fmla="*/ 128 w 305"/>
                      <a:gd name="T23" fmla="*/ 27 h 305"/>
                      <a:gd name="T24" fmla="*/ 106 w 305"/>
                      <a:gd name="T25" fmla="*/ 2 h 305"/>
                      <a:gd name="T26" fmla="*/ 73 w 305"/>
                      <a:gd name="T27" fmla="*/ 17 h 305"/>
                      <a:gd name="T28" fmla="*/ 76 w 305"/>
                      <a:gd name="T29" fmla="*/ 50 h 305"/>
                      <a:gd name="T30" fmla="*/ 46 w 305"/>
                      <a:gd name="T31" fmla="*/ 81 h 305"/>
                      <a:gd name="T32" fmla="*/ 13 w 305"/>
                      <a:gd name="T33" fmla="*/ 80 h 305"/>
                      <a:gd name="T34" fmla="*/ 0 w 305"/>
                      <a:gd name="T35" fmla="*/ 114 h 305"/>
                      <a:gd name="T36" fmla="*/ 26 w 305"/>
                      <a:gd name="T37" fmla="*/ 134 h 305"/>
                      <a:gd name="T38" fmla="*/ 27 w 305"/>
                      <a:gd name="T39" fmla="*/ 178 h 305"/>
                      <a:gd name="T40" fmla="*/ 2 w 305"/>
                      <a:gd name="T41" fmla="*/ 200 h 305"/>
                      <a:gd name="T42" fmla="*/ 17 w 305"/>
                      <a:gd name="T43" fmla="*/ 233 h 305"/>
                      <a:gd name="T44" fmla="*/ 50 w 305"/>
                      <a:gd name="T45" fmla="*/ 230 h 305"/>
                      <a:gd name="T46" fmla="*/ 81 w 305"/>
                      <a:gd name="T47" fmla="*/ 259 h 305"/>
                      <a:gd name="T48" fmla="*/ 80 w 305"/>
                      <a:gd name="T49" fmla="*/ 292 h 305"/>
                      <a:gd name="T50" fmla="*/ 114 w 305"/>
                      <a:gd name="T51" fmla="*/ 305 h 305"/>
                      <a:gd name="T52" fmla="*/ 135 w 305"/>
                      <a:gd name="T53" fmla="*/ 280 h 305"/>
                      <a:gd name="T54" fmla="*/ 178 w 305"/>
                      <a:gd name="T55" fmla="*/ 279 h 305"/>
                      <a:gd name="T56" fmla="*/ 200 w 305"/>
                      <a:gd name="T57" fmla="*/ 303 h 305"/>
                      <a:gd name="T58" fmla="*/ 233 w 305"/>
                      <a:gd name="T59" fmla="*/ 288 h 305"/>
                      <a:gd name="T60" fmla="*/ 230 w 305"/>
                      <a:gd name="T61" fmla="*/ 256 h 305"/>
                      <a:gd name="T62" fmla="*/ 260 w 305"/>
                      <a:gd name="T63" fmla="*/ 224 h 305"/>
                      <a:gd name="T64" fmla="*/ 292 w 305"/>
                      <a:gd name="T65" fmla="*/ 226 h 305"/>
                      <a:gd name="T66" fmla="*/ 120 w 305"/>
                      <a:gd name="T67" fmla="*/ 238 h 305"/>
                      <a:gd name="T68" fmla="*/ 68 w 305"/>
                      <a:gd name="T69" fmla="*/ 120 h 305"/>
                      <a:gd name="T70" fmla="*/ 186 w 305"/>
                      <a:gd name="T71" fmla="*/ 68 h 305"/>
                      <a:gd name="T72" fmla="*/ 238 w 305"/>
                      <a:gd name="T73" fmla="*/ 185 h 305"/>
                      <a:gd name="T74" fmla="*/ 120 w 305"/>
                      <a:gd name="T75" fmla="*/ 238 h 3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305" h="305">
                        <a:moveTo>
                          <a:pt x="292" y="226"/>
                        </a:moveTo>
                        <a:cubicBezTo>
                          <a:pt x="305" y="192"/>
                          <a:pt x="305" y="192"/>
                          <a:pt x="305" y="192"/>
                        </a:cubicBezTo>
                        <a:cubicBezTo>
                          <a:pt x="280" y="171"/>
                          <a:pt x="280" y="171"/>
                          <a:pt x="280" y="171"/>
                        </a:cubicBezTo>
                        <a:cubicBezTo>
                          <a:pt x="282" y="156"/>
                          <a:pt x="282" y="142"/>
                          <a:pt x="279" y="128"/>
                        </a:cubicBezTo>
                        <a:cubicBezTo>
                          <a:pt x="303" y="106"/>
                          <a:pt x="303" y="106"/>
                          <a:pt x="303" y="106"/>
                        </a:cubicBezTo>
                        <a:cubicBezTo>
                          <a:pt x="288" y="73"/>
                          <a:pt x="288" y="73"/>
                          <a:pt x="288" y="73"/>
                        </a:cubicBezTo>
                        <a:cubicBezTo>
                          <a:pt x="256" y="76"/>
                          <a:pt x="256" y="76"/>
                          <a:pt x="256" y="76"/>
                        </a:cubicBezTo>
                        <a:cubicBezTo>
                          <a:pt x="247" y="64"/>
                          <a:pt x="237" y="54"/>
                          <a:pt x="224" y="46"/>
                        </a:cubicBezTo>
                        <a:cubicBezTo>
                          <a:pt x="226" y="13"/>
                          <a:pt x="226" y="13"/>
                          <a:pt x="226" y="13"/>
                        </a:cubicBezTo>
                        <a:cubicBezTo>
                          <a:pt x="192" y="0"/>
                          <a:pt x="192" y="0"/>
                          <a:pt x="192" y="0"/>
                        </a:cubicBezTo>
                        <a:cubicBezTo>
                          <a:pt x="171" y="26"/>
                          <a:pt x="171" y="26"/>
                          <a:pt x="171" y="26"/>
                        </a:cubicBezTo>
                        <a:cubicBezTo>
                          <a:pt x="157" y="23"/>
                          <a:pt x="142" y="24"/>
                          <a:pt x="128" y="27"/>
                        </a:cubicBezTo>
                        <a:cubicBezTo>
                          <a:pt x="106" y="2"/>
                          <a:pt x="106" y="2"/>
                          <a:pt x="106" y="2"/>
                        </a:cubicBezTo>
                        <a:cubicBezTo>
                          <a:pt x="73" y="17"/>
                          <a:pt x="73" y="17"/>
                          <a:pt x="73" y="17"/>
                        </a:cubicBezTo>
                        <a:cubicBezTo>
                          <a:pt x="76" y="50"/>
                          <a:pt x="76" y="50"/>
                          <a:pt x="76" y="50"/>
                        </a:cubicBezTo>
                        <a:cubicBezTo>
                          <a:pt x="64" y="58"/>
                          <a:pt x="54" y="69"/>
                          <a:pt x="46" y="81"/>
                        </a:cubicBezTo>
                        <a:cubicBezTo>
                          <a:pt x="13" y="80"/>
                          <a:pt x="13" y="80"/>
                          <a:pt x="13" y="80"/>
                        </a:cubicBezTo>
                        <a:cubicBezTo>
                          <a:pt x="0" y="114"/>
                          <a:pt x="0" y="114"/>
                          <a:pt x="0" y="114"/>
                        </a:cubicBezTo>
                        <a:cubicBezTo>
                          <a:pt x="26" y="134"/>
                          <a:pt x="26" y="134"/>
                          <a:pt x="26" y="134"/>
                        </a:cubicBezTo>
                        <a:cubicBezTo>
                          <a:pt x="24" y="149"/>
                          <a:pt x="24" y="164"/>
                          <a:pt x="27" y="178"/>
                        </a:cubicBezTo>
                        <a:cubicBezTo>
                          <a:pt x="2" y="200"/>
                          <a:pt x="2" y="200"/>
                          <a:pt x="2" y="200"/>
                        </a:cubicBezTo>
                        <a:cubicBezTo>
                          <a:pt x="17" y="233"/>
                          <a:pt x="17" y="233"/>
                          <a:pt x="17" y="233"/>
                        </a:cubicBezTo>
                        <a:cubicBezTo>
                          <a:pt x="50" y="230"/>
                          <a:pt x="50" y="230"/>
                          <a:pt x="50" y="230"/>
                        </a:cubicBezTo>
                        <a:cubicBezTo>
                          <a:pt x="58" y="241"/>
                          <a:pt x="69" y="251"/>
                          <a:pt x="81" y="259"/>
                        </a:cubicBezTo>
                        <a:cubicBezTo>
                          <a:pt x="80" y="292"/>
                          <a:pt x="80" y="292"/>
                          <a:pt x="80" y="292"/>
                        </a:cubicBezTo>
                        <a:cubicBezTo>
                          <a:pt x="114" y="305"/>
                          <a:pt x="114" y="305"/>
                          <a:pt x="114" y="305"/>
                        </a:cubicBezTo>
                        <a:cubicBezTo>
                          <a:pt x="135" y="280"/>
                          <a:pt x="135" y="280"/>
                          <a:pt x="135" y="280"/>
                        </a:cubicBezTo>
                        <a:cubicBezTo>
                          <a:pt x="149" y="282"/>
                          <a:pt x="164" y="282"/>
                          <a:pt x="178" y="279"/>
                        </a:cubicBezTo>
                        <a:cubicBezTo>
                          <a:pt x="200" y="303"/>
                          <a:pt x="200" y="303"/>
                          <a:pt x="200" y="303"/>
                        </a:cubicBezTo>
                        <a:cubicBezTo>
                          <a:pt x="233" y="288"/>
                          <a:pt x="233" y="288"/>
                          <a:pt x="233" y="288"/>
                        </a:cubicBezTo>
                        <a:cubicBezTo>
                          <a:pt x="230" y="256"/>
                          <a:pt x="230" y="256"/>
                          <a:pt x="230" y="256"/>
                        </a:cubicBezTo>
                        <a:cubicBezTo>
                          <a:pt x="241" y="247"/>
                          <a:pt x="251" y="237"/>
                          <a:pt x="260" y="224"/>
                        </a:cubicBezTo>
                        <a:lnTo>
                          <a:pt x="292" y="226"/>
                        </a:lnTo>
                        <a:close/>
                        <a:moveTo>
                          <a:pt x="120" y="238"/>
                        </a:moveTo>
                        <a:cubicBezTo>
                          <a:pt x="73" y="220"/>
                          <a:pt x="50" y="167"/>
                          <a:pt x="68" y="120"/>
                        </a:cubicBezTo>
                        <a:cubicBezTo>
                          <a:pt x="86" y="73"/>
                          <a:pt x="139" y="50"/>
                          <a:pt x="186" y="68"/>
                        </a:cubicBezTo>
                        <a:cubicBezTo>
                          <a:pt x="232" y="86"/>
                          <a:pt x="256" y="139"/>
                          <a:pt x="238" y="185"/>
                        </a:cubicBezTo>
                        <a:cubicBezTo>
                          <a:pt x="220" y="232"/>
                          <a:pt x="167" y="256"/>
                          <a:pt x="120" y="2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IE"/>
                  </a:p>
                </p:txBody>
              </p:sp>
              <p:sp>
                <p:nvSpPr>
                  <p:cNvPr id="76" name="Freeform 24">
                    <a:extLst>
                      <a:ext uri="{FF2B5EF4-FFF2-40B4-BE49-F238E27FC236}">
                        <a16:creationId xmlns:a16="http://schemas.microsoft.com/office/drawing/2014/main" id="{40F1FA9E-AB09-DC77-8DE7-FB65DCC188D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06738" y="1670443"/>
                    <a:ext cx="69850" cy="77787"/>
                  </a:xfrm>
                  <a:custGeom>
                    <a:avLst/>
                    <a:gdLst>
                      <a:gd name="T0" fmla="*/ 5 w 56"/>
                      <a:gd name="T1" fmla="*/ 38 h 61"/>
                      <a:gd name="T2" fmla="*/ 29 w 56"/>
                      <a:gd name="T3" fmla="*/ 61 h 61"/>
                      <a:gd name="T4" fmla="*/ 51 w 56"/>
                      <a:gd name="T5" fmla="*/ 38 h 61"/>
                      <a:gd name="T6" fmla="*/ 55 w 56"/>
                      <a:gd name="T7" fmla="*/ 32 h 61"/>
                      <a:gd name="T8" fmla="*/ 53 w 56"/>
                      <a:gd name="T9" fmla="*/ 24 h 61"/>
                      <a:gd name="T10" fmla="*/ 28 w 56"/>
                      <a:gd name="T11" fmla="*/ 0 h 61"/>
                      <a:gd name="T12" fmla="*/ 3 w 56"/>
                      <a:gd name="T13" fmla="*/ 24 h 61"/>
                      <a:gd name="T14" fmla="*/ 1 w 56"/>
                      <a:gd name="T15" fmla="*/ 32 h 61"/>
                      <a:gd name="T16" fmla="*/ 5 w 56"/>
                      <a:gd name="T17" fmla="*/ 38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56" h="61">
                        <a:moveTo>
                          <a:pt x="5" y="38"/>
                        </a:moveTo>
                        <a:cubicBezTo>
                          <a:pt x="9" y="50"/>
                          <a:pt x="17" y="61"/>
                          <a:pt x="29" y="61"/>
                        </a:cubicBezTo>
                        <a:cubicBezTo>
                          <a:pt x="42" y="61"/>
                          <a:pt x="48" y="50"/>
                          <a:pt x="51" y="38"/>
                        </a:cubicBezTo>
                        <a:cubicBezTo>
                          <a:pt x="53" y="38"/>
                          <a:pt x="55" y="35"/>
                          <a:pt x="55" y="32"/>
                        </a:cubicBezTo>
                        <a:cubicBezTo>
                          <a:pt x="56" y="28"/>
                          <a:pt x="55" y="24"/>
                          <a:pt x="53" y="24"/>
                        </a:cubicBezTo>
                        <a:cubicBezTo>
                          <a:pt x="52" y="10"/>
                          <a:pt x="41" y="0"/>
                          <a:pt x="28" y="0"/>
                        </a:cubicBezTo>
                        <a:cubicBezTo>
                          <a:pt x="14" y="0"/>
                          <a:pt x="4" y="10"/>
                          <a:pt x="3" y="24"/>
                        </a:cubicBezTo>
                        <a:cubicBezTo>
                          <a:pt x="1" y="24"/>
                          <a:pt x="0" y="28"/>
                          <a:pt x="1" y="32"/>
                        </a:cubicBezTo>
                        <a:cubicBezTo>
                          <a:pt x="1" y="36"/>
                          <a:pt x="3" y="39"/>
                          <a:pt x="5" y="3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IE"/>
                  </a:p>
                </p:txBody>
              </p:sp>
              <p:sp>
                <p:nvSpPr>
                  <p:cNvPr id="77" name="Freeform 25">
                    <a:extLst>
                      <a:ext uri="{FF2B5EF4-FFF2-40B4-BE49-F238E27FC236}">
                        <a16:creationId xmlns:a16="http://schemas.microsoft.com/office/drawing/2014/main" id="{A3CB4CD2-7E1F-0E77-79F0-09F6A13DD5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35313" y="1687513"/>
                    <a:ext cx="14288" cy="14287"/>
                  </a:xfrm>
                  <a:custGeom>
                    <a:avLst/>
                    <a:gdLst>
                      <a:gd name="T0" fmla="*/ 4 w 11"/>
                      <a:gd name="T1" fmla="*/ 0 h 11"/>
                      <a:gd name="T2" fmla="*/ 0 w 11"/>
                      <a:gd name="T3" fmla="*/ 4 h 11"/>
                      <a:gd name="T4" fmla="*/ 0 w 11"/>
                      <a:gd name="T5" fmla="*/ 7 h 11"/>
                      <a:gd name="T6" fmla="*/ 4 w 11"/>
                      <a:gd name="T7" fmla="*/ 11 h 11"/>
                      <a:gd name="T8" fmla="*/ 7 w 11"/>
                      <a:gd name="T9" fmla="*/ 11 h 11"/>
                      <a:gd name="T10" fmla="*/ 11 w 11"/>
                      <a:gd name="T11" fmla="*/ 7 h 11"/>
                      <a:gd name="T12" fmla="*/ 11 w 11"/>
                      <a:gd name="T13" fmla="*/ 4 h 11"/>
                      <a:gd name="T14" fmla="*/ 7 w 11"/>
                      <a:gd name="T15" fmla="*/ 0 h 11"/>
                      <a:gd name="T16" fmla="*/ 4 w 11"/>
                      <a:gd name="T17" fmla="*/ 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1" h="11">
                        <a:moveTo>
                          <a:pt x="4" y="0"/>
                        </a:moveTo>
                        <a:cubicBezTo>
                          <a:pt x="2" y="0"/>
                          <a:pt x="0" y="2"/>
                          <a:pt x="0" y="4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9"/>
                          <a:pt x="2" y="11"/>
                          <a:pt x="4" y="11"/>
                        </a:cubicBezTo>
                        <a:cubicBezTo>
                          <a:pt x="7" y="11"/>
                          <a:pt x="7" y="11"/>
                          <a:pt x="7" y="11"/>
                        </a:cubicBezTo>
                        <a:cubicBezTo>
                          <a:pt x="9" y="11"/>
                          <a:pt x="11" y="9"/>
                          <a:pt x="11" y="7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1" y="2"/>
                          <a:pt x="9" y="0"/>
                          <a:pt x="7" y="0"/>
                        </a:cubicBezTo>
                        <a:lnTo>
                          <a:pt x="4" y="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IE"/>
                  </a:p>
                </p:txBody>
              </p:sp>
              <p:sp>
                <p:nvSpPr>
                  <p:cNvPr id="78" name="Freeform 26">
                    <a:extLst>
                      <a:ext uri="{FF2B5EF4-FFF2-40B4-BE49-F238E27FC236}">
                        <a16:creationId xmlns:a16="http://schemas.microsoft.com/office/drawing/2014/main" id="{31808029-4714-492C-A7A9-1030D5A70D1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63875" y="1736987"/>
                    <a:ext cx="160338" cy="109537"/>
                  </a:xfrm>
                  <a:custGeom>
                    <a:avLst/>
                    <a:gdLst>
                      <a:gd name="T0" fmla="*/ 105 w 127"/>
                      <a:gd name="T1" fmla="*/ 9 h 87"/>
                      <a:gd name="T2" fmla="*/ 95 w 127"/>
                      <a:gd name="T3" fmla="*/ 4 h 87"/>
                      <a:gd name="T4" fmla="*/ 81 w 127"/>
                      <a:gd name="T5" fmla="*/ 0 h 87"/>
                      <a:gd name="T6" fmla="*/ 78 w 127"/>
                      <a:gd name="T7" fmla="*/ 0 h 87"/>
                      <a:gd name="T8" fmla="*/ 68 w 127"/>
                      <a:gd name="T9" fmla="*/ 29 h 87"/>
                      <a:gd name="T10" fmla="*/ 66 w 127"/>
                      <a:gd name="T11" fmla="*/ 13 h 87"/>
                      <a:gd name="T12" fmla="*/ 64 w 127"/>
                      <a:gd name="T13" fmla="*/ 13 h 87"/>
                      <a:gd name="T14" fmla="*/ 61 w 127"/>
                      <a:gd name="T15" fmla="*/ 13 h 87"/>
                      <a:gd name="T16" fmla="*/ 59 w 127"/>
                      <a:gd name="T17" fmla="*/ 12 h 87"/>
                      <a:gd name="T18" fmla="*/ 57 w 127"/>
                      <a:gd name="T19" fmla="*/ 29 h 87"/>
                      <a:gd name="T20" fmla="*/ 44 w 127"/>
                      <a:gd name="T21" fmla="*/ 0 h 87"/>
                      <a:gd name="T22" fmla="*/ 43 w 127"/>
                      <a:gd name="T23" fmla="*/ 0 h 87"/>
                      <a:gd name="T24" fmla="*/ 29 w 127"/>
                      <a:gd name="T25" fmla="*/ 3 h 87"/>
                      <a:gd name="T26" fmla="*/ 19 w 127"/>
                      <a:gd name="T27" fmla="*/ 9 h 87"/>
                      <a:gd name="T28" fmla="*/ 0 w 127"/>
                      <a:gd name="T29" fmla="*/ 54 h 87"/>
                      <a:gd name="T30" fmla="*/ 14 w 127"/>
                      <a:gd name="T31" fmla="*/ 69 h 87"/>
                      <a:gd name="T32" fmla="*/ 22 w 127"/>
                      <a:gd name="T33" fmla="*/ 49 h 87"/>
                      <a:gd name="T34" fmla="*/ 23 w 127"/>
                      <a:gd name="T35" fmla="*/ 75 h 87"/>
                      <a:gd name="T36" fmla="*/ 65 w 127"/>
                      <a:gd name="T37" fmla="*/ 87 h 87"/>
                      <a:gd name="T38" fmla="*/ 101 w 127"/>
                      <a:gd name="T39" fmla="*/ 78 h 87"/>
                      <a:gd name="T40" fmla="*/ 102 w 127"/>
                      <a:gd name="T41" fmla="*/ 46 h 87"/>
                      <a:gd name="T42" fmla="*/ 113 w 127"/>
                      <a:gd name="T43" fmla="*/ 70 h 87"/>
                      <a:gd name="T44" fmla="*/ 127 w 127"/>
                      <a:gd name="T45" fmla="*/ 57 h 87"/>
                      <a:gd name="T46" fmla="*/ 105 w 127"/>
                      <a:gd name="T47" fmla="*/ 9 h 8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27" h="87">
                        <a:moveTo>
                          <a:pt x="105" y="9"/>
                        </a:moveTo>
                        <a:cubicBezTo>
                          <a:pt x="103" y="5"/>
                          <a:pt x="99" y="3"/>
                          <a:pt x="95" y="4"/>
                        </a:cubicBezTo>
                        <a:cubicBezTo>
                          <a:pt x="92" y="1"/>
                          <a:pt x="87" y="0"/>
                          <a:pt x="81" y="0"/>
                        </a:cubicBezTo>
                        <a:cubicBezTo>
                          <a:pt x="78" y="0"/>
                          <a:pt x="78" y="0"/>
                          <a:pt x="78" y="0"/>
                        </a:cubicBezTo>
                        <a:cubicBezTo>
                          <a:pt x="68" y="29"/>
                          <a:pt x="68" y="29"/>
                          <a:pt x="68" y="29"/>
                        </a:cubicBezTo>
                        <a:cubicBezTo>
                          <a:pt x="66" y="13"/>
                          <a:pt x="66" y="13"/>
                          <a:pt x="66" y="13"/>
                        </a:cubicBezTo>
                        <a:cubicBezTo>
                          <a:pt x="65" y="13"/>
                          <a:pt x="65" y="13"/>
                          <a:pt x="64" y="13"/>
                        </a:cubicBezTo>
                        <a:cubicBezTo>
                          <a:pt x="61" y="13"/>
                          <a:pt x="61" y="13"/>
                          <a:pt x="61" y="13"/>
                        </a:cubicBezTo>
                        <a:cubicBezTo>
                          <a:pt x="60" y="13"/>
                          <a:pt x="60" y="13"/>
                          <a:pt x="59" y="12"/>
                        </a:cubicBezTo>
                        <a:cubicBezTo>
                          <a:pt x="57" y="29"/>
                          <a:pt x="57" y="29"/>
                          <a:pt x="57" y="29"/>
                        </a:cubicBezTo>
                        <a:cubicBezTo>
                          <a:pt x="44" y="0"/>
                          <a:pt x="44" y="0"/>
                          <a:pt x="44" y="0"/>
                        </a:cubicBezTo>
                        <a:cubicBezTo>
                          <a:pt x="43" y="0"/>
                          <a:pt x="43" y="0"/>
                          <a:pt x="43" y="0"/>
                        </a:cubicBezTo>
                        <a:cubicBezTo>
                          <a:pt x="38" y="0"/>
                          <a:pt x="33" y="1"/>
                          <a:pt x="29" y="3"/>
                        </a:cubicBezTo>
                        <a:cubicBezTo>
                          <a:pt x="25" y="2"/>
                          <a:pt x="20" y="4"/>
                          <a:pt x="19" y="9"/>
                        </a:cubicBezTo>
                        <a:cubicBezTo>
                          <a:pt x="0" y="54"/>
                          <a:pt x="0" y="54"/>
                          <a:pt x="0" y="54"/>
                        </a:cubicBezTo>
                        <a:cubicBezTo>
                          <a:pt x="4" y="59"/>
                          <a:pt x="9" y="64"/>
                          <a:pt x="14" y="69"/>
                        </a:cubicBezTo>
                        <a:cubicBezTo>
                          <a:pt x="22" y="49"/>
                          <a:pt x="22" y="49"/>
                          <a:pt x="22" y="49"/>
                        </a:cubicBezTo>
                        <a:cubicBezTo>
                          <a:pt x="23" y="75"/>
                          <a:pt x="23" y="75"/>
                          <a:pt x="23" y="75"/>
                        </a:cubicBezTo>
                        <a:cubicBezTo>
                          <a:pt x="35" y="83"/>
                          <a:pt x="49" y="87"/>
                          <a:pt x="65" y="87"/>
                        </a:cubicBezTo>
                        <a:cubicBezTo>
                          <a:pt x="78" y="87"/>
                          <a:pt x="90" y="84"/>
                          <a:pt x="101" y="78"/>
                        </a:cubicBezTo>
                        <a:cubicBezTo>
                          <a:pt x="102" y="46"/>
                          <a:pt x="102" y="46"/>
                          <a:pt x="102" y="46"/>
                        </a:cubicBezTo>
                        <a:cubicBezTo>
                          <a:pt x="113" y="70"/>
                          <a:pt x="113" y="70"/>
                          <a:pt x="113" y="70"/>
                        </a:cubicBezTo>
                        <a:cubicBezTo>
                          <a:pt x="118" y="66"/>
                          <a:pt x="123" y="62"/>
                          <a:pt x="127" y="57"/>
                        </a:cubicBezTo>
                        <a:lnTo>
                          <a:pt x="105" y="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/>
                  <a:lstStyle/>
                  <a:p>
                    <a:endParaRPr lang="en-IE"/>
                  </a:p>
                </p:txBody>
              </p:sp>
            </p:grpSp>
          </p:grp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B83E73D1-00BF-3EF3-9A94-75B595DE9128}"/>
                </a:ext>
              </a:extLst>
            </p:cNvPr>
            <p:cNvGrpSpPr/>
            <p:nvPr/>
          </p:nvGrpSpPr>
          <p:grpSpPr>
            <a:xfrm>
              <a:off x="4022679" y="3343277"/>
              <a:ext cx="1125682" cy="816628"/>
              <a:chOff x="7706844" y="3904457"/>
              <a:chExt cx="1639521" cy="816454"/>
            </a:xfrm>
          </p:grpSpPr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7FADF918-8600-0E13-9BB3-84E58FEA0A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04941" y="4061904"/>
                <a:ext cx="1296650" cy="605661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rgbClr val="C0000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kumimoji="1" lang="zh-CN" altLang="en-US">
                  <a:sym typeface="+mn-ea"/>
                </a:endParaRPr>
              </a:p>
            </p:txBody>
          </p: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C0F13452-568B-37CB-5E6E-4CC1DE84D727}"/>
                  </a:ext>
                </a:extLst>
              </p:cNvPr>
              <p:cNvGrpSpPr/>
              <p:nvPr/>
            </p:nvGrpSpPr>
            <p:grpSpPr>
              <a:xfrm>
                <a:off x="7706844" y="3904457"/>
                <a:ext cx="1639521" cy="816454"/>
                <a:chOff x="7747229" y="4392419"/>
                <a:chExt cx="1639521" cy="816454"/>
              </a:xfrm>
            </p:grpSpPr>
            <p:sp>
              <p:nvSpPr>
                <p:cNvPr id="82" name="PA-文本框 39">
                  <a:extLst>
                    <a:ext uri="{FF2B5EF4-FFF2-40B4-BE49-F238E27FC236}">
                      <a16:creationId xmlns:a16="http://schemas.microsoft.com/office/drawing/2014/main" id="{6C9CEDC0-5F51-6696-40BC-2986C38035BA}"/>
                    </a:ext>
                  </a:extLst>
                </p:cNvPr>
                <p:cNvSpPr txBox="1"/>
                <p:nvPr>
                  <p:custDataLst>
                    <p:tags r:id="rId2"/>
                  </p:custDataLst>
                </p:nvPr>
              </p:nvSpPr>
              <p:spPr>
                <a:xfrm>
                  <a:off x="7747229" y="4752242"/>
                  <a:ext cx="1639521" cy="4566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 defTabSz="912495">
                    <a:lnSpc>
                      <a:spcPct val="130000"/>
                    </a:lnSpc>
                  </a:pPr>
                  <a:r>
                    <a:rPr kumimoji="1" lang="zh-CN" altLang="en-US" sz="1200" b="1" dirty="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Arial" panose="020B0604020202020204" pitchFamily="34" charset="0"/>
                    </a:rPr>
                    <a:t>第三方结构安全数字化公司</a:t>
                  </a:r>
                </a:p>
              </p:txBody>
            </p:sp>
            <p:sp>
              <p:nvSpPr>
                <p:cNvPr id="83" name="call-service_78940">
                  <a:extLst>
                    <a:ext uri="{FF2B5EF4-FFF2-40B4-BE49-F238E27FC236}">
                      <a16:creationId xmlns:a16="http://schemas.microsoft.com/office/drawing/2014/main" id="{F76FD8C5-4E80-EC0E-D4F4-85D400FFB4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73158" y="4392419"/>
                  <a:ext cx="488325" cy="289498"/>
                </a:xfrm>
                <a:custGeom>
                  <a:avLst/>
                  <a:gdLst>
                    <a:gd name="connsiteX0" fmla="*/ 118917 w 609636"/>
                    <a:gd name="connsiteY0" fmla="*/ 393216 h 545782"/>
                    <a:gd name="connsiteX1" fmla="*/ 174550 w 609636"/>
                    <a:gd name="connsiteY1" fmla="*/ 418697 h 545782"/>
                    <a:gd name="connsiteX2" fmla="*/ 227316 w 609636"/>
                    <a:gd name="connsiteY2" fmla="*/ 427477 h 545782"/>
                    <a:gd name="connsiteX3" fmla="*/ 299964 w 609636"/>
                    <a:gd name="connsiteY3" fmla="*/ 405814 h 545782"/>
                    <a:gd name="connsiteX4" fmla="*/ 376149 w 609636"/>
                    <a:gd name="connsiteY4" fmla="*/ 509838 h 545782"/>
                    <a:gd name="connsiteX5" fmla="*/ 351295 w 609636"/>
                    <a:gd name="connsiteY5" fmla="*/ 544482 h 545782"/>
                    <a:gd name="connsiteX6" fmla="*/ 4878 w 609636"/>
                    <a:gd name="connsiteY6" fmla="*/ 533507 h 545782"/>
                    <a:gd name="connsiteX7" fmla="*/ 10805 w 609636"/>
                    <a:gd name="connsiteY7" fmla="*/ 482162 h 545782"/>
                    <a:gd name="connsiteX8" fmla="*/ 118917 w 609636"/>
                    <a:gd name="connsiteY8" fmla="*/ 393216 h 545782"/>
                    <a:gd name="connsiteX9" fmla="*/ 98492 w 609636"/>
                    <a:gd name="connsiteY9" fmla="*/ 235673 h 545782"/>
                    <a:gd name="connsiteX10" fmla="*/ 98488 w 609636"/>
                    <a:gd name="connsiteY10" fmla="*/ 238815 h 545782"/>
                    <a:gd name="connsiteX11" fmla="*/ 98423 w 609636"/>
                    <a:gd name="connsiteY11" fmla="*/ 235889 h 545782"/>
                    <a:gd name="connsiteX12" fmla="*/ 98504 w 609636"/>
                    <a:gd name="connsiteY12" fmla="*/ 226493 h 545782"/>
                    <a:gd name="connsiteX13" fmla="*/ 98510 w 609636"/>
                    <a:gd name="connsiteY13" fmla="*/ 229206 h 545782"/>
                    <a:gd name="connsiteX14" fmla="*/ 98513 w 609636"/>
                    <a:gd name="connsiteY14" fmla="*/ 235609 h 545782"/>
                    <a:gd name="connsiteX15" fmla="*/ 98492 w 609636"/>
                    <a:gd name="connsiteY15" fmla="*/ 235673 h 545782"/>
                    <a:gd name="connsiteX16" fmla="*/ 188983 w 609636"/>
                    <a:gd name="connsiteY16" fmla="*/ 142005 h 545782"/>
                    <a:gd name="connsiteX17" fmla="*/ 279040 w 609636"/>
                    <a:gd name="connsiteY17" fmla="*/ 235889 h 545782"/>
                    <a:gd name="connsiteX18" fmla="*/ 242133 w 609636"/>
                    <a:gd name="connsiteY18" fmla="*/ 364933 h 545782"/>
                    <a:gd name="connsiteX19" fmla="*/ 213353 w 609636"/>
                    <a:gd name="connsiteY19" fmla="*/ 372473 h 545782"/>
                    <a:gd name="connsiteX20" fmla="*/ 176254 w 609636"/>
                    <a:gd name="connsiteY20" fmla="*/ 386122 h 545782"/>
                    <a:gd name="connsiteX21" fmla="*/ 98519 w 609636"/>
                    <a:gd name="connsiteY21" fmla="*/ 292202 h 545782"/>
                    <a:gd name="connsiteX22" fmla="*/ 98515 w 609636"/>
                    <a:gd name="connsiteY22" fmla="*/ 239986 h 545782"/>
                    <a:gd name="connsiteX23" fmla="*/ 98513 w 609636"/>
                    <a:gd name="connsiteY23" fmla="*/ 235609 h 545782"/>
                    <a:gd name="connsiteX24" fmla="*/ 111718 w 609636"/>
                    <a:gd name="connsiteY24" fmla="*/ 194404 h 545782"/>
                    <a:gd name="connsiteX25" fmla="*/ 188983 w 609636"/>
                    <a:gd name="connsiteY25" fmla="*/ 142005 h 545782"/>
                    <a:gd name="connsiteX26" fmla="*/ 192634 w 609636"/>
                    <a:gd name="connsiteY26" fmla="*/ 86711 h 545782"/>
                    <a:gd name="connsiteX27" fmla="*/ 266696 w 609636"/>
                    <a:gd name="connsiteY27" fmla="*/ 110601 h 545782"/>
                    <a:gd name="connsiteX28" fmla="*/ 294325 w 609636"/>
                    <a:gd name="connsiteY28" fmla="*/ 136084 h 545782"/>
                    <a:gd name="connsiteX29" fmla="*/ 312106 w 609636"/>
                    <a:gd name="connsiteY29" fmla="*/ 164334 h 545782"/>
                    <a:gd name="connsiteX30" fmla="*/ 320902 w 609636"/>
                    <a:gd name="connsiteY30" fmla="*/ 190771 h 545782"/>
                    <a:gd name="connsiteX31" fmla="*/ 323387 w 609636"/>
                    <a:gd name="connsiteY31" fmla="*/ 222170 h 545782"/>
                    <a:gd name="connsiteX32" fmla="*/ 330844 w 609636"/>
                    <a:gd name="connsiteY32" fmla="*/ 232191 h 545782"/>
                    <a:gd name="connsiteX33" fmla="*/ 370805 w 609636"/>
                    <a:gd name="connsiteY33" fmla="*/ 272658 h 545782"/>
                    <a:gd name="connsiteX34" fmla="*/ 330844 w 609636"/>
                    <a:gd name="connsiteY34" fmla="*/ 313220 h 545782"/>
                    <a:gd name="connsiteX35" fmla="*/ 322814 w 609636"/>
                    <a:gd name="connsiteY35" fmla="*/ 323527 h 545782"/>
                    <a:gd name="connsiteX36" fmla="*/ 322814 w 609636"/>
                    <a:gd name="connsiteY36" fmla="*/ 334789 h 545782"/>
                    <a:gd name="connsiteX37" fmla="*/ 220043 w 609636"/>
                    <a:gd name="connsiteY37" fmla="*/ 408373 h 545782"/>
                    <a:gd name="connsiteX38" fmla="*/ 187156 w 609636"/>
                    <a:gd name="connsiteY38" fmla="*/ 403983 h 545782"/>
                    <a:gd name="connsiteX39" fmla="*/ 216315 w 609636"/>
                    <a:gd name="connsiteY39" fmla="*/ 392626 h 545782"/>
                    <a:gd name="connsiteX40" fmla="*/ 306657 w 609636"/>
                    <a:gd name="connsiteY40" fmla="*/ 334789 h 545782"/>
                    <a:gd name="connsiteX41" fmla="*/ 306657 w 609636"/>
                    <a:gd name="connsiteY41" fmla="*/ 322477 h 545782"/>
                    <a:gd name="connsiteX42" fmla="*/ 299296 w 609636"/>
                    <a:gd name="connsiteY42" fmla="*/ 309402 h 545782"/>
                    <a:gd name="connsiteX43" fmla="*/ 305414 w 609636"/>
                    <a:gd name="connsiteY43" fmla="*/ 223697 h 545782"/>
                    <a:gd name="connsiteX44" fmla="*/ 270998 w 609636"/>
                    <a:gd name="connsiteY44" fmla="*/ 156889 h 545782"/>
                    <a:gd name="connsiteX45" fmla="*/ 219947 w 609636"/>
                    <a:gd name="connsiteY45" fmla="*/ 126826 h 545782"/>
                    <a:gd name="connsiteX46" fmla="*/ 106565 w 609636"/>
                    <a:gd name="connsiteY46" fmla="*/ 156889 h 545782"/>
                    <a:gd name="connsiteX47" fmla="*/ 72053 w 609636"/>
                    <a:gd name="connsiteY47" fmla="*/ 223697 h 545782"/>
                    <a:gd name="connsiteX48" fmla="*/ 78267 w 609636"/>
                    <a:gd name="connsiteY48" fmla="*/ 236009 h 545782"/>
                    <a:gd name="connsiteX49" fmla="*/ 78267 w 609636"/>
                    <a:gd name="connsiteY49" fmla="*/ 309402 h 545782"/>
                    <a:gd name="connsiteX50" fmla="*/ 62015 w 609636"/>
                    <a:gd name="connsiteY50" fmla="*/ 325531 h 545782"/>
                    <a:gd name="connsiteX51" fmla="*/ 46624 w 609636"/>
                    <a:gd name="connsiteY51" fmla="*/ 313220 h 545782"/>
                    <a:gd name="connsiteX52" fmla="*/ 6758 w 609636"/>
                    <a:gd name="connsiteY52" fmla="*/ 272658 h 545782"/>
                    <a:gd name="connsiteX53" fmla="*/ 46624 w 609636"/>
                    <a:gd name="connsiteY53" fmla="*/ 232191 h 545782"/>
                    <a:gd name="connsiteX54" fmla="*/ 54176 w 609636"/>
                    <a:gd name="connsiteY54" fmla="*/ 222266 h 545782"/>
                    <a:gd name="connsiteX55" fmla="*/ 192634 w 609636"/>
                    <a:gd name="connsiteY55" fmla="*/ 86711 h 545782"/>
                    <a:gd name="connsiteX56" fmla="*/ 423756 w 609636"/>
                    <a:gd name="connsiteY56" fmla="*/ 54008 h 545782"/>
                    <a:gd name="connsiteX57" fmla="*/ 516594 w 609636"/>
                    <a:gd name="connsiteY57" fmla="*/ 177412 h 545782"/>
                    <a:gd name="connsiteX58" fmla="*/ 459228 w 609636"/>
                    <a:gd name="connsiteY58" fmla="*/ 291464 h 545782"/>
                    <a:gd name="connsiteX59" fmla="*/ 439054 w 609636"/>
                    <a:gd name="connsiteY59" fmla="*/ 284401 h 545782"/>
                    <a:gd name="connsiteX60" fmla="*/ 411326 w 609636"/>
                    <a:gd name="connsiteY60" fmla="*/ 299576 h 545782"/>
                    <a:gd name="connsiteX61" fmla="*/ 387902 w 609636"/>
                    <a:gd name="connsiteY61" fmla="*/ 291273 h 545782"/>
                    <a:gd name="connsiteX62" fmla="*/ 391057 w 609636"/>
                    <a:gd name="connsiteY62" fmla="*/ 272662 h 545782"/>
                    <a:gd name="connsiteX63" fmla="*/ 343825 w 609636"/>
                    <a:gd name="connsiteY63" fmla="*/ 213584 h 545782"/>
                    <a:gd name="connsiteX64" fmla="*/ 340670 w 609636"/>
                    <a:gd name="connsiteY64" fmla="*/ 186575 h 545782"/>
                    <a:gd name="connsiteX65" fmla="*/ 332065 w 609636"/>
                    <a:gd name="connsiteY65" fmla="*/ 159756 h 545782"/>
                    <a:gd name="connsiteX66" fmla="*/ 423756 w 609636"/>
                    <a:gd name="connsiteY66" fmla="*/ 54008 h 545782"/>
                    <a:gd name="connsiteX67" fmla="*/ 431710 w 609636"/>
                    <a:gd name="connsiteY67" fmla="*/ 171 h 545782"/>
                    <a:gd name="connsiteX68" fmla="*/ 529302 w 609636"/>
                    <a:gd name="connsiteY68" fmla="*/ 49370 h 545782"/>
                    <a:gd name="connsiteX69" fmla="*/ 547083 w 609636"/>
                    <a:gd name="connsiteY69" fmla="*/ 77623 h 545782"/>
                    <a:gd name="connsiteX70" fmla="*/ 558363 w 609636"/>
                    <a:gd name="connsiteY70" fmla="*/ 135561 h 545782"/>
                    <a:gd name="connsiteX71" fmla="*/ 565915 w 609636"/>
                    <a:gd name="connsiteY71" fmla="*/ 145488 h 545782"/>
                    <a:gd name="connsiteX72" fmla="*/ 605778 w 609636"/>
                    <a:gd name="connsiteY72" fmla="*/ 186054 h 545782"/>
                    <a:gd name="connsiteX73" fmla="*/ 565915 w 609636"/>
                    <a:gd name="connsiteY73" fmla="*/ 226524 h 545782"/>
                    <a:gd name="connsiteX74" fmla="*/ 557885 w 609636"/>
                    <a:gd name="connsiteY74" fmla="*/ 236928 h 545782"/>
                    <a:gd name="connsiteX75" fmla="*/ 557885 w 609636"/>
                    <a:gd name="connsiteY75" fmla="*/ 248096 h 545782"/>
                    <a:gd name="connsiteX76" fmla="*/ 512860 w 609636"/>
                    <a:gd name="connsiteY76" fmla="*/ 306511 h 545782"/>
                    <a:gd name="connsiteX77" fmla="*/ 501676 w 609636"/>
                    <a:gd name="connsiteY77" fmla="*/ 309470 h 545782"/>
                    <a:gd name="connsiteX78" fmla="*/ 608263 w 609636"/>
                    <a:gd name="connsiteY78" fmla="*/ 422578 h 545782"/>
                    <a:gd name="connsiteX79" fmla="*/ 583791 w 609636"/>
                    <a:gd name="connsiteY79" fmla="*/ 456654 h 545782"/>
                    <a:gd name="connsiteX80" fmla="*/ 388779 w 609636"/>
                    <a:gd name="connsiteY80" fmla="*/ 456654 h 545782"/>
                    <a:gd name="connsiteX81" fmla="*/ 324922 w 609636"/>
                    <a:gd name="connsiteY81" fmla="*/ 385353 h 545782"/>
                    <a:gd name="connsiteX82" fmla="*/ 343085 w 609636"/>
                    <a:gd name="connsiteY82" fmla="*/ 332760 h 545782"/>
                    <a:gd name="connsiteX83" fmla="*/ 343850 w 609636"/>
                    <a:gd name="connsiteY83" fmla="*/ 331806 h 545782"/>
                    <a:gd name="connsiteX84" fmla="*/ 370425 w 609636"/>
                    <a:gd name="connsiteY84" fmla="*/ 318061 h 545782"/>
                    <a:gd name="connsiteX85" fmla="*/ 409619 w 609636"/>
                    <a:gd name="connsiteY85" fmla="*/ 331996 h 545782"/>
                    <a:gd name="connsiteX86" fmla="*/ 471755 w 609636"/>
                    <a:gd name="connsiteY86" fmla="*/ 321115 h 545782"/>
                    <a:gd name="connsiteX87" fmla="*/ 483322 w 609636"/>
                    <a:gd name="connsiteY87" fmla="*/ 314243 h 545782"/>
                    <a:gd name="connsiteX88" fmla="*/ 455026 w 609636"/>
                    <a:gd name="connsiteY88" fmla="*/ 321783 h 545782"/>
                    <a:gd name="connsiteX89" fmla="*/ 422141 w 609636"/>
                    <a:gd name="connsiteY89" fmla="*/ 317393 h 545782"/>
                    <a:gd name="connsiteX90" fmla="*/ 451393 w 609636"/>
                    <a:gd name="connsiteY90" fmla="*/ 306034 h 545782"/>
                    <a:gd name="connsiteX91" fmla="*/ 541634 w 609636"/>
                    <a:gd name="connsiteY91" fmla="*/ 248096 h 545782"/>
                    <a:gd name="connsiteX92" fmla="*/ 541634 w 609636"/>
                    <a:gd name="connsiteY92" fmla="*/ 235878 h 545782"/>
                    <a:gd name="connsiteX93" fmla="*/ 540009 w 609636"/>
                    <a:gd name="connsiteY93" fmla="*/ 234733 h 545782"/>
                    <a:gd name="connsiteX94" fmla="*/ 534369 w 609636"/>
                    <a:gd name="connsiteY94" fmla="*/ 222706 h 545782"/>
                    <a:gd name="connsiteX95" fmla="*/ 534369 w 609636"/>
                    <a:gd name="connsiteY95" fmla="*/ 149401 h 545782"/>
                    <a:gd name="connsiteX96" fmla="*/ 540487 w 609636"/>
                    <a:gd name="connsiteY96" fmla="*/ 136992 h 545782"/>
                    <a:gd name="connsiteX97" fmla="*/ 310296 w 609636"/>
                    <a:gd name="connsiteY97" fmla="*/ 123630 h 545782"/>
                    <a:gd name="connsiteX98" fmla="*/ 309723 w 609636"/>
                    <a:gd name="connsiteY98" fmla="*/ 122866 h 545782"/>
                    <a:gd name="connsiteX99" fmla="*/ 291560 w 609636"/>
                    <a:gd name="connsiteY99" fmla="*/ 104540 h 545782"/>
                    <a:gd name="connsiteX100" fmla="*/ 291656 w 609636"/>
                    <a:gd name="connsiteY100" fmla="*/ 104158 h 545782"/>
                    <a:gd name="connsiteX101" fmla="*/ 431710 w 609636"/>
                    <a:gd name="connsiteY101" fmla="*/ 171 h 5457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</a:cxnLst>
                  <a:rect l="l" t="t" r="r" b="b"/>
                  <a:pathLst>
                    <a:path w="609636" h="545782">
                      <a:moveTo>
                        <a:pt x="118917" y="393216"/>
                      </a:moveTo>
                      <a:cubicBezTo>
                        <a:pt x="135167" y="406863"/>
                        <a:pt x="154094" y="415739"/>
                        <a:pt x="174550" y="418697"/>
                      </a:cubicBezTo>
                      <a:cubicBezTo>
                        <a:pt x="184778" y="439025"/>
                        <a:pt x="211352" y="443224"/>
                        <a:pt x="227316" y="427477"/>
                      </a:cubicBezTo>
                      <a:cubicBezTo>
                        <a:pt x="280846" y="413258"/>
                        <a:pt x="286008" y="413162"/>
                        <a:pt x="299964" y="405814"/>
                      </a:cubicBezTo>
                      <a:cubicBezTo>
                        <a:pt x="355310" y="433490"/>
                        <a:pt x="366303" y="480826"/>
                        <a:pt x="376149" y="509838"/>
                      </a:cubicBezTo>
                      <a:cubicBezTo>
                        <a:pt x="381884" y="526731"/>
                        <a:pt x="369266" y="544482"/>
                        <a:pt x="351295" y="544482"/>
                      </a:cubicBezTo>
                      <a:cubicBezTo>
                        <a:pt x="16732" y="544482"/>
                        <a:pt x="17592" y="551353"/>
                        <a:pt x="4878" y="533507"/>
                      </a:cubicBezTo>
                      <a:cubicBezTo>
                        <a:pt x="-5732" y="518809"/>
                        <a:pt x="3158" y="504589"/>
                        <a:pt x="10805" y="482162"/>
                      </a:cubicBezTo>
                      <a:cubicBezTo>
                        <a:pt x="27151" y="433872"/>
                        <a:pt x="69497" y="399992"/>
                        <a:pt x="118917" y="393216"/>
                      </a:cubicBezTo>
                      <a:close/>
                      <a:moveTo>
                        <a:pt x="98492" y="235673"/>
                      </a:moveTo>
                      <a:lnTo>
                        <a:pt x="98488" y="238815"/>
                      </a:lnTo>
                      <a:cubicBezTo>
                        <a:pt x="98460" y="273695"/>
                        <a:pt x="98423" y="362356"/>
                        <a:pt x="98423" y="235889"/>
                      </a:cubicBezTo>
                      <a:close/>
                      <a:moveTo>
                        <a:pt x="98504" y="226493"/>
                      </a:moveTo>
                      <a:cubicBezTo>
                        <a:pt x="98506" y="226232"/>
                        <a:pt x="98508" y="227047"/>
                        <a:pt x="98510" y="229206"/>
                      </a:cubicBezTo>
                      <a:lnTo>
                        <a:pt x="98513" y="235609"/>
                      </a:lnTo>
                      <a:lnTo>
                        <a:pt x="98492" y="235673"/>
                      </a:lnTo>
                      <a:close/>
                      <a:moveTo>
                        <a:pt x="188983" y="142005"/>
                      </a:moveTo>
                      <a:cubicBezTo>
                        <a:pt x="228627" y="142422"/>
                        <a:pt x="268188" y="174135"/>
                        <a:pt x="279040" y="235889"/>
                      </a:cubicBezTo>
                      <a:cubicBezTo>
                        <a:pt x="279040" y="273590"/>
                        <a:pt x="285351" y="324368"/>
                        <a:pt x="242133" y="364933"/>
                      </a:cubicBezTo>
                      <a:lnTo>
                        <a:pt x="213353" y="372473"/>
                      </a:lnTo>
                      <a:cubicBezTo>
                        <a:pt x="198150" y="367987"/>
                        <a:pt x="183903" y="374382"/>
                        <a:pt x="176254" y="386122"/>
                      </a:cubicBezTo>
                      <a:cubicBezTo>
                        <a:pt x="138008" y="379345"/>
                        <a:pt x="107124" y="341453"/>
                        <a:pt x="98519" y="292202"/>
                      </a:cubicBezTo>
                      <a:cubicBezTo>
                        <a:pt x="98519" y="266909"/>
                        <a:pt x="98517" y="250220"/>
                        <a:pt x="98515" y="239986"/>
                      </a:cubicBezTo>
                      <a:lnTo>
                        <a:pt x="98513" y="235609"/>
                      </a:lnTo>
                      <a:lnTo>
                        <a:pt x="111718" y="194404"/>
                      </a:lnTo>
                      <a:cubicBezTo>
                        <a:pt x="129469" y="158982"/>
                        <a:pt x="159249" y="141692"/>
                        <a:pt x="188983" y="142005"/>
                      </a:cubicBezTo>
                      <a:close/>
                      <a:moveTo>
                        <a:pt x="192634" y="86711"/>
                      </a:moveTo>
                      <a:cubicBezTo>
                        <a:pt x="217725" y="87075"/>
                        <a:pt x="243322" y="94424"/>
                        <a:pt x="266696" y="110601"/>
                      </a:cubicBezTo>
                      <a:cubicBezTo>
                        <a:pt x="277403" y="118141"/>
                        <a:pt x="286963" y="126730"/>
                        <a:pt x="294325" y="136084"/>
                      </a:cubicBezTo>
                      <a:cubicBezTo>
                        <a:pt x="302068" y="145150"/>
                        <a:pt x="307613" y="155076"/>
                        <a:pt x="312106" y="164334"/>
                      </a:cubicBezTo>
                      <a:cubicBezTo>
                        <a:pt x="316313" y="173687"/>
                        <a:pt x="319085" y="182754"/>
                        <a:pt x="320902" y="190771"/>
                      </a:cubicBezTo>
                      <a:cubicBezTo>
                        <a:pt x="323005" y="200601"/>
                        <a:pt x="324152" y="212531"/>
                        <a:pt x="323387" y="222170"/>
                      </a:cubicBezTo>
                      <a:cubicBezTo>
                        <a:pt x="327116" y="224365"/>
                        <a:pt x="329792" y="227897"/>
                        <a:pt x="330844" y="232191"/>
                      </a:cubicBezTo>
                      <a:cubicBezTo>
                        <a:pt x="353023" y="232669"/>
                        <a:pt x="370805" y="250611"/>
                        <a:pt x="370805" y="272658"/>
                      </a:cubicBezTo>
                      <a:cubicBezTo>
                        <a:pt x="370805" y="294800"/>
                        <a:pt x="353023" y="312743"/>
                        <a:pt x="330844" y="313220"/>
                      </a:cubicBezTo>
                      <a:cubicBezTo>
                        <a:pt x="329792" y="317705"/>
                        <a:pt x="326829" y="321428"/>
                        <a:pt x="322814" y="323527"/>
                      </a:cubicBezTo>
                      <a:lnTo>
                        <a:pt x="322814" y="334789"/>
                      </a:lnTo>
                      <a:cubicBezTo>
                        <a:pt x="322814" y="390144"/>
                        <a:pt x="270042" y="395202"/>
                        <a:pt x="220043" y="408373"/>
                      </a:cubicBezTo>
                      <a:cubicBezTo>
                        <a:pt x="214689" y="427652"/>
                        <a:pt x="187156" y="423262"/>
                        <a:pt x="187156" y="403983"/>
                      </a:cubicBezTo>
                      <a:cubicBezTo>
                        <a:pt x="187156" y="388808"/>
                        <a:pt x="205798" y="381268"/>
                        <a:pt x="216315" y="392626"/>
                      </a:cubicBezTo>
                      <a:cubicBezTo>
                        <a:pt x="264688" y="379837"/>
                        <a:pt x="306657" y="377260"/>
                        <a:pt x="306657" y="334789"/>
                      </a:cubicBezTo>
                      <a:lnTo>
                        <a:pt x="306657" y="322477"/>
                      </a:lnTo>
                      <a:cubicBezTo>
                        <a:pt x="302259" y="319614"/>
                        <a:pt x="299296" y="314938"/>
                        <a:pt x="299296" y="309402"/>
                      </a:cubicBezTo>
                      <a:cubicBezTo>
                        <a:pt x="299296" y="238109"/>
                        <a:pt x="295854" y="231428"/>
                        <a:pt x="305414" y="223697"/>
                      </a:cubicBezTo>
                      <a:cubicBezTo>
                        <a:pt x="301017" y="197547"/>
                        <a:pt x="287537" y="173114"/>
                        <a:pt x="270998" y="156889"/>
                      </a:cubicBezTo>
                      <a:cubicBezTo>
                        <a:pt x="256084" y="141046"/>
                        <a:pt x="238207" y="132743"/>
                        <a:pt x="219947" y="126826"/>
                      </a:cubicBezTo>
                      <a:cubicBezTo>
                        <a:pt x="172721" y="115373"/>
                        <a:pt x="131326" y="130548"/>
                        <a:pt x="106565" y="156889"/>
                      </a:cubicBezTo>
                      <a:cubicBezTo>
                        <a:pt x="89644" y="173496"/>
                        <a:pt x="76164" y="198406"/>
                        <a:pt x="72053" y="223697"/>
                      </a:cubicBezTo>
                      <a:cubicBezTo>
                        <a:pt x="75686" y="226656"/>
                        <a:pt x="78267" y="230951"/>
                        <a:pt x="78267" y="236009"/>
                      </a:cubicBezTo>
                      <a:lnTo>
                        <a:pt x="78267" y="309402"/>
                      </a:lnTo>
                      <a:cubicBezTo>
                        <a:pt x="78267" y="318278"/>
                        <a:pt x="71002" y="325531"/>
                        <a:pt x="62015" y="325531"/>
                      </a:cubicBezTo>
                      <a:cubicBezTo>
                        <a:pt x="54463" y="325531"/>
                        <a:pt x="48440" y="320187"/>
                        <a:pt x="46624" y="313220"/>
                      </a:cubicBezTo>
                      <a:cubicBezTo>
                        <a:pt x="24540" y="312838"/>
                        <a:pt x="6758" y="294895"/>
                        <a:pt x="6758" y="272658"/>
                      </a:cubicBezTo>
                      <a:cubicBezTo>
                        <a:pt x="6758" y="250516"/>
                        <a:pt x="24540" y="232573"/>
                        <a:pt x="46624" y="232191"/>
                      </a:cubicBezTo>
                      <a:cubicBezTo>
                        <a:pt x="47771" y="227897"/>
                        <a:pt x="50352" y="224365"/>
                        <a:pt x="54176" y="222266"/>
                      </a:cubicBezTo>
                      <a:cubicBezTo>
                        <a:pt x="46647" y="147394"/>
                        <a:pt x="117362" y="85620"/>
                        <a:pt x="192634" y="86711"/>
                      </a:cubicBezTo>
                      <a:close/>
                      <a:moveTo>
                        <a:pt x="423756" y="54008"/>
                      </a:moveTo>
                      <a:cubicBezTo>
                        <a:pt x="475003" y="54008"/>
                        <a:pt x="516594" y="109268"/>
                        <a:pt x="516594" y="177412"/>
                      </a:cubicBezTo>
                      <a:cubicBezTo>
                        <a:pt x="516594" y="228855"/>
                        <a:pt x="492883" y="272948"/>
                        <a:pt x="459228" y="291464"/>
                      </a:cubicBezTo>
                      <a:cubicBezTo>
                        <a:pt x="453586" y="287073"/>
                        <a:pt x="446703" y="284401"/>
                        <a:pt x="439054" y="284401"/>
                      </a:cubicBezTo>
                      <a:cubicBezTo>
                        <a:pt x="427389" y="284401"/>
                        <a:pt x="417254" y="290509"/>
                        <a:pt x="411326" y="299576"/>
                      </a:cubicBezTo>
                      <a:cubicBezTo>
                        <a:pt x="403104" y="298144"/>
                        <a:pt x="395264" y="295377"/>
                        <a:pt x="387902" y="291273"/>
                      </a:cubicBezTo>
                      <a:cubicBezTo>
                        <a:pt x="389814" y="285355"/>
                        <a:pt x="391057" y="279152"/>
                        <a:pt x="391057" y="272662"/>
                      </a:cubicBezTo>
                      <a:cubicBezTo>
                        <a:pt x="391057" y="244221"/>
                        <a:pt x="370787" y="219883"/>
                        <a:pt x="343825" y="213584"/>
                      </a:cubicBezTo>
                      <a:cubicBezTo>
                        <a:pt x="343443" y="203658"/>
                        <a:pt x="342965" y="197073"/>
                        <a:pt x="340670" y="186575"/>
                      </a:cubicBezTo>
                      <a:cubicBezTo>
                        <a:pt x="338662" y="177317"/>
                        <a:pt x="335698" y="168441"/>
                        <a:pt x="332065" y="159756"/>
                      </a:cubicBezTo>
                      <a:cubicBezTo>
                        <a:pt x="338471" y="100010"/>
                        <a:pt x="377002" y="54008"/>
                        <a:pt x="423756" y="54008"/>
                      </a:cubicBezTo>
                      <a:close/>
                      <a:moveTo>
                        <a:pt x="431710" y="171"/>
                      </a:moveTo>
                      <a:cubicBezTo>
                        <a:pt x="468522" y="1970"/>
                        <a:pt x="504639" y="17979"/>
                        <a:pt x="529302" y="49370"/>
                      </a:cubicBezTo>
                      <a:cubicBezTo>
                        <a:pt x="537141" y="58533"/>
                        <a:pt x="542686" y="68364"/>
                        <a:pt x="547083" y="77623"/>
                      </a:cubicBezTo>
                      <a:cubicBezTo>
                        <a:pt x="556355" y="98049"/>
                        <a:pt x="559701" y="119525"/>
                        <a:pt x="558363" y="135561"/>
                      </a:cubicBezTo>
                      <a:cubicBezTo>
                        <a:pt x="562187" y="137661"/>
                        <a:pt x="564863" y="141192"/>
                        <a:pt x="565915" y="145488"/>
                      </a:cubicBezTo>
                      <a:cubicBezTo>
                        <a:pt x="587997" y="145965"/>
                        <a:pt x="605778" y="163909"/>
                        <a:pt x="605778" y="186054"/>
                      </a:cubicBezTo>
                      <a:cubicBezTo>
                        <a:pt x="605778" y="208198"/>
                        <a:pt x="587997" y="226143"/>
                        <a:pt x="565915" y="226524"/>
                      </a:cubicBezTo>
                      <a:cubicBezTo>
                        <a:pt x="564768" y="231106"/>
                        <a:pt x="561900" y="234829"/>
                        <a:pt x="557885" y="236928"/>
                      </a:cubicBezTo>
                      <a:lnTo>
                        <a:pt x="557885" y="248096"/>
                      </a:lnTo>
                      <a:cubicBezTo>
                        <a:pt x="557885" y="275490"/>
                        <a:pt x="539340" y="299448"/>
                        <a:pt x="512860" y="306511"/>
                      </a:cubicBezTo>
                      <a:lnTo>
                        <a:pt x="501676" y="309470"/>
                      </a:lnTo>
                      <a:cubicBezTo>
                        <a:pt x="583409" y="326651"/>
                        <a:pt x="599851" y="397952"/>
                        <a:pt x="608263" y="422578"/>
                      </a:cubicBezTo>
                      <a:cubicBezTo>
                        <a:pt x="613903" y="439282"/>
                        <a:pt x="601476" y="456654"/>
                        <a:pt x="583791" y="456654"/>
                      </a:cubicBezTo>
                      <a:lnTo>
                        <a:pt x="388779" y="456654"/>
                      </a:lnTo>
                      <a:cubicBezTo>
                        <a:pt x="374822" y="426492"/>
                        <a:pt x="352453" y="402057"/>
                        <a:pt x="324922" y="385353"/>
                      </a:cubicBezTo>
                      <a:cubicBezTo>
                        <a:pt x="337254" y="370272"/>
                        <a:pt x="343085" y="352995"/>
                        <a:pt x="343085" y="332760"/>
                      </a:cubicBezTo>
                      <a:cubicBezTo>
                        <a:pt x="343372" y="332474"/>
                        <a:pt x="343563" y="332187"/>
                        <a:pt x="343850" y="331806"/>
                      </a:cubicBezTo>
                      <a:cubicBezTo>
                        <a:pt x="353887" y="329515"/>
                        <a:pt x="362969" y="324647"/>
                        <a:pt x="370425" y="318061"/>
                      </a:cubicBezTo>
                      <a:cubicBezTo>
                        <a:pt x="382566" y="325124"/>
                        <a:pt x="395758" y="330088"/>
                        <a:pt x="409619" y="331996"/>
                      </a:cubicBezTo>
                      <a:cubicBezTo>
                        <a:pt x="424340" y="361395"/>
                        <a:pt x="467931" y="353664"/>
                        <a:pt x="471755" y="321115"/>
                      </a:cubicBezTo>
                      <a:cubicBezTo>
                        <a:pt x="475674" y="319111"/>
                        <a:pt x="479593" y="316820"/>
                        <a:pt x="483322" y="314243"/>
                      </a:cubicBezTo>
                      <a:cubicBezTo>
                        <a:pt x="470321" y="317774"/>
                        <a:pt x="475961" y="316247"/>
                        <a:pt x="455026" y="321783"/>
                      </a:cubicBezTo>
                      <a:cubicBezTo>
                        <a:pt x="449673" y="340969"/>
                        <a:pt x="422141" y="336578"/>
                        <a:pt x="422141" y="317393"/>
                      </a:cubicBezTo>
                      <a:cubicBezTo>
                        <a:pt x="422141" y="302121"/>
                        <a:pt x="440782" y="294676"/>
                        <a:pt x="451393" y="306034"/>
                      </a:cubicBezTo>
                      <a:cubicBezTo>
                        <a:pt x="493933" y="294771"/>
                        <a:pt x="541634" y="292003"/>
                        <a:pt x="541634" y="248096"/>
                      </a:cubicBezTo>
                      <a:lnTo>
                        <a:pt x="541634" y="235878"/>
                      </a:lnTo>
                      <a:cubicBezTo>
                        <a:pt x="541060" y="235497"/>
                        <a:pt x="540487" y="235210"/>
                        <a:pt x="540009" y="234733"/>
                      </a:cubicBezTo>
                      <a:cubicBezTo>
                        <a:pt x="536568" y="231774"/>
                        <a:pt x="534369" y="227574"/>
                        <a:pt x="534369" y="222706"/>
                      </a:cubicBezTo>
                      <a:lnTo>
                        <a:pt x="534369" y="149401"/>
                      </a:lnTo>
                      <a:cubicBezTo>
                        <a:pt x="534369" y="144342"/>
                        <a:pt x="536759" y="139951"/>
                        <a:pt x="540487" y="136992"/>
                      </a:cubicBezTo>
                      <a:cubicBezTo>
                        <a:pt x="518978" y="8231"/>
                        <a:pt x="345857" y="2122"/>
                        <a:pt x="310296" y="123630"/>
                      </a:cubicBezTo>
                      <a:cubicBezTo>
                        <a:pt x="310105" y="123439"/>
                        <a:pt x="309914" y="123152"/>
                        <a:pt x="309723" y="122866"/>
                      </a:cubicBezTo>
                      <a:cubicBezTo>
                        <a:pt x="304848" y="116662"/>
                        <a:pt x="298538" y="110553"/>
                        <a:pt x="291560" y="104540"/>
                      </a:cubicBezTo>
                      <a:cubicBezTo>
                        <a:pt x="291656" y="104444"/>
                        <a:pt x="291656" y="104253"/>
                        <a:pt x="291656" y="104158"/>
                      </a:cubicBezTo>
                      <a:cubicBezTo>
                        <a:pt x="307070" y="33644"/>
                        <a:pt x="370356" y="-2828"/>
                        <a:pt x="431710" y="171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8DAF6455-545E-834C-D5D3-750B78087011}"/>
                </a:ext>
              </a:extLst>
            </p:cNvPr>
            <p:cNvGrpSpPr/>
            <p:nvPr/>
          </p:nvGrpSpPr>
          <p:grpSpPr>
            <a:xfrm>
              <a:off x="1501140" y="2134870"/>
              <a:ext cx="845185" cy="721360"/>
              <a:chOff x="4093268" y="2988880"/>
              <a:chExt cx="1230986" cy="826404"/>
            </a:xfrm>
          </p:grpSpPr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3FFE80FB-FBC3-994C-5476-59B8A7C10E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01592" y="3210571"/>
                <a:ext cx="1167171" cy="60471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rgbClr val="C00000">
                    <a:alpha val="30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endParaRPr kumimoji="1" lang="zh-CN" altLang="en-US">
                  <a:sym typeface="+mn-ea"/>
                </a:endParaRPr>
              </a:p>
            </p:txBody>
          </p:sp>
          <p:grpSp>
            <p:nvGrpSpPr>
              <p:cNvPr id="86" name="组合 85">
                <a:extLst>
                  <a:ext uri="{FF2B5EF4-FFF2-40B4-BE49-F238E27FC236}">
                    <a16:creationId xmlns:a16="http://schemas.microsoft.com/office/drawing/2014/main" id="{18A8E45F-3662-1853-3619-97AAF90D4A14}"/>
                  </a:ext>
                </a:extLst>
              </p:cNvPr>
              <p:cNvGrpSpPr/>
              <p:nvPr/>
            </p:nvGrpSpPr>
            <p:grpSpPr>
              <a:xfrm>
                <a:off x="4093268" y="2988880"/>
                <a:ext cx="1230986" cy="654245"/>
                <a:chOff x="4140768" y="3345135"/>
                <a:chExt cx="1230986" cy="654245"/>
              </a:xfrm>
            </p:grpSpPr>
            <p:sp>
              <p:nvSpPr>
                <p:cNvPr id="87" name="Freeform 33">
                  <a:extLst>
                    <a:ext uri="{FF2B5EF4-FFF2-40B4-BE49-F238E27FC236}">
                      <a16:creationId xmlns:a16="http://schemas.microsoft.com/office/drawing/2014/main" id="{36EDB0E8-0532-CC3C-19B6-1511CD3884DB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4507795" y="3345135"/>
                  <a:ext cx="398294" cy="369293"/>
                </a:xfrm>
                <a:custGeom>
                  <a:avLst/>
                  <a:gdLst>
                    <a:gd name="T0" fmla="*/ 71 w 96"/>
                    <a:gd name="T1" fmla="*/ 28 h 89"/>
                    <a:gd name="T2" fmla="*/ 74 w 96"/>
                    <a:gd name="T3" fmla="*/ 34 h 89"/>
                    <a:gd name="T4" fmla="*/ 80 w 96"/>
                    <a:gd name="T5" fmla="*/ 21 h 89"/>
                    <a:gd name="T6" fmla="*/ 72 w 96"/>
                    <a:gd name="T7" fmla="*/ 9 h 89"/>
                    <a:gd name="T8" fmla="*/ 73 w 96"/>
                    <a:gd name="T9" fmla="*/ 21 h 89"/>
                    <a:gd name="T10" fmla="*/ 88 w 96"/>
                    <a:gd name="T11" fmla="*/ 41 h 89"/>
                    <a:gd name="T12" fmla="*/ 96 w 96"/>
                    <a:gd name="T13" fmla="*/ 21 h 89"/>
                    <a:gd name="T14" fmla="*/ 86 w 96"/>
                    <a:gd name="T15" fmla="*/ 1 h 89"/>
                    <a:gd name="T16" fmla="*/ 89 w 96"/>
                    <a:gd name="T17" fmla="*/ 21 h 89"/>
                    <a:gd name="T18" fmla="*/ 86 w 96"/>
                    <a:gd name="T19" fmla="*/ 41 h 89"/>
                    <a:gd name="T20" fmla="*/ 64 w 96"/>
                    <a:gd name="T21" fmla="*/ 53 h 89"/>
                    <a:gd name="T22" fmla="*/ 56 w 96"/>
                    <a:gd name="T23" fmla="*/ 29 h 89"/>
                    <a:gd name="T24" fmla="*/ 8 w 96"/>
                    <a:gd name="T25" fmla="*/ 53 h 89"/>
                    <a:gd name="T26" fmla="*/ 0 w 96"/>
                    <a:gd name="T27" fmla="*/ 81 h 89"/>
                    <a:gd name="T28" fmla="*/ 88 w 96"/>
                    <a:gd name="T29" fmla="*/ 89 h 89"/>
                    <a:gd name="T30" fmla="*/ 96 w 96"/>
                    <a:gd name="T31" fmla="*/ 61 h 89"/>
                    <a:gd name="T32" fmla="*/ 24 w 96"/>
                    <a:gd name="T33" fmla="*/ 73 h 89"/>
                    <a:gd name="T34" fmla="*/ 16 w 96"/>
                    <a:gd name="T35" fmla="*/ 65 h 89"/>
                    <a:gd name="T36" fmla="*/ 24 w 96"/>
                    <a:gd name="T37" fmla="*/ 73 h 89"/>
                    <a:gd name="T38" fmla="*/ 32 w 96"/>
                    <a:gd name="T39" fmla="*/ 73 h 89"/>
                    <a:gd name="T40" fmla="*/ 40 w 96"/>
                    <a:gd name="T41" fmla="*/ 65 h 89"/>
                    <a:gd name="T42" fmla="*/ 56 w 96"/>
                    <a:gd name="T43" fmla="*/ 73 h 89"/>
                    <a:gd name="T44" fmla="*/ 48 w 96"/>
                    <a:gd name="T45" fmla="*/ 65 h 89"/>
                    <a:gd name="T46" fmla="*/ 56 w 96"/>
                    <a:gd name="T47" fmla="*/ 73 h 89"/>
                    <a:gd name="T48" fmla="*/ 72 w 96"/>
                    <a:gd name="T49" fmla="*/ 73 h 89"/>
                    <a:gd name="T50" fmla="*/ 80 w 96"/>
                    <a:gd name="T51" fmla="*/ 65 h 89"/>
                    <a:gd name="T52" fmla="*/ 64 w 96"/>
                    <a:gd name="T53" fmla="*/ 17 h 89"/>
                    <a:gd name="T54" fmla="*/ 56 w 96"/>
                    <a:gd name="T55" fmla="*/ 25 h 89"/>
                    <a:gd name="T56" fmla="*/ 64 w 96"/>
                    <a:gd name="T57" fmla="*/ 17 h 89"/>
                    <a:gd name="T58" fmla="*/ 49 w 96"/>
                    <a:gd name="T59" fmla="*/ 28 h 89"/>
                    <a:gd name="T60" fmla="*/ 49 w 96"/>
                    <a:gd name="T61" fmla="*/ 14 h 89"/>
                    <a:gd name="T62" fmla="*/ 46 w 96"/>
                    <a:gd name="T63" fmla="*/ 8 h 89"/>
                    <a:gd name="T64" fmla="*/ 40 w 96"/>
                    <a:gd name="T65" fmla="*/ 21 h 89"/>
                    <a:gd name="T66" fmla="*/ 48 w 96"/>
                    <a:gd name="T67" fmla="*/ 33 h 89"/>
                    <a:gd name="T68" fmla="*/ 35 w 96"/>
                    <a:gd name="T69" fmla="*/ 36 h 89"/>
                    <a:gd name="T70" fmla="*/ 35 w 96"/>
                    <a:gd name="T71" fmla="*/ 6 h 89"/>
                    <a:gd name="T72" fmla="*/ 32 w 96"/>
                    <a:gd name="T73" fmla="*/ 1 h 89"/>
                    <a:gd name="T74" fmla="*/ 24 w 96"/>
                    <a:gd name="T75" fmla="*/ 21 h 89"/>
                    <a:gd name="T76" fmla="*/ 34 w 96"/>
                    <a:gd name="T77" fmla="*/ 41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96" h="89">
                      <a:moveTo>
                        <a:pt x="73" y="21"/>
                      </a:moveTo>
                      <a:cubicBezTo>
                        <a:pt x="73" y="24"/>
                        <a:pt x="72" y="26"/>
                        <a:pt x="71" y="28"/>
                      </a:cubicBezTo>
                      <a:cubicBezTo>
                        <a:pt x="70" y="30"/>
                        <a:pt x="70" y="32"/>
                        <a:pt x="72" y="33"/>
                      </a:cubicBezTo>
                      <a:cubicBezTo>
                        <a:pt x="72" y="34"/>
                        <a:pt x="73" y="34"/>
                        <a:pt x="74" y="34"/>
                      </a:cubicBezTo>
                      <a:cubicBezTo>
                        <a:pt x="75" y="34"/>
                        <a:pt x="76" y="33"/>
                        <a:pt x="77" y="32"/>
                      </a:cubicBezTo>
                      <a:cubicBezTo>
                        <a:pt x="79" y="29"/>
                        <a:pt x="80" y="25"/>
                        <a:pt x="80" y="21"/>
                      </a:cubicBezTo>
                      <a:cubicBezTo>
                        <a:pt x="80" y="17"/>
                        <a:pt x="79" y="13"/>
                        <a:pt x="77" y="10"/>
                      </a:cubicBezTo>
                      <a:cubicBezTo>
                        <a:pt x="75" y="8"/>
                        <a:pt x="73" y="8"/>
                        <a:pt x="72" y="9"/>
                      </a:cubicBezTo>
                      <a:cubicBezTo>
                        <a:pt x="70" y="10"/>
                        <a:pt x="70" y="12"/>
                        <a:pt x="71" y="14"/>
                      </a:cubicBezTo>
                      <a:cubicBezTo>
                        <a:pt x="72" y="16"/>
                        <a:pt x="73" y="18"/>
                        <a:pt x="73" y="21"/>
                      </a:cubicBezTo>
                      <a:close/>
                      <a:moveTo>
                        <a:pt x="86" y="41"/>
                      </a:moveTo>
                      <a:cubicBezTo>
                        <a:pt x="87" y="41"/>
                        <a:pt x="87" y="41"/>
                        <a:pt x="88" y="41"/>
                      </a:cubicBezTo>
                      <a:cubicBezTo>
                        <a:pt x="89" y="41"/>
                        <a:pt x="90" y="41"/>
                        <a:pt x="91" y="40"/>
                      </a:cubicBezTo>
                      <a:cubicBezTo>
                        <a:pt x="94" y="34"/>
                        <a:pt x="96" y="28"/>
                        <a:pt x="96" y="21"/>
                      </a:cubicBezTo>
                      <a:cubicBezTo>
                        <a:pt x="96" y="14"/>
                        <a:pt x="94" y="8"/>
                        <a:pt x="91" y="2"/>
                      </a:cubicBezTo>
                      <a:cubicBezTo>
                        <a:pt x="90" y="1"/>
                        <a:pt x="88" y="0"/>
                        <a:pt x="86" y="1"/>
                      </a:cubicBezTo>
                      <a:cubicBezTo>
                        <a:pt x="84" y="2"/>
                        <a:pt x="84" y="4"/>
                        <a:pt x="85" y="6"/>
                      </a:cubicBezTo>
                      <a:cubicBezTo>
                        <a:pt x="88" y="11"/>
                        <a:pt x="89" y="16"/>
                        <a:pt x="89" y="21"/>
                      </a:cubicBezTo>
                      <a:cubicBezTo>
                        <a:pt x="89" y="26"/>
                        <a:pt x="88" y="31"/>
                        <a:pt x="85" y="36"/>
                      </a:cubicBezTo>
                      <a:cubicBezTo>
                        <a:pt x="84" y="38"/>
                        <a:pt x="84" y="40"/>
                        <a:pt x="86" y="41"/>
                      </a:cubicBezTo>
                      <a:close/>
                      <a:moveTo>
                        <a:pt x="88" y="53"/>
                      </a:moveTo>
                      <a:cubicBezTo>
                        <a:pt x="64" y="53"/>
                        <a:pt x="64" y="53"/>
                        <a:pt x="64" y="53"/>
                      </a:cubicBezTo>
                      <a:cubicBezTo>
                        <a:pt x="64" y="29"/>
                        <a:pt x="64" y="29"/>
                        <a:pt x="64" y="29"/>
                      </a:cubicBezTo>
                      <a:cubicBezTo>
                        <a:pt x="56" y="29"/>
                        <a:pt x="56" y="29"/>
                        <a:pt x="56" y="29"/>
                      </a:cubicBezTo>
                      <a:cubicBezTo>
                        <a:pt x="56" y="53"/>
                        <a:pt x="56" y="53"/>
                        <a:pt x="56" y="53"/>
                      </a:cubicBezTo>
                      <a:cubicBezTo>
                        <a:pt x="8" y="53"/>
                        <a:pt x="8" y="53"/>
                        <a:pt x="8" y="53"/>
                      </a:cubicBezTo>
                      <a:cubicBezTo>
                        <a:pt x="4" y="53"/>
                        <a:pt x="0" y="57"/>
                        <a:pt x="0" y="61"/>
                      </a:cubicBezTo>
                      <a:cubicBezTo>
                        <a:pt x="0" y="81"/>
                        <a:pt x="0" y="81"/>
                        <a:pt x="0" y="81"/>
                      </a:cubicBezTo>
                      <a:cubicBezTo>
                        <a:pt x="0" y="85"/>
                        <a:pt x="4" y="89"/>
                        <a:pt x="8" y="89"/>
                      </a:cubicBezTo>
                      <a:cubicBezTo>
                        <a:pt x="88" y="89"/>
                        <a:pt x="88" y="89"/>
                        <a:pt x="88" y="89"/>
                      </a:cubicBezTo>
                      <a:cubicBezTo>
                        <a:pt x="92" y="89"/>
                        <a:pt x="96" y="85"/>
                        <a:pt x="96" y="81"/>
                      </a:cubicBezTo>
                      <a:cubicBezTo>
                        <a:pt x="96" y="61"/>
                        <a:pt x="96" y="61"/>
                        <a:pt x="96" y="61"/>
                      </a:cubicBezTo>
                      <a:cubicBezTo>
                        <a:pt x="96" y="57"/>
                        <a:pt x="92" y="53"/>
                        <a:pt x="88" y="53"/>
                      </a:cubicBezTo>
                      <a:close/>
                      <a:moveTo>
                        <a:pt x="24" y="73"/>
                      </a:moveTo>
                      <a:cubicBezTo>
                        <a:pt x="16" y="73"/>
                        <a:pt x="16" y="73"/>
                        <a:pt x="16" y="73"/>
                      </a:cubicBezTo>
                      <a:cubicBezTo>
                        <a:pt x="16" y="65"/>
                        <a:pt x="16" y="65"/>
                        <a:pt x="16" y="65"/>
                      </a:cubicBezTo>
                      <a:cubicBezTo>
                        <a:pt x="24" y="65"/>
                        <a:pt x="24" y="65"/>
                        <a:pt x="24" y="65"/>
                      </a:cubicBezTo>
                      <a:lnTo>
                        <a:pt x="24" y="73"/>
                      </a:lnTo>
                      <a:close/>
                      <a:moveTo>
                        <a:pt x="40" y="73"/>
                      </a:moveTo>
                      <a:cubicBezTo>
                        <a:pt x="32" y="73"/>
                        <a:pt x="32" y="73"/>
                        <a:pt x="32" y="73"/>
                      </a:cubicBezTo>
                      <a:cubicBezTo>
                        <a:pt x="32" y="65"/>
                        <a:pt x="32" y="65"/>
                        <a:pt x="32" y="65"/>
                      </a:cubicBezTo>
                      <a:cubicBezTo>
                        <a:pt x="40" y="65"/>
                        <a:pt x="40" y="65"/>
                        <a:pt x="40" y="65"/>
                      </a:cubicBezTo>
                      <a:lnTo>
                        <a:pt x="40" y="73"/>
                      </a:lnTo>
                      <a:close/>
                      <a:moveTo>
                        <a:pt x="56" y="73"/>
                      </a:moveTo>
                      <a:cubicBezTo>
                        <a:pt x="48" y="73"/>
                        <a:pt x="48" y="73"/>
                        <a:pt x="48" y="73"/>
                      </a:cubicBezTo>
                      <a:cubicBezTo>
                        <a:pt x="48" y="65"/>
                        <a:pt x="48" y="65"/>
                        <a:pt x="48" y="65"/>
                      </a:cubicBezTo>
                      <a:cubicBezTo>
                        <a:pt x="56" y="65"/>
                        <a:pt x="56" y="65"/>
                        <a:pt x="56" y="65"/>
                      </a:cubicBezTo>
                      <a:lnTo>
                        <a:pt x="56" y="73"/>
                      </a:lnTo>
                      <a:close/>
                      <a:moveTo>
                        <a:pt x="80" y="73"/>
                      </a:moveTo>
                      <a:cubicBezTo>
                        <a:pt x="72" y="73"/>
                        <a:pt x="72" y="73"/>
                        <a:pt x="72" y="73"/>
                      </a:cubicBezTo>
                      <a:cubicBezTo>
                        <a:pt x="72" y="65"/>
                        <a:pt x="72" y="65"/>
                        <a:pt x="72" y="65"/>
                      </a:cubicBezTo>
                      <a:cubicBezTo>
                        <a:pt x="80" y="65"/>
                        <a:pt x="80" y="65"/>
                        <a:pt x="80" y="65"/>
                      </a:cubicBezTo>
                      <a:lnTo>
                        <a:pt x="80" y="73"/>
                      </a:lnTo>
                      <a:close/>
                      <a:moveTo>
                        <a:pt x="64" y="17"/>
                      </a:moveTo>
                      <a:cubicBezTo>
                        <a:pt x="56" y="17"/>
                        <a:pt x="56" y="17"/>
                        <a:pt x="56" y="17"/>
                      </a:cubicBezTo>
                      <a:cubicBezTo>
                        <a:pt x="56" y="25"/>
                        <a:pt x="56" y="25"/>
                        <a:pt x="56" y="25"/>
                      </a:cubicBezTo>
                      <a:cubicBezTo>
                        <a:pt x="64" y="25"/>
                        <a:pt x="64" y="25"/>
                        <a:pt x="64" y="25"/>
                      </a:cubicBezTo>
                      <a:lnTo>
                        <a:pt x="64" y="17"/>
                      </a:lnTo>
                      <a:close/>
                      <a:moveTo>
                        <a:pt x="48" y="33"/>
                      </a:moveTo>
                      <a:cubicBezTo>
                        <a:pt x="50" y="32"/>
                        <a:pt x="50" y="30"/>
                        <a:pt x="49" y="28"/>
                      </a:cubicBezTo>
                      <a:cubicBezTo>
                        <a:pt x="48" y="26"/>
                        <a:pt x="47" y="24"/>
                        <a:pt x="47" y="21"/>
                      </a:cubicBezTo>
                      <a:cubicBezTo>
                        <a:pt x="47" y="18"/>
                        <a:pt x="48" y="16"/>
                        <a:pt x="49" y="14"/>
                      </a:cubicBezTo>
                      <a:cubicBezTo>
                        <a:pt x="50" y="12"/>
                        <a:pt x="50" y="10"/>
                        <a:pt x="48" y="9"/>
                      </a:cubicBezTo>
                      <a:cubicBezTo>
                        <a:pt x="48" y="8"/>
                        <a:pt x="47" y="8"/>
                        <a:pt x="46" y="8"/>
                      </a:cubicBezTo>
                      <a:cubicBezTo>
                        <a:pt x="45" y="8"/>
                        <a:pt x="44" y="9"/>
                        <a:pt x="43" y="10"/>
                      </a:cubicBezTo>
                      <a:cubicBezTo>
                        <a:pt x="41" y="13"/>
                        <a:pt x="40" y="17"/>
                        <a:pt x="40" y="21"/>
                      </a:cubicBezTo>
                      <a:cubicBezTo>
                        <a:pt x="40" y="25"/>
                        <a:pt x="41" y="29"/>
                        <a:pt x="43" y="32"/>
                      </a:cubicBezTo>
                      <a:cubicBezTo>
                        <a:pt x="45" y="34"/>
                        <a:pt x="47" y="34"/>
                        <a:pt x="48" y="33"/>
                      </a:cubicBezTo>
                      <a:close/>
                      <a:moveTo>
                        <a:pt x="34" y="41"/>
                      </a:moveTo>
                      <a:cubicBezTo>
                        <a:pt x="36" y="40"/>
                        <a:pt x="36" y="38"/>
                        <a:pt x="35" y="36"/>
                      </a:cubicBezTo>
                      <a:cubicBezTo>
                        <a:pt x="32" y="31"/>
                        <a:pt x="31" y="26"/>
                        <a:pt x="31" y="21"/>
                      </a:cubicBezTo>
                      <a:cubicBezTo>
                        <a:pt x="31" y="16"/>
                        <a:pt x="32" y="11"/>
                        <a:pt x="35" y="6"/>
                      </a:cubicBezTo>
                      <a:cubicBezTo>
                        <a:pt x="36" y="4"/>
                        <a:pt x="36" y="2"/>
                        <a:pt x="34" y="1"/>
                      </a:cubicBezTo>
                      <a:cubicBezTo>
                        <a:pt x="33" y="1"/>
                        <a:pt x="33" y="1"/>
                        <a:pt x="32" y="1"/>
                      </a:cubicBezTo>
                      <a:cubicBezTo>
                        <a:pt x="31" y="1"/>
                        <a:pt x="30" y="1"/>
                        <a:pt x="29" y="2"/>
                      </a:cubicBezTo>
                      <a:cubicBezTo>
                        <a:pt x="26" y="8"/>
                        <a:pt x="24" y="14"/>
                        <a:pt x="24" y="21"/>
                      </a:cubicBezTo>
                      <a:cubicBezTo>
                        <a:pt x="24" y="28"/>
                        <a:pt x="26" y="34"/>
                        <a:pt x="29" y="40"/>
                      </a:cubicBezTo>
                      <a:cubicBezTo>
                        <a:pt x="30" y="41"/>
                        <a:pt x="32" y="42"/>
                        <a:pt x="34" y="41"/>
                      </a:cubicBezTo>
                      <a:close/>
                    </a:path>
                  </a:pathLst>
                </a:cu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</p:spPr>
              <p:txBody>
                <a:bodyPr vert="horz" wrap="square" lIns="86742" tIns="43371" rIns="86742" bIns="43371" numCol="1" anchor="t" anchorCtr="0" compatLnSpc="1"/>
                <a:lstStyle/>
                <a:p>
                  <a:endParaRPr lang="en-IE" sz="14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88" name="PA-文本框 39">
                  <a:extLst>
                    <a:ext uri="{FF2B5EF4-FFF2-40B4-BE49-F238E27FC236}">
                      <a16:creationId xmlns:a16="http://schemas.microsoft.com/office/drawing/2014/main" id="{FF0761E7-0CB9-B240-3611-769BAF4B41AB}"/>
                    </a:ext>
                  </a:extLst>
                </p:cNvPr>
                <p:cNvSpPr txBox="1"/>
                <p:nvPr>
                  <p:custDataLst>
                    <p:tags r:id="rId1"/>
                  </p:custDataLst>
                </p:nvPr>
              </p:nvSpPr>
              <p:spPr>
                <a:xfrm>
                  <a:off x="4140768" y="3751168"/>
                  <a:ext cx="1230986" cy="2482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ctr" defTabSz="912495">
                    <a:lnSpc>
                      <a:spcPct val="130000"/>
                    </a:lnSpc>
                    <a:buClrTx/>
                    <a:buSzTx/>
                    <a:buFontTx/>
                  </a:pPr>
                  <a:r>
                    <a:rPr kumimoji="1" lang="zh-CN" altLang="en-US" sz="1200" b="1" dirty="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Arial" panose="020B0604020202020204" pitchFamily="34" charset="0"/>
                    </a:rPr>
                    <a:t>硬件商</a:t>
                  </a:r>
                </a:p>
              </p:txBody>
            </p:sp>
          </p:grpSp>
        </p:grpSp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55AABED6-B339-42F9-65A1-17D0A64B6BC6}"/>
                </a:ext>
              </a:extLst>
            </p:cNvPr>
            <p:cNvGrpSpPr/>
            <p:nvPr/>
          </p:nvGrpSpPr>
          <p:grpSpPr>
            <a:xfrm>
              <a:off x="2373402" y="4106550"/>
              <a:ext cx="1008726" cy="581000"/>
              <a:chOff x="2353474" y="6127134"/>
              <a:chExt cx="1008726" cy="581000"/>
            </a:xfrm>
          </p:grpSpPr>
          <p:sp>
            <p:nvSpPr>
              <p:cNvPr id="102" name="Freeform 7">
                <a:extLst>
                  <a:ext uri="{FF2B5EF4-FFF2-40B4-BE49-F238E27FC236}">
                    <a16:creationId xmlns:a16="http://schemas.microsoft.com/office/drawing/2014/main" id="{01A77641-71F0-681F-E95E-CA790F6FF033}"/>
                  </a:ext>
                </a:extLst>
              </p:cNvPr>
              <p:cNvSpPr/>
              <p:nvPr/>
            </p:nvSpPr>
            <p:spPr bwMode="auto">
              <a:xfrm>
                <a:off x="2437509" y="6127134"/>
                <a:ext cx="867323" cy="541241"/>
              </a:xfrm>
              <a:custGeom>
                <a:avLst/>
                <a:gdLst>
                  <a:gd name="T0" fmla="*/ 2815 w 2815"/>
                  <a:gd name="T1" fmla="*/ 1850 h 1946"/>
                  <a:gd name="T2" fmla="*/ 2718 w 2815"/>
                  <a:gd name="T3" fmla="*/ 1946 h 1946"/>
                  <a:gd name="T4" fmla="*/ 97 w 2815"/>
                  <a:gd name="T5" fmla="*/ 1946 h 1946"/>
                  <a:gd name="T6" fmla="*/ 0 w 2815"/>
                  <a:gd name="T7" fmla="*/ 1850 h 1946"/>
                  <a:gd name="T8" fmla="*/ 0 w 2815"/>
                  <a:gd name="T9" fmla="*/ 97 h 1946"/>
                  <a:gd name="T10" fmla="*/ 97 w 2815"/>
                  <a:gd name="T11" fmla="*/ 0 h 1946"/>
                  <a:gd name="T12" fmla="*/ 2718 w 2815"/>
                  <a:gd name="T13" fmla="*/ 0 h 1946"/>
                  <a:gd name="T14" fmla="*/ 2815 w 2815"/>
                  <a:gd name="T15" fmla="*/ 97 h 1946"/>
                  <a:gd name="T16" fmla="*/ 2815 w 2815"/>
                  <a:gd name="T17" fmla="*/ 1850 h 19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15" h="1946">
                    <a:moveTo>
                      <a:pt x="2815" y="1850"/>
                    </a:moveTo>
                    <a:cubicBezTo>
                      <a:pt x="2815" y="1903"/>
                      <a:pt x="2771" y="1946"/>
                      <a:pt x="2718" y="1946"/>
                    </a:cubicBezTo>
                    <a:cubicBezTo>
                      <a:pt x="97" y="1946"/>
                      <a:pt x="97" y="1946"/>
                      <a:pt x="97" y="1946"/>
                    </a:cubicBezTo>
                    <a:cubicBezTo>
                      <a:pt x="44" y="1946"/>
                      <a:pt x="0" y="1903"/>
                      <a:pt x="0" y="1850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43"/>
                      <a:pt x="44" y="0"/>
                      <a:pt x="97" y="0"/>
                    </a:cubicBezTo>
                    <a:cubicBezTo>
                      <a:pt x="2718" y="0"/>
                      <a:pt x="2718" y="0"/>
                      <a:pt x="2718" y="0"/>
                    </a:cubicBezTo>
                    <a:cubicBezTo>
                      <a:pt x="2771" y="0"/>
                      <a:pt x="2815" y="43"/>
                      <a:pt x="2815" y="97"/>
                    </a:cubicBezTo>
                    <a:cubicBezTo>
                      <a:pt x="2815" y="1850"/>
                      <a:pt x="2815" y="1850"/>
                      <a:pt x="2815" y="1850"/>
                    </a:cubicBezTo>
                  </a:path>
                </a:pathLst>
              </a:custGeom>
              <a:solidFill>
                <a:srgbClr val="2245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03" name="Rectangle 8">
                <a:extLst>
                  <a:ext uri="{FF2B5EF4-FFF2-40B4-BE49-F238E27FC236}">
                    <a16:creationId xmlns:a16="http://schemas.microsoft.com/office/drawing/2014/main" id="{2D22B7F0-6F60-756B-6A26-57161D45A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3681" y="6167542"/>
                <a:ext cx="792512" cy="448562"/>
              </a:xfrm>
              <a:prstGeom prst="rect">
                <a:avLst/>
              </a:prstGeom>
              <a:solidFill>
                <a:srgbClr val="A8DA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04" name="Rectangle 9">
                <a:extLst>
                  <a:ext uri="{FF2B5EF4-FFF2-40B4-BE49-F238E27FC236}">
                    <a16:creationId xmlns:a16="http://schemas.microsoft.com/office/drawing/2014/main" id="{78D2D442-4D9C-DAD5-9DDB-6F46DDBBF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5004" y="6174308"/>
                <a:ext cx="792512" cy="4485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05" name="Rectangle 10">
                <a:extLst>
                  <a:ext uri="{FF2B5EF4-FFF2-40B4-BE49-F238E27FC236}">
                    <a16:creationId xmlns:a16="http://schemas.microsoft.com/office/drawing/2014/main" id="{A32F0912-2B6B-4B4B-960A-119895E81A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5294" y="6664019"/>
                <a:ext cx="650698" cy="18165"/>
              </a:xfrm>
              <a:prstGeom prst="rect">
                <a:avLst/>
              </a:prstGeom>
              <a:solidFill>
                <a:srgbClr val="16344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06" name="Rectangle 11">
                <a:extLst>
                  <a:ext uri="{FF2B5EF4-FFF2-40B4-BE49-F238E27FC236}">
                    <a16:creationId xmlns:a16="http://schemas.microsoft.com/office/drawing/2014/main" id="{E5A3D428-7513-E837-623F-6CD3933E8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5294" y="6664019"/>
                <a:ext cx="650698" cy="18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07" name="Freeform 12">
                <a:extLst>
                  <a:ext uri="{FF2B5EF4-FFF2-40B4-BE49-F238E27FC236}">
                    <a16:creationId xmlns:a16="http://schemas.microsoft.com/office/drawing/2014/main" id="{FB5EB5C4-36E8-D1CF-29A2-2F9370D8E73F}"/>
                  </a:ext>
                </a:extLst>
              </p:cNvPr>
              <p:cNvSpPr/>
              <p:nvPr/>
            </p:nvSpPr>
            <p:spPr bwMode="auto">
              <a:xfrm>
                <a:off x="2353474" y="6674770"/>
                <a:ext cx="1008726" cy="33364"/>
              </a:xfrm>
              <a:custGeom>
                <a:avLst/>
                <a:gdLst>
                  <a:gd name="T0" fmla="*/ 3275 w 3275"/>
                  <a:gd name="T1" fmla="*/ 109 h 120"/>
                  <a:gd name="T2" fmla="*/ 3264 w 3275"/>
                  <a:gd name="T3" fmla="*/ 120 h 120"/>
                  <a:gd name="T4" fmla="*/ 11 w 3275"/>
                  <a:gd name="T5" fmla="*/ 120 h 120"/>
                  <a:gd name="T6" fmla="*/ 0 w 3275"/>
                  <a:gd name="T7" fmla="*/ 109 h 120"/>
                  <a:gd name="T8" fmla="*/ 0 w 3275"/>
                  <a:gd name="T9" fmla="*/ 12 h 120"/>
                  <a:gd name="T10" fmla="*/ 11 w 3275"/>
                  <a:gd name="T11" fmla="*/ 0 h 120"/>
                  <a:gd name="T12" fmla="*/ 3264 w 3275"/>
                  <a:gd name="T13" fmla="*/ 0 h 120"/>
                  <a:gd name="T14" fmla="*/ 3275 w 3275"/>
                  <a:gd name="T15" fmla="*/ 12 h 120"/>
                  <a:gd name="T16" fmla="*/ 3275 w 3275"/>
                  <a:gd name="T17" fmla="*/ 109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75" h="120">
                    <a:moveTo>
                      <a:pt x="3275" y="109"/>
                    </a:moveTo>
                    <a:cubicBezTo>
                      <a:pt x="3275" y="115"/>
                      <a:pt x="3270" y="120"/>
                      <a:pt x="3264" y="120"/>
                    </a:cubicBezTo>
                    <a:cubicBezTo>
                      <a:pt x="11" y="120"/>
                      <a:pt x="11" y="120"/>
                      <a:pt x="11" y="120"/>
                    </a:cubicBezTo>
                    <a:cubicBezTo>
                      <a:pt x="5" y="120"/>
                      <a:pt x="0" y="115"/>
                      <a:pt x="0" y="109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3264" y="0"/>
                      <a:pt x="3264" y="0"/>
                      <a:pt x="3264" y="0"/>
                    </a:cubicBezTo>
                    <a:cubicBezTo>
                      <a:pt x="3270" y="0"/>
                      <a:pt x="3275" y="5"/>
                      <a:pt x="3275" y="12"/>
                    </a:cubicBezTo>
                    <a:cubicBezTo>
                      <a:pt x="3275" y="109"/>
                      <a:pt x="3275" y="109"/>
                      <a:pt x="3275" y="109"/>
                    </a:cubicBezTo>
                  </a:path>
                </a:pathLst>
              </a:custGeom>
              <a:solidFill>
                <a:srgbClr val="D3D3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08" name="Rectangle 13">
                <a:extLst>
                  <a:ext uri="{FF2B5EF4-FFF2-40B4-BE49-F238E27FC236}">
                    <a16:creationId xmlns:a16="http://schemas.microsoft.com/office/drawing/2014/main" id="{AD536118-763D-7942-2C4A-BA2989DA4E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3474" y="6688857"/>
                <a:ext cx="1008726" cy="19277"/>
              </a:xfrm>
              <a:prstGeom prst="rect">
                <a:avLst/>
              </a:prstGeom>
              <a:solidFill>
                <a:srgbClr val="BABA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09" name="Rectangle 14">
                <a:extLst>
                  <a:ext uri="{FF2B5EF4-FFF2-40B4-BE49-F238E27FC236}">
                    <a16:creationId xmlns:a16="http://schemas.microsoft.com/office/drawing/2014/main" id="{CA694157-B515-D542-8A6B-CE3FBCDAD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626" y="6674770"/>
                <a:ext cx="164422" cy="16682"/>
              </a:xfrm>
              <a:prstGeom prst="rect">
                <a:avLst/>
              </a:prstGeom>
              <a:solidFill>
                <a:srgbClr val="8082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10" name="Rectangle 15">
                <a:extLst>
                  <a:ext uri="{FF2B5EF4-FFF2-40B4-BE49-F238E27FC236}">
                    <a16:creationId xmlns:a16="http://schemas.microsoft.com/office/drawing/2014/main" id="{D3B234FC-E474-C028-54ED-21727BBA4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626" y="6674770"/>
                <a:ext cx="164422" cy="166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13" name="Oval 18">
                <a:extLst>
                  <a:ext uri="{FF2B5EF4-FFF2-40B4-BE49-F238E27FC236}">
                    <a16:creationId xmlns:a16="http://schemas.microsoft.com/office/drawing/2014/main" id="{F0478368-67EB-E971-FCB5-1B3E7BCC9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3246" y="6224725"/>
                <a:ext cx="15620" cy="14087"/>
              </a:xfrm>
              <a:prstGeom prst="ellipse">
                <a:avLst/>
              </a:prstGeom>
              <a:solidFill>
                <a:srgbClr val="82C3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14" name="Oval 19">
                <a:extLst>
                  <a:ext uri="{FF2B5EF4-FFF2-40B4-BE49-F238E27FC236}">
                    <a16:creationId xmlns:a16="http://schemas.microsoft.com/office/drawing/2014/main" id="{94DAE96F-3131-C4BD-94D2-19E35AE7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9405" y="6224725"/>
                <a:ext cx="15620" cy="14087"/>
              </a:xfrm>
              <a:prstGeom prst="ellipse">
                <a:avLst/>
              </a:prstGeom>
              <a:solidFill>
                <a:srgbClr val="FEEA3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18" name="Freeform 23">
                <a:extLst>
                  <a:ext uri="{FF2B5EF4-FFF2-40B4-BE49-F238E27FC236}">
                    <a16:creationId xmlns:a16="http://schemas.microsoft.com/office/drawing/2014/main" id="{005323F4-213B-96F5-DEAD-7B06AE46735E}"/>
                  </a:ext>
                </a:extLst>
              </p:cNvPr>
              <p:cNvSpPr/>
              <p:nvPr/>
            </p:nvSpPr>
            <p:spPr bwMode="auto">
              <a:xfrm>
                <a:off x="2753018" y="6664019"/>
                <a:ext cx="422974" cy="10751"/>
              </a:xfrm>
              <a:custGeom>
                <a:avLst/>
                <a:gdLst>
                  <a:gd name="T0" fmla="*/ 1029 w 1029"/>
                  <a:gd name="T1" fmla="*/ 0 h 29"/>
                  <a:gd name="T2" fmla="*/ 12 w 1029"/>
                  <a:gd name="T3" fmla="*/ 0 h 29"/>
                  <a:gd name="T4" fmla="*/ 0 w 1029"/>
                  <a:gd name="T5" fmla="*/ 29 h 29"/>
                  <a:gd name="T6" fmla="*/ 1029 w 1029"/>
                  <a:gd name="T7" fmla="*/ 29 h 29"/>
                  <a:gd name="T8" fmla="*/ 1029 w 1029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9" h="29">
                    <a:moveTo>
                      <a:pt x="1029" y="0"/>
                    </a:moveTo>
                    <a:lnTo>
                      <a:pt x="12" y="0"/>
                    </a:lnTo>
                    <a:lnTo>
                      <a:pt x="0" y="29"/>
                    </a:lnTo>
                    <a:lnTo>
                      <a:pt x="1029" y="29"/>
                    </a:lnTo>
                    <a:lnTo>
                      <a:pt x="1029" y="0"/>
                    </a:lnTo>
                    <a:close/>
                  </a:path>
                </a:pathLst>
              </a:custGeom>
              <a:solidFill>
                <a:srgbClr val="1733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19" name="Freeform 24">
                <a:extLst>
                  <a:ext uri="{FF2B5EF4-FFF2-40B4-BE49-F238E27FC236}">
                    <a16:creationId xmlns:a16="http://schemas.microsoft.com/office/drawing/2014/main" id="{F5E4D5D4-BC8F-2CC5-740B-4671906B549D}"/>
                  </a:ext>
                </a:extLst>
              </p:cNvPr>
              <p:cNvSpPr/>
              <p:nvPr/>
            </p:nvSpPr>
            <p:spPr bwMode="auto">
              <a:xfrm>
                <a:off x="2753018" y="6664019"/>
                <a:ext cx="422974" cy="10751"/>
              </a:xfrm>
              <a:custGeom>
                <a:avLst/>
                <a:gdLst>
                  <a:gd name="T0" fmla="*/ 1029 w 1029"/>
                  <a:gd name="T1" fmla="*/ 0 h 29"/>
                  <a:gd name="T2" fmla="*/ 12 w 1029"/>
                  <a:gd name="T3" fmla="*/ 0 h 29"/>
                  <a:gd name="T4" fmla="*/ 0 w 1029"/>
                  <a:gd name="T5" fmla="*/ 29 h 29"/>
                  <a:gd name="T6" fmla="*/ 1029 w 1029"/>
                  <a:gd name="T7" fmla="*/ 29 h 29"/>
                  <a:gd name="T8" fmla="*/ 1029 w 1029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9" h="29">
                    <a:moveTo>
                      <a:pt x="1029" y="0"/>
                    </a:moveTo>
                    <a:lnTo>
                      <a:pt x="12" y="0"/>
                    </a:lnTo>
                    <a:lnTo>
                      <a:pt x="0" y="29"/>
                    </a:lnTo>
                    <a:lnTo>
                      <a:pt x="1029" y="29"/>
                    </a:lnTo>
                    <a:lnTo>
                      <a:pt x="1029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20" name="Freeform 25">
                <a:extLst>
                  <a:ext uri="{FF2B5EF4-FFF2-40B4-BE49-F238E27FC236}">
                    <a16:creationId xmlns:a16="http://schemas.microsoft.com/office/drawing/2014/main" id="{9E72D609-2866-85A8-BF71-67D28BDC11BC}"/>
                  </a:ext>
                </a:extLst>
              </p:cNvPr>
              <p:cNvSpPr/>
              <p:nvPr/>
            </p:nvSpPr>
            <p:spPr bwMode="auto">
              <a:xfrm>
                <a:off x="2752607" y="6674770"/>
                <a:ext cx="507240" cy="371"/>
              </a:xfrm>
              <a:custGeom>
                <a:avLst/>
                <a:gdLst>
                  <a:gd name="T0" fmla="*/ 1646 w 1646"/>
                  <a:gd name="T1" fmla="*/ 0 h 1"/>
                  <a:gd name="T2" fmla="*/ 1374 w 1646"/>
                  <a:gd name="T3" fmla="*/ 0 h 1"/>
                  <a:gd name="T4" fmla="*/ 1 w 1646"/>
                  <a:gd name="T5" fmla="*/ 0 h 1"/>
                  <a:gd name="T6" fmla="*/ 0 w 1646"/>
                  <a:gd name="T7" fmla="*/ 1 h 1"/>
                  <a:gd name="T8" fmla="*/ 75 w 1646"/>
                  <a:gd name="T9" fmla="*/ 1 h 1"/>
                  <a:gd name="T10" fmla="*/ 75 w 1646"/>
                  <a:gd name="T11" fmla="*/ 0 h 1"/>
                  <a:gd name="T12" fmla="*/ 608 w 1646"/>
                  <a:gd name="T13" fmla="*/ 0 h 1"/>
                  <a:gd name="T14" fmla="*/ 608 w 1646"/>
                  <a:gd name="T15" fmla="*/ 1 h 1"/>
                  <a:gd name="T16" fmla="*/ 1635 w 1646"/>
                  <a:gd name="T17" fmla="*/ 1 h 1"/>
                  <a:gd name="T18" fmla="*/ 1646 w 1646"/>
                  <a:gd name="T1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46" h="1">
                    <a:moveTo>
                      <a:pt x="1646" y="0"/>
                    </a:moveTo>
                    <a:cubicBezTo>
                      <a:pt x="1374" y="0"/>
                      <a:pt x="1374" y="0"/>
                      <a:pt x="1374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75" y="1"/>
                      <a:pt x="75" y="1"/>
                      <a:pt x="75" y="1"/>
                    </a:cubicBezTo>
                    <a:cubicBezTo>
                      <a:pt x="75" y="0"/>
                      <a:pt x="75" y="0"/>
                      <a:pt x="75" y="0"/>
                    </a:cubicBezTo>
                    <a:cubicBezTo>
                      <a:pt x="608" y="0"/>
                      <a:pt x="608" y="0"/>
                      <a:pt x="608" y="0"/>
                    </a:cubicBezTo>
                    <a:cubicBezTo>
                      <a:pt x="608" y="1"/>
                      <a:pt x="608" y="1"/>
                      <a:pt x="608" y="1"/>
                    </a:cubicBezTo>
                    <a:cubicBezTo>
                      <a:pt x="1635" y="1"/>
                      <a:pt x="1635" y="1"/>
                      <a:pt x="1635" y="1"/>
                    </a:cubicBezTo>
                    <a:cubicBezTo>
                      <a:pt x="1639" y="1"/>
                      <a:pt x="1643" y="1"/>
                      <a:pt x="1646" y="0"/>
                    </a:cubicBezTo>
                  </a:path>
                </a:pathLst>
              </a:custGeom>
              <a:solidFill>
                <a:srgbClr val="BFC1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21" name="Rectangle 26">
                <a:extLst>
                  <a:ext uri="{FF2B5EF4-FFF2-40B4-BE49-F238E27FC236}">
                    <a16:creationId xmlns:a16="http://schemas.microsoft.com/office/drawing/2014/main" id="{988E6814-253A-224D-7EEB-C28719657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626" y="6674770"/>
                <a:ext cx="164422" cy="371"/>
              </a:xfrm>
              <a:prstGeom prst="rect">
                <a:avLst/>
              </a:prstGeom>
              <a:solidFill>
                <a:srgbClr val="7679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22" name="Rectangle 27">
                <a:extLst>
                  <a:ext uri="{FF2B5EF4-FFF2-40B4-BE49-F238E27FC236}">
                    <a16:creationId xmlns:a16="http://schemas.microsoft.com/office/drawing/2014/main" id="{0E45F1F0-6EF9-2E97-D923-BBF32EC38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5626" y="6674770"/>
                <a:ext cx="164422" cy="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/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1E7D89D8-2B1C-A69D-05AC-6DB132210CA2}"/>
                  </a:ext>
                </a:extLst>
              </p:cNvPr>
              <p:cNvSpPr txBox="1"/>
              <p:nvPr/>
            </p:nvSpPr>
            <p:spPr>
              <a:xfrm>
                <a:off x="2586956" y="6189820"/>
                <a:ext cx="569901" cy="39100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  <a:scene3d>
                  <a:camera prst="orthographicFront">
                    <a:rot lat="0" lon="0" rev="0"/>
                  </a:camera>
                  <a:lightRig rig="glow" dir="t">
                    <a:rot lat="0" lon="0" rev="3600000"/>
                  </a:lightRig>
                </a:scene3d>
                <a:sp3d prstMaterial="softEdge">
                  <a:contourClr>
                    <a:schemeClr val="accent4">
                      <a:alpha val="95000"/>
                    </a:schemeClr>
                  </a:contourClr>
                </a:sp3d>
              </a:bodyPr>
              <a:lstStyle>
                <a:defPPr>
                  <a:defRPr lang="ko-KR"/>
                </a:defPPr>
                <a:lvl2pPr marL="0" lvl="1" fontAlgn="auto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defRPr kumimoji="0" sz="1600" b="1">
                    <a:ln>
                      <a:prstDash val="solid"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Microsoft Sans Serif" panose="020B0604020202020204" pitchFamily="34" charset="0"/>
                    <a:ea typeface="Yoon 윤고딕 550_TT" pitchFamily="18" charset="-127"/>
                    <a:cs typeface="Microsoft Sans Serif" panose="020B0604020202020204" pitchFamily="34" charset="0"/>
                  </a:defRPr>
                </a:lvl2pPr>
              </a:lstStyle>
              <a:p>
                <a:pPr lvl="0" algn="ctr">
                  <a:lnSpc>
                    <a:spcPct val="150000"/>
                  </a:lnSpc>
                  <a:buClr>
                    <a:prstClr val="white"/>
                  </a:buClr>
                  <a:buSzTx/>
                  <a:buFontTx/>
                  <a:defRPr/>
                </a:pPr>
                <a:r>
                  <a:rPr lang="zh-CN" altLang="en-US" sz="900" b="1" dirty="0">
                    <a:latin typeface="微软雅黑" panose="020B0503020204020204" charset="-122"/>
                    <a:ea typeface="微软雅黑" panose="020B0503020204020204" charset="-122"/>
                    <a:cs typeface="Tahoma" panose="020B0604030504040204" pitchFamily="34" charset="0"/>
                    <a:sym typeface="+mn-ea"/>
                  </a:rPr>
                  <a:t>结构安全</a:t>
                </a:r>
              </a:p>
              <a:p>
                <a:pPr lvl="0" algn="ctr">
                  <a:lnSpc>
                    <a:spcPct val="150000"/>
                  </a:lnSpc>
                  <a:buClr>
                    <a:prstClr val="white"/>
                  </a:buClr>
                  <a:buSzTx/>
                  <a:buFontTx/>
                  <a:defRPr/>
                </a:pPr>
                <a:r>
                  <a:rPr lang="zh-CN" altLang="en-US" sz="900" b="1" dirty="0">
                    <a:latin typeface="微软雅黑" panose="020B0503020204020204" charset="-122"/>
                    <a:ea typeface="微软雅黑" panose="020B0503020204020204" charset="-122"/>
                    <a:cs typeface="Tahoma" panose="020B0604030504040204" pitchFamily="34" charset="0"/>
                    <a:sym typeface="+mn-ea"/>
                  </a:rPr>
                  <a:t>风控平台</a:t>
                </a:r>
              </a:p>
            </p:txBody>
          </p:sp>
        </p:grp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232CD4F3-89AB-C057-2A77-203422131694}"/>
              </a:ext>
            </a:extLst>
          </p:cNvPr>
          <p:cNvSpPr txBox="1"/>
          <p:nvPr/>
        </p:nvSpPr>
        <p:spPr>
          <a:xfrm>
            <a:off x="5301684" y="1005974"/>
            <a:ext cx="610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/>
              <a:t>安责险参与方价值分配与模式演进例子（单位：万元）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FE36EB5-4CEA-B7B6-DD51-61BC9851F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95433"/>
              </p:ext>
            </p:extLst>
          </p:nvPr>
        </p:nvGraphicFramePr>
        <p:xfrm>
          <a:off x="4850311" y="1443528"/>
          <a:ext cx="7003294" cy="50193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68731">
                  <a:extLst>
                    <a:ext uri="{9D8B030D-6E8A-4147-A177-3AD203B41FA5}">
                      <a16:colId xmlns:a16="http://schemas.microsoft.com/office/drawing/2014/main" val="2213799030"/>
                    </a:ext>
                  </a:extLst>
                </a:gridCol>
                <a:gridCol w="1300640">
                  <a:extLst>
                    <a:ext uri="{9D8B030D-6E8A-4147-A177-3AD203B41FA5}">
                      <a16:colId xmlns:a16="http://schemas.microsoft.com/office/drawing/2014/main" val="3661022989"/>
                    </a:ext>
                  </a:extLst>
                </a:gridCol>
                <a:gridCol w="1183473">
                  <a:extLst>
                    <a:ext uri="{9D8B030D-6E8A-4147-A177-3AD203B41FA5}">
                      <a16:colId xmlns:a16="http://schemas.microsoft.com/office/drawing/2014/main" val="4124094215"/>
                    </a:ext>
                  </a:extLst>
                </a:gridCol>
                <a:gridCol w="1590322">
                  <a:extLst>
                    <a:ext uri="{9D8B030D-6E8A-4147-A177-3AD203B41FA5}">
                      <a16:colId xmlns:a16="http://schemas.microsoft.com/office/drawing/2014/main" val="1267605882"/>
                    </a:ext>
                  </a:extLst>
                </a:gridCol>
                <a:gridCol w="1760128">
                  <a:extLst>
                    <a:ext uri="{9D8B030D-6E8A-4147-A177-3AD203B41FA5}">
                      <a16:colId xmlns:a16="http://schemas.microsoft.com/office/drawing/2014/main" val="1219714882"/>
                    </a:ext>
                  </a:extLst>
                </a:gridCol>
              </a:tblGrid>
              <a:tr h="27953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>
                          <a:effectLst/>
                        </a:rPr>
                        <a:t>参与方</a:t>
                      </a:r>
                      <a:endParaRPr lang="zh-CN" altLang="en-US" sz="1050" b="0">
                        <a:effectLst/>
                        <a:latin typeface="quote-cjk-patch"/>
                      </a:endParaRPr>
                    </a:p>
                  </a:txBody>
                  <a:tcPr marL="7392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传统模式</a:t>
                      </a:r>
                      <a:endParaRPr lang="en-US" altLang="zh-CN" sz="1050" b="1" dirty="0">
                        <a:effectLst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（无数字化）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初级数字化模式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生态模式</a:t>
                      </a:r>
                      <a:endParaRPr lang="en-US" altLang="zh-CN" sz="1050" b="1" dirty="0">
                        <a:effectLst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（现有险种）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生态模式</a:t>
                      </a:r>
                      <a:endParaRPr lang="en-US" altLang="zh-CN" sz="1050" b="1" dirty="0">
                        <a:effectLst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（险种创新）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extLst>
                  <a:ext uri="{0D108BD9-81ED-4DB2-BD59-A6C34878D82A}">
                    <a16:rowId xmlns:a16="http://schemas.microsoft.com/office/drawing/2014/main" val="2638159805"/>
                  </a:ext>
                </a:extLst>
              </a:tr>
              <a:tr h="27953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硬件商</a:t>
                      </a:r>
                      <a:endParaRPr lang="zh-CN" altLang="en-US" sz="1050" b="1" dirty="0">
                        <a:effectLst/>
                        <a:latin typeface="quote-cjk-patch"/>
                      </a:endParaRPr>
                    </a:p>
                  </a:txBody>
                  <a:tcPr marL="7392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（无此角色）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+ 80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（硬件销售）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+ 70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（数据服务费）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+ 70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（为新险种提供技术）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3921" marT="44001" marB="44001" anchor="ctr"/>
                </a:tc>
                <a:extLst>
                  <a:ext uri="{0D108BD9-81ED-4DB2-BD59-A6C34878D82A}">
                    <a16:rowId xmlns:a16="http://schemas.microsoft.com/office/drawing/2014/main" val="2025918748"/>
                  </a:ext>
                </a:extLst>
              </a:tr>
              <a:tr h="27953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数商</a:t>
                      </a:r>
                      <a:endParaRPr lang="en-US" altLang="zh-CN" sz="1050" b="1" dirty="0">
                        <a:effectLst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可信数据空间</a:t>
                      </a:r>
                      <a:endParaRPr lang="zh-CN" altLang="en-US" sz="1050" b="1" dirty="0">
                        <a:effectLst/>
                        <a:latin typeface="quote-cjk-patch"/>
                      </a:endParaRPr>
                    </a:p>
                  </a:txBody>
                  <a:tcPr marL="7392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（无此角色）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（无此角色）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+ 45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（数据确权，地位不稳）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+ 45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（复杂数据产品，地位稳固）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3921" marT="44001" marB="44001" anchor="ctr"/>
                </a:tc>
                <a:extLst>
                  <a:ext uri="{0D108BD9-81ED-4DB2-BD59-A6C34878D82A}">
                    <a16:rowId xmlns:a16="http://schemas.microsoft.com/office/drawing/2014/main" val="2300110764"/>
                  </a:ext>
                </a:extLst>
              </a:tr>
              <a:tr h="527212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保险公司</a:t>
                      </a:r>
                      <a:endParaRPr lang="zh-CN" altLang="en-US" sz="1050" b="1" dirty="0">
                        <a:effectLst/>
                        <a:latin typeface="quote-cjk-patch"/>
                      </a:endParaRPr>
                    </a:p>
                  </a:txBody>
                  <a:tcPr marL="7392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+ 350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（承保利润，信息不对称，利润不稳定）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+ 400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（承保利润，</a:t>
                      </a:r>
                      <a:r>
                        <a:rPr lang="zh-CN" altLang="en-US" sz="1050" b="0" dirty="0">
                          <a:effectLst/>
                          <a:latin typeface="+mn-lt"/>
                        </a:rPr>
                        <a:t>初步</a:t>
                      </a:r>
                      <a:r>
                        <a:rPr lang="zh-CN" altLang="en-US" sz="1050" b="0" dirty="0">
                          <a:effectLst/>
                        </a:rPr>
                        <a:t>风控，赔付率有所下降）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+ 450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（承保利润，因精准风控，赔付率显著下降）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+ 550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（承保利润 </a:t>
                      </a:r>
                      <a:r>
                        <a:rPr lang="en-US" altLang="zh-CN" sz="1050" b="0" dirty="0">
                          <a:effectLst/>
                        </a:rPr>
                        <a:t>+ </a:t>
                      </a:r>
                      <a:r>
                        <a:rPr lang="zh-CN" altLang="en-US" sz="1050" b="0" dirty="0">
                          <a:effectLst/>
                        </a:rPr>
                        <a:t>新产品保费收入）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3921" marT="44001" marB="44001" anchor="ctr"/>
                </a:tc>
                <a:extLst>
                  <a:ext uri="{0D108BD9-81ED-4DB2-BD59-A6C34878D82A}">
                    <a16:rowId xmlns:a16="http://schemas.microsoft.com/office/drawing/2014/main" val="4243576002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工程参与方</a:t>
                      </a:r>
                      <a:endParaRPr lang="zh-CN" altLang="en-US" sz="1050" b="1" dirty="0">
                        <a:effectLst/>
                        <a:latin typeface="quote-cjk-patch"/>
                      </a:endParaRPr>
                    </a:p>
                  </a:txBody>
                  <a:tcPr marL="7392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>
                          <a:effectLst/>
                        </a:rPr>
                        <a:t>- 1050</a:t>
                      </a:r>
                      <a:br>
                        <a:rPr lang="zh-CN" altLang="en-US" sz="1050" b="0">
                          <a:effectLst/>
                        </a:rPr>
                      </a:br>
                      <a:r>
                        <a:rPr lang="zh-CN" altLang="en-US" sz="1050" b="0">
                          <a:effectLst/>
                        </a:rPr>
                        <a:t>（保费支出，安全投入视为纯成本）</a:t>
                      </a:r>
                      <a:endParaRPr lang="zh-CN" altLang="en-US" sz="1050" b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>
                          <a:effectLst/>
                        </a:rPr>
                        <a:t>- 950</a:t>
                      </a:r>
                      <a:br>
                        <a:rPr lang="zh-CN" altLang="en-US" sz="1050" b="0">
                          <a:effectLst/>
                        </a:rPr>
                      </a:br>
                      <a:r>
                        <a:rPr lang="zh-CN" altLang="en-US" sz="1050" b="0">
                          <a:effectLst/>
                        </a:rPr>
                        <a:t>（保费支出 </a:t>
                      </a:r>
                      <a:r>
                        <a:rPr lang="en-US" altLang="zh-CN" sz="1050" b="0">
                          <a:effectLst/>
                        </a:rPr>
                        <a:t>- </a:t>
                      </a:r>
                      <a:r>
                        <a:rPr lang="zh-CN" altLang="en-US" sz="1050" b="0">
                          <a:effectLst/>
                        </a:rPr>
                        <a:t>安全绩效返还）</a:t>
                      </a:r>
                      <a:endParaRPr lang="zh-CN" altLang="en-US" sz="1050" b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>
                          <a:effectLst/>
                        </a:rPr>
                        <a:t>- 850</a:t>
                      </a:r>
                      <a:br>
                        <a:rPr lang="zh-CN" altLang="en-US" sz="1050" b="0">
                          <a:effectLst/>
                        </a:rPr>
                      </a:br>
                      <a:r>
                        <a:rPr lang="zh-CN" altLang="en-US" sz="1050" b="0">
                          <a:effectLst/>
                        </a:rPr>
                        <a:t>（保费支出 </a:t>
                      </a:r>
                      <a:r>
                        <a:rPr lang="en-US" altLang="zh-CN" sz="1050" b="0">
                          <a:effectLst/>
                        </a:rPr>
                        <a:t>- </a:t>
                      </a:r>
                      <a:r>
                        <a:rPr lang="zh-CN" altLang="en-US" sz="1050" b="0">
                          <a:effectLst/>
                        </a:rPr>
                        <a:t>风险减量收益分成）</a:t>
                      </a:r>
                      <a:endParaRPr lang="zh-CN" altLang="en-US" sz="1050" b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- 850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（保费支出 </a:t>
                      </a:r>
                      <a:r>
                        <a:rPr lang="en-US" altLang="zh-CN" sz="1050" b="0" dirty="0">
                          <a:effectLst/>
                        </a:rPr>
                        <a:t>- </a:t>
                      </a:r>
                      <a:r>
                        <a:rPr lang="zh-CN" altLang="en-US" sz="1050" b="0" dirty="0">
                          <a:effectLst/>
                        </a:rPr>
                        <a:t>风险减量收益分成）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3921" marT="44001" marB="44001" anchor="ctr"/>
                </a:tc>
                <a:extLst>
                  <a:ext uri="{0D108BD9-81ED-4DB2-BD59-A6C34878D82A}">
                    <a16:rowId xmlns:a16="http://schemas.microsoft.com/office/drawing/2014/main" val="1799820526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行业管理和</a:t>
                      </a:r>
                      <a:endParaRPr lang="en-US" altLang="zh-CN" sz="1050" b="1" dirty="0">
                        <a:effectLst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公共数据运营方</a:t>
                      </a:r>
                      <a:endParaRPr lang="en-US" altLang="zh-CN" sz="1050" b="1" dirty="0">
                        <a:effectLst/>
                      </a:endParaRPr>
                    </a:p>
                  </a:txBody>
                  <a:tcPr marL="7392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（无此角色）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（无此角色）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+ 100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（运营数据产品、提供分析服务获得收入）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050" b="0" dirty="0">
                          <a:effectLst/>
                        </a:rPr>
                        <a:t>+ 100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（收入来源更丰富，如新产品精算支持）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3921" marT="44001" marB="44001" anchor="ctr"/>
                </a:tc>
                <a:extLst>
                  <a:ext uri="{0D108BD9-81ED-4DB2-BD59-A6C34878D82A}">
                    <a16:rowId xmlns:a16="http://schemas.microsoft.com/office/drawing/2014/main" val="113013727"/>
                  </a:ext>
                </a:extLst>
              </a:tr>
              <a:tr h="403375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行业监管方</a:t>
                      </a:r>
                      <a:endParaRPr lang="en-US" altLang="zh-CN" sz="1050" b="1" dirty="0">
                        <a:effectLst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  <a:latin typeface="quote-cjk-patch"/>
                        </a:rPr>
                        <a:t>（应急局）</a:t>
                      </a:r>
                    </a:p>
                  </a:txBody>
                  <a:tcPr marL="7392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承担巨大风险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（公共安全压力大，监管手段有限）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>
                          <a:effectLst/>
                        </a:rPr>
                        <a:t>安全初步提升</a:t>
                      </a:r>
                      <a:br>
                        <a:rPr lang="zh-CN" altLang="en-US" sz="1050" b="0">
                          <a:effectLst/>
                        </a:rPr>
                      </a:br>
                      <a:r>
                        <a:rPr lang="zh-CN" altLang="en-US" sz="1050" b="0">
                          <a:effectLst/>
                        </a:rPr>
                        <a:t>（治理能力得到初步改善）</a:t>
                      </a:r>
                      <a:endParaRPr lang="zh-CN" altLang="en-US" sz="1050" b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治理能力提升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（实现基于数据的精准、高效监管）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0401" marT="44001" marB="440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050" b="1" dirty="0">
                          <a:effectLst/>
                        </a:rPr>
                        <a:t>治理体系健全</a:t>
                      </a:r>
                      <a:br>
                        <a:rPr lang="zh-CN" altLang="en-US" sz="1050" b="0" dirty="0">
                          <a:effectLst/>
                        </a:rPr>
                      </a:br>
                      <a:r>
                        <a:rPr lang="zh-CN" altLang="en-US" sz="1050" b="0" dirty="0">
                          <a:effectLst/>
                        </a:rPr>
                        <a:t>（“服务</a:t>
                      </a:r>
                      <a:r>
                        <a:rPr lang="en-US" altLang="zh-CN" sz="1050" b="0" dirty="0">
                          <a:effectLst/>
                        </a:rPr>
                        <a:t>+</a:t>
                      </a:r>
                      <a:r>
                        <a:rPr lang="zh-CN" altLang="en-US" sz="1050" b="0" dirty="0">
                          <a:effectLst/>
                        </a:rPr>
                        <a:t>科技</a:t>
                      </a:r>
                      <a:r>
                        <a:rPr lang="en-US" altLang="zh-CN" sz="1050" b="0" dirty="0">
                          <a:effectLst/>
                        </a:rPr>
                        <a:t>+</a:t>
                      </a:r>
                      <a:r>
                        <a:rPr lang="zh-CN" altLang="en-US" sz="1050" b="0" dirty="0">
                          <a:effectLst/>
                        </a:rPr>
                        <a:t>保险”的行业保障体系最完善）</a:t>
                      </a:r>
                      <a:endParaRPr lang="zh-CN" altLang="en-US" sz="1050" b="0" dirty="0">
                        <a:effectLst/>
                        <a:latin typeface="quote-cjk-patch"/>
                      </a:endParaRPr>
                    </a:p>
                  </a:txBody>
                  <a:tcPr marL="70401" marR="73921" marT="44001" marB="44001" anchor="ctr"/>
                </a:tc>
                <a:extLst>
                  <a:ext uri="{0D108BD9-81ED-4DB2-BD59-A6C34878D82A}">
                    <a16:rowId xmlns:a16="http://schemas.microsoft.com/office/drawing/2014/main" val="95339783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95657724-063B-A5E2-3EF6-D9FD80AD5083}"/>
              </a:ext>
            </a:extLst>
          </p:cNvPr>
          <p:cNvSpPr txBox="1"/>
          <p:nvPr/>
        </p:nvSpPr>
        <p:spPr>
          <a:xfrm>
            <a:off x="317145" y="5409678"/>
            <a:ext cx="39359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从“零和博弈”到“共赢共生”</a:t>
            </a:r>
            <a:endParaRPr lang="en-US" altLang="zh-CN" sz="1400" b="1" dirty="0"/>
          </a:p>
          <a:p>
            <a:pPr algn="ctr"/>
            <a:r>
              <a:rPr lang="zh-CN" altLang="en-US" sz="1400" dirty="0"/>
              <a:t>让所有参与方有动力去追求“越经济 越安全”这一共同目标，实现经济效益与社会治理的统一。</a:t>
            </a:r>
          </a:p>
        </p:txBody>
      </p:sp>
    </p:spTree>
    <p:extLst>
      <p:ext uri="{BB962C8B-B14F-4D97-AF65-F5344CB8AC3E}">
        <p14:creationId xmlns:p14="http://schemas.microsoft.com/office/powerpoint/2010/main" val="328969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8DEB-4A8B-6BEF-E228-420429A6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矩形: 圆角 167">
            <a:extLst>
              <a:ext uri="{FF2B5EF4-FFF2-40B4-BE49-F238E27FC236}">
                <a16:creationId xmlns:a16="http://schemas.microsoft.com/office/drawing/2014/main" id="{E8D0D8B9-BF70-7B21-03AE-9EC30FE01DC3}"/>
              </a:ext>
            </a:extLst>
          </p:cNvPr>
          <p:cNvSpPr/>
          <p:nvPr/>
        </p:nvSpPr>
        <p:spPr>
          <a:xfrm>
            <a:off x="741005" y="1221475"/>
            <a:ext cx="5508407" cy="5136361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b"/>
          <a:lstStyle/>
          <a:p>
            <a:pPr marL="0" marR="0" lvl="0" indent="0" algn="l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公共数据可信数据空间（政府监管）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4695880-7F0C-894E-5A02-BD47F317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商业模式：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硬件部署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到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数据运营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再到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金融赋能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的完整闭环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4652CA9-73D4-EA04-DE64-808815C82A8C}"/>
              </a:ext>
            </a:extLst>
          </p:cNvPr>
          <p:cNvGrpSpPr/>
          <p:nvPr/>
        </p:nvGrpSpPr>
        <p:grpSpPr>
          <a:xfrm>
            <a:off x="746691" y="1333617"/>
            <a:ext cx="5502723" cy="4575860"/>
            <a:chOff x="3302582" y="2376674"/>
            <a:chExt cx="5752707" cy="4009389"/>
          </a:xfrm>
        </p:grpSpPr>
        <p:graphicFrame>
          <p:nvGraphicFramePr>
            <p:cNvPr id="4" name="图示 3">
              <a:extLst>
                <a:ext uri="{FF2B5EF4-FFF2-40B4-BE49-F238E27FC236}">
                  <a16:creationId xmlns:a16="http://schemas.microsoft.com/office/drawing/2014/main" id="{65AD6C9E-A7D3-5E68-CB1B-CFDB230531D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28977040"/>
                </p:ext>
              </p:extLst>
            </p:nvPr>
          </p:nvGraphicFramePr>
          <p:xfrm>
            <a:off x="3302582" y="2376674"/>
            <a:ext cx="5752707" cy="400938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D310AEEA-F726-ADCE-28C1-89EAF36536FE}"/>
                </a:ext>
              </a:extLst>
            </p:cNvPr>
            <p:cNvSpPr/>
            <p:nvPr/>
          </p:nvSpPr>
          <p:spPr>
            <a:xfrm>
              <a:off x="5622683" y="3970267"/>
              <a:ext cx="955940" cy="801201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国有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资产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Microsoft YaHei"/>
                <a:cs typeface="+mn-cs"/>
              </a:endParaRPr>
            </a:p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Microsoft YaHei"/>
                  <a:cs typeface="+mn-cs"/>
                </a:rPr>
                <a:t>价值</a:t>
              </a:r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C84F942-58E0-F151-C24F-8A2B0D3DD7C3}"/>
              </a:ext>
            </a:extLst>
          </p:cNvPr>
          <p:cNvCxnSpPr>
            <a:cxnSpLocks/>
            <a:stCxn id="36" idx="2"/>
            <a:endCxn id="26" idx="0"/>
          </p:cNvCxnSpPr>
          <p:nvPr/>
        </p:nvCxnSpPr>
        <p:spPr>
          <a:xfrm flipH="1">
            <a:off x="6770757" y="3156716"/>
            <a:ext cx="1" cy="146657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425AC96-EF96-FBF9-E4F4-63287266D5EE}"/>
              </a:ext>
            </a:extLst>
          </p:cNvPr>
          <p:cNvSpPr/>
          <p:nvPr/>
        </p:nvSpPr>
        <p:spPr>
          <a:xfrm>
            <a:off x="6313557" y="4623290"/>
            <a:ext cx="914400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27" name="矩形: 圆角 4">
            <a:extLst>
              <a:ext uri="{FF2B5EF4-FFF2-40B4-BE49-F238E27FC236}">
                <a16:creationId xmlns:a16="http://schemas.microsoft.com/office/drawing/2014/main" id="{61780950-B4C5-9C35-60B4-E9A0CC8C0C46}"/>
              </a:ext>
            </a:extLst>
          </p:cNvPr>
          <p:cNvSpPr txBox="1"/>
          <p:nvPr/>
        </p:nvSpPr>
        <p:spPr>
          <a:xfrm>
            <a:off x="6342571" y="4667971"/>
            <a:ext cx="856372" cy="412563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更低价格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cxnSp>
        <p:nvCxnSpPr>
          <p:cNvPr id="32" name="直接箭头连接符 23">
            <a:extLst>
              <a:ext uri="{FF2B5EF4-FFF2-40B4-BE49-F238E27FC236}">
                <a16:creationId xmlns:a16="http://schemas.microsoft.com/office/drawing/2014/main" id="{D51E4DC1-E784-C954-0D73-2AF88F33A937}"/>
              </a:ext>
            </a:extLst>
          </p:cNvPr>
          <p:cNvCxnSpPr>
            <a:cxnSpLocks/>
            <a:stCxn id="5" idx="7"/>
          </p:cNvCxnSpPr>
          <p:nvPr/>
        </p:nvCxnSpPr>
        <p:spPr>
          <a:xfrm rot="5400000" flipH="1" flipV="1">
            <a:off x="4818859" y="1855718"/>
            <a:ext cx="358158" cy="2502955"/>
          </a:xfrm>
          <a:prstGeom prst="curvedConnector2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4">
            <a:extLst>
              <a:ext uri="{FF2B5EF4-FFF2-40B4-BE49-F238E27FC236}">
                <a16:creationId xmlns:a16="http://schemas.microsoft.com/office/drawing/2014/main" id="{64A32792-4769-668E-CCB4-9702CBA997F2}"/>
              </a:ext>
            </a:extLst>
          </p:cNvPr>
          <p:cNvSpPr txBox="1"/>
          <p:nvPr/>
        </p:nvSpPr>
        <p:spPr>
          <a:xfrm>
            <a:off x="6091642" y="2699516"/>
            <a:ext cx="1358231" cy="457200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01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更低成本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（硬件产品）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cxnSp>
        <p:nvCxnSpPr>
          <p:cNvPr id="51" name="直接箭头连接符 23">
            <a:extLst>
              <a:ext uri="{FF2B5EF4-FFF2-40B4-BE49-F238E27FC236}">
                <a16:creationId xmlns:a16="http://schemas.microsoft.com/office/drawing/2014/main" id="{58D035F8-72A5-8174-419F-499D04E8D9C8}"/>
              </a:ext>
            </a:extLst>
          </p:cNvPr>
          <p:cNvCxnSpPr>
            <a:cxnSpLocks/>
            <a:stCxn id="26" idx="2"/>
            <a:endCxn id="4" idx="2"/>
          </p:cNvCxnSpPr>
          <p:nvPr/>
        </p:nvCxnSpPr>
        <p:spPr>
          <a:xfrm rot="5400000">
            <a:off x="4719912" y="3858631"/>
            <a:ext cx="828987" cy="3272705"/>
          </a:xfrm>
          <a:prstGeom prst="curvedConnector3">
            <a:avLst>
              <a:gd name="adj1" fmla="val 11522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23">
            <a:extLst>
              <a:ext uri="{FF2B5EF4-FFF2-40B4-BE49-F238E27FC236}">
                <a16:creationId xmlns:a16="http://schemas.microsoft.com/office/drawing/2014/main" id="{4D292556-A9E6-0D54-AFCA-68D1AB4642A0}"/>
              </a:ext>
            </a:extLst>
          </p:cNvPr>
          <p:cNvCxnSpPr>
            <a:cxnSpLocks/>
            <a:stCxn id="68" idx="2"/>
            <a:endCxn id="63" idx="0"/>
          </p:cNvCxnSpPr>
          <p:nvPr/>
        </p:nvCxnSpPr>
        <p:spPr>
          <a:xfrm>
            <a:off x="7952803" y="2626085"/>
            <a:ext cx="0" cy="2041886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: 圆角 4">
            <a:extLst>
              <a:ext uri="{FF2B5EF4-FFF2-40B4-BE49-F238E27FC236}">
                <a16:creationId xmlns:a16="http://schemas.microsoft.com/office/drawing/2014/main" id="{77073108-F93A-E5FB-6BE7-7A2EF9224A72}"/>
              </a:ext>
            </a:extLst>
          </p:cNvPr>
          <p:cNvSpPr txBox="1"/>
          <p:nvPr/>
        </p:nvSpPr>
        <p:spPr>
          <a:xfrm>
            <a:off x="7332029" y="4667971"/>
            <a:ext cx="1241547" cy="412563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联合运营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cxnSp>
        <p:nvCxnSpPr>
          <p:cNvPr id="64" name="直接箭头连接符 23">
            <a:extLst>
              <a:ext uri="{FF2B5EF4-FFF2-40B4-BE49-F238E27FC236}">
                <a16:creationId xmlns:a16="http://schemas.microsoft.com/office/drawing/2014/main" id="{9EA45279-75F3-6B5A-C84D-ABCC822D1D04}"/>
              </a:ext>
            </a:extLst>
          </p:cNvPr>
          <p:cNvCxnSpPr>
            <a:cxnSpLocks/>
            <a:stCxn id="5" idx="7"/>
            <a:endCxn id="68" idx="1"/>
          </p:cNvCxnSpPr>
          <p:nvPr/>
        </p:nvCxnSpPr>
        <p:spPr>
          <a:xfrm rot="5400000" flipH="1" flipV="1">
            <a:off x="4956840" y="1230321"/>
            <a:ext cx="845575" cy="3266333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圆角 4">
            <a:extLst>
              <a:ext uri="{FF2B5EF4-FFF2-40B4-BE49-F238E27FC236}">
                <a16:creationId xmlns:a16="http://schemas.microsoft.com/office/drawing/2014/main" id="{AFFCC813-F3A2-4FA7-EFB7-D66BA47CA25B}"/>
              </a:ext>
            </a:extLst>
          </p:cNvPr>
          <p:cNvSpPr txBox="1"/>
          <p:nvPr/>
        </p:nvSpPr>
        <p:spPr>
          <a:xfrm>
            <a:off x="7012794" y="2255313"/>
            <a:ext cx="1880017" cy="370772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marR="0" lvl="0" indent="0" algn="ctr" defTabSz="6223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02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生态资源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223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（数据服务产品）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cxnSp>
        <p:nvCxnSpPr>
          <p:cNvPr id="69" name="直接箭头连接符 23">
            <a:extLst>
              <a:ext uri="{FF2B5EF4-FFF2-40B4-BE49-F238E27FC236}">
                <a16:creationId xmlns:a16="http://schemas.microsoft.com/office/drawing/2014/main" id="{872546C7-B135-DDD0-F359-6633B609F036}"/>
              </a:ext>
            </a:extLst>
          </p:cNvPr>
          <p:cNvCxnSpPr>
            <a:cxnSpLocks/>
            <a:stCxn id="63" idx="2"/>
            <a:endCxn id="4" idx="2"/>
          </p:cNvCxnSpPr>
          <p:nvPr/>
        </p:nvCxnSpPr>
        <p:spPr>
          <a:xfrm rot="5400000">
            <a:off x="5310957" y="3267630"/>
            <a:ext cx="828943" cy="4454751"/>
          </a:xfrm>
          <a:prstGeom prst="curvedConnector3">
            <a:avLst>
              <a:gd name="adj1" fmla="val 127577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23">
            <a:extLst>
              <a:ext uri="{FF2B5EF4-FFF2-40B4-BE49-F238E27FC236}">
                <a16:creationId xmlns:a16="http://schemas.microsoft.com/office/drawing/2014/main" id="{15E24734-4517-BF1F-B6B5-C496F0BE0485}"/>
              </a:ext>
            </a:extLst>
          </p:cNvPr>
          <p:cNvCxnSpPr>
            <a:cxnSpLocks/>
            <a:stCxn id="5" idx="7"/>
            <a:endCxn id="109" idx="1"/>
          </p:cNvCxnSpPr>
          <p:nvPr/>
        </p:nvCxnSpPr>
        <p:spPr>
          <a:xfrm rot="5400000" flipH="1" flipV="1">
            <a:off x="5277918" y="354879"/>
            <a:ext cx="1399939" cy="4462852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: 圆角 4">
            <a:extLst>
              <a:ext uri="{FF2B5EF4-FFF2-40B4-BE49-F238E27FC236}">
                <a16:creationId xmlns:a16="http://schemas.microsoft.com/office/drawing/2014/main" id="{7A07C8C3-AAE5-AE61-C8FE-6F6FE172C515}"/>
              </a:ext>
            </a:extLst>
          </p:cNvPr>
          <p:cNvSpPr txBox="1"/>
          <p:nvPr/>
        </p:nvSpPr>
        <p:spPr>
          <a:xfrm>
            <a:off x="8209313" y="1657734"/>
            <a:ext cx="1851493" cy="457201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>
            <a:defPPr>
              <a:defRPr lang="en-US"/>
            </a:defPPr>
            <a:lvl1pPr lvl="0" indent="0" algn="ctr" defTabSz="622300">
              <a:lnSpc>
                <a:spcPct val="90000"/>
              </a:lnSpc>
              <a:spcBef>
                <a:spcPct val="0"/>
              </a:spcBef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03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结构安全风控平台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（安责险产品）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110" name="矩形: 圆角 4">
            <a:extLst>
              <a:ext uri="{FF2B5EF4-FFF2-40B4-BE49-F238E27FC236}">
                <a16:creationId xmlns:a16="http://schemas.microsoft.com/office/drawing/2014/main" id="{C5DA8DED-ADD0-2877-8A08-49DC88DD90B5}"/>
              </a:ext>
            </a:extLst>
          </p:cNvPr>
          <p:cNvSpPr txBox="1"/>
          <p:nvPr/>
        </p:nvSpPr>
        <p:spPr>
          <a:xfrm>
            <a:off x="9642142" y="1149369"/>
            <a:ext cx="1880017" cy="370772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>
            <a:defPPr>
              <a:defRPr lang="en-US"/>
            </a:defPPr>
            <a:lvl1pPr lvl="0" indent="0" algn="ctr" defTabSz="622300">
              <a:lnSpc>
                <a:spcPct val="90000"/>
              </a:lnSpc>
              <a:spcBef>
                <a:spcPct val="0"/>
              </a:spcBef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04 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资产支持证劵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cxnSp>
        <p:nvCxnSpPr>
          <p:cNvPr id="113" name="直接箭头连接符 23">
            <a:extLst>
              <a:ext uri="{FF2B5EF4-FFF2-40B4-BE49-F238E27FC236}">
                <a16:creationId xmlns:a16="http://schemas.microsoft.com/office/drawing/2014/main" id="{8D3EAAA2-F9CF-9561-ABCF-2CB080618C73}"/>
              </a:ext>
            </a:extLst>
          </p:cNvPr>
          <p:cNvCxnSpPr>
            <a:cxnSpLocks/>
            <a:stCxn id="5" idx="7"/>
            <a:endCxn id="110" idx="1"/>
          </p:cNvCxnSpPr>
          <p:nvPr/>
        </p:nvCxnSpPr>
        <p:spPr>
          <a:xfrm rot="5400000" flipH="1" flipV="1">
            <a:off x="5718542" y="-637325"/>
            <a:ext cx="1951519" cy="5895681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23">
            <a:extLst>
              <a:ext uri="{FF2B5EF4-FFF2-40B4-BE49-F238E27FC236}">
                <a16:creationId xmlns:a16="http://schemas.microsoft.com/office/drawing/2014/main" id="{29194BD0-E65D-2852-CE03-21CD2743ABE0}"/>
              </a:ext>
            </a:extLst>
          </p:cNvPr>
          <p:cNvCxnSpPr>
            <a:cxnSpLocks/>
            <a:stCxn id="109" idx="2"/>
            <a:endCxn id="121" idx="0"/>
          </p:cNvCxnSpPr>
          <p:nvPr/>
        </p:nvCxnSpPr>
        <p:spPr>
          <a:xfrm>
            <a:off x="9135060" y="2114935"/>
            <a:ext cx="0" cy="2553036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: 圆角 4">
            <a:extLst>
              <a:ext uri="{FF2B5EF4-FFF2-40B4-BE49-F238E27FC236}">
                <a16:creationId xmlns:a16="http://schemas.microsoft.com/office/drawing/2014/main" id="{322BBCA2-062C-837C-9F83-C7D22C6C6792}"/>
              </a:ext>
            </a:extLst>
          </p:cNvPr>
          <p:cNvSpPr txBox="1"/>
          <p:nvPr/>
        </p:nvSpPr>
        <p:spPr>
          <a:xfrm>
            <a:off x="8605185" y="4667971"/>
            <a:ext cx="1059749" cy="412563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多方共赢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cxnSp>
        <p:nvCxnSpPr>
          <p:cNvPr id="122" name="直接箭头连接符 23">
            <a:extLst>
              <a:ext uri="{FF2B5EF4-FFF2-40B4-BE49-F238E27FC236}">
                <a16:creationId xmlns:a16="http://schemas.microsoft.com/office/drawing/2014/main" id="{4CEB59CE-D055-F0AF-6B05-30EE2AB5E9AE}"/>
              </a:ext>
            </a:extLst>
          </p:cNvPr>
          <p:cNvCxnSpPr>
            <a:cxnSpLocks/>
            <a:stCxn id="121" idx="2"/>
            <a:endCxn id="4" idx="2"/>
          </p:cNvCxnSpPr>
          <p:nvPr/>
        </p:nvCxnSpPr>
        <p:spPr>
          <a:xfrm rot="5400000">
            <a:off x="5902085" y="2676501"/>
            <a:ext cx="828943" cy="5637008"/>
          </a:xfrm>
          <a:prstGeom prst="curvedConnector3">
            <a:avLst>
              <a:gd name="adj1" fmla="val 135809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23">
            <a:extLst>
              <a:ext uri="{FF2B5EF4-FFF2-40B4-BE49-F238E27FC236}">
                <a16:creationId xmlns:a16="http://schemas.microsoft.com/office/drawing/2014/main" id="{BF612F37-D396-CA16-FF01-A85B364A108F}"/>
              </a:ext>
            </a:extLst>
          </p:cNvPr>
          <p:cNvCxnSpPr>
            <a:cxnSpLocks/>
            <a:stCxn id="110" idx="2"/>
            <a:endCxn id="129" idx="0"/>
          </p:cNvCxnSpPr>
          <p:nvPr/>
        </p:nvCxnSpPr>
        <p:spPr>
          <a:xfrm flipH="1">
            <a:off x="10582150" y="1520141"/>
            <a:ext cx="1" cy="3147830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: 圆角 4">
            <a:extLst>
              <a:ext uri="{FF2B5EF4-FFF2-40B4-BE49-F238E27FC236}">
                <a16:creationId xmlns:a16="http://schemas.microsoft.com/office/drawing/2014/main" id="{F2E2638C-4C9C-F4A9-F3E8-F1D871BE1398}"/>
              </a:ext>
            </a:extLst>
          </p:cNvPr>
          <p:cNvSpPr txBox="1"/>
          <p:nvPr/>
        </p:nvSpPr>
        <p:spPr>
          <a:xfrm>
            <a:off x="9897708" y="4667971"/>
            <a:ext cx="1368884" cy="412563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并购或推动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IPO</a:t>
            </a:r>
          </a:p>
        </p:txBody>
      </p:sp>
      <p:cxnSp>
        <p:nvCxnSpPr>
          <p:cNvPr id="130" name="直接箭头连接符 23">
            <a:extLst>
              <a:ext uri="{FF2B5EF4-FFF2-40B4-BE49-F238E27FC236}">
                <a16:creationId xmlns:a16="http://schemas.microsoft.com/office/drawing/2014/main" id="{CEA71394-8B74-57AE-2072-14191C75BE1F}"/>
              </a:ext>
            </a:extLst>
          </p:cNvPr>
          <p:cNvCxnSpPr>
            <a:cxnSpLocks/>
            <a:stCxn id="129" idx="2"/>
            <a:endCxn id="4" idx="2"/>
          </p:cNvCxnSpPr>
          <p:nvPr/>
        </p:nvCxnSpPr>
        <p:spPr>
          <a:xfrm rot="5400000">
            <a:off x="6625630" y="1952956"/>
            <a:ext cx="828943" cy="7084098"/>
          </a:xfrm>
          <a:prstGeom prst="curvedConnector3">
            <a:avLst>
              <a:gd name="adj1" fmla="val 150627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C797591-C020-E284-8301-34E5DB3E5082}"/>
              </a:ext>
            </a:extLst>
          </p:cNvPr>
          <p:cNvSpPr txBox="1"/>
          <p:nvPr/>
        </p:nvSpPr>
        <p:spPr>
          <a:xfrm>
            <a:off x="5368388" y="5108729"/>
            <a:ext cx="908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01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客户：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工程企业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监理企业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运营企业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68DFA6-3825-18D8-290A-955C01D863A1}"/>
              </a:ext>
            </a:extLst>
          </p:cNvPr>
          <p:cNvSpPr txBox="1"/>
          <p:nvPr/>
        </p:nvSpPr>
        <p:spPr>
          <a:xfrm>
            <a:off x="6742516" y="5108728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02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客户：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出行智驾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AI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企业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51470D-5A65-F60F-A4EF-B4B29F538390}"/>
              </a:ext>
            </a:extLst>
          </p:cNvPr>
          <p:cNvSpPr txBox="1"/>
          <p:nvPr/>
        </p:nvSpPr>
        <p:spPr>
          <a:xfrm>
            <a:off x="7792872" y="5108729"/>
            <a:ext cx="1116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03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客户：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财产保险企业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D425FD-04CE-95D6-EF61-A247EB426164}"/>
              </a:ext>
            </a:extLst>
          </p:cNvPr>
          <p:cNvSpPr txBox="1"/>
          <p:nvPr/>
        </p:nvSpPr>
        <p:spPr>
          <a:xfrm>
            <a:off x="9559413" y="5077510"/>
            <a:ext cx="820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04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客户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交投科技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31FEB6-2F30-CF1D-FCD9-1BD0BCFEB6EA}"/>
              </a:ext>
            </a:extLst>
          </p:cNvPr>
          <p:cNvSpPr txBox="1"/>
          <p:nvPr/>
        </p:nvSpPr>
        <p:spPr>
          <a:xfrm>
            <a:off x="6208152" y="3156735"/>
            <a:ext cx="112521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2024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年标杆：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花江峡谷大桥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智慧缆索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248D0D-CA75-F89D-BB04-E5D54966E9B9}"/>
              </a:ext>
            </a:extLst>
          </p:cNvPr>
          <p:cNvSpPr txBox="1"/>
          <p:nvPr/>
        </p:nvSpPr>
        <p:spPr>
          <a:xfrm>
            <a:off x="7292099" y="3460928"/>
            <a:ext cx="11972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2025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年标杆：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中冶交通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“空地深”融合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F904D3-E916-9786-EAB5-E189C0E423AF}"/>
              </a:ext>
            </a:extLst>
          </p:cNvPr>
          <p:cNvSpPr txBox="1"/>
          <p:nvPr/>
        </p:nvSpPr>
        <p:spPr>
          <a:xfrm>
            <a:off x="8539690" y="3955327"/>
            <a:ext cx="11972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2026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年标杆：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000000"/>
                </a:solidFill>
                <a:latin typeface="Arial"/>
                <a:ea typeface="Microsoft YaHei"/>
              </a:rPr>
              <a:t>武汉城市生命线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安责险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icrosoft YaHei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2519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基础设施安全的“经济机遇”之二：结构安全风险数据上车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微软雅黑" panose="020B0503020204020204" charset="-122"/>
              </a:rPr>
              <a:t>升空</a:t>
            </a:r>
            <a:endParaRPr lang="zh-CN" altLang="en-US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9695" y="3660140"/>
            <a:ext cx="11979275" cy="30422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" name="îṩḷïḑe"/>
          <p:cNvSpPr/>
          <p:nvPr/>
        </p:nvSpPr>
        <p:spPr bwMode="auto">
          <a:xfrm>
            <a:off x="929005" y="5761990"/>
            <a:ext cx="11210290" cy="96393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/>
          <a:lstStyle/>
          <a:p>
            <a:pPr algn="ctr" defTabSz="914400"/>
            <a:endParaRPr sz="249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5" name="îšḷide"/>
          <p:cNvSpPr/>
          <p:nvPr/>
        </p:nvSpPr>
        <p:spPr bwMode="auto">
          <a:xfrm>
            <a:off x="139065" y="5768340"/>
            <a:ext cx="917575" cy="954000"/>
          </a:xfrm>
          <a:prstGeom prst="rect">
            <a:avLst/>
          </a:prstGeom>
          <a:solidFill>
            <a:sysClr val="window" lastClr="FFFFFF">
              <a:lumMod val="65000"/>
            </a:sysClr>
          </a:solidFill>
          <a:ln w="25400">
            <a:noFill/>
            <a:miter lim="800000"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9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</a:endParaRPr>
          </a:p>
        </p:txBody>
      </p:sp>
      <p:sp>
        <p:nvSpPr>
          <p:cNvPr id="6" name="îṩḷïḑe"/>
          <p:cNvSpPr/>
          <p:nvPr/>
        </p:nvSpPr>
        <p:spPr bwMode="auto">
          <a:xfrm>
            <a:off x="927735" y="3835400"/>
            <a:ext cx="11211560" cy="564515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/>
          <a:lstStyle/>
          <a:p>
            <a:pPr algn="ctr" defTabSz="914400"/>
            <a:endParaRPr sz="249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sp>
        <p:nvSpPr>
          <p:cNvPr id="7" name="îṩḷïḑe"/>
          <p:cNvSpPr/>
          <p:nvPr/>
        </p:nvSpPr>
        <p:spPr bwMode="auto">
          <a:xfrm>
            <a:off x="928895" y="4473575"/>
            <a:ext cx="11210400" cy="123190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anchor="ctr"/>
          <a:lstStyle/>
          <a:p>
            <a:pPr algn="ctr" defTabSz="914400"/>
            <a:endParaRPr sz="2490" dirty="0">
              <a:solidFill>
                <a:prstClr val="black"/>
              </a:solidFill>
              <a:latin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803390" y="1609408"/>
            <a:ext cx="1531620" cy="1851660"/>
            <a:chOff x="6183693" y="898755"/>
            <a:chExt cx="1833122" cy="267258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83693" y="898755"/>
              <a:ext cx="1814353" cy="2672582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7873042" y="1627517"/>
              <a:ext cx="143773" cy="43938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73100" y="781685"/>
            <a:ext cx="11217910" cy="664845"/>
            <a:chOff x="1286" y="1510"/>
            <a:chExt cx="17666" cy="1047"/>
          </a:xfrm>
        </p:grpSpPr>
        <p:sp>
          <p:nvSpPr>
            <p:cNvPr id="13" name="文本框 12"/>
            <p:cNvSpPr txBox="1"/>
            <p:nvPr/>
          </p:nvSpPr>
          <p:spPr>
            <a:xfrm>
              <a:off x="10470" y="1541"/>
              <a:ext cx="3787" cy="10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/>
              <a:r>
                <a:rPr kumimoji="1" lang="en-US" altLang="zh-CN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cs typeface="微软雅黑" panose="020B0503020204020204" charset="-122"/>
                  <a:sym typeface="Wingdings" panose="05000000000000000000" charset="0"/>
                </a:rPr>
                <a:t>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cs typeface="微软雅黑" panose="020B0503020204020204" charset="-122"/>
                </a:rPr>
                <a:t>全网各级道路上发生不安全行为分别是多少？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873" y="1514"/>
              <a:ext cx="4079" cy="101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14400"/>
              <a:r>
                <a:rPr kumimoji="1" lang="en-US" altLang="zh-CN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cs typeface="微软雅黑" panose="020B0503020204020204" charset="-122"/>
                  <a:sym typeface="Wingdings" panose="05000000000000000000" charset="0"/>
                </a:rPr>
                <a:t>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cs typeface="微软雅黑" panose="020B0503020204020204" charset="-122"/>
                </a:rPr>
                <a:t>发生事故主要场景和道路条件是？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86" y="1510"/>
              <a:ext cx="4079" cy="101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14400"/>
              <a:r>
                <a:rPr kumimoji="1" lang="en-US" altLang="zh-CN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cs typeface="微软雅黑" panose="020B0503020204020204" charset="-122"/>
                  <a:sym typeface="Wingdings" panose="05000000000000000000" charset="0"/>
                </a:rPr>
                <a:t>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cs typeface="微软雅黑" panose="020B0503020204020204" charset="-122"/>
                  <a:sym typeface="+mn-ea"/>
                </a:rPr>
                <a:t>司机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cs typeface="微软雅黑" panose="020B0503020204020204" charset="-122"/>
                </a:rPr>
                <a:t>导致车机端自动告警误报率高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004" y="1510"/>
              <a:ext cx="4511" cy="1018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14400"/>
              <a:r>
                <a:rPr kumimoji="1" lang="en-US" altLang="zh-CN" sz="20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cs typeface="微软雅黑" panose="020B0503020204020204" charset="-122"/>
                  <a:sym typeface="Wingdings" panose="05000000000000000000" charset="0"/>
                </a:rPr>
                <a:t>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cs typeface="微软雅黑" panose="020B0503020204020204" charset="-122"/>
                  <a:sym typeface="Wingdings" panose="05000000000000000000" charset="0"/>
                </a:rPr>
                <a:t>疲劳驾驶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cs typeface="微软雅黑" panose="020B0503020204020204" charset="-122"/>
                </a:rPr>
                <a:t>和前车距过之后，我们要重点解决什么问题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9683115" y="1593533"/>
            <a:ext cx="1955165" cy="1883410"/>
            <a:chOff x="9410591" y="1752848"/>
            <a:chExt cx="2150697" cy="2356736"/>
          </a:xfrm>
        </p:grpSpPr>
        <p:grpSp>
          <p:nvGrpSpPr>
            <p:cNvPr id="19" name="组合 18"/>
            <p:cNvGrpSpPr/>
            <p:nvPr/>
          </p:nvGrpSpPr>
          <p:grpSpPr>
            <a:xfrm>
              <a:off x="9410591" y="1752848"/>
              <a:ext cx="2150697" cy="2356736"/>
              <a:chOff x="6556075" y="1614360"/>
              <a:chExt cx="3364302" cy="4030501"/>
            </a:xfrm>
          </p:grpSpPr>
          <p:pic>
            <p:nvPicPr>
              <p:cNvPr id="21" name="图片 20"/>
              <p:cNvPicPr>
                <a:picLocks noChangeAspect="1"/>
              </p:cNvPicPr>
              <p:nvPr/>
            </p:nvPicPr>
            <p:blipFill rotWithShape="1">
              <a:blip r:embed="rId4"/>
              <a:srcRect b="11855"/>
              <a:stretch>
                <a:fillRect/>
              </a:stretch>
            </p:blipFill>
            <p:spPr>
              <a:xfrm>
                <a:off x="6590580" y="1614360"/>
                <a:ext cx="3329797" cy="4030501"/>
              </a:xfrm>
              <a:prstGeom prst="rect">
                <a:avLst/>
              </a:prstGeom>
            </p:spPr>
          </p:pic>
          <p:sp>
            <p:nvSpPr>
              <p:cNvPr id="22" name="矩形 21"/>
              <p:cNvSpPr/>
              <p:nvPr/>
            </p:nvSpPr>
            <p:spPr>
              <a:xfrm>
                <a:off x="6556075" y="3945147"/>
                <a:ext cx="207034" cy="517657"/>
              </a:xfrm>
              <a:prstGeom prst="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</p:grpSp>
        <p:pic>
          <p:nvPicPr>
            <p:cNvPr id="20" name="图片 19"/>
            <p:cNvPicPr>
              <a:picLocks noChangeAspect="1"/>
            </p:cNvPicPr>
            <p:nvPr/>
          </p:nvPicPr>
          <p:blipFill rotWithShape="1">
            <a:blip r:embed="rId5"/>
            <a:srcRect r="951" b="1237"/>
            <a:stretch>
              <a:fillRect/>
            </a:stretch>
          </p:blipFill>
          <p:spPr>
            <a:xfrm>
              <a:off x="11234505" y="3335425"/>
              <a:ext cx="326783" cy="187149"/>
            </a:xfrm>
            <a:prstGeom prst="rect">
              <a:avLst/>
            </a:prstGeom>
          </p:spPr>
        </p:pic>
      </p:grpSp>
      <p:sp>
        <p:nvSpPr>
          <p:cNvPr id="23" name="文本框 22"/>
          <p:cNvSpPr txBox="1"/>
          <p:nvPr/>
        </p:nvSpPr>
        <p:spPr>
          <a:xfrm>
            <a:off x="100013" y="6076748"/>
            <a:ext cx="1005403" cy="338554"/>
          </a:xfrm>
          <a:prstGeom prst="rect">
            <a:avLst/>
          </a:prstGeom>
        </p:spPr>
        <p:txBody>
          <a:bodyPr wrap="none" anchor="t">
            <a:spAutoFit/>
          </a:bodyPr>
          <a:lstStyle/>
          <a:p>
            <a:pPr defTabSz="914400"/>
            <a:r>
              <a:rPr kumimoji="1" lang="zh-CN" altLang="en-US" sz="1600" b="1" dirty="0">
                <a:solidFill>
                  <a:prstClr val="white"/>
                </a:solidFill>
                <a:latin typeface="微软雅黑" panose="020B0503020204020204" charset="-122"/>
                <a:sym typeface="+mn-ea"/>
              </a:rPr>
              <a:t>数据赋能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6574983" y="3896858"/>
            <a:ext cx="2540000" cy="2758440"/>
            <a:chOff x="1643" y="6218"/>
            <a:chExt cx="4000" cy="4344"/>
          </a:xfrm>
        </p:grpSpPr>
        <p:sp>
          <p:nvSpPr>
            <p:cNvPr id="25" name="文本框 24"/>
            <p:cNvSpPr txBox="1"/>
            <p:nvPr/>
          </p:nvSpPr>
          <p:spPr>
            <a:xfrm>
              <a:off x="1643" y="6218"/>
              <a:ext cx="3494" cy="53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普通道路</a:t>
              </a:r>
              <a:r>
                <a:rPr lang="en-US" altLang="zh-CN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 - 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“施肥”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643" y="7168"/>
              <a:ext cx="3787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/>
              <a:r>
                <a:rPr kumimoji="1"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49.3%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的事故发生在市镇普通道路和高速公路，</a:t>
              </a:r>
              <a:r>
                <a:rPr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sym typeface="+mn-ea"/>
                </a:rPr>
                <a:t>而并非我们常认为的危险道路上</a:t>
              </a:r>
              <a:endParaRPr kumimoji="1"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643" y="9061"/>
              <a:ext cx="4000" cy="1501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defTabSz="914400"/>
              <a:r>
                <a:rPr kumimoji="1"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sym typeface="+mn-ea"/>
                </a:rPr>
                <a:t>每天：</a:t>
              </a:r>
              <a:endParaRPr kumimoji="1"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</a:endParaRPr>
            </a:p>
            <a:p>
              <a:pPr marL="171450" indent="-171450" defTabSz="914400">
                <a:buFontTx/>
                <a:buChar char="-"/>
              </a:pPr>
              <a:r>
                <a:rPr kumimoji="1"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sym typeface="+mn-ea"/>
                </a:rPr>
                <a:t>任务常用线路</a:t>
              </a:r>
              <a:endParaRPr kumimoji="1" lang="en-US" altLang="zh-CN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</a:endParaRPr>
            </a:p>
            <a:p>
              <a:pPr marL="171450" indent="-171450" defTabSz="914400">
                <a:buFontTx/>
                <a:buChar char="-"/>
              </a:pPr>
              <a:r>
                <a:rPr kumimoji="1"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sym typeface="+mn-ea"/>
                </a:rPr>
                <a:t>公里公路轨迹</a:t>
              </a:r>
            </a:p>
            <a:p>
              <a:pPr marL="171450" indent="-171450" defTabSz="914400">
                <a:buFontTx/>
                <a:buChar char="-"/>
              </a:pPr>
              <a:r>
                <a:rPr kumimoji="1"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sym typeface="+mn-ea"/>
                </a:rPr>
                <a:t>作业任务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9237538" y="3896858"/>
            <a:ext cx="2778760" cy="2543175"/>
            <a:chOff x="5836" y="6212"/>
            <a:chExt cx="4376" cy="4005"/>
          </a:xfrm>
        </p:grpSpPr>
        <p:sp>
          <p:nvSpPr>
            <p:cNvPr id="29" name="文本框 28"/>
            <p:cNvSpPr txBox="1"/>
            <p:nvPr/>
          </p:nvSpPr>
          <p:spPr>
            <a:xfrm>
              <a:off x="5836" y="6212"/>
              <a:ext cx="4376" cy="53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特殊桥隧</a:t>
              </a:r>
              <a:r>
                <a:rPr lang="en-US" altLang="zh-CN" sz="16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 -</a:t>
              </a:r>
              <a:r>
                <a:rPr lang="en-US" altLang="zh-CN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 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“茁壮成长”</a:t>
              </a: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836" y="7168"/>
              <a:ext cx="3787" cy="16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/>
              <a:r>
                <a:rPr kumimoji="1" 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52.7%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的事故发生在交叉路口，根因是复杂路况司机注意力分散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sym typeface="+mn-ea"/>
                </a:rPr>
                <a:t>导致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判断处置不当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836" y="9054"/>
              <a:ext cx="3554" cy="1163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defTabSz="914400"/>
              <a:r>
                <a:rPr kumimoji="1"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sym typeface="+mn-ea"/>
                </a:rPr>
                <a:t>桥隧数据和设备融合，对危险桥梁、隧道、边坡进行</a:t>
              </a:r>
              <a:r>
                <a:rPr kumimoji="1" lang="zh-CN" altLang="en-US" sz="1400" b="1" dirty="0">
                  <a:solidFill>
                    <a:srgbClr val="C00000"/>
                  </a:solidFill>
                  <a:latin typeface="微软雅黑" panose="020B0503020204020204" charset="-122"/>
                  <a:sym typeface="+mn-ea"/>
                </a:rPr>
                <a:t>预防性告警和提示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077587" y="3896858"/>
            <a:ext cx="2426970" cy="2558574"/>
            <a:chOff x="1077587" y="3948430"/>
            <a:chExt cx="2426970" cy="2558574"/>
          </a:xfrm>
        </p:grpSpPr>
        <p:sp>
          <p:nvSpPr>
            <p:cNvPr id="11" name="文本框 10"/>
            <p:cNvSpPr txBox="1"/>
            <p:nvPr/>
          </p:nvSpPr>
          <p:spPr>
            <a:xfrm>
              <a:off x="1077587" y="3948430"/>
              <a:ext cx="2426970" cy="33845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600" b="1" dirty="0">
                  <a:solidFill>
                    <a:prstClr val="black"/>
                  </a:solidFill>
                  <a:latin typeface="微软雅黑" panose="020B0503020204020204" charset="-122"/>
                </a:rPr>
                <a:t>设备算法 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anose="020B0503020204020204" charset="-122"/>
                </a:rPr>
                <a:t>-</a:t>
              </a:r>
              <a:r>
                <a:rPr lang="en-US" altLang="zh-CN" sz="1600" dirty="0">
                  <a:solidFill>
                    <a:prstClr val="black"/>
                  </a:solidFill>
                  <a:latin typeface="微软雅黑" panose="020B0503020204020204" charset="-122"/>
                </a:rPr>
                <a:t> </a:t>
              </a:r>
              <a:r>
                <a:rPr kumimoji="1" lang="zh-CN" altLang="en-US" sz="1600" dirty="0">
                  <a:solidFill>
                    <a:prstClr val="black"/>
                  </a:solidFill>
                  <a:latin typeface="微软雅黑" panose="020B0503020204020204" charset="-122"/>
                </a:rPr>
                <a:t>“修枝”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077587" y="4551363"/>
              <a:ext cx="2404719" cy="1076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/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日均</a:t>
              </a:r>
              <a:r>
                <a:rPr kumimoji="1" lang="en-US" altLang="zh-CN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40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万</a:t>
              </a:r>
              <a:r>
                <a:rPr kumimoji="1" lang="en-US" altLang="zh-CN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+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车空机端自动告警数据中，只有</a:t>
              </a:r>
              <a:r>
                <a:rPr kumimoji="1" lang="en-US" altLang="zh-CN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2000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条需干预的中高风险和</a:t>
              </a:r>
              <a:r>
                <a:rPr kumimoji="1" lang="en-US" altLang="zh-CN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40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起护航事件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077587" y="5768340"/>
              <a:ext cx="2256790" cy="738664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defTabSz="914400"/>
              <a:r>
                <a:rPr kumimoji="1" lang="zh-CN" altLang="en-US" sz="1400" b="1" dirty="0">
                  <a:solidFill>
                    <a:srgbClr val="C00000"/>
                  </a:solidFill>
                  <a:latin typeface="微软雅黑" panose="020B0503020204020204" charset="-122"/>
                  <a:sym typeface="+mn-ea"/>
                </a:rPr>
                <a:t>双层</a:t>
              </a:r>
              <a:r>
                <a:rPr kumimoji="1" lang="en-US" altLang="zh-CN" sz="1400" b="1" dirty="0">
                  <a:solidFill>
                    <a:srgbClr val="C00000"/>
                  </a:solidFill>
                  <a:latin typeface="微软雅黑" panose="020B0503020204020204" charset="-122"/>
                  <a:sym typeface="+mn-ea"/>
                </a:rPr>
                <a:t>AI</a:t>
              </a:r>
              <a:r>
                <a:rPr kumimoji="1" lang="zh-CN" altLang="en-US" sz="1400" b="1" dirty="0">
                  <a:solidFill>
                    <a:srgbClr val="C00000"/>
                  </a:solidFill>
                  <a:latin typeface="微软雅黑" panose="020B0503020204020204" charset="-122"/>
                  <a:sym typeface="+mn-ea"/>
                </a:rPr>
                <a:t>校验机制有效过滤掉误报</a:t>
              </a:r>
              <a:r>
                <a:rPr kumimoji="1" lang="zh-CN" altLang="en-US" sz="1400" dirty="0">
                  <a:solidFill>
                    <a:srgbClr val="C00000"/>
                  </a:solidFill>
                  <a:latin typeface="微软雅黑" panose="020B0503020204020204" charset="-122"/>
                  <a:sym typeface="+mn-ea"/>
                </a:rPr>
                <a:t>，</a:t>
              </a:r>
              <a:r>
                <a:rPr kumimoji="1"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sym typeface="+mn-ea"/>
                </a:rPr>
                <a:t>降低设备频繁告警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724902" y="3896858"/>
            <a:ext cx="2900680" cy="2543334"/>
            <a:chOff x="3724902" y="3949065"/>
            <a:chExt cx="2900680" cy="2543334"/>
          </a:xfrm>
        </p:grpSpPr>
        <p:sp>
          <p:nvSpPr>
            <p:cNvPr id="17" name="文本框 16"/>
            <p:cNvSpPr txBox="1"/>
            <p:nvPr/>
          </p:nvSpPr>
          <p:spPr>
            <a:xfrm>
              <a:off x="3724902" y="3949065"/>
              <a:ext cx="2839720" cy="33718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defTabSz="914400"/>
              <a:r>
                <a:rPr lang="zh-CN" altLang="en-US" sz="1600" b="1" dirty="0">
                  <a:solidFill>
                    <a:prstClr val="black"/>
                  </a:solidFill>
                  <a:latin typeface="微软雅黑" panose="020B0503020204020204" charset="-122"/>
                </a:rPr>
                <a:t>输出验证</a:t>
              </a:r>
              <a:r>
                <a:rPr lang="en-US" altLang="zh-CN" sz="1600" b="1" dirty="0">
                  <a:solidFill>
                    <a:prstClr val="black"/>
                  </a:solidFill>
                  <a:latin typeface="微软雅黑" panose="020B0503020204020204" charset="-122"/>
                </a:rPr>
                <a:t> – </a:t>
              </a:r>
              <a:r>
                <a:rPr kumimoji="1" lang="zh-CN" altLang="en-US" sz="1600" dirty="0">
                  <a:solidFill>
                    <a:prstClr val="black"/>
                  </a:solidFill>
                  <a:latin typeface="微软雅黑" panose="020B0503020204020204" charset="-122"/>
                </a:rPr>
                <a:t>“小果实”</a:t>
              </a:r>
              <a:r>
                <a:rPr kumimoji="1" lang="en-US" altLang="zh-CN" sz="1600" dirty="0">
                  <a:solidFill>
                    <a:prstClr val="black"/>
                  </a:solidFill>
                  <a:latin typeface="微软雅黑" panose="020B0503020204020204" charset="-122"/>
                </a:rPr>
                <a:t> </a:t>
              </a:r>
              <a:endParaRPr kumimoji="1" lang="zh-CN" altLang="en-US" sz="1600" dirty="0">
                <a:solidFill>
                  <a:prstClr val="black"/>
                </a:solidFill>
                <a:latin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785862" y="4551363"/>
              <a:ext cx="2733014" cy="1076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914400"/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观察受限、</a:t>
              </a:r>
              <a:r>
                <a:rPr kumimoji="1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跟车过近、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sym typeface="+mn-ea"/>
                </a:rPr>
                <a:t>注意力分散、</a:t>
              </a:r>
              <a:r>
                <a:rPr kumimoji="1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疲劳驾驶</a:t>
              </a:r>
              <a:r>
                <a:rPr kumimoji="1"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、仍是导致事故的四个直接原因，占比</a:t>
              </a:r>
              <a:r>
                <a:rPr kumimoji="1" lang="en-US" altLang="zh-CN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</a:rPr>
                <a:t>92%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785862" y="5753735"/>
              <a:ext cx="2839720" cy="738664"/>
            </a:xfrm>
            <a:prstGeom prst="rect">
              <a:avLst/>
            </a:prstGeom>
          </p:spPr>
          <p:txBody>
            <a:bodyPr wrap="square" anchor="t">
              <a:spAutoFit/>
            </a:bodyPr>
            <a:lstStyle/>
            <a:p>
              <a:pPr defTabSz="914400"/>
              <a:r>
                <a:rPr kumimoji="1" lang="zh-CN" altLang="en-US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sym typeface="+mn-ea"/>
                </a:rPr>
                <a:t>司机的反馈闭环接入，结合每日产生的终端告警数据安全迭代算法，提高人工护航效率</a:t>
              </a:r>
              <a:r>
                <a:rPr kumimoji="1" lang="en-US" altLang="zh-CN" sz="14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charset="-122"/>
                  <a:sym typeface="+mn-ea"/>
                </a:rPr>
                <a:t>51.9%</a:t>
              </a:r>
            </a:p>
          </p:txBody>
        </p:sp>
      </p:grpSp>
      <p:sp>
        <p:nvSpPr>
          <p:cNvPr id="36" name="îšḷide"/>
          <p:cNvSpPr/>
          <p:nvPr/>
        </p:nvSpPr>
        <p:spPr bwMode="auto">
          <a:xfrm>
            <a:off x="138430" y="4472940"/>
            <a:ext cx="917575" cy="1231200"/>
          </a:xfrm>
          <a:prstGeom prst="rect">
            <a:avLst/>
          </a:prstGeom>
          <a:solidFill>
            <a:sysClr val="window" lastClr="FFFFFF">
              <a:lumMod val="65000"/>
            </a:sysClr>
          </a:solidFill>
          <a:ln w="25400">
            <a:noFill/>
            <a:miter lim="800000"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9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128" y="1708467"/>
            <a:ext cx="1056005" cy="15805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 rotWithShape="1">
          <a:blip r:embed="rId7"/>
          <a:srcRect b="18451"/>
          <a:stretch>
            <a:fillRect/>
          </a:stretch>
        </p:blipFill>
        <p:spPr>
          <a:xfrm>
            <a:off x="3812540" y="1585594"/>
            <a:ext cx="1551305" cy="1826260"/>
          </a:xfrm>
          <a:prstGeom prst="rect">
            <a:avLst/>
          </a:prstGeom>
        </p:spPr>
      </p:pic>
      <p:sp>
        <p:nvSpPr>
          <p:cNvPr id="39" name="îšḷide"/>
          <p:cNvSpPr/>
          <p:nvPr/>
        </p:nvSpPr>
        <p:spPr bwMode="auto">
          <a:xfrm>
            <a:off x="137160" y="3835400"/>
            <a:ext cx="919480" cy="564515"/>
          </a:xfrm>
          <a:prstGeom prst="rect">
            <a:avLst/>
          </a:prstGeom>
          <a:solidFill>
            <a:sysClr val="window" lastClr="FFFFFF">
              <a:lumMod val="65000"/>
            </a:sysClr>
          </a:solidFill>
          <a:ln w="25400">
            <a:noFill/>
            <a:miter lim="800000"/>
          </a:ln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9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8430" y="3835400"/>
            <a:ext cx="1127760" cy="5835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defTabSz="914400"/>
            <a:r>
              <a:rPr kumimoji="1" lang="zh-CN" altLang="en-US" sz="1600" b="1" dirty="0">
                <a:solidFill>
                  <a:prstClr val="white"/>
                </a:solidFill>
                <a:latin typeface="微软雅黑" panose="020B0503020204020204" charset="-122"/>
              </a:rPr>
              <a:t>关键环节成功要素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91123" y="4915535"/>
            <a:ext cx="1012190" cy="33718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 defTabSz="914400"/>
            <a:r>
              <a:rPr kumimoji="1" lang="zh-CN" altLang="en-US" sz="1600" b="1" dirty="0">
                <a:solidFill>
                  <a:prstClr val="white"/>
                </a:solidFill>
                <a:latin typeface="微软雅黑" panose="020B0503020204020204" charset="-122"/>
              </a:rPr>
              <a:t>实践</a:t>
            </a:r>
          </a:p>
        </p:txBody>
      </p:sp>
    </p:spTree>
    <p:extLst>
      <p:ext uri="{BB962C8B-B14F-4D97-AF65-F5344CB8AC3E}">
        <p14:creationId xmlns:p14="http://schemas.microsoft.com/office/powerpoint/2010/main" val="1584876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89198"/>
            <a:ext cx="10411384" cy="742948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光纤数据神经解决方案：越经济，越安全</a:t>
            </a:r>
            <a:endParaRPr lang="zh-CN" altLang="en-US" sz="280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14071" y="1495496"/>
            <a:ext cx="2103120" cy="937214"/>
            <a:chOff x="368392" y="1618709"/>
            <a:chExt cx="1954679" cy="937214"/>
          </a:xfrm>
        </p:grpSpPr>
        <p:sp>
          <p:nvSpPr>
            <p:cNvPr id="7" name="矩形: 圆角 6"/>
            <p:cNvSpPr/>
            <p:nvPr/>
          </p:nvSpPr>
          <p:spPr>
            <a:xfrm>
              <a:off x="368392" y="2053003"/>
              <a:ext cx="1954679" cy="5029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endPos="0" dist="50800" dir="5400000" sy="-100000" algn="bl" rotWithShape="0"/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场景价值</a:t>
              </a:r>
              <a:endParaRPr lang="en-US" altLang="zh-CN" sz="1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12" name="图形 11" descr="饼图演示文稿 轮廓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073756" y="1618709"/>
              <a:ext cx="424930" cy="457200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214071" y="2834495"/>
            <a:ext cx="2103120" cy="952088"/>
            <a:chOff x="368392" y="3084722"/>
            <a:chExt cx="1954679" cy="952088"/>
          </a:xfrm>
        </p:grpSpPr>
        <p:sp>
          <p:nvSpPr>
            <p:cNvPr id="6" name="矩形: 圆角 5"/>
            <p:cNvSpPr/>
            <p:nvPr/>
          </p:nvSpPr>
          <p:spPr>
            <a:xfrm>
              <a:off x="368392" y="3533890"/>
              <a:ext cx="1954679" cy="5029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endPos="0" dist="50800" dir="5400000" sy="-100000" algn="bl" rotWithShape="0"/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数据产品</a:t>
              </a:r>
              <a:endParaRPr lang="en-US" altLang="zh-CN" sz="1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14" name="图形 13" descr="签入 轮廓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1104862" y="3084722"/>
              <a:ext cx="424930" cy="457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endPos="0" dist="50800" dir="5400000" sy="-100000" algn="bl" rotWithShape="0"/>
              <a:softEdge rad="0"/>
            </a:effectLst>
          </p:spPr>
        </p:pic>
      </p:grpSp>
      <p:grpSp>
        <p:nvGrpSpPr>
          <p:cNvPr id="33" name="组合 32"/>
          <p:cNvGrpSpPr/>
          <p:nvPr/>
        </p:nvGrpSpPr>
        <p:grpSpPr>
          <a:xfrm>
            <a:off x="158004" y="4271820"/>
            <a:ext cx="2103120" cy="943670"/>
            <a:chOff x="368391" y="4327067"/>
            <a:chExt cx="1954679" cy="943670"/>
          </a:xfrm>
        </p:grpSpPr>
        <p:sp>
          <p:nvSpPr>
            <p:cNvPr id="5" name="矩形: 圆角 4"/>
            <p:cNvSpPr/>
            <p:nvPr/>
          </p:nvSpPr>
          <p:spPr>
            <a:xfrm>
              <a:off x="368391" y="4767817"/>
              <a:ext cx="1954679" cy="502920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endPos="0" dist="50800" dir="5400000" sy="-100000" algn="bl" rotWithShape="0"/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硬件设备</a:t>
              </a:r>
              <a:endParaRPr lang="en-US" altLang="zh-CN" sz="1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16" name="图形 15" descr="巴士 轮廓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1086912" y="4327067"/>
              <a:ext cx="424930" cy="457200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/>
        </p:nvGrpSpPr>
        <p:grpSpPr>
          <a:xfrm>
            <a:off x="150041" y="5569040"/>
            <a:ext cx="2103120" cy="1038539"/>
            <a:chOff x="368391" y="5430595"/>
            <a:chExt cx="1954679" cy="816270"/>
          </a:xfrm>
        </p:grpSpPr>
        <p:sp>
          <p:nvSpPr>
            <p:cNvPr id="4" name="矩形: 圆角 3"/>
            <p:cNvSpPr/>
            <p:nvPr/>
          </p:nvSpPr>
          <p:spPr>
            <a:xfrm>
              <a:off x="368391" y="5852160"/>
              <a:ext cx="1954679" cy="394705"/>
            </a:xfrm>
            <a:prstGeom prst="roundRect">
              <a:avLst/>
            </a:prstGeom>
            <a:solidFill>
              <a:srgbClr val="0070C0"/>
            </a:solidFill>
            <a:ln>
              <a:solidFill>
                <a:srgbClr val="00B0F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reflection endPos="0" dist="50800" dir="5400000" sy="-100000" algn="bl" rotWithShape="0"/>
              <a:softEdge rad="0"/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政策和需求带来变革</a:t>
              </a:r>
              <a:endPara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20" name="图形 19" descr="石油钻塔 轮廓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77356" y="5430595"/>
              <a:ext cx="457200" cy="457200"/>
            </a:xfrm>
            <a:prstGeom prst="rect">
              <a:avLst/>
            </a:prstGeom>
          </p:spPr>
        </p:pic>
      </p:grpSp>
      <p:sp>
        <p:nvSpPr>
          <p:cNvPr id="45" name="矩形 44"/>
          <p:cNvSpPr/>
          <p:nvPr/>
        </p:nvSpPr>
        <p:spPr>
          <a:xfrm>
            <a:off x="7103298" y="4090019"/>
            <a:ext cx="4691318" cy="1722874"/>
          </a:xfrm>
          <a:prstGeom prst="rect">
            <a:avLst/>
          </a:prstGeom>
          <a:solidFill>
            <a:srgbClr val="F1FFEF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阵列光纤设备（连续分布式）</a:t>
            </a:r>
            <a:endParaRPr lang="en-US" altLang="zh-CN" sz="16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338183" y="4090019"/>
            <a:ext cx="3815221" cy="172287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常规结构安全监测设备（离散点式）</a:t>
            </a:r>
            <a:endParaRPr lang="en-US" altLang="zh-CN" sz="16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</p:txBody>
      </p:sp>
      <p:cxnSp>
        <p:nvCxnSpPr>
          <p:cNvPr id="56" name="直接箭头连接符 55"/>
          <p:cNvCxnSpPr>
            <a:cxnSpLocks/>
            <a:stCxn id="42" idx="3"/>
            <a:endCxn id="45" idx="1"/>
          </p:cNvCxnSpPr>
          <p:nvPr/>
        </p:nvCxnSpPr>
        <p:spPr>
          <a:xfrm>
            <a:off x="6153404" y="4951456"/>
            <a:ext cx="949894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6185839" y="4683393"/>
            <a:ext cx="914400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1172210"/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从点</a:t>
            </a:r>
            <a:endParaRPr lang="en-US" altLang="zh-CN" sz="1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ctr" defTabSz="1172210"/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到线面</a:t>
            </a:r>
            <a:endParaRPr lang="en-US" altLang="zh-CN" sz="1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103298" y="2713620"/>
            <a:ext cx="4698997" cy="1144350"/>
          </a:xfrm>
          <a:prstGeom prst="rect">
            <a:avLst/>
          </a:prstGeom>
          <a:solidFill>
            <a:srgbClr val="F1FFEF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高质量数据</a:t>
            </a:r>
          </a:p>
        </p:txBody>
      </p:sp>
      <p:cxnSp>
        <p:nvCxnSpPr>
          <p:cNvPr id="71" name="直接箭头连接符 70"/>
          <p:cNvCxnSpPr>
            <a:cxnSpLocks/>
            <a:stCxn id="68" idx="3"/>
            <a:endCxn id="60" idx="1"/>
          </p:cNvCxnSpPr>
          <p:nvPr/>
        </p:nvCxnSpPr>
        <p:spPr>
          <a:xfrm>
            <a:off x="6161084" y="3285795"/>
            <a:ext cx="942214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2345863" y="2713620"/>
            <a:ext cx="3815221" cy="114435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体检单</a:t>
            </a:r>
          </a:p>
        </p:txBody>
      </p:sp>
      <p:sp>
        <p:nvSpPr>
          <p:cNvPr id="107" name="矩形 106"/>
          <p:cNvSpPr/>
          <p:nvPr/>
        </p:nvSpPr>
        <p:spPr>
          <a:xfrm>
            <a:off x="6185839" y="3006261"/>
            <a:ext cx="914400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1172210"/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从测量值</a:t>
            </a:r>
            <a:endParaRPr lang="en-US" altLang="zh-CN" sz="1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ctr" defTabSz="1172210"/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到分布图</a:t>
            </a:r>
            <a:endParaRPr lang="en-US" altLang="zh-CN" sz="1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7103298" y="1379297"/>
            <a:ext cx="4700095" cy="1144350"/>
          </a:xfrm>
          <a:prstGeom prst="rect">
            <a:avLst/>
          </a:prstGeom>
          <a:solidFill>
            <a:srgbClr val="F1FFEF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9" name="直接箭头连接符 108"/>
          <p:cNvCxnSpPr>
            <a:cxnSpLocks/>
            <a:stCxn id="111" idx="3"/>
            <a:endCxn id="108" idx="1"/>
          </p:cNvCxnSpPr>
          <p:nvPr/>
        </p:nvCxnSpPr>
        <p:spPr>
          <a:xfrm>
            <a:off x="6162182" y="1951472"/>
            <a:ext cx="941116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矩形 110"/>
          <p:cNvSpPr/>
          <p:nvPr/>
        </p:nvSpPr>
        <p:spPr>
          <a:xfrm>
            <a:off x="2346961" y="1379297"/>
            <a:ext cx="3815221" cy="114435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8" name="矩形 117"/>
          <p:cNvSpPr/>
          <p:nvPr/>
        </p:nvSpPr>
        <p:spPr>
          <a:xfrm>
            <a:off x="6185839" y="1696968"/>
            <a:ext cx="914400" cy="5232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1172210"/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从已知</a:t>
            </a:r>
            <a:endParaRPr lang="en-US" altLang="zh-CN" sz="1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  <a:p>
            <a:pPr algn="ctr" defTabSz="1172210"/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到未知</a:t>
            </a:r>
            <a:endParaRPr lang="en-US" altLang="zh-CN" sz="1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</a:endParaRPr>
          </a:p>
        </p:txBody>
      </p:sp>
      <p:grpSp>
        <p:nvGrpSpPr>
          <p:cNvPr id="37" name="object 18"/>
          <p:cNvGrpSpPr/>
          <p:nvPr/>
        </p:nvGrpSpPr>
        <p:grpSpPr>
          <a:xfrm>
            <a:off x="2323717" y="1100986"/>
            <a:ext cx="731520" cy="76200"/>
            <a:chOff x="2712721" y="1537716"/>
            <a:chExt cx="939165" cy="76200"/>
          </a:xfrm>
        </p:grpSpPr>
        <p:sp>
          <p:nvSpPr>
            <p:cNvPr id="38" name="object 19"/>
            <p:cNvSpPr/>
            <p:nvPr/>
          </p:nvSpPr>
          <p:spPr>
            <a:xfrm>
              <a:off x="2750819" y="1575816"/>
              <a:ext cx="901065" cy="0"/>
            </a:xfrm>
            <a:custGeom>
              <a:avLst/>
              <a:gdLst/>
              <a:ahLst/>
              <a:cxnLst/>
              <a:rect l="l" t="t" r="r" b="b"/>
              <a:pathLst>
                <a:path w="901064">
                  <a:moveTo>
                    <a:pt x="0" y="0"/>
                  </a:moveTo>
                  <a:lnTo>
                    <a:pt x="900683" y="0"/>
                  </a:lnTo>
                </a:path>
              </a:pathLst>
            </a:custGeom>
            <a:ln w="12700">
              <a:solidFill>
                <a:schemeClr val="accent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0"/>
            <p:cNvSpPr/>
            <p:nvPr/>
          </p:nvSpPr>
          <p:spPr>
            <a:xfrm>
              <a:off x="2712721" y="15377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38100"/>
                  </a:lnTo>
                  <a:lnTo>
                    <a:pt x="38100" y="76200"/>
                  </a:lnTo>
                  <a:lnTo>
                    <a:pt x="76200" y="381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7E7E7E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21"/>
          <p:cNvGrpSpPr/>
          <p:nvPr/>
        </p:nvGrpSpPr>
        <p:grpSpPr>
          <a:xfrm>
            <a:off x="5425444" y="1100987"/>
            <a:ext cx="731520" cy="76200"/>
            <a:chOff x="5739384" y="1537717"/>
            <a:chExt cx="991235" cy="76200"/>
          </a:xfrm>
        </p:grpSpPr>
        <p:sp>
          <p:nvSpPr>
            <p:cNvPr id="41" name="object 22"/>
            <p:cNvSpPr/>
            <p:nvPr/>
          </p:nvSpPr>
          <p:spPr>
            <a:xfrm>
              <a:off x="5739384" y="1575816"/>
              <a:ext cx="953135" cy="0"/>
            </a:xfrm>
            <a:custGeom>
              <a:avLst/>
              <a:gdLst/>
              <a:ahLst/>
              <a:cxnLst/>
              <a:rect l="l" t="t" r="r" b="b"/>
              <a:pathLst>
                <a:path w="953134">
                  <a:moveTo>
                    <a:pt x="0" y="0"/>
                  </a:moveTo>
                  <a:lnTo>
                    <a:pt x="952817" y="0"/>
                  </a:lnTo>
                </a:path>
              </a:pathLst>
            </a:custGeom>
            <a:ln w="12700">
              <a:solidFill>
                <a:schemeClr val="accent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3"/>
            <p:cNvSpPr/>
            <p:nvPr/>
          </p:nvSpPr>
          <p:spPr>
            <a:xfrm>
              <a:off x="6654101" y="153771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38100"/>
                  </a:lnTo>
                  <a:lnTo>
                    <a:pt x="38100" y="76200"/>
                  </a:lnTo>
                  <a:lnTo>
                    <a:pt x="76200" y="381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7E7E7E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24"/>
          <p:cNvSpPr txBox="1"/>
          <p:nvPr/>
        </p:nvSpPr>
        <p:spPr>
          <a:xfrm>
            <a:off x="3326391" y="988210"/>
            <a:ext cx="186817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zh-CN" altLang="en-US" sz="1600" b="1" spc="5" dirty="0">
                <a:latin typeface="Arial" panose="020B0604020202020204" pitchFamily="34" charset="0"/>
                <a:ea typeface="微软雅黑" panose="020B0503020204020204" charset="-122"/>
                <a:cs typeface="楷体" panose="02010609060101010101" charset="-122"/>
              </a:rPr>
              <a:t>常规监测方案</a:t>
            </a:r>
            <a:endParaRPr sz="1600" dirty="0">
              <a:latin typeface="Arial" panose="020B0604020202020204" pitchFamily="34" charset="0"/>
              <a:ea typeface="微软雅黑" panose="020B0503020204020204" charset="-122"/>
              <a:cs typeface="楷体" panose="02010609060101010101" charset="-122"/>
            </a:endParaRPr>
          </a:p>
        </p:txBody>
      </p:sp>
      <p:grpSp>
        <p:nvGrpSpPr>
          <p:cNvPr id="54" name="object 25"/>
          <p:cNvGrpSpPr/>
          <p:nvPr/>
        </p:nvGrpSpPr>
        <p:grpSpPr>
          <a:xfrm>
            <a:off x="7097277" y="1107081"/>
            <a:ext cx="731520" cy="76200"/>
            <a:chOff x="7645909" y="1543811"/>
            <a:chExt cx="923925" cy="76200"/>
          </a:xfrm>
        </p:grpSpPr>
        <p:sp>
          <p:nvSpPr>
            <p:cNvPr id="55" name="object 26"/>
            <p:cNvSpPr/>
            <p:nvPr/>
          </p:nvSpPr>
          <p:spPr>
            <a:xfrm>
              <a:off x="7684008" y="1581911"/>
              <a:ext cx="885825" cy="0"/>
            </a:xfrm>
            <a:custGeom>
              <a:avLst/>
              <a:gdLst/>
              <a:ahLst/>
              <a:cxnLst/>
              <a:rect l="l" t="t" r="r" b="b"/>
              <a:pathLst>
                <a:path w="885825">
                  <a:moveTo>
                    <a:pt x="0" y="0"/>
                  </a:moveTo>
                  <a:lnTo>
                    <a:pt x="885444" y="0"/>
                  </a:lnTo>
                </a:path>
              </a:pathLst>
            </a:custGeom>
            <a:ln w="12700">
              <a:solidFill>
                <a:schemeClr val="accent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27"/>
            <p:cNvSpPr/>
            <p:nvPr/>
          </p:nvSpPr>
          <p:spPr>
            <a:xfrm>
              <a:off x="7645909" y="154381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38100"/>
                  </a:lnTo>
                  <a:lnTo>
                    <a:pt x="38100" y="76200"/>
                  </a:lnTo>
                  <a:lnTo>
                    <a:pt x="76200" y="381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273E82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9" name="object 28"/>
          <p:cNvGrpSpPr/>
          <p:nvPr/>
        </p:nvGrpSpPr>
        <p:grpSpPr>
          <a:xfrm>
            <a:off x="11081307" y="1107083"/>
            <a:ext cx="731520" cy="76200"/>
            <a:chOff x="10692383" y="1543813"/>
            <a:chExt cx="971550" cy="76200"/>
          </a:xfrm>
        </p:grpSpPr>
        <p:sp>
          <p:nvSpPr>
            <p:cNvPr id="61" name="object 29"/>
            <p:cNvSpPr/>
            <p:nvPr/>
          </p:nvSpPr>
          <p:spPr>
            <a:xfrm>
              <a:off x="10692383" y="1581911"/>
              <a:ext cx="933450" cy="0"/>
            </a:xfrm>
            <a:custGeom>
              <a:avLst/>
              <a:gdLst/>
              <a:ahLst/>
              <a:cxnLst/>
              <a:rect l="l" t="t" r="r" b="b"/>
              <a:pathLst>
                <a:path w="933450">
                  <a:moveTo>
                    <a:pt x="0" y="0"/>
                  </a:moveTo>
                  <a:lnTo>
                    <a:pt x="933005" y="0"/>
                  </a:lnTo>
                </a:path>
              </a:pathLst>
            </a:custGeom>
            <a:ln w="12700">
              <a:solidFill>
                <a:schemeClr val="accent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30"/>
            <p:cNvSpPr/>
            <p:nvPr/>
          </p:nvSpPr>
          <p:spPr>
            <a:xfrm>
              <a:off x="11587289" y="154381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0" y="38100"/>
                  </a:lnTo>
                  <a:lnTo>
                    <a:pt x="38100" y="76200"/>
                  </a:lnTo>
                  <a:lnTo>
                    <a:pt x="76200" y="381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273E82"/>
            </a:solidFill>
            <a:ln>
              <a:solidFill>
                <a:schemeClr val="accent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31"/>
          <p:cNvSpPr txBox="1"/>
          <p:nvPr/>
        </p:nvSpPr>
        <p:spPr>
          <a:xfrm>
            <a:off x="8469450" y="982405"/>
            <a:ext cx="2075814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zh-CN" altLang="en-US" sz="1600" b="1" spc="5" dirty="0">
                <a:latin typeface="Arial" panose="020B0604020202020204" pitchFamily="34" charset="0"/>
                <a:ea typeface="微软雅黑" panose="020B0503020204020204" charset="-122"/>
                <a:cs typeface="楷体" panose="02010609060101010101" charset="-122"/>
              </a:rPr>
              <a:t>阵列光纤方案</a:t>
            </a:r>
            <a:endParaRPr sz="1600" dirty="0">
              <a:latin typeface="Arial" panose="020B0604020202020204" pitchFamily="34" charset="0"/>
              <a:ea typeface="微软雅黑" panose="020B0503020204020204" charset="-122"/>
              <a:cs typeface="楷体" panose="02010609060101010101" charset="-122"/>
            </a:endParaRPr>
          </a:p>
        </p:txBody>
      </p:sp>
      <p:graphicFrame>
        <p:nvGraphicFramePr>
          <p:cNvPr id="65" name="图示 64"/>
          <p:cNvGraphicFramePr/>
          <p:nvPr/>
        </p:nvGraphicFramePr>
        <p:xfrm>
          <a:off x="2345419" y="5948790"/>
          <a:ext cx="9431821" cy="635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46" name="Rectangle 26">
            <a:extLst>
              <a:ext uri="{FF2B5EF4-FFF2-40B4-BE49-F238E27FC236}">
                <a16:creationId xmlns:a16="http://schemas.microsoft.com/office/drawing/2014/main" id="{6422F8D6-4173-E0F2-364E-40C6C7791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537" y="4503259"/>
            <a:ext cx="2267149" cy="12482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局部物理量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应变片： 点应变</a:t>
            </a:r>
            <a:endParaRPr lang="en-US" altLang="zh-CN" sz="1050" dirty="0"/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位移计： 单点位移</a:t>
            </a:r>
            <a:endParaRPr lang="en-US" altLang="zh-CN" sz="1050" dirty="0"/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倾角仪： 单点倾角</a:t>
            </a:r>
            <a:endParaRPr lang="en-US" altLang="zh-CN" sz="1050" dirty="0"/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加速度计： 单点振动加速度</a:t>
            </a:r>
            <a:endParaRPr lang="en-US" altLang="zh-CN" sz="1050" dirty="0"/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压力盒： 单点压力</a:t>
            </a:r>
            <a:endParaRPr lang="en-US" altLang="zh-CN" sz="1050" dirty="0">
              <a:sym typeface="华文细黑" panose="02010600040101010101" charset="-122"/>
            </a:endParaRPr>
          </a:p>
        </p:txBody>
      </p:sp>
      <p:sp>
        <p:nvSpPr>
          <p:cNvPr id="53" name="Rectangle 26">
            <a:extLst>
              <a:ext uri="{FF2B5EF4-FFF2-40B4-BE49-F238E27FC236}">
                <a16:creationId xmlns:a16="http://schemas.microsoft.com/office/drawing/2014/main" id="{7B91B0B7-5078-3B62-9A0D-1C0ACF18A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285" y="4503259"/>
            <a:ext cx="1196773" cy="4726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环境量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温湿度计等</a:t>
            </a:r>
            <a:endParaRPr lang="en-US" altLang="zh-CN" sz="1050" dirty="0">
              <a:sym typeface="华文细黑" panose="02010600040101010101" charset="-122"/>
            </a:endParaRPr>
          </a:p>
        </p:txBody>
      </p:sp>
      <p:sp>
        <p:nvSpPr>
          <p:cNvPr id="96" name="Rectangle 26">
            <a:extLst>
              <a:ext uri="{FF2B5EF4-FFF2-40B4-BE49-F238E27FC236}">
                <a16:creationId xmlns:a16="http://schemas.microsoft.com/office/drawing/2014/main" id="{E6BA12FA-04B3-2493-9887-B88FAE0BD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019" y="4503259"/>
            <a:ext cx="2503855" cy="10543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全部物理量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应变场： 沿光纤每厘米一个监测</a:t>
            </a:r>
            <a:endParaRPr lang="en-US" altLang="zh-CN" sz="1050" dirty="0"/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振动场： 沿光纤每米一个监测点</a:t>
            </a:r>
            <a:endParaRPr lang="en-US" altLang="zh-CN" sz="1050" dirty="0"/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温度场： 沿光纤每米一个监测点</a:t>
            </a:r>
            <a:endParaRPr lang="en-US" altLang="zh-CN" sz="1050" dirty="0"/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位移场： 通过应变分布反演</a:t>
            </a:r>
            <a:endParaRPr lang="en-US" altLang="zh-CN" sz="1050" dirty="0">
              <a:sym typeface="华文细黑" panose="02010600040101010101" charset="-122"/>
            </a:endParaRPr>
          </a:p>
        </p:txBody>
      </p:sp>
      <p:sp>
        <p:nvSpPr>
          <p:cNvPr id="97" name="Rectangle 26">
            <a:extLst>
              <a:ext uri="{FF2B5EF4-FFF2-40B4-BE49-F238E27FC236}">
                <a16:creationId xmlns:a16="http://schemas.microsoft.com/office/drawing/2014/main" id="{12950528-43F4-1448-63BB-86F7544BB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9572" y="4503259"/>
            <a:ext cx="1399336" cy="10543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环境量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裂缝定位与发展</a:t>
            </a:r>
            <a:endParaRPr lang="en-US" altLang="zh-CN" sz="1050" dirty="0"/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损伤识别</a:t>
            </a:r>
            <a:endParaRPr lang="en-US" altLang="zh-CN" sz="1050" dirty="0"/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屈曲变形</a:t>
            </a:r>
            <a:endParaRPr lang="en-US" altLang="zh-CN" sz="1050" dirty="0"/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滑移面定位</a:t>
            </a:r>
            <a:endParaRPr lang="en-US" altLang="zh-CN" sz="1050" dirty="0">
              <a:sym typeface="华文细黑" panose="02010600040101010101" charset="-122"/>
            </a:endParaRPr>
          </a:p>
        </p:txBody>
      </p:sp>
      <p:sp>
        <p:nvSpPr>
          <p:cNvPr id="100" name="Rectangle 26">
            <a:extLst>
              <a:ext uri="{FF2B5EF4-FFF2-40B4-BE49-F238E27FC236}">
                <a16:creationId xmlns:a16="http://schemas.microsoft.com/office/drawing/2014/main" id="{C648F463-D8FB-C5E3-DCE6-95C61F047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487" y="2971785"/>
            <a:ext cx="1860415" cy="66659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阈值报警报告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内容：某个测点数值超限</a:t>
            </a:r>
            <a:endParaRPr lang="en-US" altLang="zh-CN" sz="1050" dirty="0"/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价值：告知“何处已生病”</a:t>
            </a:r>
            <a:endParaRPr lang="en-US" altLang="zh-CN" sz="1050" dirty="0">
              <a:sym typeface="华文细黑" panose="02010600040101010101" charset="-122"/>
            </a:endParaRPr>
          </a:p>
        </p:txBody>
      </p:sp>
      <p:sp>
        <p:nvSpPr>
          <p:cNvPr id="101" name="Rectangle 26">
            <a:extLst>
              <a:ext uri="{FF2B5EF4-FFF2-40B4-BE49-F238E27FC236}">
                <a16:creationId xmlns:a16="http://schemas.microsoft.com/office/drawing/2014/main" id="{EF29B53A-F765-3274-D440-26FD97EA4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4728" y="2971785"/>
            <a:ext cx="2194759" cy="8604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定时巡检报告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内容：多个测点在不同时间的数据列表</a:t>
            </a:r>
            <a:endParaRPr lang="en-US" altLang="zh-CN" sz="1050" dirty="0"/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价值：记录“历史体检结果”</a:t>
            </a:r>
            <a:endParaRPr lang="en-US" altLang="zh-CN" sz="1050" dirty="0">
              <a:sym typeface="华文细黑" panose="02010600040101010101" charset="-122"/>
            </a:endParaRPr>
          </a:p>
        </p:txBody>
      </p:sp>
      <p:sp>
        <p:nvSpPr>
          <p:cNvPr id="102" name="Rectangle 26">
            <a:extLst>
              <a:ext uri="{FF2B5EF4-FFF2-40B4-BE49-F238E27FC236}">
                <a16:creationId xmlns:a16="http://schemas.microsoft.com/office/drawing/2014/main" id="{4D05FDC8-0608-5CD7-18F9-4C769058D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7872" y="2971785"/>
            <a:ext cx="1527888" cy="8604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结构安全态势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内容：实时应变</a:t>
            </a:r>
            <a:r>
              <a:rPr lang="en-US" altLang="zh-CN" sz="1050" dirty="0"/>
              <a:t>/</a:t>
            </a:r>
            <a:r>
              <a:rPr lang="zh-CN" altLang="en-US" sz="1050" dirty="0"/>
              <a:t>振动</a:t>
            </a:r>
            <a:r>
              <a:rPr lang="en-US" altLang="zh-CN" sz="1050" dirty="0"/>
              <a:t>/</a:t>
            </a:r>
            <a:r>
              <a:rPr lang="zh-CN" altLang="en-US" sz="1050" dirty="0"/>
              <a:t>温度场</a:t>
            </a:r>
            <a:endParaRPr lang="en-US" altLang="zh-CN" sz="1050" dirty="0"/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价值：全景健康状况</a:t>
            </a:r>
            <a:endParaRPr lang="en-US" altLang="zh-CN" sz="1050" dirty="0">
              <a:sym typeface="华文细黑" panose="02010600040101010101" charset="-122"/>
            </a:endParaRPr>
          </a:p>
        </p:txBody>
      </p:sp>
      <p:sp>
        <p:nvSpPr>
          <p:cNvPr id="104" name="Rectangle 26">
            <a:extLst>
              <a:ext uri="{FF2B5EF4-FFF2-40B4-BE49-F238E27FC236}">
                <a16:creationId xmlns:a16="http://schemas.microsoft.com/office/drawing/2014/main" id="{B743E5AE-7EEA-D398-AAB6-EFAEE7C05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5761" y="2971785"/>
            <a:ext cx="1663812" cy="8604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结构数字仿真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内容：历史和实时数据</a:t>
            </a:r>
            <a:endParaRPr lang="en-US" altLang="zh-CN" sz="1050" dirty="0"/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价值：模拟、推演和预防性养护</a:t>
            </a:r>
            <a:endParaRPr lang="en-US" altLang="zh-CN" sz="1050" dirty="0">
              <a:sym typeface="华文细黑" panose="02010600040101010101" charset="-122"/>
            </a:endParaRPr>
          </a:p>
        </p:txBody>
      </p:sp>
      <p:sp>
        <p:nvSpPr>
          <p:cNvPr id="121" name="Rectangle 26">
            <a:extLst>
              <a:ext uri="{FF2B5EF4-FFF2-40B4-BE49-F238E27FC236}">
                <a16:creationId xmlns:a16="http://schemas.microsoft.com/office/drawing/2014/main" id="{DF11F4F6-8833-145A-D541-CC18885BA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1945" y="2971785"/>
            <a:ext cx="1543174" cy="8604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风险预测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内容：损伤演化趋势</a:t>
            </a:r>
            <a:endParaRPr lang="en-US" altLang="zh-CN" sz="1050" dirty="0"/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价值：告知“何处将生病，何时需治疗”</a:t>
            </a:r>
            <a:endParaRPr lang="en-US" altLang="zh-CN" sz="400" kern="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Calibri" panose="020F0502020204030204"/>
              <a:sym typeface="华文细黑" panose="02010600040101010101" charset="-122"/>
            </a:endParaRPr>
          </a:p>
        </p:txBody>
      </p:sp>
      <p:sp>
        <p:nvSpPr>
          <p:cNvPr id="122" name="Rectangle 26">
            <a:extLst>
              <a:ext uri="{FF2B5EF4-FFF2-40B4-BE49-F238E27FC236}">
                <a16:creationId xmlns:a16="http://schemas.microsoft.com/office/drawing/2014/main" id="{D0249A02-6917-8BEE-83E6-B486B10D1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1093" y="1438684"/>
            <a:ext cx="1188132" cy="10543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安全价值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动态评估：实时结构荷载</a:t>
            </a:r>
            <a:endParaRPr lang="en-US" altLang="zh-CN" sz="1050" dirty="0"/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数字沙盘：战略数据资产</a:t>
            </a:r>
            <a:endParaRPr lang="en-US" altLang="zh-CN" sz="1050" dirty="0"/>
          </a:p>
        </p:txBody>
      </p:sp>
      <p:sp>
        <p:nvSpPr>
          <p:cNvPr id="123" name="Rectangle 26">
            <a:extLst>
              <a:ext uri="{FF2B5EF4-FFF2-40B4-BE49-F238E27FC236}">
                <a16:creationId xmlns:a16="http://schemas.microsoft.com/office/drawing/2014/main" id="{26B766C2-EBC5-F6A5-6632-348F223C4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6313" y="1438684"/>
            <a:ext cx="1268327" cy="8604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预算价值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投资优化：构件级降本增效</a:t>
            </a:r>
            <a:endParaRPr lang="en-US" altLang="zh-CN" sz="1050" dirty="0"/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资产增值服务</a:t>
            </a:r>
            <a:endParaRPr lang="en-US" altLang="zh-CN" sz="1050" dirty="0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820FEA33-BD11-A4EF-B3A8-B39BA7E96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6947" y="1438684"/>
            <a:ext cx="1097280" cy="8604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产业价值</a:t>
            </a:r>
            <a:endParaRPr lang="en-US" altLang="zh-CN" sz="11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核心数据基础设施：高级别智驾算法训练</a:t>
            </a:r>
            <a:endParaRPr lang="en-US" altLang="zh-CN" sz="1050" dirty="0"/>
          </a:p>
        </p:txBody>
      </p:sp>
      <p:sp>
        <p:nvSpPr>
          <p:cNvPr id="125" name="Rectangle 26">
            <a:extLst>
              <a:ext uri="{FF2B5EF4-FFF2-40B4-BE49-F238E27FC236}">
                <a16:creationId xmlns:a16="http://schemas.microsoft.com/office/drawing/2014/main" id="{89A7C6A5-A39F-40F9-450C-5D53518A1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1728" y="1438684"/>
            <a:ext cx="1188132" cy="105439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投融资价值</a:t>
            </a:r>
            <a:endParaRPr lang="en-US" altLang="zh-CN" sz="11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融资前：资产量化基线</a:t>
            </a:r>
            <a:endParaRPr lang="en-US" altLang="zh-CN" sz="1050" dirty="0"/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改造后：</a:t>
            </a:r>
            <a:r>
              <a:rPr lang="en-US" altLang="zh-CN" sz="1050" dirty="0"/>
              <a:t>REITs</a:t>
            </a:r>
            <a:r>
              <a:rPr lang="zh-CN" altLang="en-US" sz="1050" dirty="0"/>
              <a:t>权威信用</a:t>
            </a:r>
            <a:endParaRPr lang="en-US" altLang="zh-CN" sz="1050" dirty="0"/>
          </a:p>
        </p:txBody>
      </p:sp>
      <p:sp>
        <p:nvSpPr>
          <p:cNvPr id="126" name="Rectangle 26">
            <a:extLst>
              <a:ext uri="{FF2B5EF4-FFF2-40B4-BE49-F238E27FC236}">
                <a16:creationId xmlns:a16="http://schemas.microsoft.com/office/drawing/2014/main" id="{5BC31984-BF11-5B8E-0068-D036069E9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8048" y="1440956"/>
            <a:ext cx="1260024" cy="8604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安全价值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静态台账：关键节点定检报告</a:t>
            </a:r>
            <a:endParaRPr lang="en-US" altLang="zh-CN" sz="1050" dirty="0"/>
          </a:p>
          <a:p>
            <a:pPr marL="91440" lvl="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应急响应滞后</a:t>
            </a:r>
            <a:endParaRPr lang="en-US" altLang="zh-CN" sz="1050" dirty="0"/>
          </a:p>
        </p:txBody>
      </p:sp>
      <p:sp>
        <p:nvSpPr>
          <p:cNvPr id="127" name="Rectangle 26">
            <a:extLst>
              <a:ext uri="{FF2B5EF4-FFF2-40B4-BE49-F238E27FC236}">
                <a16:creationId xmlns:a16="http://schemas.microsoft.com/office/drawing/2014/main" id="{2BD672F0-AFB2-B7DE-B7B5-24EB39240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180" y="1440956"/>
            <a:ext cx="1299658" cy="8604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预算价值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成本项目：全部支出项</a:t>
            </a:r>
            <a:endParaRPr lang="en-US" altLang="zh-CN" sz="1050" dirty="0"/>
          </a:p>
          <a:p>
            <a:pPr marL="91440" indent="-9144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dirty="0"/>
              <a:t>决策依据模糊</a:t>
            </a:r>
            <a:endParaRPr lang="en-US" altLang="zh-CN" sz="1050" dirty="0"/>
          </a:p>
        </p:txBody>
      </p:sp>
      <p:sp>
        <p:nvSpPr>
          <p:cNvPr id="128" name="Rectangle 26">
            <a:extLst>
              <a:ext uri="{FF2B5EF4-FFF2-40B4-BE49-F238E27FC236}">
                <a16:creationId xmlns:a16="http://schemas.microsoft.com/office/drawing/2014/main" id="{CFE22542-3941-806F-F90E-6B0B71D2C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6690" y="1440956"/>
            <a:ext cx="1097280" cy="4726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投融资价值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lvl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 dirty="0"/>
              <a:t>无</a:t>
            </a:r>
            <a:endParaRPr lang="en-US" altLang="zh-CN" sz="1050" dirty="0"/>
          </a:p>
        </p:txBody>
      </p:sp>
      <p:sp>
        <p:nvSpPr>
          <p:cNvPr id="129" name="Rectangle 26">
            <a:extLst>
              <a:ext uri="{FF2B5EF4-FFF2-40B4-BE49-F238E27FC236}">
                <a16:creationId xmlns:a16="http://schemas.microsoft.com/office/drawing/2014/main" id="{D6545527-8C85-4707-99E5-4FD216F95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6690" y="2038675"/>
            <a:ext cx="1097280" cy="47269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R="0" lvl="0" indent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华文细黑" panose="02010600040101010101" charset="-122"/>
              </a:rPr>
              <a:t>产业价值</a:t>
            </a:r>
            <a:endParaRPr lang="en-US" altLang="zh-CN" sz="11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华文细黑" panose="02010600040101010101" charset="-122"/>
            </a:endParaRPr>
          </a:p>
          <a:p>
            <a:pPr lvl="0" algn="ctr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 dirty="0"/>
              <a:t>无</a:t>
            </a:r>
            <a:endParaRPr lang="en-US" altLang="zh-CN" sz="1050" dirty="0"/>
          </a:p>
        </p:txBody>
      </p:sp>
    </p:spTree>
    <p:extLst>
      <p:ext uri="{BB962C8B-B14F-4D97-AF65-F5344CB8AC3E}">
        <p14:creationId xmlns:p14="http://schemas.microsoft.com/office/powerpoint/2010/main" val="678549609"/>
      </p:ext>
    </p:extLst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70A53-CCBB-3621-F901-E15C4D5D9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5B8CD-21AF-15BB-C399-54C99E3FA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zh-CN" altLang="en-US" dirty="0"/>
              <a:t>硬件设备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3579324-BE37-C610-3638-AC9DF7851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351417"/>
              </p:ext>
            </p:extLst>
          </p:nvPr>
        </p:nvGraphicFramePr>
        <p:xfrm>
          <a:off x="669924" y="1193186"/>
          <a:ext cx="10850565" cy="4441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9377">
                  <a:extLst>
                    <a:ext uri="{9D8B030D-6E8A-4147-A177-3AD203B41FA5}">
                      <a16:colId xmlns:a16="http://schemas.microsoft.com/office/drawing/2014/main" val="4252147242"/>
                    </a:ext>
                  </a:extLst>
                </a:gridCol>
                <a:gridCol w="3644688">
                  <a:extLst>
                    <a:ext uri="{9D8B030D-6E8A-4147-A177-3AD203B41FA5}">
                      <a16:colId xmlns:a16="http://schemas.microsoft.com/office/drawing/2014/main" val="3294521017"/>
                    </a:ext>
                  </a:extLst>
                </a:gridCol>
                <a:gridCol w="5476500">
                  <a:extLst>
                    <a:ext uri="{9D8B030D-6E8A-4147-A177-3AD203B41FA5}">
                      <a16:colId xmlns:a16="http://schemas.microsoft.com/office/drawing/2014/main" val="3043036817"/>
                    </a:ext>
                  </a:extLst>
                </a:gridCol>
              </a:tblGrid>
              <a:tr h="309571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300" b="1" dirty="0">
                          <a:effectLst/>
                        </a:rPr>
                        <a:t>硬件设备对比</a:t>
                      </a:r>
                      <a:endParaRPr lang="zh-CN" altLang="en-US" sz="1300" b="1" dirty="0">
                        <a:effectLst/>
                        <a:latin typeface="quote-cjk-patch"/>
                      </a:endParaRPr>
                    </a:p>
                  </a:txBody>
                  <a:tcPr marL="63316" marR="60301" marT="37688" marB="3768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300" b="1" dirty="0">
                          <a:effectLst/>
                        </a:rPr>
                        <a:t>常规结构安全监测设备</a:t>
                      </a:r>
                      <a:endParaRPr lang="zh-CN" altLang="en-US" sz="1300" b="1" dirty="0">
                        <a:effectLst/>
                        <a:latin typeface="quote-cjk-patch"/>
                      </a:endParaRPr>
                    </a:p>
                  </a:txBody>
                  <a:tcPr marL="60301" marR="60301" marT="37688" marB="3768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300" b="1" dirty="0">
                          <a:effectLst/>
                        </a:rPr>
                        <a:t>光纤数据神经</a:t>
                      </a:r>
                      <a:endParaRPr lang="zh-CN" altLang="en-US" sz="1300" b="1" dirty="0">
                        <a:effectLst/>
                        <a:latin typeface="quote-cjk-patch"/>
                      </a:endParaRPr>
                    </a:p>
                  </a:txBody>
                  <a:tcPr marL="60301" marR="60301" marT="37688" marB="37688" anchor="ctr"/>
                </a:tc>
                <a:extLst>
                  <a:ext uri="{0D108BD9-81ED-4DB2-BD59-A6C34878D82A}">
                    <a16:rowId xmlns:a16="http://schemas.microsoft.com/office/drawing/2014/main" val="2034102160"/>
                  </a:ext>
                </a:extLst>
              </a:tr>
              <a:tr h="4987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核心资产属性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3316" marR="60301" marT="37688" marB="37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有形动产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zh-CN" altLang="en-US" sz="1200" b="0">
                          <a:effectLst/>
                        </a:rPr>
                        <a:t>（监测工具）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0301" marR="60301" marT="37688" marB="37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无形数据资产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zh-CN" altLang="en-US" sz="1200" b="0">
                          <a:effectLst/>
                        </a:rPr>
                        <a:t>（数据生产要素）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0301" marR="63316" marT="37688" marB="37688" anchor="ctr"/>
                </a:tc>
                <a:extLst>
                  <a:ext uri="{0D108BD9-81ED-4DB2-BD59-A6C34878D82A}">
                    <a16:rowId xmlns:a16="http://schemas.microsoft.com/office/drawing/2014/main" val="4279107501"/>
                  </a:ext>
                </a:extLst>
              </a:tr>
              <a:tr h="171896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资产价值类型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3316" marR="60301" marT="37688" marB="37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>
                          <a:effectLst/>
                        </a:rPr>
                        <a:t>1. </a:t>
                      </a:r>
                      <a:r>
                        <a:rPr lang="zh-CN" altLang="en-US" sz="1200" b="1">
                          <a:effectLst/>
                        </a:rPr>
                        <a:t>设备残值：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en-US" altLang="zh-CN" sz="1200" b="0">
                          <a:effectLst/>
                        </a:rPr>
                        <a:t>• </a:t>
                      </a:r>
                      <a:r>
                        <a:rPr lang="zh-CN" altLang="en-US" sz="1200" b="0">
                          <a:effectLst/>
                        </a:rPr>
                        <a:t>价值随使用年限</a:t>
                      </a:r>
                      <a:r>
                        <a:rPr lang="zh-CN" altLang="en-US" sz="1200" b="1">
                          <a:effectLst/>
                        </a:rPr>
                        <a:t>快速贬值</a:t>
                      </a:r>
                      <a:r>
                        <a:rPr lang="zh-CN" altLang="en-US" sz="1200" b="0">
                          <a:effectLst/>
                        </a:rPr>
                        <a:t>。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en-US" altLang="zh-CN" sz="1200" b="0">
                          <a:effectLst/>
                        </a:rPr>
                        <a:t>• </a:t>
                      </a:r>
                      <a:r>
                        <a:rPr lang="zh-CN" altLang="en-US" sz="1200" b="0">
                          <a:effectLst/>
                        </a:rPr>
                        <a:t>生命周期有限，技术迭代后即被淘汰。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en-US" altLang="zh-CN" sz="1200" b="1">
                          <a:effectLst/>
                        </a:rPr>
                        <a:t>2. </a:t>
                      </a:r>
                      <a:r>
                        <a:rPr lang="zh-CN" altLang="en-US" sz="1200" b="1">
                          <a:effectLst/>
                        </a:rPr>
                        <a:t>工程服务价值：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en-US" altLang="zh-CN" sz="1200" b="0">
                          <a:effectLst/>
                        </a:rPr>
                        <a:t>• </a:t>
                      </a:r>
                      <a:r>
                        <a:rPr lang="zh-CN" altLang="en-US" sz="1200" b="0">
                          <a:effectLst/>
                        </a:rPr>
                        <a:t>安装、调试、维护服务所产生的单次劳务价值。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0301" marR="60301" marT="37688" marB="37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 dirty="0">
                          <a:effectLst/>
                        </a:rPr>
                        <a:t>1. </a:t>
                      </a:r>
                      <a:r>
                        <a:rPr lang="zh-CN" altLang="en-US" sz="1200" b="1" dirty="0">
                          <a:effectLst/>
                        </a:rPr>
                        <a:t>基础设施数字仿真：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0" dirty="0">
                          <a:effectLst/>
                        </a:rPr>
                        <a:t>• </a:t>
                      </a:r>
                      <a:r>
                        <a:rPr lang="zh-CN" altLang="en-US" sz="1200" b="0" dirty="0">
                          <a:effectLst/>
                        </a:rPr>
                        <a:t>价值随数据积累</a:t>
                      </a:r>
                      <a:r>
                        <a:rPr lang="zh-CN" altLang="en-US" sz="1200" b="1" dirty="0">
                          <a:effectLst/>
                        </a:rPr>
                        <a:t>不断增值</a:t>
                      </a:r>
                      <a:r>
                        <a:rPr lang="zh-CN" altLang="en-US" sz="1200" b="0" dirty="0">
                          <a:effectLst/>
                        </a:rPr>
                        <a:t>。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0" dirty="0">
                          <a:effectLst/>
                        </a:rPr>
                        <a:t>• </a:t>
                      </a:r>
                      <a:r>
                        <a:rPr lang="zh-CN" altLang="en-US" sz="1200" b="0" dirty="0">
                          <a:effectLst/>
                        </a:rPr>
                        <a:t>是物理资产在数字空间的永生映射，价值持久。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2. </a:t>
                      </a:r>
                      <a:r>
                        <a:rPr lang="zh-CN" altLang="en-US" sz="1200" b="1" dirty="0">
                          <a:effectLst/>
                        </a:rPr>
                        <a:t>结构安全数据集：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0" dirty="0">
                          <a:effectLst/>
                        </a:rPr>
                        <a:t>• </a:t>
                      </a:r>
                      <a:r>
                        <a:rPr lang="zh-CN" altLang="en-US" sz="1200" b="0" dirty="0">
                          <a:effectLst/>
                        </a:rPr>
                        <a:t>独一无二、不可复制的</a:t>
                      </a:r>
                      <a:r>
                        <a:rPr lang="zh-CN" altLang="en-US" sz="1200" b="1" dirty="0">
                          <a:effectLst/>
                        </a:rPr>
                        <a:t>高质量数据资产</a:t>
                      </a:r>
                      <a:r>
                        <a:rPr lang="zh-CN" altLang="en-US" sz="1200" b="0" dirty="0">
                          <a:effectLst/>
                        </a:rPr>
                        <a:t>。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0" dirty="0">
                          <a:effectLst/>
                        </a:rPr>
                        <a:t>• </a:t>
                      </a:r>
                      <a:r>
                        <a:rPr lang="zh-CN" altLang="en-US" sz="1200" b="0" dirty="0">
                          <a:effectLst/>
                        </a:rPr>
                        <a:t>是训练</a:t>
                      </a:r>
                      <a:r>
                        <a:rPr lang="en-US" altLang="zh-CN" sz="1200" b="0" dirty="0">
                          <a:effectLst/>
                        </a:rPr>
                        <a:t>AI</a:t>
                      </a:r>
                      <a:r>
                        <a:rPr lang="zh-CN" altLang="en-US" sz="1200" b="0" dirty="0">
                          <a:effectLst/>
                        </a:rPr>
                        <a:t>模型、进行科学发现的基石。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3. </a:t>
                      </a:r>
                      <a:r>
                        <a:rPr lang="zh-CN" altLang="en-US" sz="1200" b="1" dirty="0">
                          <a:effectLst/>
                        </a:rPr>
                        <a:t>风险定价模型：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0" dirty="0">
                          <a:effectLst/>
                        </a:rPr>
                        <a:t>• </a:t>
                      </a:r>
                      <a:r>
                        <a:rPr lang="zh-CN" altLang="en-US" sz="1200" b="0" dirty="0">
                          <a:effectLst/>
                        </a:rPr>
                        <a:t>基于长期数据训练的模型，是参与金融交易的</a:t>
                      </a:r>
                      <a:r>
                        <a:rPr lang="zh-CN" altLang="en-US" sz="1200" b="1" dirty="0">
                          <a:effectLst/>
                        </a:rPr>
                        <a:t>核心资本</a:t>
                      </a:r>
                      <a:r>
                        <a:rPr lang="zh-CN" altLang="en-US" sz="1200" b="0" dirty="0">
                          <a:effectLst/>
                        </a:rPr>
                        <a:t>。</a:t>
                      </a: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60301" marR="63316" marT="37688" marB="37688" anchor="ctr"/>
                </a:tc>
                <a:extLst>
                  <a:ext uri="{0D108BD9-81ED-4DB2-BD59-A6C34878D82A}">
                    <a16:rowId xmlns:a16="http://schemas.microsoft.com/office/drawing/2014/main" val="2446956635"/>
                  </a:ext>
                </a:extLst>
              </a:tr>
              <a:tr h="4987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价值演化曲线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3316" marR="60301" marT="37688" marB="37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递减曲线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zh-CN" altLang="en-US" sz="1200" b="0">
                          <a:effectLst/>
                        </a:rPr>
                        <a:t>（采购即峰值，随后持续贬值）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0301" marR="60301" marT="37688" marB="37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递增曲线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zh-CN" altLang="en-US" sz="1200" b="0">
                          <a:effectLst/>
                        </a:rPr>
                        <a:t>（部署为起点，数据越积累价值越高）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0301" marR="63316" marT="37688" marB="37688" anchor="ctr"/>
                </a:tc>
                <a:extLst>
                  <a:ext uri="{0D108BD9-81ED-4DB2-BD59-A6C34878D82A}">
                    <a16:rowId xmlns:a16="http://schemas.microsoft.com/office/drawing/2014/main" val="3945340878"/>
                  </a:ext>
                </a:extLst>
              </a:tr>
              <a:tr h="4987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在财务报表中的体现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3316" marR="60301" marT="37688" marB="37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>
                          <a:effectLst/>
                        </a:rPr>
                        <a:t>• </a:t>
                      </a:r>
                      <a:r>
                        <a:rPr lang="zh-CN" altLang="en-US" sz="1200" b="1">
                          <a:effectLst/>
                        </a:rPr>
                        <a:t>资产负债表：</a:t>
                      </a:r>
                      <a:r>
                        <a:rPr lang="zh-CN" altLang="en-US" sz="1200" b="0">
                          <a:effectLst/>
                        </a:rPr>
                        <a:t> 作为固定资产或存货，价值递减。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en-US" altLang="zh-CN" sz="1200" b="1">
                          <a:effectLst/>
                        </a:rPr>
                        <a:t>• </a:t>
                      </a:r>
                      <a:r>
                        <a:rPr lang="zh-CN" altLang="en-US" sz="1200" b="1">
                          <a:effectLst/>
                        </a:rPr>
                        <a:t>利润表：</a:t>
                      </a:r>
                      <a:r>
                        <a:rPr lang="zh-CN" altLang="en-US" sz="1200" b="0">
                          <a:effectLst/>
                        </a:rPr>
                        <a:t> 通过项目制收入体现，是一次性确认。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0301" marR="60301" marT="37688" marB="37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>
                          <a:effectLst/>
                        </a:rPr>
                        <a:t>• </a:t>
                      </a:r>
                      <a:r>
                        <a:rPr lang="zh-CN" altLang="en-US" sz="1200" b="1">
                          <a:effectLst/>
                        </a:rPr>
                        <a:t>资产负债表：</a:t>
                      </a:r>
                      <a:r>
                        <a:rPr lang="zh-CN" altLang="en-US" sz="1200" b="0">
                          <a:effectLst/>
                        </a:rPr>
                        <a:t> 可作为</a:t>
                      </a:r>
                      <a:r>
                        <a:rPr lang="zh-CN" altLang="en-US" sz="1200" b="1">
                          <a:effectLst/>
                        </a:rPr>
                        <a:t>无形资产</a:t>
                      </a:r>
                      <a:r>
                        <a:rPr lang="zh-CN" altLang="en-US" sz="1200" b="0">
                          <a:effectLst/>
                        </a:rPr>
                        <a:t>（数据资产）入表。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en-US" altLang="zh-CN" sz="1200" b="1">
                          <a:effectLst/>
                        </a:rPr>
                        <a:t>• </a:t>
                      </a:r>
                      <a:r>
                        <a:rPr lang="zh-CN" altLang="en-US" sz="1200" b="1">
                          <a:effectLst/>
                        </a:rPr>
                        <a:t>利润表：</a:t>
                      </a:r>
                      <a:r>
                        <a:rPr lang="zh-CN" altLang="en-US" sz="1200" b="0">
                          <a:effectLst/>
                        </a:rPr>
                        <a:t> 可产生持续性的</a:t>
                      </a:r>
                      <a:r>
                        <a:rPr lang="zh-CN" altLang="en-US" sz="1200" b="1">
                          <a:effectLst/>
                        </a:rPr>
                        <a:t>数据服务收入</a:t>
                      </a:r>
                      <a:r>
                        <a:rPr lang="zh-CN" altLang="en-US" sz="1200" b="0">
                          <a:effectLst/>
                        </a:rPr>
                        <a:t>与</a:t>
                      </a:r>
                      <a:r>
                        <a:rPr lang="zh-CN" altLang="en-US" sz="1200" b="1">
                          <a:effectLst/>
                        </a:rPr>
                        <a:t>保险分润收入</a:t>
                      </a:r>
                      <a:r>
                        <a:rPr lang="zh-CN" altLang="en-US" sz="1200" b="0">
                          <a:effectLst/>
                        </a:rPr>
                        <a:t>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0301" marR="63316" marT="37688" marB="37688" anchor="ctr"/>
                </a:tc>
                <a:extLst>
                  <a:ext uri="{0D108BD9-81ED-4DB2-BD59-A6C34878D82A}">
                    <a16:rowId xmlns:a16="http://schemas.microsoft.com/office/drawing/2014/main" val="1954225700"/>
                  </a:ext>
                </a:extLst>
              </a:tr>
              <a:tr h="49875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商业想象力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3316" marR="60301" marT="37688" marB="37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>
                          <a:effectLst/>
                        </a:rPr>
                        <a:t>有限的设备市场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zh-CN" altLang="en-US" sz="1200" b="0">
                          <a:effectLst/>
                        </a:rPr>
                        <a:t>（市场规模</a:t>
                      </a:r>
                      <a:r>
                        <a:rPr lang="en-US" altLang="zh-CN" sz="1200" b="0">
                          <a:effectLst/>
                        </a:rPr>
                        <a:t>=</a:t>
                      </a:r>
                      <a:r>
                        <a:rPr lang="zh-CN" altLang="en-US" sz="1200" b="0">
                          <a:effectLst/>
                        </a:rPr>
                        <a:t>新增项目数</a:t>
                      </a:r>
                      <a:r>
                        <a:rPr lang="en-US" altLang="zh-CN" sz="1200" b="0">
                          <a:effectLst/>
                        </a:rPr>
                        <a:t>×</a:t>
                      </a:r>
                      <a:r>
                        <a:rPr lang="zh-CN" altLang="en-US" sz="1200" b="0">
                          <a:effectLst/>
                        </a:rPr>
                        <a:t>设备单价）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60301" marR="60301" marT="37688" marB="3768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无限的数据价值市场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zh-CN" altLang="en-US" sz="1200" b="0" dirty="0">
                          <a:effectLst/>
                        </a:rPr>
                        <a:t>（市场规模</a:t>
                      </a:r>
                      <a:r>
                        <a:rPr lang="en-US" altLang="zh-CN" sz="1200" b="0" dirty="0">
                          <a:effectLst/>
                        </a:rPr>
                        <a:t>=</a:t>
                      </a:r>
                      <a:r>
                        <a:rPr lang="zh-CN" altLang="en-US" sz="1200" b="0" dirty="0">
                          <a:effectLst/>
                        </a:rPr>
                        <a:t>存量资产数字化需求 </a:t>
                      </a:r>
                      <a:r>
                        <a:rPr lang="en-US" altLang="zh-CN" sz="1200" b="0" dirty="0">
                          <a:effectLst/>
                        </a:rPr>
                        <a:t>+ </a:t>
                      </a:r>
                      <a:r>
                        <a:rPr lang="zh-CN" altLang="en-US" sz="1200" b="0" dirty="0">
                          <a:effectLst/>
                        </a:rPr>
                        <a:t>数据驱动的金融创新市场）</a:t>
                      </a: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60301" marR="63316" marT="37688" marB="37688" anchor="ctr"/>
                </a:tc>
                <a:extLst>
                  <a:ext uri="{0D108BD9-81ED-4DB2-BD59-A6C34878D82A}">
                    <a16:rowId xmlns:a16="http://schemas.microsoft.com/office/drawing/2014/main" val="3882163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468137"/>
      </p:ext>
    </p:extLst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>
            <a:extLst>
              <a:ext uri="{FF2B5EF4-FFF2-40B4-BE49-F238E27FC236}">
                <a16:creationId xmlns:a16="http://schemas.microsoft.com/office/drawing/2014/main" id="{EE4096A6-A13E-2D74-2EE8-84A1FCCB64B7}"/>
              </a:ext>
            </a:extLst>
          </p:cNvPr>
          <p:cNvGrpSpPr/>
          <p:nvPr/>
        </p:nvGrpSpPr>
        <p:grpSpPr>
          <a:xfrm>
            <a:off x="9998951" y="4600987"/>
            <a:ext cx="1969333" cy="2107401"/>
            <a:chOff x="9762242" y="4730643"/>
            <a:chExt cx="2264733" cy="2107401"/>
          </a:xfrm>
        </p:grpSpPr>
        <p:sp>
          <p:nvSpPr>
            <p:cNvPr id="12" name="文本框 11"/>
            <p:cNvSpPr txBox="1"/>
            <p:nvPr/>
          </p:nvSpPr>
          <p:spPr>
            <a:xfrm>
              <a:off x="9762242" y="5976270"/>
              <a:ext cx="2264733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专项检测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（非视觉，按需）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000" dirty="0">
                  <a:latin typeface="Arial" panose="020B0604020202020204" pitchFamily="34" charset="0"/>
                  <a:ea typeface="微软雅黑" panose="020B0503020204020204" charset="-122"/>
                </a:rPr>
                <a:t>桥梁荷载（应力、振动）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000" dirty="0">
                  <a:latin typeface="Arial" panose="020B0604020202020204" pitchFamily="34" charset="0"/>
                  <a:ea typeface="微软雅黑" panose="020B0503020204020204" charset="-122"/>
                </a:rPr>
                <a:t>隧道专项（激光断面、地质雷达</a:t>
              </a:r>
              <a:r>
                <a:rPr lang="zh-CN" altLang="en-US" sz="1200" dirty="0">
                  <a:latin typeface="Arial" panose="020B0604020202020204" pitchFamily="34" charset="0"/>
                  <a:ea typeface="微软雅黑" panose="020B0503020204020204" charset="-122"/>
                </a:rPr>
                <a:t>）</a:t>
              </a:r>
            </a:p>
          </p:txBody>
        </p:sp>
        <p:pic>
          <p:nvPicPr>
            <p:cNvPr id="14" name="图片 13"/>
            <p:cNvPicPr preferRelativeResize="0"/>
            <p:nvPr/>
          </p:nvPicPr>
          <p:blipFill>
            <a:blip r:embed="rId3"/>
            <a:srcRect/>
            <a:stretch/>
          </p:blipFill>
          <p:spPr>
            <a:xfrm>
              <a:off x="9844012" y="4730643"/>
              <a:ext cx="2011680" cy="1097280"/>
            </a:xfrm>
            <a:prstGeom prst="rect">
              <a:avLst/>
            </a:prstGeom>
          </p:spPr>
        </p:pic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4E2DA9FF-1FDE-90BF-36CC-98DCE2990C46}"/>
              </a:ext>
            </a:extLst>
          </p:cNvPr>
          <p:cNvGrpSpPr/>
          <p:nvPr/>
        </p:nvGrpSpPr>
        <p:grpSpPr>
          <a:xfrm>
            <a:off x="2318205" y="4621457"/>
            <a:ext cx="2062606" cy="1902180"/>
            <a:chOff x="4941216" y="4730643"/>
            <a:chExt cx="2371997" cy="1902180"/>
          </a:xfrm>
        </p:grpSpPr>
        <p:pic>
          <p:nvPicPr>
            <p:cNvPr id="2" name="图片 1"/>
            <p:cNvPicPr preferRelativeResize="0"/>
            <p:nvPr/>
          </p:nvPicPr>
          <p:blipFill>
            <a:blip r:embed="rId4"/>
            <a:srcRect/>
            <a:stretch/>
          </p:blipFill>
          <p:spPr>
            <a:xfrm>
              <a:off x="5188928" y="4730643"/>
              <a:ext cx="2011680" cy="109728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文本框 5"/>
            <p:cNvSpPr txBox="1"/>
            <p:nvPr/>
          </p:nvSpPr>
          <p:spPr>
            <a:xfrm>
              <a:off x="4941216" y="5955715"/>
              <a:ext cx="237199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环境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（非视觉，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charset="-122"/>
                </a:rPr>
                <a:t>3-5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年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charset="-122"/>
                </a:rPr>
                <a:t>-&gt;</a:t>
              </a:r>
              <a:r>
                <a:rPr lang="zh-CN" altLang="en-US" sz="14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实时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）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000" dirty="0">
                  <a:latin typeface="Arial" panose="020B0604020202020204" pitchFamily="34" charset="0"/>
                  <a:ea typeface="微软雅黑" panose="020B0503020204020204" charset="-122"/>
                </a:rPr>
                <a:t>温度、湿度、结冰、雨量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3F3EB8CF-2D08-FB81-5769-B3D89CA2A80E}"/>
              </a:ext>
            </a:extLst>
          </p:cNvPr>
          <p:cNvGrpSpPr/>
          <p:nvPr/>
        </p:nvGrpSpPr>
        <p:grpSpPr>
          <a:xfrm>
            <a:off x="8010033" y="4600987"/>
            <a:ext cx="2062605" cy="2053465"/>
            <a:chOff x="7326879" y="4730643"/>
            <a:chExt cx="2305081" cy="2053465"/>
          </a:xfrm>
        </p:grpSpPr>
        <p:pic>
          <p:nvPicPr>
            <p:cNvPr id="10" name="图片 9"/>
            <p:cNvPicPr preferRelativeResize="0"/>
            <p:nvPr/>
          </p:nvPicPr>
          <p:blipFill>
            <a:blip r:embed="rId5"/>
            <a:srcRect/>
            <a:stretch/>
          </p:blipFill>
          <p:spPr>
            <a:xfrm>
              <a:off x="7505086" y="4730643"/>
              <a:ext cx="2011681" cy="1097280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7326879" y="5953111"/>
              <a:ext cx="230508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结构响应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（非视觉，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charset="-122"/>
                </a:rPr>
                <a:t>3-5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年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charset="-122"/>
                </a:rPr>
                <a:t>-&gt;</a:t>
              </a:r>
              <a:r>
                <a:rPr lang="zh-CN" altLang="en-US" sz="14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实时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）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000" dirty="0">
                  <a:latin typeface="Arial" panose="020B0604020202020204" pitchFamily="34" charset="0"/>
                  <a:ea typeface="微软雅黑" panose="020B0503020204020204" charset="-122"/>
                </a:rPr>
                <a:t>位移、转角、应变、索力、支座反力、振动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88619" y="4532746"/>
            <a:ext cx="12002797" cy="2306965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硬件设备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4202521" y="2925695"/>
            <a:ext cx="3643166" cy="1466402"/>
            <a:chOff x="4022099" y="2799074"/>
            <a:chExt cx="3142689" cy="1466402"/>
          </a:xfrm>
        </p:grpSpPr>
        <p:sp>
          <p:nvSpPr>
            <p:cNvPr id="49" name="文本框 48"/>
            <p:cNvSpPr txBox="1"/>
            <p:nvPr/>
          </p:nvSpPr>
          <p:spPr>
            <a:xfrm>
              <a:off x="4359169" y="3957699"/>
              <a:ext cx="2468660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914400"/>
              <a:r>
                <a:rPr lang="zh-CN" altLang="en-US" sz="1400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charset="-122"/>
                  <a:sym typeface="+mn-ea"/>
                </a:rPr>
                <a:t>运营：上部结构安全监测预警</a:t>
              </a:r>
            </a:p>
          </p:txBody>
        </p:sp>
        <p:sp>
          <p:nvSpPr>
            <p:cNvPr id="44" name="矩形: 圆角 43"/>
            <p:cNvSpPr/>
            <p:nvPr/>
          </p:nvSpPr>
          <p:spPr>
            <a:xfrm>
              <a:off x="4022099" y="2799074"/>
              <a:ext cx="3142689" cy="1437514"/>
            </a:xfrm>
            <a:prstGeom prst="roundRect">
              <a:avLst>
                <a:gd name="adj" fmla="val 5696"/>
              </a:avLst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endParaRPr lang="zh-CN" altLang="en-US" sz="1000" dirty="0"/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1163402" y="1288348"/>
            <a:ext cx="1765742" cy="1005840"/>
            <a:chOff x="7486147" y="1305547"/>
            <a:chExt cx="865608" cy="987563"/>
          </a:xfrm>
        </p:grpSpPr>
        <p:sp>
          <p:nvSpPr>
            <p:cNvPr id="81" name="文本框 80"/>
            <p:cNvSpPr txBox="1"/>
            <p:nvPr/>
          </p:nvSpPr>
          <p:spPr>
            <a:xfrm>
              <a:off x="7515336" y="2016111"/>
              <a:ext cx="8229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Arial" panose="020B0604020202020204" pitchFamily="34" charset="0"/>
                  <a:ea typeface="微软雅黑" panose="020B0503020204020204" charset="-122"/>
                </a:rPr>
                <a:t>日常养护</a:t>
              </a:r>
            </a:p>
          </p:txBody>
        </p:sp>
        <p:pic>
          <p:nvPicPr>
            <p:cNvPr id="84" name="图片 83"/>
            <p:cNvPicPr preferRelativeResize="0"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7486147" y="1305547"/>
              <a:ext cx="865608" cy="721340"/>
            </a:xfrm>
            <a:prstGeom prst="rect">
              <a:avLst/>
            </a:prstGeom>
          </p:spPr>
        </p:pic>
      </p:grpSp>
      <p:grpSp>
        <p:nvGrpSpPr>
          <p:cNvPr id="90" name="组合 89"/>
          <p:cNvGrpSpPr/>
          <p:nvPr/>
        </p:nvGrpSpPr>
        <p:grpSpPr>
          <a:xfrm>
            <a:off x="3395235" y="1288348"/>
            <a:ext cx="2200580" cy="1003759"/>
            <a:chOff x="8586965" y="1294771"/>
            <a:chExt cx="1124206" cy="996273"/>
          </a:xfrm>
        </p:grpSpPr>
        <p:sp>
          <p:nvSpPr>
            <p:cNvPr id="87" name="文本框 86"/>
            <p:cNvSpPr txBox="1"/>
            <p:nvPr/>
          </p:nvSpPr>
          <p:spPr>
            <a:xfrm>
              <a:off x="8586965" y="2016111"/>
              <a:ext cx="1124206" cy="274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Arial" panose="020B0604020202020204" pitchFamily="34" charset="0"/>
                  <a:ea typeface="微软雅黑" panose="020B0503020204020204" charset="-122"/>
                </a:rPr>
                <a:t>监测、定检和特殊检测报告</a:t>
              </a:r>
              <a:endParaRPr lang="en-US" altLang="zh-CN" sz="12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8" name="图片 87"/>
            <p:cNvPicPr preferRelativeResize="0"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8713445" y="1294771"/>
              <a:ext cx="900777" cy="721340"/>
            </a:xfrm>
            <a:prstGeom prst="rect">
              <a:avLst/>
            </a:prstGeom>
          </p:spPr>
        </p:pic>
      </p:grpSp>
      <p:sp>
        <p:nvSpPr>
          <p:cNvPr id="108" name="文本框 107"/>
          <p:cNvSpPr txBox="1"/>
          <p:nvPr/>
        </p:nvSpPr>
        <p:spPr>
          <a:xfrm>
            <a:off x="1431094" y="2469577"/>
            <a:ext cx="3759983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914400"/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日常养护、监检测</a:t>
            </a:r>
          </a:p>
        </p:txBody>
      </p:sp>
      <p:sp>
        <p:nvSpPr>
          <p:cNvPr id="62" name="标题 6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业务场景</a:t>
            </a:r>
            <a:endParaRPr lang="zh-CN" altLang="en-US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7715" y="959030"/>
            <a:ext cx="5926454" cy="1852144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②预算需求</a:t>
            </a:r>
            <a:endParaRPr lang="zh-CN" altLang="en-US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7724863" y="2454941"/>
            <a:ext cx="2956826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914400"/>
            <a:r>
              <a: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特殊路段导航和智驾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6BD4E291-2E69-9DDD-9A42-564DD34BA530}"/>
              </a:ext>
            </a:extLst>
          </p:cNvPr>
          <p:cNvGrpSpPr/>
          <p:nvPr/>
        </p:nvGrpSpPr>
        <p:grpSpPr>
          <a:xfrm>
            <a:off x="4223189" y="4600987"/>
            <a:ext cx="2061473" cy="2056069"/>
            <a:chOff x="440291" y="4730643"/>
            <a:chExt cx="2370694" cy="2056069"/>
          </a:xfrm>
        </p:grpSpPr>
        <p:sp>
          <p:nvSpPr>
            <p:cNvPr id="5" name="文本框 4"/>
            <p:cNvSpPr txBox="1"/>
            <p:nvPr/>
          </p:nvSpPr>
          <p:spPr>
            <a:xfrm>
              <a:off x="440291" y="5955715"/>
              <a:ext cx="23706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结构作用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（非视觉，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charset="-122"/>
                </a:rPr>
                <a:t>3-5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年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charset="-122"/>
                </a:rPr>
                <a:t>-&gt;</a:t>
              </a:r>
              <a:r>
                <a:rPr lang="zh-CN" altLang="en-US" sz="14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实时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）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000" dirty="0">
                  <a:latin typeface="Arial" panose="020B0604020202020204" pitchFamily="34" charset="0"/>
                  <a:ea typeface="微软雅黑" panose="020B0503020204020204" charset="-122"/>
                </a:rPr>
                <a:t>车辆荷载、风速风向、结构湿度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000" dirty="0">
                  <a:latin typeface="Arial" panose="020B0604020202020204" pitchFamily="34" charset="0"/>
                  <a:ea typeface="微软雅黑" panose="020B0503020204020204" charset="-122"/>
                </a:rPr>
                <a:t>船舶撞击、地震、台风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54" name="Picture 6"/>
            <p:cNvPicPr preferRelativeResize="0">
              <a:picLocks noChangeArrowheads="1"/>
            </p:cNvPicPr>
            <p:nvPr/>
          </p:nvPicPr>
          <p:blipFill>
            <a:blip r:embed="rId8"/>
            <a:srcRect t="15137" b="15137"/>
            <a:stretch/>
          </p:blipFill>
          <p:spPr bwMode="auto">
            <a:xfrm>
              <a:off x="624385" y="4730643"/>
              <a:ext cx="2011680" cy="1097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B086DCF5-B425-95E8-46E6-76EEE96F32E5}"/>
              </a:ext>
            </a:extLst>
          </p:cNvPr>
          <p:cNvGrpSpPr/>
          <p:nvPr/>
        </p:nvGrpSpPr>
        <p:grpSpPr>
          <a:xfrm>
            <a:off x="6087171" y="4600987"/>
            <a:ext cx="2062605" cy="2056069"/>
            <a:chOff x="2678045" y="4730643"/>
            <a:chExt cx="2371993" cy="2056069"/>
          </a:xfrm>
        </p:grpSpPr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456D0C81-EEA1-4545-03D5-25AA5CB50A97}"/>
                </a:ext>
              </a:extLst>
            </p:cNvPr>
            <p:cNvPicPr preferRelativeResize="0"/>
            <p:nvPr/>
          </p:nvPicPr>
          <p:blipFill>
            <a:blip r:embed="rId9"/>
            <a:srcRect/>
            <a:stretch/>
          </p:blipFill>
          <p:spPr>
            <a:xfrm>
              <a:off x="2906657" y="4730643"/>
              <a:ext cx="2011679" cy="109728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423FED12-F677-B021-E0D4-F98C788A1520}"/>
                </a:ext>
              </a:extLst>
            </p:cNvPr>
            <p:cNvSpPr txBox="1"/>
            <p:nvPr/>
          </p:nvSpPr>
          <p:spPr>
            <a:xfrm>
              <a:off x="2678045" y="5955715"/>
              <a:ext cx="237199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结构变化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（非视觉，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charset="-122"/>
                </a:rPr>
                <a:t>3-5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年</a:t>
              </a:r>
              <a:r>
                <a:rPr lang="en-US" altLang="zh-CN" sz="1400" b="1" dirty="0">
                  <a:latin typeface="Arial" panose="020B0604020202020204" pitchFamily="34" charset="0"/>
                  <a:ea typeface="微软雅黑" panose="020B0503020204020204" charset="-122"/>
                </a:rPr>
                <a:t>-&gt;</a:t>
              </a:r>
              <a:r>
                <a:rPr lang="zh-CN" altLang="en-US" sz="1400" b="1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charset="-122"/>
                </a:rPr>
                <a:t>实时</a:t>
              </a:r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）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000" dirty="0">
                  <a:latin typeface="Arial" panose="020B0604020202020204" pitchFamily="34" charset="0"/>
                  <a:ea typeface="微软雅黑" panose="020B0503020204020204" charset="-122"/>
                </a:rPr>
                <a:t>基础冲刷、结构位移、裂缝、腐蚀、断丝、螺栓状态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13CA40F4-4812-B172-BFFC-2D3F3C69AFA8}"/>
              </a:ext>
            </a:extLst>
          </p:cNvPr>
          <p:cNvGrpSpPr/>
          <p:nvPr/>
        </p:nvGrpSpPr>
        <p:grpSpPr>
          <a:xfrm>
            <a:off x="481283" y="4589518"/>
            <a:ext cx="1969332" cy="1902180"/>
            <a:chOff x="2764371" y="4730643"/>
            <a:chExt cx="2264730" cy="1902180"/>
          </a:xfrm>
        </p:grpSpPr>
        <p:pic>
          <p:nvPicPr>
            <p:cNvPr id="92" name="图片 91">
              <a:extLst>
                <a:ext uri="{FF2B5EF4-FFF2-40B4-BE49-F238E27FC236}">
                  <a16:creationId xmlns:a16="http://schemas.microsoft.com/office/drawing/2014/main" id="{DB141373-2B49-8ACF-13D0-331F8830C362}"/>
                </a:ext>
              </a:extLst>
            </p:cNvPr>
            <p:cNvPicPr preferRelativeResize="0"/>
            <p:nvPr/>
          </p:nvPicPr>
          <p:blipFill>
            <a:blip r:embed="rId10"/>
            <a:srcRect/>
            <a:stretch/>
          </p:blipFill>
          <p:spPr>
            <a:xfrm>
              <a:off x="2967274" y="4730643"/>
              <a:ext cx="1890443" cy="109728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19521BE9-0842-3339-E287-01F7E2175B7A}"/>
                </a:ext>
              </a:extLst>
            </p:cNvPr>
            <p:cNvSpPr txBox="1"/>
            <p:nvPr/>
          </p:nvSpPr>
          <p:spPr>
            <a:xfrm>
              <a:off x="2764371" y="5955715"/>
              <a:ext cx="226473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外观检查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400" b="1" dirty="0">
                  <a:latin typeface="Arial" panose="020B0604020202020204" pitchFamily="34" charset="0"/>
                  <a:ea typeface="微软雅黑" panose="020B0503020204020204" charset="-122"/>
                </a:rPr>
                <a:t>（视觉，每月）</a:t>
              </a:r>
              <a:endParaRPr lang="en-US" altLang="zh-CN" sz="1400" b="1" dirty="0"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ctr"/>
              <a:r>
                <a:rPr lang="zh-CN" altLang="en-US" sz="1000" dirty="0">
                  <a:latin typeface="Arial" panose="020B0604020202020204" pitchFamily="34" charset="0"/>
                  <a:ea typeface="微软雅黑" panose="020B0503020204020204" charset="-122"/>
                </a:rPr>
                <a:t>桥面铺装、伸缩缝等病害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1682BD55-1FD5-8025-311D-E10272334C80}"/>
              </a:ext>
            </a:extLst>
          </p:cNvPr>
          <p:cNvGrpSpPr/>
          <p:nvPr/>
        </p:nvGrpSpPr>
        <p:grpSpPr>
          <a:xfrm>
            <a:off x="8241788" y="2925695"/>
            <a:ext cx="3643166" cy="1449696"/>
            <a:chOff x="4022099" y="2799074"/>
            <a:chExt cx="3142689" cy="1449696"/>
          </a:xfrm>
        </p:grpSpPr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9E9B8EC0-A7F5-A96C-0440-711B6E641519}"/>
                </a:ext>
              </a:extLst>
            </p:cNvPr>
            <p:cNvSpPr txBox="1"/>
            <p:nvPr/>
          </p:nvSpPr>
          <p:spPr>
            <a:xfrm>
              <a:off x="4316260" y="3940993"/>
              <a:ext cx="2468660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914400"/>
              <a:r>
                <a:rPr lang="zh-CN" altLang="en-US" sz="1400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charset="-122"/>
                  <a:sym typeface="+mn-ea"/>
                </a:rPr>
                <a:t>运营：下部结构监测预警</a:t>
              </a:r>
            </a:p>
          </p:txBody>
        </p:sp>
        <p:sp>
          <p:nvSpPr>
            <p:cNvPr id="128" name="矩形: 圆角 127">
              <a:extLst>
                <a:ext uri="{FF2B5EF4-FFF2-40B4-BE49-F238E27FC236}">
                  <a16:creationId xmlns:a16="http://schemas.microsoft.com/office/drawing/2014/main" id="{725545DB-7266-88A2-DE59-EA2FD04378A4}"/>
                </a:ext>
              </a:extLst>
            </p:cNvPr>
            <p:cNvSpPr/>
            <p:nvPr/>
          </p:nvSpPr>
          <p:spPr>
            <a:xfrm>
              <a:off x="4022099" y="2799074"/>
              <a:ext cx="3142689" cy="1437514"/>
            </a:xfrm>
            <a:prstGeom prst="roundRect">
              <a:avLst>
                <a:gd name="adj" fmla="val 5696"/>
              </a:avLst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endParaRPr lang="zh-CN" altLang="en-US" sz="1000" dirty="0"/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9BD48AEE-932E-0C10-289C-CA56B6C0D6C8}"/>
              </a:ext>
            </a:extLst>
          </p:cNvPr>
          <p:cNvSpPr/>
          <p:nvPr/>
        </p:nvSpPr>
        <p:spPr>
          <a:xfrm>
            <a:off x="97715" y="2890461"/>
            <a:ext cx="12002797" cy="1562179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①安全需求</a:t>
            </a:r>
            <a:endParaRPr lang="zh-CN" altLang="en-US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B83182-BE5F-FAFD-293A-A41B8FCA636A}"/>
              </a:ext>
            </a:extLst>
          </p:cNvPr>
          <p:cNvSpPr/>
          <p:nvPr/>
        </p:nvSpPr>
        <p:spPr>
          <a:xfrm>
            <a:off x="6070096" y="959369"/>
            <a:ext cx="6030416" cy="1852144"/>
          </a:xfrm>
          <a:prstGeom prst="rect">
            <a:avLst/>
          </a:prstGeom>
          <a:noFill/>
          <a:ln w="12700">
            <a:solidFill>
              <a:srgbClr val="0070C0"/>
            </a:solidFill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③产业需求</a:t>
            </a:r>
            <a:endParaRPr lang="zh-CN" altLang="en-US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DCC73C5-6223-F84F-B298-41E8BFAA7246}"/>
              </a:ext>
            </a:extLst>
          </p:cNvPr>
          <p:cNvGrpSpPr/>
          <p:nvPr/>
        </p:nvGrpSpPr>
        <p:grpSpPr>
          <a:xfrm>
            <a:off x="664997" y="2925695"/>
            <a:ext cx="3153345" cy="1437514"/>
            <a:chOff x="664997" y="2925695"/>
            <a:chExt cx="3153345" cy="1437514"/>
          </a:xfrm>
        </p:grpSpPr>
        <p:sp>
          <p:nvSpPr>
            <p:cNvPr id="68" name="文本框 67"/>
            <p:cNvSpPr txBox="1"/>
            <p:nvPr/>
          </p:nvSpPr>
          <p:spPr>
            <a:xfrm>
              <a:off x="698502" y="4055432"/>
              <a:ext cx="3119840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 defTabSz="914400"/>
              <a:r>
                <a:rPr lang="zh-CN" altLang="en-US" sz="1400" b="1" dirty="0">
                  <a:solidFill>
                    <a:prstClr val="black"/>
                  </a:solidFill>
                  <a:latin typeface="Arial" panose="020B0604020202020204" pitchFamily="34" charset="0"/>
                  <a:ea typeface="微软雅黑" panose="020B0503020204020204" charset="-122"/>
                  <a:sym typeface="+mn-ea"/>
                </a:rPr>
                <a:t>在建：改扩建工程安全监测预警</a:t>
              </a:r>
            </a:p>
          </p:txBody>
        </p:sp>
        <p:sp>
          <p:nvSpPr>
            <p:cNvPr id="43" name="矩形: 圆角 42"/>
            <p:cNvSpPr/>
            <p:nvPr/>
          </p:nvSpPr>
          <p:spPr>
            <a:xfrm>
              <a:off x="664997" y="2925695"/>
              <a:ext cx="3045566" cy="1437514"/>
            </a:xfrm>
            <a:prstGeom prst="roundRect">
              <a:avLst>
                <a:gd name="adj" fmla="val 5696"/>
              </a:avLst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endParaRPr lang="zh-CN" altLang="en-US" sz="10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F5F52C1-5EDB-5E3C-C866-656657A765BF}"/>
              </a:ext>
            </a:extLst>
          </p:cNvPr>
          <p:cNvGrpSpPr/>
          <p:nvPr/>
        </p:nvGrpSpPr>
        <p:grpSpPr>
          <a:xfrm>
            <a:off x="6782473" y="1159734"/>
            <a:ext cx="2103120" cy="1412954"/>
            <a:chOff x="7486147" y="1314285"/>
            <a:chExt cx="865608" cy="1274923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1DA05BF-3D99-1AAD-A6F6-A74740B41198}"/>
                </a:ext>
              </a:extLst>
            </p:cNvPr>
            <p:cNvSpPr txBox="1"/>
            <p:nvPr/>
          </p:nvSpPr>
          <p:spPr>
            <a:xfrm>
              <a:off x="7507471" y="2135932"/>
              <a:ext cx="822960" cy="453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Arial" panose="020B0604020202020204" pitchFamily="34" charset="0"/>
                  <a:ea typeface="微软雅黑" panose="020B0503020204020204" charset="-122"/>
                </a:rPr>
                <a:t>立交桥超视距导航</a:t>
              </a: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DF70098-EC54-E0BF-0B22-AAA379185FCE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7486147" y="1314285"/>
              <a:ext cx="865608" cy="802450"/>
            </a:xfrm>
            <a:prstGeom prst="rect">
              <a:avLst/>
            </a:prstGeom>
          </p:spPr>
        </p:pic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7A1C51E-C70F-5E1C-F031-02F21FD31268}"/>
              </a:ext>
            </a:extLst>
          </p:cNvPr>
          <p:cNvGrpSpPr/>
          <p:nvPr/>
        </p:nvGrpSpPr>
        <p:grpSpPr>
          <a:xfrm>
            <a:off x="9355015" y="1159733"/>
            <a:ext cx="2194560" cy="1280160"/>
            <a:chOff x="8713445" y="1303464"/>
            <a:chExt cx="902061" cy="989646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DB64189-6361-7D5E-E515-3FF1B349184B}"/>
                </a:ext>
              </a:extLst>
            </p:cNvPr>
            <p:cNvSpPr txBox="1"/>
            <p:nvPr/>
          </p:nvSpPr>
          <p:spPr>
            <a:xfrm>
              <a:off x="8792546" y="2016111"/>
              <a:ext cx="8229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latin typeface="Arial" panose="020B0604020202020204" pitchFamily="34" charset="0"/>
                  <a:ea typeface="微软雅黑" panose="020B0503020204020204" charset="-122"/>
                </a:rPr>
                <a:t>边坡全生命周期数据集</a:t>
              </a:r>
              <a:endParaRPr lang="en-US" altLang="zh-CN" sz="12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DA9CCDBF-29F0-F15E-27FD-8835AFB94A43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8713445" y="1303464"/>
              <a:ext cx="900777" cy="703955"/>
            </a:xfrm>
            <a:prstGeom prst="rect">
              <a:avLst/>
            </a:prstGeom>
          </p:spPr>
        </p:pic>
      </p:grpSp>
      <p:pic>
        <p:nvPicPr>
          <p:cNvPr id="26" name="图片 25"/>
          <p:cNvPicPr preferRelativeResize="0"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251623" y="3001115"/>
            <a:ext cx="1771327" cy="99151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5D04DC7-9312-7BF4-AF97-36F0B06DB2A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2071" y="3135923"/>
            <a:ext cx="2528029" cy="64008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514BD81D-98E5-632B-9222-D8A21470D0E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93100" y="3104564"/>
            <a:ext cx="2352924" cy="64008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4D481535-D5F8-FE2E-9BCA-AD105C37B76A}"/>
              </a:ext>
            </a:extLst>
          </p:cNvPr>
          <p:cNvSpPr txBox="1"/>
          <p:nvPr/>
        </p:nvSpPr>
        <p:spPr>
          <a:xfrm>
            <a:off x="4835384" y="3786903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受力-变形-振动-损伤-环境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A294491-C7D6-3168-0A40-172DA610D6FE}"/>
              </a:ext>
            </a:extLst>
          </p:cNvPr>
          <p:cNvSpPr txBox="1"/>
          <p:nvPr/>
        </p:nvSpPr>
        <p:spPr>
          <a:xfrm>
            <a:off x="8833784" y="3783149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/>
              <a:t>位移、沉降、冲刷、裂缝与地基</a:t>
            </a:r>
          </a:p>
        </p:txBody>
      </p:sp>
    </p:spTree>
    <p:extLst>
      <p:ext uri="{BB962C8B-B14F-4D97-AF65-F5344CB8AC3E}">
        <p14:creationId xmlns:p14="http://schemas.microsoft.com/office/powerpoint/2010/main" val="4208881627"/>
      </p:ext>
    </p:extLst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B2F73-960F-2B16-535A-AAA0E8B3C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76D7B98-1C4F-B05C-62A2-7E540E91E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zh-CN" altLang="en-US" dirty="0"/>
              <a:t>数据产品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F6EC90F-A1CC-93B5-F8E1-5E1D9DD59C96}"/>
              </a:ext>
            </a:extLst>
          </p:cNvPr>
          <p:cNvGraphicFramePr>
            <a:graphicFrameLocks noGrp="1"/>
          </p:cNvGraphicFramePr>
          <p:nvPr/>
        </p:nvGraphicFramePr>
        <p:xfrm>
          <a:off x="669923" y="1212945"/>
          <a:ext cx="10850563" cy="5004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7964">
                  <a:extLst>
                    <a:ext uri="{9D8B030D-6E8A-4147-A177-3AD203B41FA5}">
                      <a16:colId xmlns:a16="http://schemas.microsoft.com/office/drawing/2014/main" val="3497614094"/>
                    </a:ext>
                  </a:extLst>
                </a:gridCol>
                <a:gridCol w="2941092">
                  <a:extLst>
                    <a:ext uri="{9D8B030D-6E8A-4147-A177-3AD203B41FA5}">
                      <a16:colId xmlns:a16="http://schemas.microsoft.com/office/drawing/2014/main" val="4109577974"/>
                    </a:ext>
                  </a:extLst>
                </a:gridCol>
                <a:gridCol w="3268639">
                  <a:extLst>
                    <a:ext uri="{9D8B030D-6E8A-4147-A177-3AD203B41FA5}">
                      <a16:colId xmlns:a16="http://schemas.microsoft.com/office/drawing/2014/main" val="2023573213"/>
                    </a:ext>
                  </a:extLst>
                </a:gridCol>
                <a:gridCol w="1469613">
                  <a:extLst>
                    <a:ext uri="{9D8B030D-6E8A-4147-A177-3AD203B41FA5}">
                      <a16:colId xmlns:a16="http://schemas.microsoft.com/office/drawing/2014/main" val="4076637121"/>
                    </a:ext>
                  </a:extLst>
                </a:gridCol>
                <a:gridCol w="1473255">
                  <a:extLst>
                    <a:ext uri="{9D8B030D-6E8A-4147-A177-3AD203B41FA5}">
                      <a16:colId xmlns:a16="http://schemas.microsoft.com/office/drawing/2014/main" val="2294251640"/>
                    </a:ext>
                  </a:extLst>
                </a:gridCol>
              </a:tblGrid>
              <a:tr h="2571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u="none" strike="noStrike" dirty="0">
                          <a:effectLst/>
                        </a:rPr>
                        <a:t>需方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u="none" strike="noStrike">
                          <a:effectLst/>
                        </a:rPr>
                        <a:t>数据产品名称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u="none" strike="noStrike">
                          <a:effectLst/>
                        </a:rPr>
                        <a:t>核心数据内容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u="none" strike="noStrike" dirty="0">
                          <a:effectLst/>
                        </a:rPr>
                        <a:t>交付方式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u="none" strike="noStrike" dirty="0">
                          <a:effectLst/>
                        </a:rPr>
                        <a:t>付费模式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613176685"/>
                  </a:ext>
                </a:extLst>
              </a:tr>
              <a:tr h="213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u="none" strike="noStrike" dirty="0">
                          <a:effectLst/>
                        </a:rPr>
                        <a:t>高校和科研机构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开放交通与结构健康数据集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匿名化传感</a:t>
                      </a:r>
                      <a:r>
                        <a:rPr lang="en-US" altLang="zh-CN" sz="1400" b="0" u="none" strike="noStrike">
                          <a:effectLst/>
                        </a:rPr>
                        <a:t>+</a:t>
                      </a:r>
                      <a:r>
                        <a:rPr lang="zh-CN" altLang="en-US" sz="1400" b="0" u="none" strike="noStrike">
                          <a:effectLst/>
                        </a:rPr>
                        <a:t>气象数据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数据下载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按数据集计费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2064180447"/>
                  </a:ext>
                </a:extLst>
              </a:tr>
              <a:tr h="2133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u="none" strike="noStrike" dirty="0">
                          <a:effectLst/>
                        </a:rPr>
                        <a:t>AI</a:t>
                      </a:r>
                      <a:r>
                        <a:rPr lang="ja-JP" altLang="en-US" sz="1400" b="0" u="none" strike="noStrike" dirty="0">
                          <a:effectLst/>
                        </a:rPr>
                        <a:t>训练样本集</a:t>
                      </a:r>
                      <a:endParaRPr lang="ja-JP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高质量标注病害图像、曲线、事件日志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离线打包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一次性购买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1325535900"/>
                  </a:ext>
                </a:extLst>
              </a:tr>
              <a:tr h="213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u="none" strike="noStrike" dirty="0">
                          <a:effectLst/>
                        </a:rPr>
                        <a:t>物流企业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物流通行安全指数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路网状况、天气、交通流量数据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u="none" strike="noStrike">
                          <a:effectLst/>
                        </a:rPr>
                        <a:t>API+APP</a:t>
                      </a:r>
                      <a:r>
                        <a:rPr lang="ja-JP" altLang="en-US" sz="1400" b="0" u="none" strike="noStrike">
                          <a:effectLst/>
                        </a:rPr>
                        <a:t>插件</a:t>
                      </a:r>
                      <a:endParaRPr lang="ja-JP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按车辆数</a:t>
                      </a:r>
                      <a:r>
                        <a:rPr lang="en-US" altLang="zh-CN" sz="1400" b="0" u="none" strike="noStrike" dirty="0">
                          <a:effectLst/>
                        </a:rPr>
                        <a:t>/</a:t>
                      </a:r>
                      <a:r>
                        <a:rPr lang="zh-CN" altLang="en-US" sz="1400" b="0" u="none" strike="noStrike" dirty="0">
                          <a:effectLst/>
                        </a:rPr>
                        <a:t>调用量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846777546"/>
                  </a:ext>
                </a:extLst>
              </a:tr>
              <a:tr h="2133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高风险路段导航数据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即时风险提示</a:t>
                      </a:r>
                      <a:r>
                        <a:rPr lang="en-US" altLang="zh-CN" sz="1400" b="0" u="none" strike="noStrike">
                          <a:effectLst/>
                        </a:rPr>
                        <a:t>+</a:t>
                      </a:r>
                      <a:r>
                        <a:rPr lang="zh-CN" altLang="en-US" sz="1400" b="0" u="none" strike="noStrike">
                          <a:effectLst/>
                        </a:rPr>
                        <a:t>替代路线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u="none" strike="noStrike">
                          <a:effectLst/>
                        </a:rPr>
                        <a:t>API</a:t>
                      </a:r>
                      <a:r>
                        <a:rPr lang="ja-JP" altLang="en-US" sz="1400" b="0" u="none" strike="noStrike">
                          <a:effectLst/>
                        </a:rPr>
                        <a:t>接口</a:t>
                      </a:r>
                      <a:endParaRPr lang="ja-JP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订阅制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1169493227"/>
                  </a:ext>
                </a:extLst>
              </a:tr>
              <a:tr h="213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u="none" strike="noStrike" dirty="0">
                          <a:effectLst/>
                        </a:rPr>
                        <a:t>智驾企业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高精道路与风险标注数据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车道线、障碍物、实时风险标签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u="none" strike="noStrike">
                          <a:effectLst/>
                        </a:rPr>
                        <a:t>API+</a:t>
                      </a:r>
                      <a:r>
                        <a:rPr lang="ja-JP" altLang="en-US" sz="1400" b="0" u="none" strike="noStrike">
                          <a:effectLst/>
                        </a:rPr>
                        <a:t>离线数据包</a:t>
                      </a:r>
                      <a:endParaRPr lang="ja-JP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年度授权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2278608282"/>
                  </a:ext>
                </a:extLst>
              </a:tr>
              <a:tr h="2133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边坡及路面异常实时预警接口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光纤</a:t>
                      </a:r>
                      <a:r>
                        <a:rPr lang="en-US" altLang="zh-CN" sz="1400" b="0" u="none" strike="noStrike">
                          <a:effectLst/>
                        </a:rPr>
                        <a:t>+</a:t>
                      </a:r>
                      <a:r>
                        <a:rPr lang="zh-CN" altLang="en-US" sz="1400" b="0" u="none" strike="noStrike">
                          <a:effectLst/>
                        </a:rPr>
                        <a:t>北斗融合实时监测数据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u="none" strike="noStrike">
                          <a:effectLst/>
                        </a:rPr>
                        <a:t>API</a:t>
                      </a:r>
                      <a:endParaRPr lang="en-US" altLang="zh-C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按调用量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614886494"/>
                  </a:ext>
                </a:extLst>
              </a:tr>
              <a:tr h="21339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AI</a:t>
                      </a:r>
                      <a:r>
                        <a:rPr lang="ja-JP" altLang="en-US" sz="1400" b="1" u="none" strike="noStrike" dirty="0">
                          <a:effectLst/>
                        </a:rPr>
                        <a:t>企业</a:t>
                      </a:r>
                      <a:endParaRPr lang="ja-JP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多模态交通与结构健康训练集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视频、图像、传感曲线、文本标注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离线打包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一次性购买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4028004404"/>
                  </a:ext>
                </a:extLst>
              </a:tr>
              <a:tr h="23393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u="none" strike="noStrike">
                          <a:effectLst/>
                        </a:rPr>
                        <a:t>AI</a:t>
                      </a:r>
                      <a:r>
                        <a:rPr lang="ja-JP" altLang="en-US" sz="1400" b="0" u="none" strike="noStrike">
                          <a:effectLst/>
                        </a:rPr>
                        <a:t>推理模型评测数据集</a:t>
                      </a:r>
                      <a:endParaRPr lang="ja-JP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用于验证</a:t>
                      </a:r>
                      <a:r>
                        <a:rPr lang="en-US" sz="1400" b="0" u="none" strike="noStrike">
                          <a:effectLst/>
                        </a:rPr>
                        <a:t>AI</a:t>
                      </a:r>
                      <a:r>
                        <a:rPr lang="zh-CN" altLang="en-US" sz="1400" b="0" u="none" strike="noStrike">
                          <a:effectLst/>
                        </a:rPr>
                        <a:t>检测算法性能的标准化数据集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数据集</a:t>
                      </a:r>
                      <a:r>
                        <a:rPr lang="en-US" altLang="zh-CN" sz="1400" b="0" u="none" strike="noStrike">
                          <a:effectLst/>
                        </a:rPr>
                        <a:t>/</a:t>
                      </a:r>
                      <a:r>
                        <a:rPr lang="en-US" sz="1400" b="0" u="none" strike="noStrike">
                          <a:effectLst/>
                        </a:rPr>
                        <a:t>API</a:t>
                      </a:r>
                      <a:endParaRPr lang="en-US" altLang="zh-C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按项目计费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3308742455"/>
                  </a:ext>
                </a:extLst>
              </a:tr>
              <a:tr h="23393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u="none" strike="noStrike" dirty="0">
                          <a:effectLst/>
                        </a:rPr>
                        <a:t>基建企业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改扩建风险评估模型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边坡稳定性、应力变化趋势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模型</a:t>
                      </a:r>
                      <a:r>
                        <a:rPr lang="en-US" altLang="zh-CN" sz="1400" b="0" u="none" strike="noStrike">
                          <a:effectLst/>
                        </a:rPr>
                        <a:t>+</a:t>
                      </a:r>
                      <a:r>
                        <a:rPr lang="zh-CN" altLang="en-US" sz="1400" b="0" u="none" strike="noStrike">
                          <a:effectLst/>
                        </a:rPr>
                        <a:t>报告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项目制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3221931121"/>
                  </a:ext>
                </a:extLst>
              </a:tr>
              <a:tr h="23393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施工期安全监测数据</a:t>
                      </a:r>
                      <a:r>
                        <a:rPr lang="zh-CN" altLang="en-US" sz="1400" b="0" u="none" strike="noStrike" dirty="0">
                          <a:solidFill>
                            <a:srgbClr val="DE3C36"/>
                          </a:solidFill>
                          <a:effectLst/>
                        </a:rPr>
                        <a:t>（灾变应急服务包）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实时位移、振动数据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实时流</a:t>
                      </a:r>
                      <a:r>
                        <a:rPr lang="en-US" altLang="zh-CN" sz="1400" b="0" u="none" strike="noStrike" dirty="0">
                          <a:effectLst/>
                        </a:rPr>
                        <a:t>+</a:t>
                      </a:r>
                      <a:r>
                        <a:rPr lang="zh-CN" altLang="en-US" sz="1400" b="0" u="none" strike="noStrike" dirty="0">
                          <a:effectLst/>
                        </a:rPr>
                        <a:t>预警系统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月度订阅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759332987"/>
                  </a:ext>
                </a:extLst>
              </a:tr>
              <a:tr h="233936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u="none" strike="noStrike" dirty="0">
                          <a:effectLst/>
                        </a:rPr>
                        <a:t>保险公司（平安财险，工程险）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solidFill>
                            <a:srgbClr val="DE3C36"/>
                          </a:solidFill>
                          <a:effectLst/>
                        </a:rPr>
                        <a:t>风险评估数据包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事故高发点、病害频率、灾害影响数据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数据集</a:t>
                      </a:r>
                      <a:r>
                        <a:rPr lang="en-US" altLang="zh-CN" sz="1400" b="0" u="none" strike="noStrike">
                          <a:effectLst/>
                        </a:rPr>
                        <a:t>/</a:t>
                      </a:r>
                      <a:r>
                        <a:rPr lang="en-US" sz="1400" b="0" u="none" strike="noStrike">
                          <a:effectLst/>
                        </a:rPr>
                        <a:t>API</a:t>
                      </a:r>
                      <a:endParaRPr lang="en-US" altLang="zh-CN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按调用计费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4267665230"/>
                  </a:ext>
                </a:extLst>
              </a:tr>
              <a:tr h="23393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灾害追溯报告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历史监测</a:t>
                      </a:r>
                      <a:r>
                        <a:rPr lang="en-US" altLang="zh-CN" sz="1400" b="0" u="none" strike="noStrike" dirty="0">
                          <a:effectLst/>
                        </a:rPr>
                        <a:t>+</a:t>
                      </a:r>
                      <a:r>
                        <a:rPr lang="zh-CN" altLang="en-US" sz="1400" b="0" u="none" strike="noStrike" dirty="0">
                          <a:effectLst/>
                        </a:rPr>
                        <a:t>事故分析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u="none" strike="noStrike" dirty="0">
                          <a:effectLst/>
                        </a:rPr>
                        <a:t>PDF</a:t>
                      </a:r>
                      <a:r>
                        <a:rPr lang="ja-JP" altLang="en-US" sz="1400" b="0" u="none" strike="noStrike" dirty="0">
                          <a:effectLst/>
                        </a:rPr>
                        <a:t>报告</a:t>
                      </a:r>
                      <a:endParaRPr lang="ja-JP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单次购买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4148837141"/>
                  </a:ext>
                </a:extLst>
              </a:tr>
              <a:tr h="233936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400" b="1" u="none" strike="noStrike" dirty="0">
                          <a:effectLst/>
                        </a:rPr>
                        <a:t>高速公路运营方（</a:t>
                      </a:r>
                      <a:r>
                        <a:rPr lang="en-US" altLang="zh-CN" sz="1400" b="1" u="none" strike="noStrike" dirty="0">
                          <a:effectLst/>
                        </a:rPr>
                        <a:t>+</a:t>
                      </a:r>
                      <a:r>
                        <a:rPr lang="zh-CN" altLang="en-US" sz="1400" b="1" u="none" strike="noStrike" dirty="0">
                          <a:effectLst/>
                        </a:rPr>
                        <a:t>交通局）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边坡结构健康监测报告</a:t>
                      </a:r>
                      <a:r>
                        <a:rPr lang="zh-CN" altLang="en-US" sz="1400" b="0" u="none" strike="noStrike" dirty="0">
                          <a:solidFill>
                            <a:srgbClr val="DE3C36"/>
                          </a:solidFill>
                          <a:effectLst/>
                        </a:rPr>
                        <a:t>（标品基础健康指数月报）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光纤传感</a:t>
                      </a:r>
                      <a:r>
                        <a:rPr lang="en-US" altLang="zh-CN" sz="1400" b="0" u="none" strike="noStrike" dirty="0">
                          <a:effectLst/>
                        </a:rPr>
                        <a:t>+</a:t>
                      </a:r>
                      <a:r>
                        <a:rPr lang="zh-CN" altLang="en-US" sz="1400" b="0" u="none" strike="noStrike" dirty="0">
                          <a:effectLst/>
                        </a:rPr>
                        <a:t>北斗定位的位移、应变、裂缝变化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报告</a:t>
                      </a:r>
                      <a:r>
                        <a:rPr lang="en-US" altLang="zh-CN" sz="1400" b="0" u="none" strike="noStrike">
                          <a:effectLst/>
                        </a:rPr>
                        <a:t>+</a:t>
                      </a:r>
                      <a:r>
                        <a:rPr lang="zh-CN" altLang="en-US" sz="1400" b="0" u="none" strike="noStrike">
                          <a:effectLst/>
                        </a:rPr>
                        <a:t>在线平台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年度合同制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3093733261"/>
                  </a:ext>
                </a:extLst>
              </a:tr>
              <a:tr h="23393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路面病害巡检数据集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高清图像</a:t>
                      </a:r>
                      <a:r>
                        <a:rPr lang="en-US" altLang="zh-CN" sz="1400" b="0" u="none" strike="noStrike" dirty="0">
                          <a:effectLst/>
                        </a:rPr>
                        <a:t>+</a:t>
                      </a:r>
                      <a:r>
                        <a:rPr lang="en-US" sz="1400" b="0" u="none" strike="noStrike" dirty="0">
                          <a:effectLst/>
                        </a:rPr>
                        <a:t>AI</a:t>
                      </a:r>
                      <a:r>
                        <a:rPr lang="zh-CN" altLang="en-US" sz="1400" b="0" u="none" strike="noStrike" dirty="0">
                          <a:effectLst/>
                        </a:rPr>
                        <a:t>识别结果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u="none" strike="noStrike">
                          <a:effectLst/>
                        </a:rPr>
                        <a:t>API+</a:t>
                      </a:r>
                      <a:r>
                        <a:rPr lang="ja-JP" altLang="en-US" sz="1400" b="0" u="none" strike="noStrike">
                          <a:effectLst/>
                        </a:rPr>
                        <a:t>可视化平台</a:t>
                      </a:r>
                      <a:endParaRPr lang="ja-JP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按面积计费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3271913747"/>
                  </a:ext>
                </a:extLst>
              </a:tr>
              <a:tr h="23393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>
                          <a:effectLst/>
                        </a:rPr>
                        <a:t>桥梁结构安全评估</a:t>
                      </a:r>
                      <a:endParaRPr lang="zh-CN" alt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主梁、支座、索力变化等数据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报告</a:t>
                      </a:r>
                      <a:r>
                        <a:rPr lang="en-US" altLang="zh-CN" sz="1400" b="0" u="none" strike="noStrike" dirty="0">
                          <a:effectLst/>
                        </a:rPr>
                        <a:t>+</a:t>
                      </a:r>
                      <a:r>
                        <a:rPr lang="zh-CN" altLang="en-US" sz="1400" b="0" u="none" strike="noStrike" dirty="0">
                          <a:effectLst/>
                        </a:rPr>
                        <a:t>实时预警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400" b="0" u="none" strike="noStrike" dirty="0">
                          <a:effectLst/>
                        </a:rPr>
                        <a:t>项目制</a:t>
                      </a:r>
                      <a:endParaRPr lang="zh-CN" altLang="en-US" sz="1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5590" marR="55590" marT="27795" marB="27795" anchor="ctr"/>
                </a:tc>
                <a:extLst>
                  <a:ext uri="{0D108BD9-81ED-4DB2-BD59-A6C34878D82A}">
                    <a16:rowId xmlns:a16="http://schemas.microsoft.com/office/drawing/2014/main" val="1976496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085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8DEB-4A8B-6BEF-E228-420429A6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矩形: 圆角 167">
            <a:extLst>
              <a:ext uri="{FF2B5EF4-FFF2-40B4-BE49-F238E27FC236}">
                <a16:creationId xmlns:a16="http://schemas.microsoft.com/office/drawing/2014/main" id="{E8D0D8B9-BF70-7B21-03AE-9EC30FE01DC3}"/>
              </a:ext>
            </a:extLst>
          </p:cNvPr>
          <p:cNvSpPr/>
          <p:nvPr/>
        </p:nvSpPr>
        <p:spPr>
          <a:xfrm>
            <a:off x="741005" y="1221475"/>
            <a:ext cx="5508407" cy="5136361"/>
          </a:xfrm>
          <a:prstGeom prst="roundRect">
            <a:avLst>
              <a:gd name="adj" fmla="val 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b"/>
          <a:lstStyle/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b="1" dirty="0">
                <a:solidFill>
                  <a:schemeClr val="tx1"/>
                </a:solidFill>
              </a:rPr>
              <a:t>公共数据可信数据空间（政府监管）</a:t>
            </a:r>
            <a:endParaRPr lang="en-US" altLang="zh-CN" sz="1600" b="1" dirty="0">
              <a:solidFill>
                <a:schemeClr val="tx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4695880-7F0C-894E-5A02-BD47F317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商业模式：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硬件部署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到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数据运营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再到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金融赋能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"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</a:rPr>
              <a:t>的完整闭环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4652CA9-73D4-EA04-DE64-808815C82A8C}"/>
              </a:ext>
            </a:extLst>
          </p:cNvPr>
          <p:cNvGrpSpPr/>
          <p:nvPr/>
        </p:nvGrpSpPr>
        <p:grpSpPr>
          <a:xfrm>
            <a:off x="746691" y="1333617"/>
            <a:ext cx="5502723" cy="4575860"/>
            <a:chOff x="3302582" y="2376674"/>
            <a:chExt cx="5752707" cy="4009389"/>
          </a:xfrm>
        </p:grpSpPr>
        <p:graphicFrame>
          <p:nvGraphicFramePr>
            <p:cNvPr id="4" name="图示 3">
              <a:extLst>
                <a:ext uri="{FF2B5EF4-FFF2-40B4-BE49-F238E27FC236}">
                  <a16:creationId xmlns:a16="http://schemas.microsoft.com/office/drawing/2014/main" id="{65AD6C9E-A7D3-5E68-CB1B-CFDB230531D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4876118"/>
                </p:ext>
              </p:extLst>
            </p:nvPr>
          </p:nvGraphicFramePr>
          <p:xfrm>
            <a:off x="3302582" y="2376674"/>
            <a:ext cx="5752707" cy="400938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D310AEEA-F726-ADCE-28C1-89EAF36536FE}"/>
                </a:ext>
              </a:extLst>
            </p:cNvPr>
            <p:cNvSpPr/>
            <p:nvPr/>
          </p:nvSpPr>
          <p:spPr>
            <a:xfrm>
              <a:off x="5622683" y="3970267"/>
              <a:ext cx="955940" cy="801201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txBody>
            <a:bodyPr spcFirstLastPara="0" vert="horz" wrap="square" lIns="13970" tIns="13970" rIns="13970" bIns="13970" numCol="1" spcCol="1270" anchor="ctr" anchorCtr="0">
              <a:no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国有</a:t>
              </a:r>
              <a:endParaRPr lang="en-US" altLang="zh-CN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资产</a:t>
              </a:r>
              <a:endParaRPr lang="en-US" altLang="zh-CN" sz="1600" b="1" dirty="0">
                <a:solidFill>
                  <a:schemeClr val="bg1"/>
                </a:solidFill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</a:rPr>
                <a:t>价值</a:t>
              </a:r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C84F942-58E0-F151-C24F-8A2B0D3DD7C3}"/>
              </a:ext>
            </a:extLst>
          </p:cNvPr>
          <p:cNvCxnSpPr>
            <a:cxnSpLocks/>
            <a:stCxn id="36" idx="2"/>
            <a:endCxn id="26" idx="0"/>
          </p:cNvCxnSpPr>
          <p:nvPr/>
        </p:nvCxnSpPr>
        <p:spPr>
          <a:xfrm flipH="1">
            <a:off x="6770757" y="3156716"/>
            <a:ext cx="1" cy="146657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425AC96-EF96-FBF9-E4F4-63287266D5EE}"/>
              </a:ext>
            </a:extLst>
          </p:cNvPr>
          <p:cNvSpPr/>
          <p:nvPr/>
        </p:nvSpPr>
        <p:spPr>
          <a:xfrm>
            <a:off x="6313557" y="4623290"/>
            <a:ext cx="914400" cy="457200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7" name="矩形: 圆角 4">
            <a:extLst>
              <a:ext uri="{FF2B5EF4-FFF2-40B4-BE49-F238E27FC236}">
                <a16:creationId xmlns:a16="http://schemas.microsoft.com/office/drawing/2014/main" id="{61780950-B4C5-9C35-60B4-E9A0CC8C0C46}"/>
              </a:ext>
            </a:extLst>
          </p:cNvPr>
          <p:cNvSpPr txBox="1"/>
          <p:nvPr/>
        </p:nvSpPr>
        <p:spPr>
          <a:xfrm>
            <a:off x="6342571" y="4667971"/>
            <a:ext cx="856372" cy="412563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更低价格</a:t>
            </a:r>
            <a:endParaRPr lang="en-US" altLang="zh-CN" sz="1400" b="1" kern="1200" dirty="0">
              <a:solidFill>
                <a:schemeClr val="tx1"/>
              </a:solidFill>
            </a:endParaRPr>
          </a:p>
        </p:txBody>
      </p:sp>
      <p:cxnSp>
        <p:nvCxnSpPr>
          <p:cNvPr id="32" name="直接箭头连接符 23">
            <a:extLst>
              <a:ext uri="{FF2B5EF4-FFF2-40B4-BE49-F238E27FC236}">
                <a16:creationId xmlns:a16="http://schemas.microsoft.com/office/drawing/2014/main" id="{D51E4DC1-E784-C954-0D73-2AF88F33A937}"/>
              </a:ext>
            </a:extLst>
          </p:cNvPr>
          <p:cNvCxnSpPr>
            <a:cxnSpLocks/>
            <a:stCxn id="5" idx="7"/>
          </p:cNvCxnSpPr>
          <p:nvPr/>
        </p:nvCxnSpPr>
        <p:spPr>
          <a:xfrm rot="5400000" flipH="1" flipV="1">
            <a:off x="4818859" y="1855718"/>
            <a:ext cx="358158" cy="2502955"/>
          </a:xfrm>
          <a:prstGeom prst="curvedConnector2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4">
            <a:extLst>
              <a:ext uri="{FF2B5EF4-FFF2-40B4-BE49-F238E27FC236}">
                <a16:creationId xmlns:a16="http://schemas.microsoft.com/office/drawing/2014/main" id="{64A32792-4769-668E-CCB4-9702CBA997F2}"/>
              </a:ext>
            </a:extLst>
          </p:cNvPr>
          <p:cNvSpPr txBox="1"/>
          <p:nvPr/>
        </p:nvSpPr>
        <p:spPr>
          <a:xfrm>
            <a:off x="6091642" y="2699516"/>
            <a:ext cx="1358231" cy="457200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CN" sz="1400" b="1" dirty="0">
                <a:solidFill>
                  <a:schemeClr val="tx1"/>
                </a:solidFill>
              </a:rPr>
              <a:t>01 </a:t>
            </a:r>
            <a:r>
              <a:rPr lang="zh-CN" altLang="en-US" sz="1400" b="1" kern="1200" dirty="0">
                <a:solidFill>
                  <a:schemeClr val="tx1"/>
                </a:solidFill>
              </a:rPr>
              <a:t>更低成本</a:t>
            </a:r>
            <a:endParaRPr lang="en-US" altLang="zh-CN" sz="1400" b="1" kern="1200" dirty="0">
              <a:solidFill>
                <a:schemeClr val="tx1"/>
              </a:solidFill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</a:pPr>
            <a:r>
              <a:rPr lang="zh-CN" altLang="en-US" sz="1200" dirty="0">
                <a:solidFill>
                  <a:schemeClr val="tx1"/>
                </a:solidFill>
              </a:rPr>
              <a:t>（硬件产品）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23">
            <a:extLst>
              <a:ext uri="{FF2B5EF4-FFF2-40B4-BE49-F238E27FC236}">
                <a16:creationId xmlns:a16="http://schemas.microsoft.com/office/drawing/2014/main" id="{58D035F8-72A5-8174-419F-499D04E8D9C8}"/>
              </a:ext>
            </a:extLst>
          </p:cNvPr>
          <p:cNvCxnSpPr>
            <a:cxnSpLocks/>
            <a:stCxn id="26" idx="2"/>
            <a:endCxn id="4" idx="2"/>
          </p:cNvCxnSpPr>
          <p:nvPr/>
        </p:nvCxnSpPr>
        <p:spPr>
          <a:xfrm rot="5400000">
            <a:off x="4719912" y="3858631"/>
            <a:ext cx="828987" cy="3272705"/>
          </a:xfrm>
          <a:prstGeom prst="curvedConnector3">
            <a:avLst>
              <a:gd name="adj1" fmla="val 115229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23">
            <a:extLst>
              <a:ext uri="{FF2B5EF4-FFF2-40B4-BE49-F238E27FC236}">
                <a16:creationId xmlns:a16="http://schemas.microsoft.com/office/drawing/2014/main" id="{4D292556-A9E6-0D54-AFCA-68D1AB4642A0}"/>
              </a:ext>
            </a:extLst>
          </p:cNvPr>
          <p:cNvCxnSpPr>
            <a:cxnSpLocks/>
            <a:stCxn id="68" idx="2"/>
            <a:endCxn id="63" idx="0"/>
          </p:cNvCxnSpPr>
          <p:nvPr/>
        </p:nvCxnSpPr>
        <p:spPr>
          <a:xfrm>
            <a:off x="7952803" y="2626085"/>
            <a:ext cx="0" cy="2041886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: 圆角 4">
            <a:extLst>
              <a:ext uri="{FF2B5EF4-FFF2-40B4-BE49-F238E27FC236}">
                <a16:creationId xmlns:a16="http://schemas.microsoft.com/office/drawing/2014/main" id="{77073108-F93A-E5FB-6BE7-7A2EF9224A72}"/>
              </a:ext>
            </a:extLst>
          </p:cNvPr>
          <p:cNvSpPr txBox="1"/>
          <p:nvPr/>
        </p:nvSpPr>
        <p:spPr>
          <a:xfrm>
            <a:off x="7332029" y="4667971"/>
            <a:ext cx="1241547" cy="412563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联合运营</a:t>
            </a:r>
            <a:endParaRPr lang="en-US" altLang="zh-CN" sz="1400" b="1" kern="1200" dirty="0">
              <a:solidFill>
                <a:schemeClr val="tx1"/>
              </a:solidFill>
            </a:endParaRPr>
          </a:p>
        </p:txBody>
      </p:sp>
      <p:cxnSp>
        <p:nvCxnSpPr>
          <p:cNvPr id="64" name="直接箭头连接符 23">
            <a:extLst>
              <a:ext uri="{FF2B5EF4-FFF2-40B4-BE49-F238E27FC236}">
                <a16:creationId xmlns:a16="http://schemas.microsoft.com/office/drawing/2014/main" id="{9EA45279-75F3-6B5A-C84D-ABCC822D1D04}"/>
              </a:ext>
            </a:extLst>
          </p:cNvPr>
          <p:cNvCxnSpPr>
            <a:cxnSpLocks/>
            <a:stCxn id="5" idx="7"/>
            <a:endCxn id="68" idx="1"/>
          </p:cNvCxnSpPr>
          <p:nvPr/>
        </p:nvCxnSpPr>
        <p:spPr>
          <a:xfrm rot="5400000" flipH="1" flipV="1">
            <a:off x="4956840" y="1230321"/>
            <a:ext cx="845575" cy="3266333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: 圆角 4">
            <a:extLst>
              <a:ext uri="{FF2B5EF4-FFF2-40B4-BE49-F238E27FC236}">
                <a16:creationId xmlns:a16="http://schemas.microsoft.com/office/drawing/2014/main" id="{AFFCC813-F3A2-4FA7-EFB7-D66BA47CA25B}"/>
              </a:ext>
            </a:extLst>
          </p:cNvPr>
          <p:cNvSpPr txBox="1"/>
          <p:nvPr/>
        </p:nvSpPr>
        <p:spPr>
          <a:xfrm>
            <a:off x="7012794" y="2255313"/>
            <a:ext cx="1880017" cy="370772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lvl="0" indent="0" algn="ctr" defTabSz="622300">
              <a:spcBef>
                <a:spcPct val="0"/>
              </a:spcBef>
              <a:buNone/>
            </a:pPr>
            <a:r>
              <a:rPr lang="en-US" altLang="zh-CN" sz="1400" b="1" kern="1200" dirty="0">
                <a:solidFill>
                  <a:schemeClr val="tx1"/>
                </a:solidFill>
              </a:rPr>
              <a:t>02 </a:t>
            </a:r>
            <a:r>
              <a:rPr lang="zh-CN" altLang="en-US" sz="1400" b="1" kern="1200" dirty="0">
                <a:solidFill>
                  <a:schemeClr val="tx1"/>
                </a:solidFill>
              </a:rPr>
              <a:t>生态资源</a:t>
            </a:r>
            <a:endParaRPr lang="en-US" altLang="zh-CN" sz="1400" b="1" kern="1200" dirty="0">
              <a:solidFill>
                <a:schemeClr val="tx1"/>
              </a:solidFill>
            </a:endParaRPr>
          </a:p>
          <a:p>
            <a:pPr marL="0" lvl="0" indent="0" algn="ctr" defTabSz="622300">
              <a:spcBef>
                <a:spcPct val="0"/>
              </a:spcBef>
              <a:buNone/>
            </a:pPr>
            <a:r>
              <a:rPr lang="zh-CN" altLang="en-US" sz="1200" dirty="0">
                <a:solidFill>
                  <a:schemeClr val="tx1"/>
                </a:solidFill>
              </a:rPr>
              <a:t>（数据服务产品）</a:t>
            </a:r>
            <a:endParaRPr lang="en-US" altLang="zh-CN" sz="1200" kern="1200" dirty="0">
              <a:solidFill>
                <a:schemeClr val="tx1"/>
              </a:solidFill>
            </a:endParaRPr>
          </a:p>
        </p:txBody>
      </p:sp>
      <p:cxnSp>
        <p:nvCxnSpPr>
          <p:cNvPr id="69" name="直接箭头连接符 23">
            <a:extLst>
              <a:ext uri="{FF2B5EF4-FFF2-40B4-BE49-F238E27FC236}">
                <a16:creationId xmlns:a16="http://schemas.microsoft.com/office/drawing/2014/main" id="{872546C7-B135-DDD0-F359-6633B609F036}"/>
              </a:ext>
            </a:extLst>
          </p:cNvPr>
          <p:cNvCxnSpPr>
            <a:cxnSpLocks/>
            <a:stCxn id="63" idx="2"/>
            <a:endCxn id="4" idx="2"/>
          </p:cNvCxnSpPr>
          <p:nvPr/>
        </p:nvCxnSpPr>
        <p:spPr>
          <a:xfrm rot="5400000">
            <a:off x="5310957" y="3267630"/>
            <a:ext cx="828943" cy="4454751"/>
          </a:xfrm>
          <a:prstGeom prst="curvedConnector3">
            <a:avLst>
              <a:gd name="adj1" fmla="val 127577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23">
            <a:extLst>
              <a:ext uri="{FF2B5EF4-FFF2-40B4-BE49-F238E27FC236}">
                <a16:creationId xmlns:a16="http://schemas.microsoft.com/office/drawing/2014/main" id="{15E24734-4517-BF1F-B6B5-C496F0BE0485}"/>
              </a:ext>
            </a:extLst>
          </p:cNvPr>
          <p:cNvCxnSpPr>
            <a:cxnSpLocks/>
            <a:stCxn id="5" idx="7"/>
            <a:endCxn id="109" idx="1"/>
          </p:cNvCxnSpPr>
          <p:nvPr/>
        </p:nvCxnSpPr>
        <p:spPr>
          <a:xfrm rot="5400000" flipH="1" flipV="1">
            <a:off x="5277918" y="354879"/>
            <a:ext cx="1399939" cy="4462852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: 圆角 4">
            <a:extLst>
              <a:ext uri="{FF2B5EF4-FFF2-40B4-BE49-F238E27FC236}">
                <a16:creationId xmlns:a16="http://schemas.microsoft.com/office/drawing/2014/main" id="{7A07C8C3-AAE5-AE61-C8FE-6F6FE172C515}"/>
              </a:ext>
            </a:extLst>
          </p:cNvPr>
          <p:cNvSpPr txBox="1"/>
          <p:nvPr/>
        </p:nvSpPr>
        <p:spPr>
          <a:xfrm>
            <a:off x="8209313" y="1657734"/>
            <a:ext cx="1851493" cy="457201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>
            <a:defPPr>
              <a:defRPr lang="en-US"/>
            </a:defPPr>
            <a:lvl1pPr lvl="0" indent="0" algn="ctr" defTabSz="622300">
              <a:lnSpc>
                <a:spcPct val="90000"/>
              </a:lnSpc>
              <a:spcBef>
                <a:spcPct val="0"/>
              </a:spcBef>
              <a:buNone/>
              <a:defRPr sz="1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dirty="0"/>
              <a:t>03 </a:t>
            </a:r>
            <a:r>
              <a:rPr lang="zh-CN" altLang="en-US" dirty="0"/>
              <a:t>结构安全风控平台</a:t>
            </a:r>
            <a:endParaRPr lang="en-US" altLang="zh-CN" dirty="0"/>
          </a:p>
          <a:p>
            <a:r>
              <a:rPr lang="zh-CN" altLang="en-US" sz="1200" b="0" dirty="0"/>
              <a:t>（数据金融产品）</a:t>
            </a:r>
            <a:endParaRPr lang="en-US" altLang="zh-CN" sz="1200" b="0" dirty="0"/>
          </a:p>
        </p:txBody>
      </p:sp>
      <p:sp>
        <p:nvSpPr>
          <p:cNvPr id="110" name="矩形: 圆角 4">
            <a:extLst>
              <a:ext uri="{FF2B5EF4-FFF2-40B4-BE49-F238E27FC236}">
                <a16:creationId xmlns:a16="http://schemas.microsoft.com/office/drawing/2014/main" id="{C5DA8DED-ADD0-2877-8A08-49DC88DD90B5}"/>
              </a:ext>
            </a:extLst>
          </p:cNvPr>
          <p:cNvSpPr txBox="1"/>
          <p:nvPr/>
        </p:nvSpPr>
        <p:spPr>
          <a:xfrm>
            <a:off x="9642142" y="1149369"/>
            <a:ext cx="1880017" cy="370772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>
            <a:defPPr>
              <a:defRPr lang="en-US"/>
            </a:defPPr>
            <a:lvl1pPr lvl="0" indent="0" algn="ctr" defTabSz="622300">
              <a:lnSpc>
                <a:spcPct val="90000"/>
              </a:lnSpc>
              <a:spcBef>
                <a:spcPct val="0"/>
              </a:spcBef>
              <a:buNone/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04 </a:t>
            </a:r>
            <a:r>
              <a:rPr lang="zh-CN" altLang="en-US" dirty="0"/>
              <a:t>资产支持证劵</a:t>
            </a:r>
            <a:endParaRPr lang="en-US" altLang="zh-CN" dirty="0"/>
          </a:p>
        </p:txBody>
      </p:sp>
      <p:cxnSp>
        <p:nvCxnSpPr>
          <p:cNvPr id="113" name="直接箭头连接符 23">
            <a:extLst>
              <a:ext uri="{FF2B5EF4-FFF2-40B4-BE49-F238E27FC236}">
                <a16:creationId xmlns:a16="http://schemas.microsoft.com/office/drawing/2014/main" id="{8D3EAAA2-F9CF-9561-ABCF-2CB080618C73}"/>
              </a:ext>
            </a:extLst>
          </p:cNvPr>
          <p:cNvCxnSpPr>
            <a:cxnSpLocks/>
            <a:stCxn id="5" idx="7"/>
            <a:endCxn id="110" idx="1"/>
          </p:cNvCxnSpPr>
          <p:nvPr/>
        </p:nvCxnSpPr>
        <p:spPr>
          <a:xfrm rot="5400000" flipH="1" flipV="1">
            <a:off x="5718542" y="-637325"/>
            <a:ext cx="1951519" cy="5895681"/>
          </a:xfrm>
          <a:prstGeom prst="curvedConnector2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23">
            <a:extLst>
              <a:ext uri="{FF2B5EF4-FFF2-40B4-BE49-F238E27FC236}">
                <a16:creationId xmlns:a16="http://schemas.microsoft.com/office/drawing/2014/main" id="{29194BD0-E65D-2852-CE03-21CD2743ABE0}"/>
              </a:ext>
            </a:extLst>
          </p:cNvPr>
          <p:cNvCxnSpPr>
            <a:cxnSpLocks/>
            <a:stCxn id="109" idx="2"/>
            <a:endCxn id="121" idx="0"/>
          </p:cNvCxnSpPr>
          <p:nvPr/>
        </p:nvCxnSpPr>
        <p:spPr>
          <a:xfrm>
            <a:off x="9135060" y="2114935"/>
            <a:ext cx="0" cy="2553036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矩形: 圆角 4">
            <a:extLst>
              <a:ext uri="{FF2B5EF4-FFF2-40B4-BE49-F238E27FC236}">
                <a16:creationId xmlns:a16="http://schemas.microsoft.com/office/drawing/2014/main" id="{322BBCA2-062C-837C-9F83-C7D22C6C6792}"/>
              </a:ext>
            </a:extLst>
          </p:cNvPr>
          <p:cNvSpPr txBox="1"/>
          <p:nvPr/>
        </p:nvSpPr>
        <p:spPr>
          <a:xfrm>
            <a:off x="8605185" y="4667971"/>
            <a:ext cx="1059749" cy="412563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zh-CN" altLang="en-US" sz="1400" b="1" dirty="0">
                <a:solidFill>
                  <a:schemeClr val="tx1"/>
                </a:solidFill>
              </a:rPr>
              <a:t>多方共赢</a:t>
            </a:r>
            <a:endParaRPr lang="en-US" altLang="zh-CN" sz="1400" b="1" kern="1200" dirty="0">
              <a:solidFill>
                <a:schemeClr val="tx1"/>
              </a:solidFill>
            </a:endParaRPr>
          </a:p>
        </p:txBody>
      </p:sp>
      <p:cxnSp>
        <p:nvCxnSpPr>
          <p:cNvPr id="122" name="直接箭头连接符 23">
            <a:extLst>
              <a:ext uri="{FF2B5EF4-FFF2-40B4-BE49-F238E27FC236}">
                <a16:creationId xmlns:a16="http://schemas.microsoft.com/office/drawing/2014/main" id="{4CEB59CE-D055-F0AF-6B05-30EE2AB5E9AE}"/>
              </a:ext>
            </a:extLst>
          </p:cNvPr>
          <p:cNvCxnSpPr>
            <a:cxnSpLocks/>
            <a:stCxn id="121" idx="2"/>
            <a:endCxn id="4" idx="2"/>
          </p:cNvCxnSpPr>
          <p:nvPr/>
        </p:nvCxnSpPr>
        <p:spPr>
          <a:xfrm rot="5400000">
            <a:off x="5902085" y="2676501"/>
            <a:ext cx="828943" cy="5637008"/>
          </a:xfrm>
          <a:prstGeom prst="curvedConnector3">
            <a:avLst>
              <a:gd name="adj1" fmla="val 135809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23">
            <a:extLst>
              <a:ext uri="{FF2B5EF4-FFF2-40B4-BE49-F238E27FC236}">
                <a16:creationId xmlns:a16="http://schemas.microsoft.com/office/drawing/2014/main" id="{BF612F37-D396-CA16-FF01-A85B364A108F}"/>
              </a:ext>
            </a:extLst>
          </p:cNvPr>
          <p:cNvCxnSpPr>
            <a:cxnSpLocks/>
            <a:stCxn id="110" idx="2"/>
            <a:endCxn id="129" idx="0"/>
          </p:cNvCxnSpPr>
          <p:nvPr/>
        </p:nvCxnSpPr>
        <p:spPr>
          <a:xfrm flipH="1">
            <a:off x="10582150" y="1520141"/>
            <a:ext cx="1" cy="3147830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矩形: 圆角 4">
            <a:extLst>
              <a:ext uri="{FF2B5EF4-FFF2-40B4-BE49-F238E27FC236}">
                <a16:creationId xmlns:a16="http://schemas.microsoft.com/office/drawing/2014/main" id="{F2E2638C-4C9C-F4A9-F3E8-F1D871BE1398}"/>
              </a:ext>
            </a:extLst>
          </p:cNvPr>
          <p:cNvSpPr txBox="1"/>
          <p:nvPr/>
        </p:nvSpPr>
        <p:spPr>
          <a:xfrm>
            <a:off x="9897708" y="4667971"/>
            <a:ext cx="1368884" cy="412563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3340" tIns="53340" rIns="53340" bIns="53340" numCol="1" spcCol="1270" anchor="ctr" anchorCtr="0">
            <a:no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400" b="1" dirty="0">
                <a:solidFill>
                  <a:schemeClr val="tx1"/>
                </a:solidFill>
              </a:rPr>
              <a:t>并购或推动</a:t>
            </a:r>
            <a:r>
              <a:rPr lang="en-US" altLang="zh-CN" sz="1400" b="1" dirty="0">
                <a:solidFill>
                  <a:schemeClr val="tx1"/>
                </a:solidFill>
              </a:rPr>
              <a:t>IPO</a:t>
            </a:r>
          </a:p>
        </p:txBody>
      </p:sp>
      <p:cxnSp>
        <p:nvCxnSpPr>
          <p:cNvPr id="130" name="直接箭头连接符 23">
            <a:extLst>
              <a:ext uri="{FF2B5EF4-FFF2-40B4-BE49-F238E27FC236}">
                <a16:creationId xmlns:a16="http://schemas.microsoft.com/office/drawing/2014/main" id="{CEA71394-8B74-57AE-2072-14191C75BE1F}"/>
              </a:ext>
            </a:extLst>
          </p:cNvPr>
          <p:cNvCxnSpPr>
            <a:cxnSpLocks/>
            <a:stCxn id="129" idx="2"/>
            <a:endCxn id="4" idx="2"/>
          </p:cNvCxnSpPr>
          <p:nvPr/>
        </p:nvCxnSpPr>
        <p:spPr>
          <a:xfrm rot="5400000">
            <a:off x="6625630" y="1952956"/>
            <a:ext cx="828943" cy="7084098"/>
          </a:xfrm>
          <a:prstGeom prst="curvedConnector3">
            <a:avLst>
              <a:gd name="adj1" fmla="val 150627"/>
            </a:avLst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2C797591-C020-E284-8301-34E5DB3E5082}"/>
              </a:ext>
            </a:extLst>
          </p:cNvPr>
          <p:cNvSpPr txBox="1"/>
          <p:nvPr/>
        </p:nvSpPr>
        <p:spPr>
          <a:xfrm>
            <a:off x="5368388" y="5108729"/>
            <a:ext cx="908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01 </a:t>
            </a:r>
            <a:r>
              <a:rPr lang="zh-CN" altLang="en-US" sz="1200" dirty="0"/>
              <a:t>客户：</a:t>
            </a:r>
            <a:endParaRPr lang="en-US" altLang="zh-CN" sz="1200" dirty="0"/>
          </a:p>
          <a:p>
            <a:pPr algn="ctr"/>
            <a:r>
              <a:rPr lang="zh-CN" altLang="en-US" sz="1200" dirty="0"/>
              <a:t>工程企业</a:t>
            </a:r>
            <a:endParaRPr lang="en-US" altLang="zh-CN" sz="1200" dirty="0"/>
          </a:p>
          <a:p>
            <a:pPr algn="ctr"/>
            <a:r>
              <a:rPr lang="zh-CN" altLang="en-US" sz="1200" dirty="0"/>
              <a:t>监理企业</a:t>
            </a:r>
            <a:endParaRPr lang="en-US" altLang="zh-CN" sz="1200" dirty="0"/>
          </a:p>
          <a:p>
            <a:pPr algn="ctr"/>
            <a:r>
              <a:rPr lang="zh-CN" altLang="en-US" sz="1200" dirty="0"/>
              <a:t>运营企业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68DFA6-3825-18D8-290A-955C01D863A1}"/>
              </a:ext>
            </a:extLst>
          </p:cNvPr>
          <p:cNvSpPr txBox="1"/>
          <p:nvPr/>
        </p:nvSpPr>
        <p:spPr>
          <a:xfrm>
            <a:off x="6742516" y="5108728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02 </a:t>
            </a:r>
            <a:r>
              <a:rPr lang="zh-CN" altLang="en-US" sz="1200" dirty="0"/>
              <a:t>客户：</a:t>
            </a:r>
            <a:endParaRPr lang="en-US" altLang="zh-CN" sz="1200" dirty="0"/>
          </a:p>
          <a:p>
            <a:pPr algn="ctr"/>
            <a:r>
              <a:rPr lang="zh-CN" altLang="en-US" sz="1200" dirty="0"/>
              <a:t>出行智驾</a:t>
            </a:r>
            <a:endParaRPr lang="en-US" altLang="zh-CN" sz="1200" dirty="0"/>
          </a:p>
          <a:p>
            <a:pPr algn="ctr"/>
            <a:r>
              <a:rPr lang="en-US" altLang="zh-CN" sz="1200" dirty="0"/>
              <a:t>AI</a:t>
            </a:r>
            <a:r>
              <a:rPr lang="zh-CN" altLang="en-US" sz="1200" dirty="0"/>
              <a:t>企业</a:t>
            </a:r>
            <a:endParaRPr lang="en-US" altLang="zh-CN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51470D-5A65-F60F-A4EF-B4B29F538390}"/>
              </a:ext>
            </a:extLst>
          </p:cNvPr>
          <p:cNvSpPr txBox="1"/>
          <p:nvPr/>
        </p:nvSpPr>
        <p:spPr>
          <a:xfrm>
            <a:off x="7792872" y="5108729"/>
            <a:ext cx="11161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03 </a:t>
            </a:r>
            <a:r>
              <a:rPr lang="zh-CN" altLang="en-US" sz="1200" dirty="0"/>
              <a:t>客户：</a:t>
            </a:r>
            <a:endParaRPr lang="en-US" altLang="zh-CN" sz="1200" dirty="0"/>
          </a:p>
          <a:p>
            <a:pPr algn="ctr"/>
            <a:r>
              <a:rPr lang="zh-CN" altLang="en-US" sz="1200" dirty="0"/>
              <a:t>财产保险企业</a:t>
            </a:r>
            <a:endParaRPr lang="en-US" altLang="zh-CN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D425FD-04CE-95D6-EF61-A247EB426164}"/>
              </a:ext>
            </a:extLst>
          </p:cNvPr>
          <p:cNvSpPr txBox="1"/>
          <p:nvPr/>
        </p:nvSpPr>
        <p:spPr>
          <a:xfrm>
            <a:off x="9559413" y="5077510"/>
            <a:ext cx="820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04 </a:t>
            </a:r>
            <a:r>
              <a:rPr lang="zh-CN" altLang="en-US" sz="1200" dirty="0"/>
              <a:t>客户</a:t>
            </a:r>
            <a:endParaRPr lang="en-US" altLang="zh-CN" sz="1200" dirty="0"/>
          </a:p>
          <a:p>
            <a:pPr algn="ctr"/>
            <a:r>
              <a:rPr lang="zh-CN" altLang="en-US" sz="1200" dirty="0"/>
              <a:t>交投科技</a:t>
            </a:r>
            <a:endParaRPr lang="en-US" altLang="zh-CN" sz="1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D31FEB6-2F30-CF1D-FCD9-1BD0BCFEB6EA}"/>
              </a:ext>
            </a:extLst>
          </p:cNvPr>
          <p:cNvSpPr txBox="1"/>
          <p:nvPr/>
        </p:nvSpPr>
        <p:spPr>
          <a:xfrm>
            <a:off x="6208152" y="3156735"/>
            <a:ext cx="112521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50" dirty="0"/>
              <a:t>2024</a:t>
            </a:r>
            <a:r>
              <a:rPr lang="zh-CN" altLang="en-US" sz="1050" dirty="0"/>
              <a:t>年标杆：</a:t>
            </a:r>
            <a:endParaRPr lang="en-US" altLang="zh-CN" sz="1050" dirty="0"/>
          </a:p>
          <a:p>
            <a:pPr algn="ctr"/>
            <a:r>
              <a:rPr lang="zh-CN" altLang="en-US" sz="1050" dirty="0"/>
              <a:t>花江峡谷大桥</a:t>
            </a:r>
            <a:endParaRPr lang="en-US" altLang="zh-CN" sz="1050" dirty="0"/>
          </a:p>
          <a:p>
            <a:pPr algn="ctr"/>
            <a:r>
              <a:rPr lang="zh-CN" altLang="en-US" sz="1050" dirty="0"/>
              <a:t>智慧缆索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248D0D-CA75-F89D-BB04-E5D54966E9B9}"/>
              </a:ext>
            </a:extLst>
          </p:cNvPr>
          <p:cNvSpPr txBox="1"/>
          <p:nvPr/>
        </p:nvSpPr>
        <p:spPr>
          <a:xfrm>
            <a:off x="7292099" y="3460928"/>
            <a:ext cx="119725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/>
              <a:t>2025</a:t>
            </a:r>
            <a:r>
              <a:rPr lang="zh-CN" altLang="en-US" sz="1100" dirty="0"/>
              <a:t>年标杆：</a:t>
            </a:r>
            <a:endParaRPr lang="en-US" altLang="zh-CN" sz="1100" dirty="0"/>
          </a:p>
          <a:p>
            <a:pPr algn="ctr"/>
            <a:r>
              <a:rPr lang="zh-CN" altLang="en-US" sz="1100" dirty="0"/>
              <a:t>中冶交通</a:t>
            </a:r>
            <a:endParaRPr lang="en-US" altLang="zh-CN" sz="1100" dirty="0"/>
          </a:p>
          <a:p>
            <a:pPr algn="ctr"/>
            <a:r>
              <a:rPr lang="zh-CN" altLang="en-US" sz="1100" dirty="0"/>
              <a:t>“空地深”融合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F904D3-E916-9786-EAB5-E189C0E423AF}"/>
              </a:ext>
            </a:extLst>
          </p:cNvPr>
          <p:cNvSpPr txBox="1"/>
          <p:nvPr/>
        </p:nvSpPr>
        <p:spPr>
          <a:xfrm>
            <a:off x="8539690" y="3955327"/>
            <a:ext cx="11972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/>
              <a:t>2026</a:t>
            </a:r>
            <a:r>
              <a:rPr lang="zh-CN" altLang="en-US" sz="1100" dirty="0"/>
              <a:t>年标杆：</a:t>
            </a:r>
            <a:endParaRPr lang="en-US" altLang="zh-CN" sz="1100" dirty="0"/>
          </a:p>
          <a:p>
            <a:pPr algn="ctr"/>
            <a:r>
              <a:rPr lang="zh-CN" altLang="en-US" sz="1100" dirty="0"/>
              <a:t>湖北应急安责险</a:t>
            </a:r>
            <a:endParaRPr lang="en-US" altLang="zh-CN" sz="11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798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73616-A535-FC8F-7888-9B084CAE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22676-5267-1A29-0AAD-B6632D44B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altLang="zh-CN" dirty="0">
                <a:sym typeface="微软雅黑" panose="020B0503020204020204" charset="-122"/>
              </a:rPr>
              <a:t>2024</a:t>
            </a:r>
            <a:r>
              <a:rPr lang="zh-CN" altLang="en-US" dirty="0">
                <a:sym typeface="微软雅黑" panose="020B0503020204020204" charset="-122"/>
              </a:rPr>
              <a:t>年标杆项目：世界第一高桥花江峡谷大桥智慧缆索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A355DB-A1CC-7D4D-57E5-0565E8E8F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22" y="3140471"/>
            <a:ext cx="6303810" cy="37175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76031DC-7C2D-1CDD-BDD7-7DE0FC93EA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232" t="9679" r="14097" b="9313"/>
          <a:stretch>
            <a:fillRect/>
          </a:stretch>
        </p:blipFill>
        <p:spPr>
          <a:xfrm>
            <a:off x="7487139" y="910612"/>
            <a:ext cx="4034937" cy="59473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80D16A0-EA21-606D-5ACD-64F64F210E50}"/>
              </a:ext>
            </a:extLst>
          </p:cNvPr>
          <p:cNvSpPr txBox="1"/>
          <p:nvPr/>
        </p:nvSpPr>
        <p:spPr>
          <a:xfrm>
            <a:off x="669923" y="832146"/>
            <a:ext cx="63038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世界第一高桥</a:t>
            </a:r>
            <a:r>
              <a:rPr lang="zh-CN" altLang="en-US" sz="1600" dirty="0"/>
              <a:t>，跨度与高度均创纪录全球首创超长（</a:t>
            </a:r>
            <a:r>
              <a:rPr lang="en-US" altLang="zh-CN" sz="1600" dirty="0"/>
              <a:t>2400</a:t>
            </a:r>
            <a:r>
              <a:rPr lang="zh-CN" altLang="en-US" sz="1600" dirty="0"/>
              <a:t>米）缆索通长分布式应变网络化监测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实现温度、湿度、应变</a:t>
            </a:r>
            <a:r>
              <a:rPr lang="zh-CN" altLang="en-US" sz="1600" b="1" dirty="0"/>
              <a:t>多参数实时感知</a:t>
            </a:r>
            <a:r>
              <a:rPr lang="zh-CN" altLang="en-US" sz="1600" dirty="0"/>
              <a:t>（精度：温度</a:t>
            </a:r>
            <a:r>
              <a:rPr lang="en-US" altLang="zh-CN" sz="1600" dirty="0"/>
              <a:t>1℃</a:t>
            </a:r>
            <a:r>
              <a:rPr lang="zh-CN" altLang="en-US" sz="1600" dirty="0"/>
              <a:t>、湿度</a:t>
            </a:r>
            <a:r>
              <a:rPr lang="en-US" altLang="zh-CN" sz="1600" dirty="0"/>
              <a:t>5%</a:t>
            </a:r>
            <a:r>
              <a:rPr lang="zh-CN" altLang="en-US" sz="1600" dirty="0"/>
              <a:t>、应变</a:t>
            </a:r>
            <a:r>
              <a:rPr lang="en-US" altLang="zh-CN" sz="1600" dirty="0"/>
              <a:t>0.5%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攻克工程难题</a:t>
            </a:r>
            <a:endParaRPr lang="en-US" altLang="zh-CN" sz="1600" b="1" dirty="0"/>
          </a:p>
          <a:p>
            <a:pPr marL="952500" lvl="1" indent="-342900">
              <a:buFont typeface="+mj-ea"/>
              <a:buAutoNum type="circleNumDbPlain"/>
            </a:pPr>
            <a:r>
              <a:rPr lang="zh-CN" altLang="en-US" sz="1600" dirty="0"/>
              <a:t>光纤引出与长距离信号传输</a:t>
            </a:r>
            <a:endParaRPr lang="en-US" altLang="zh-CN" sz="1600" dirty="0"/>
          </a:p>
          <a:p>
            <a:pPr marL="952500" lvl="1" indent="-342900">
              <a:buFont typeface="+mj-ea"/>
              <a:buAutoNum type="circleNumDbPlain"/>
            </a:pPr>
            <a:r>
              <a:rPr lang="zh-CN" altLang="en-US" sz="1600" dirty="0"/>
              <a:t>索股编丝制造、运输、现场安装的完整性</a:t>
            </a:r>
            <a:endParaRPr lang="en-US" altLang="zh-CN" sz="1600" dirty="0"/>
          </a:p>
          <a:p>
            <a:pPr marL="952500" lvl="1" indent="-342900">
              <a:buFont typeface="+mj-ea"/>
              <a:buAutoNum type="circleNumDbPlain"/>
            </a:pPr>
            <a:r>
              <a:rPr lang="zh-CN" altLang="en-US" sz="1600" dirty="0"/>
              <a:t>保障传感器与结构同寿命设计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显著提升全寿命周期安全管理能力，成为</a:t>
            </a:r>
            <a:r>
              <a:rPr lang="zh-CN" altLang="en-US" sz="1600" b="1" dirty="0"/>
              <a:t>智慧缆索示范工程</a:t>
            </a:r>
            <a:r>
              <a:rPr lang="zh-CN" altLang="en-US" sz="1600" dirty="0"/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2780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9CA11-A74C-7BC9-1EE1-C59A26501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结构安全风控平台原型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AF46F4F-2EEE-EB5F-D6BE-0EBF4EDCE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999622"/>
              </p:ext>
            </p:extLst>
          </p:nvPr>
        </p:nvGraphicFramePr>
        <p:xfrm>
          <a:off x="576072" y="988297"/>
          <a:ext cx="10944321" cy="52695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6089">
                  <a:extLst>
                    <a:ext uri="{9D8B030D-6E8A-4147-A177-3AD203B41FA5}">
                      <a16:colId xmlns:a16="http://schemas.microsoft.com/office/drawing/2014/main" val="3391140132"/>
                    </a:ext>
                  </a:extLst>
                </a:gridCol>
                <a:gridCol w="3350526">
                  <a:extLst>
                    <a:ext uri="{9D8B030D-6E8A-4147-A177-3AD203B41FA5}">
                      <a16:colId xmlns:a16="http://schemas.microsoft.com/office/drawing/2014/main" val="1589506234"/>
                    </a:ext>
                  </a:extLst>
                </a:gridCol>
                <a:gridCol w="5037706">
                  <a:extLst>
                    <a:ext uri="{9D8B030D-6E8A-4147-A177-3AD203B41FA5}">
                      <a16:colId xmlns:a16="http://schemas.microsoft.com/office/drawing/2014/main" val="2807402948"/>
                    </a:ext>
                  </a:extLst>
                </a:gridCol>
              </a:tblGrid>
              <a:tr h="636571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目标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打造“安全数据”的“一级市场”，让风险可见、可管、可交易，最终实现公共安全与产业经济的双轮驱动</a:t>
                      </a:r>
                      <a:endParaRPr lang="en-US" altLang="zh-CN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逻辑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400" dirty="0"/>
                        <a:t>1️⃣ </a:t>
                      </a:r>
                      <a:r>
                        <a:rPr lang="zh-CN" altLang="en-US" sz="1400" dirty="0"/>
                        <a:t>从“监测联网”→向“数据上车与确权”</a:t>
                      </a:r>
                      <a:r>
                        <a:rPr lang="en-US" altLang="zh-CN" sz="1400" dirty="0"/>
                        <a:t>2️⃣ </a:t>
                      </a:r>
                      <a:r>
                        <a:rPr lang="zh-CN" altLang="en-US" sz="1400" dirty="0"/>
                        <a:t>从“风险管控”→ 向“风险金融化”</a:t>
                      </a:r>
                      <a:r>
                        <a:rPr lang="en-US" altLang="zh-CN" sz="1400" dirty="0"/>
                        <a:t>3️⃣ </a:t>
                      </a:r>
                      <a:r>
                        <a:rPr lang="zh-CN" altLang="en-US" sz="1400" dirty="0"/>
                        <a:t>从“安全成本”→ 向“安全价值流通”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853676"/>
                  </a:ext>
                </a:extLst>
              </a:tr>
              <a:tr h="293802">
                <a:tc gridSpan="3">
                  <a:txBody>
                    <a:bodyPr/>
                    <a:lstStyle/>
                    <a:p>
                      <a:r>
                        <a:rPr lang="zh-CN" altLang="en-US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用户</a:t>
                      </a:r>
                      <a:r>
                        <a:rPr lang="zh-CN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黔通智联（下拉选择：</a:t>
                      </a:r>
                      <a:r>
                        <a:rPr lang="zh-CN" altLang="en-US" sz="1400" dirty="0"/>
                        <a:t>运营 </a:t>
                      </a:r>
                      <a:r>
                        <a:rPr lang="en-US" altLang="zh-CN" sz="1400" dirty="0"/>
                        <a:t>/ </a:t>
                      </a:r>
                      <a:r>
                        <a:rPr lang="zh-CN" altLang="en-US" sz="1400" dirty="0"/>
                        <a:t>科研 </a:t>
                      </a:r>
                      <a:r>
                        <a:rPr lang="en-US" altLang="zh-CN" sz="1400" dirty="0"/>
                        <a:t>/ </a:t>
                      </a:r>
                      <a:r>
                        <a:rPr lang="zh-CN" altLang="en-US" sz="1400" dirty="0"/>
                        <a:t>保险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zh-CN" altLang="en-US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4988378"/>
                  </a:ext>
                </a:extLst>
              </a:tr>
              <a:tr h="39908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数据资产舱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数据汇聚总览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接入工程总数：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8,742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| 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在线传感器：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125,831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n"/>
                      </a:pP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7x24h 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数据流入：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4.5TB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核心数据产品出口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2" indent="-285750" algn="l" defTabSz="914400" rtl="0" eaLnBrk="1" latinLnBrk="0" hangingPunct="1"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产品框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：基础健康指数月报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2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状态：本月报告已生成</a:t>
                      </a:r>
                    </a:p>
                    <a:p>
                      <a:pPr marL="285750" lvl="2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订阅客户： 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285 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家 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链接至样本报告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85750" lvl="2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作用： 资产健康基线、运维决策依据</a:t>
                      </a:r>
                      <a:endParaRPr lang="en-US" altLang="zh-CN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2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资产确权看板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2" indent="-285750" algn="l" defTabSz="914400" rtl="0" eaLnBrk="1" latinLnBrk="0" hangingPunct="1"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已确权数据资产包：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187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个 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包含“健康月报”原始数据包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风险透视舱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全局风险态势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环形图，数据来源于“健康月报”的聚合分析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核心数据产品出口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产品框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：灾变应急服务包 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含风险评估数据包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2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状态：实时监测中</a:t>
                      </a:r>
                    </a:p>
                    <a:p>
                      <a:pPr marL="285750" lvl="2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激活客户： 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 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家 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如：省级交通厅、铁路集团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285750" lvl="2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核心交付物： 高风险专项评估报告、应急指挥数据看板</a:t>
                      </a:r>
                    </a:p>
                    <a:p>
                      <a:endParaRPr lang="en-US" altLang="zh-CN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风险金融化链路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流程图强调：基础健康数据 → 风险评估数据包 → 保险定价模型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价值流通舱</a:t>
                      </a:r>
                      <a:endParaRPr lang="en-US" altLang="zh-C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zh-CN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价值分配图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环形图，新增“数据产品销售收入”来源</a:t>
                      </a:r>
                      <a:endParaRPr lang="en-US" altLang="zh-CN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l" defTabSz="914400" rtl="0" eaLnBrk="1" latinLnBrk="0" hangingPunct="1">
                        <a:buFont typeface="Wingdings" panose="05000000000000000000" pitchFamily="2" charset="2"/>
                        <a:buNone/>
                      </a:pP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实时流通看板</a:t>
                      </a:r>
                      <a:endParaRPr lang="zh-CN" alt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信息流更新为与数据产品相关的动态：</a:t>
                      </a: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广东省交通集团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续费订购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基础健康指数月报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年度服务，用于全省路网养护预算编制。</a:t>
                      </a: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某保险公司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采购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风险评估数据包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用于巨灾模型校准，精准定价基础设施保险衍生品。</a:t>
                      </a: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高德地图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正式接入平台道路结构健康实时数据，用于其货车导航与高危路段预警功能。</a:t>
                      </a: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蔚来汽车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采购桥梁挠度实时数据流，用于增强其智驾系统在特殊桥梁场景下的通过性决策。</a:t>
                      </a: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浙江省公路局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触发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灭变应急服务包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协议，平台正为台风“山猫”过境提供结构安全实时指挥看板。</a:t>
                      </a: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百度智驾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就长期购买“路面平整度”数据产品与平台达成战略合作，以优化自动驾驶舒适性与能耗。</a:t>
                      </a:r>
                    </a:p>
                    <a:p>
                      <a:pPr marL="285750" lvl="1" indent="-285750" algn="l" defTabSz="914400" rtl="0" eaLnBrk="1" latinLnBrk="0" hangingPunct="1">
                        <a:buFont typeface="Wingdings" panose="05000000000000000000" pitchFamily="2" charset="2"/>
                        <a:buChar char="ü"/>
                      </a:pP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腾讯地图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调用月度基础设施健康指数，更新其地图</a:t>
                      </a:r>
                      <a:r>
                        <a:rPr lang="en-US" altLang="zh-C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内的“道路施工”及“路况复杂”标签。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343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736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712B-27C9-8AE0-99FA-8C0F041E3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375F7C-BAEF-A5D3-339F-D7F8F7D1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zh-CN" altLang="en-US" dirty="0">
                <a:sym typeface="微软雅黑" panose="020B0503020204020204" charset="-122"/>
              </a:rPr>
              <a:t>定价和竞品比较</a:t>
            </a:r>
            <a:endParaRPr lang="zh-CN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86E9232-6F05-2D4D-C50F-8F3629D3C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352172"/>
              </p:ext>
            </p:extLst>
          </p:nvPr>
        </p:nvGraphicFramePr>
        <p:xfrm>
          <a:off x="661370" y="1071658"/>
          <a:ext cx="10869259" cy="54803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2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2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4561">
                  <a:extLst>
                    <a:ext uri="{9D8B030D-6E8A-4147-A177-3AD203B41FA5}">
                      <a16:colId xmlns:a16="http://schemas.microsoft.com/office/drawing/2014/main" val="648938907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3167675216"/>
                    </a:ext>
                  </a:extLst>
                </a:gridCol>
                <a:gridCol w="15967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837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0605">
                <a:tc rowSpan="2">
                  <a:txBody>
                    <a:bodyPr/>
                    <a:lstStyle/>
                    <a:p>
                      <a:pPr algn="ctr"/>
                      <a:endParaRPr lang="zh-CN" altLang="en-US" sz="1400" b="1" dirty="0"/>
                    </a:p>
                  </a:txBody>
                  <a:tcPr anchor="ctr"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成本构成（以梁桥为例）</a:t>
                      </a:r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本项目</a:t>
                      </a:r>
                      <a:endParaRPr lang="en-US" altLang="zh-CN" sz="1400" b="1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竞品一</a:t>
                      </a:r>
                      <a:endParaRPr lang="en-US" altLang="zh-C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武汉理工光科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竞品二</a:t>
                      </a:r>
                      <a:endParaRPr lang="en-US" altLang="zh-C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苏州光格科技</a:t>
                      </a:r>
                      <a:endParaRPr lang="en-US" altLang="zh-CN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6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CN" altLang="en-US" sz="14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基于设备参数的定价构成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单位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定价</a:t>
                      </a:r>
                      <a:endParaRPr lang="en-US" altLang="zh-CN" sz="1400" b="1" dirty="0"/>
                    </a:p>
                    <a:p>
                      <a:pPr algn="ctr"/>
                      <a:r>
                        <a:rPr lang="zh-CN" altLang="en-US" sz="1400" b="1" dirty="0"/>
                        <a:t>（万元）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870736"/>
                  </a:ext>
                </a:extLst>
              </a:tr>
              <a:tr h="104618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硬件</a:t>
                      </a:r>
                      <a:endParaRPr lang="en-US" altLang="zh-CN" sz="1200" dirty="0"/>
                    </a:p>
                    <a:p>
                      <a:pPr algn="ctr"/>
                      <a:r>
                        <a:rPr lang="zh-CN" altLang="en-US" sz="1200" dirty="0"/>
                        <a:t>产品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阵列</a:t>
                      </a:r>
                      <a:endParaRPr lang="en-US" altLang="zh-CN" sz="1100" dirty="0"/>
                    </a:p>
                    <a:p>
                      <a:pPr algn="ctr"/>
                      <a:r>
                        <a:rPr lang="zh-CN" altLang="en-US" sz="1100" dirty="0"/>
                        <a:t>光纤</a:t>
                      </a:r>
                      <a:endParaRPr lang="en-US" altLang="zh-CN" sz="1100" dirty="0"/>
                    </a:p>
                    <a:p>
                      <a:pPr algn="ctr"/>
                      <a:r>
                        <a:rPr lang="zh-CN" altLang="en-US" sz="1100" dirty="0"/>
                        <a:t>设备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latin typeface="Arial" panose="020B0604020202020204" pitchFamily="34" charset="0"/>
                          <a:ea typeface="Microsoft YaHei" panose="020B0503020204020204" pitchFamily="34" charset="-122"/>
                        </a:rPr>
                        <a:t>桥梁（梁式桥 拱式桥 悬索桥 斜拉桥</a:t>
                      </a:r>
                      <a:r>
                        <a:rPr lang="zh-CN" altLang="en-US" sz="1100" dirty="0"/>
                        <a:t>）隧道、边坡、地铁、管廊等</a:t>
                      </a:r>
                      <a:endParaRPr lang="en-US" altLang="zh-CN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zh-CN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空间分辨率：</a:t>
                      </a:r>
                      <a:r>
                        <a:rPr lang="zh-CN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≤</a:t>
                      </a:r>
                      <a:r>
                        <a:rPr lang="en-US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1m</a:t>
                      </a:r>
                    </a:p>
                    <a:p>
                      <a:pPr algn="l"/>
                      <a:r>
                        <a:rPr lang="zh-CN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应变测量精度：</a:t>
                      </a:r>
                      <a:r>
                        <a:rPr lang="zh-CN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1με</a:t>
                      </a:r>
                    </a:p>
                    <a:p>
                      <a:pPr algn="l"/>
                      <a:r>
                        <a:rPr lang="zh-CN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温度范围</a:t>
                      </a:r>
                      <a:r>
                        <a:rPr lang="zh-CN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-40~80</a:t>
                      </a:r>
                      <a:r>
                        <a:rPr lang="zh-CN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单光纤最大监测距离：≥</a:t>
                      </a:r>
                      <a:r>
                        <a:rPr lang="en-US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50km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寿命：</a:t>
                      </a:r>
                      <a:r>
                        <a:rPr lang="en-US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&gt;20</a:t>
                      </a:r>
                      <a:r>
                        <a:rPr lang="zh-CN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年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多参数同步解调：温度</a:t>
                      </a:r>
                      <a:r>
                        <a:rPr lang="en-US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应变</a:t>
                      </a:r>
                      <a:r>
                        <a:rPr lang="en-US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zh-CN" altLang="en-US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振动</a:t>
                      </a:r>
                      <a:endParaRPr lang="zh-CN" altLang="zh-CN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单结构体</a:t>
                      </a:r>
                      <a:endParaRPr lang="zh-CN" altLang="zh-C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100"/>
                        <a:t>10</a:t>
                      </a:r>
                      <a:endParaRPr lang="zh-CN" altLang="zh-C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应变测量精度</a:t>
                      </a:r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zh-CN" altLang="zh-CN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±</a:t>
                      </a:r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1με</a:t>
                      </a:r>
                    </a:p>
                    <a:p>
                      <a:pPr algn="ctr"/>
                      <a:r>
                        <a:rPr lang="zh-CN" altLang="en-US" sz="1050" dirty="0"/>
                        <a:t>分布式光纤解调模块（温度和振动）</a:t>
                      </a:r>
                      <a:endParaRPr lang="en-US" altLang="zh-CN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/>
                        <a:t>分布式应变温度探测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868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结构</a:t>
                      </a:r>
                      <a:endParaRPr lang="en-US" altLang="zh-CN" sz="1100" dirty="0"/>
                    </a:p>
                    <a:p>
                      <a:pPr algn="ctr"/>
                      <a:r>
                        <a:rPr lang="zh-CN" altLang="en-US" sz="1100" dirty="0"/>
                        <a:t>安全</a:t>
                      </a:r>
                      <a:endParaRPr lang="en-US" altLang="zh-CN" sz="1100" dirty="0"/>
                    </a:p>
                    <a:p>
                      <a:pPr algn="ctr"/>
                      <a:r>
                        <a:rPr lang="zh-CN" altLang="en-US" sz="1100" dirty="0"/>
                        <a:t>融合</a:t>
                      </a:r>
                      <a:endParaRPr lang="en-US" altLang="zh-CN" sz="1100" dirty="0"/>
                    </a:p>
                    <a:p>
                      <a:pPr algn="ctr"/>
                      <a:r>
                        <a:rPr lang="zh-CN" altLang="en-US" sz="1100" dirty="0"/>
                        <a:t>设备</a:t>
                      </a:r>
                      <a:endParaRPr lang="en-US" altLang="zh-CN" sz="11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/>
                        <a:t>大桥索塔健康监测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/>
                        <a:t>高速边坡滑坡预警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/>
                        <a:t>隧道围岩变形监测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dirty="0"/>
                        <a:t>城市建筑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基坑安全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b="0" dirty="0"/>
                        <a:t>低空监测</a:t>
                      </a:r>
                      <a:endParaRPr lang="en-US" altLang="zh-CN" sz="1100" b="0" dirty="0"/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b="0" dirty="0"/>
                        <a:t>地表监测</a:t>
                      </a:r>
                      <a:endParaRPr lang="en-US" altLang="zh-CN" sz="1100" b="0" dirty="0"/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100" b="0" dirty="0"/>
                        <a:t>深度监测</a:t>
                      </a:r>
                      <a:endParaRPr lang="en-US" altLang="zh-CN" sz="1100" b="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单结构体</a:t>
                      </a:r>
                      <a:endParaRPr lang="zh-CN" altLang="zh-C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CN" altLang="en-US" sz="11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/>
                        <a:t>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/>
                        <a:t>无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057361"/>
                  </a:ext>
                </a:extLst>
              </a:tr>
              <a:tr h="307074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数据</a:t>
                      </a:r>
                      <a:endParaRPr lang="en-US" altLang="zh-CN" sz="1200" dirty="0"/>
                    </a:p>
                    <a:p>
                      <a:pPr algn="ctr"/>
                      <a:r>
                        <a:rPr lang="zh-CN" altLang="en-US" sz="1200" dirty="0"/>
                        <a:t>确权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数据治理</a:t>
                      </a:r>
                      <a:endParaRPr lang="en-US" altLang="zh-CN" sz="11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1100" dirty="0"/>
                        <a:t>一构筑物一档标准化数据集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100" b="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单结构体</a:t>
                      </a:r>
                      <a:endParaRPr lang="zh-CN" altLang="zh-C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11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/>
                        <a:t>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Microsoft YaHei"/>
                          <a:cs typeface="+mn-cs"/>
                        </a:rPr>
                        <a:t>无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376442"/>
                  </a:ext>
                </a:extLst>
              </a:tr>
              <a:tr h="307074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/>
                        <a:t>数据资产化构建</a:t>
                      </a:r>
                      <a:endParaRPr lang="en-US" altLang="zh-CN" sz="11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zh-CN" altLang="en-US" sz="1100" dirty="0"/>
                        <a:t>数据资产确权、评估、入表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100" b="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单结构体</a:t>
                      </a:r>
                      <a:endParaRPr lang="zh-CN" altLang="zh-C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dirty="0"/>
                        <a:t>10</a:t>
                      </a:r>
                      <a:endParaRPr lang="zh-CN" altLang="en-US" sz="11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/>
                        <a:t>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Microsoft YaHei"/>
                          <a:cs typeface="+mn-cs"/>
                        </a:rPr>
                        <a:t>无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5560509"/>
                  </a:ext>
                </a:extLst>
              </a:tr>
              <a:tr h="435908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数据</a:t>
                      </a:r>
                      <a:endParaRPr lang="en-US" altLang="zh-CN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产品</a:t>
                      </a:r>
                      <a:endParaRPr lang="en-US" altLang="zh-CN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 数据服务</a:t>
                      </a:r>
                      <a:endParaRPr lang="en-US" altLang="zh-CN" sz="11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dirty="0"/>
                        <a:t>结构安全健康检测报告</a:t>
                      </a:r>
                      <a:endParaRPr lang="en-US" altLang="zh-CN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dirty="0"/>
                        <a:t>空间精细到百米桩、构件单元</a:t>
                      </a:r>
                      <a:endParaRPr lang="en-US" altLang="zh-CN" sz="1100" dirty="0"/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100" dirty="0"/>
                        <a:t>时间精细到秒（光纤）、视觉（天）、文本（年）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/>
                        <a:t>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Microsoft YaHei"/>
                          <a:cs typeface="+mn-cs"/>
                        </a:rPr>
                        <a:t>无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1611787"/>
                  </a:ext>
                </a:extLst>
              </a:tr>
              <a:tr h="435908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altLang="zh-CN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安责险服务</a:t>
                      </a:r>
                      <a:endParaRPr lang="en-US" altLang="zh-CN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0" dirty="0"/>
                        <a:t>"</a:t>
                      </a:r>
                      <a:r>
                        <a:rPr lang="zh-CN" altLang="en-US" sz="1100" b="0" dirty="0"/>
                        <a:t>重载险擎</a:t>
                      </a:r>
                      <a:r>
                        <a:rPr lang="en-US" altLang="zh-CN" sz="1100" b="0" dirty="0"/>
                        <a:t>"</a:t>
                      </a:r>
                      <a:r>
                        <a:rPr lang="zh-CN" altLang="en-US" sz="1100" b="0" dirty="0"/>
                        <a:t>风险评级</a:t>
                      </a:r>
                      <a:endParaRPr lang="en-US" altLang="zh-CN" sz="1100" b="0" dirty="0"/>
                    </a:p>
                    <a:p>
                      <a:pPr algn="ctr"/>
                      <a:r>
                        <a:rPr lang="en-US" altLang="zh-CN" sz="1100" b="0" dirty="0"/>
                        <a:t>"</a:t>
                      </a:r>
                      <a:r>
                        <a:rPr lang="zh-CN" altLang="en-US" sz="1100" b="0" dirty="0"/>
                        <a:t>磐石</a:t>
                      </a:r>
                      <a:r>
                        <a:rPr lang="en-US" altLang="zh-CN" sz="1100" b="0" dirty="0"/>
                        <a:t>"</a:t>
                      </a:r>
                      <a:r>
                        <a:rPr lang="zh-CN" altLang="en-US" sz="1100" b="0" dirty="0"/>
                        <a:t>指数征信服务</a:t>
                      </a:r>
                      <a:endParaRPr lang="en-US" altLang="zh-CN" sz="11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zh-CN" altLang="en-US" sz="11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zh-CN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Microsoft YaHei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4980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运营</a:t>
                      </a:r>
                      <a:endParaRPr lang="en-US" altLang="zh-CN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平台</a:t>
                      </a:r>
                      <a:endParaRPr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/>
                        <a:t>结构安全风控平台</a:t>
                      </a:r>
                      <a:endParaRPr lang="en-US" altLang="zh-CN" sz="11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zh-CN" sz="1100" dirty="0">
                        <a:solidFill>
                          <a:prstClr val="black"/>
                        </a:solidFill>
                        <a:latin typeface="Century Gothic" panose="020B0502020202020204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/>
                        <a:t>免费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dirty="0"/>
                        <a:t>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Microsoft YaHei"/>
                          <a:cs typeface="+mn-cs"/>
                        </a:rPr>
                        <a:t>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335448"/>
                  </a:ext>
                </a:extLst>
              </a:tr>
              <a:tr h="435908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定位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案例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现状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/>
                      <a:r>
                        <a:rPr lang="zh-CN" altLang="en-US" sz="1200" b="1" dirty="0"/>
                        <a:t>定位</a:t>
                      </a:r>
                      <a:r>
                        <a:rPr lang="zh-CN" altLang="en-US" sz="1200" dirty="0"/>
                        <a:t>：</a:t>
                      </a:r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深度结构</a:t>
                      </a:r>
                      <a:r>
                        <a:rPr lang="zh-CN" altLang="en-US" sz="1050" dirty="0"/>
                        <a:t>安全“光纤数据神经”</a:t>
                      </a:r>
                      <a:endParaRPr lang="en-US" altLang="zh-CN" sz="1200" dirty="0"/>
                    </a:p>
                    <a:p>
                      <a:pPr algn="l"/>
                      <a:r>
                        <a:rPr lang="zh-CN" altLang="en-US" sz="1200" b="1" dirty="0"/>
                        <a:t>案例</a:t>
                      </a:r>
                      <a:r>
                        <a:rPr lang="zh-CN" altLang="en-US" sz="1200" dirty="0"/>
                        <a:t>：</a:t>
                      </a:r>
                      <a:r>
                        <a:rPr lang="zh-CN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落地世界第一桥花江峡谷大桥智慧缆索</a:t>
                      </a:r>
                      <a:endParaRPr lang="en-US" altLang="zh-CN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b="1" dirty="0"/>
                        <a:t>定位</a:t>
                      </a:r>
                      <a:r>
                        <a:rPr lang="zh-CN" altLang="en-US" sz="1050" dirty="0"/>
                        <a:t>：石油石化安全</a:t>
                      </a:r>
                      <a:endParaRPr lang="en-US" altLang="zh-CN" sz="1050" dirty="0"/>
                    </a:p>
                    <a:p>
                      <a:pPr algn="l"/>
                      <a:r>
                        <a:rPr lang="zh-CN" altLang="en-US" sz="1050" b="1" dirty="0"/>
                        <a:t>现状</a:t>
                      </a:r>
                      <a:r>
                        <a:rPr lang="zh-CN" altLang="en-US" sz="1050" dirty="0"/>
                        <a:t>：</a:t>
                      </a:r>
                      <a:r>
                        <a:rPr lang="en-US" altLang="zh-CN" sz="1050" dirty="0"/>
                        <a:t>2016</a:t>
                      </a:r>
                      <a:r>
                        <a:rPr lang="zh-CN" altLang="en-US" sz="1050" dirty="0"/>
                        <a:t>年</a:t>
                      </a:r>
                      <a:r>
                        <a:rPr lang="en-US" altLang="zh-CN" sz="1050" dirty="0"/>
                        <a:t>A</a:t>
                      </a:r>
                      <a:r>
                        <a:rPr lang="zh-CN" altLang="en-US" sz="1050" dirty="0"/>
                        <a:t>股上市</a:t>
                      </a:r>
                      <a:endParaRPr lang="en-US" altLang="zh-CN" sz="105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1" dirty="0"/>
                        <a:t>定位</a:t>
                      </a:r>
                      <a:r>
                        <a:rPr lang="zh-CN" altLang="en-US" sz="1050" dirty="0"/>
                        <a:t>：电力电缆安全</a:t>
                      </a:r>
                      <a:endParaRPr lang="en-US" altLang="zh-CN" sz="1050" dirty="0"/>
                    </a:p>
                    <a:p>
                      <a:pPr algn="l"/>
                      <a:r>
                        <a:rPr lang="zh-CN" altLang="en-US" sz="1050" b="1" dirty="0"/>
                        <a:t>现状</a:t>
                      </a:r>
                      <a:r>
                        <a:rPr lang="zh-CN" altLang="en-US" sz="1050" dirty="0"/>
                        <a:t>：</a:t>
                      </a:r>
                      <a:r>
                        <a:rPr lang="en-US" altLang="zh-CN" sz="1050" dirty="0"/>
                        <a:t>2021</a:t>
                      </a:r>
                      <a:r>
                        <a:rPr lang="zh-CN" altLang="en-US" sz="1050" dirty="0"/>
                        <a:t>年科创板上市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622232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C3FA-06F9-0221-020B-2D31DF41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7E4B0-8B16-09A4-7513-6795E0F34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zh-CN" altLang="en-US" dirty="0"/>
              <a:t>四阶段实施计划</a:t>
            </a: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E660D26B-C272-C02E-073F-3EE3E0EBF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919043"/>
              </p:ext>
            </p:extLst>
          </p:nvPr>
        </p:nvGraphicFramePr>
        <p:xfrm>
          <a:off x="669919" y="1912083"/>
          <a:ext cx="10850565" cy="44477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9503">
                  <a:extLst>
                    <a:ext uri="{9D8B030D-6E8A-4147-A177-3AD203B41FA5}">
                      <a16:colId xmlns:a16="http://schemas.microsoft.com/office/drawing/2014/main" val="3344249"/>
                    </a:ext>
                  </a:extLst>
                </a:gridCol>
                <a:gridCol w="3562066">
                  <a:extLst>
                    <a:ext uri="{9D8B030D-6E8A-4147-A177-3AD203B41FA5}">
                      <a16:colId xmlns:a16="http://schemas.microsoft.com/office/drawing/2014/main" val="3155842046"/>
                    </a:ext>
                  </a:extLst>
                </a:gridCol>
                <a:gridCol w="5378996">
                  <a:extLst>
                    <a:ext uri="{9D8B030D-6E8A-4147-A177-3AD203B41FA5}">
                      <a16:colId xmlns:a16="http://schemas.microsoft.com/office/drawing/2014/main" val="3069908409"/>
                    </a:ext>
                  </a:extLst>
                </a:gridCol>
              </a:tblGrid>
              <a:tr h="324049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>
                          <a:effectLst/>
                        </a:rPr>
                        <a:t>阶段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62797" marR="59807" marT="37379" marB="3737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>
                          <a:effectLst/>
                        </a:rPr>
                        <a:t>战略焦点与资本价值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59807" marR="59807" marT="37379" marB="3737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关键里程碑（可衡量）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59807" marR="59807" marT="37379" marB="37379" anchor="ctr"/>
                </a:tc>
                <a:extLst>
                  <a:ext uri="{0D108BD9-81ED-4DB2-BD59-A6C34878D82A}">
                    <a16:rowId xmlns:a16="http://schemas.microsoft.com/office/drawing/2014/main" val="1530964630"/>
                  </a:ext>
                </a:extLst>
              </a:tr>
              <a:tr h="122855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第一阶段</a:t>
                      </a:r>
                      <a:br>
                        <a:rPr lang="zh-CN" altLang="en-US" sz="1200" b="1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2025 Q4</a:t>
                      </a:r>
                      <a:br>
                        <a:rPr lang="en-US" altLang="zh-CN" sz="1200" b="1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【</a:t>
                      </a:r>
                      <a:r>
                        <a:rPr lang="zh-CN" altLang="en-US" sz="1200" b="1" dirty="0">
                          <a:effectLst/>
                        </a:rPr>
                        <a:t>标杆验证与生态破局</a:t>
                      </a:r>
                      <a:r>
                        <a:rPr lang="en-US" altLang="zh-CN" sz="1200" b="1" dirty="0">
                          <a:effectLst/>
                        </a:rPr>
                        <a:t>】</a:t>
                      </a: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62797" marR="59807" marT="37379" marB="373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 dirty="0">
                          <a:effectLst/>
                        </a:rPr>
                        <a:t>· </a:t>
                      </a:r>
                      <a:r>
                        <a:rPr lang="zh-CN" altLang="en-US" sz="1200" b="1" dirty="0">
                          <a:effectLst/>
                        </a:rPr>
                        <a:t>投资于“信用与通道”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zh-CN" altLang="en-US" sz="1200" b="0" dirty="0">
                          <a:effectLst/>
                        </a:rPr>
                        <a:t>用最小成本跑通“数据</a:t>
                      </a:r>
                      <a:r>
                        <a:rPr lang="en-US" altLang="zh-CN" sz="1200" b="0" dirty="0">
                          <a:effectLst/>
                        </a:rPr>
                        <a:t>-</a:t>
                      </a:r>
                      <a:r>
                        <a:rPr lang="zh-CN" altLang="en-US" sz="1200" b="0" dirty="0">
                          <a:effectLst/>
                        </a:rPr>
                        <a:t>保险”闭环，并</a:t>
                      </a:r>
                      <a:r>
                        <a:rPr lang="zh-CN" altLang="en-US" sz="1200" b="1" dirty="0">
                          <a:effectLst/>
                        </a:rPr>
                        <a:t>通过混改或合资锁定战略资源</a:t>
                      </a:r>
                      <a:r>
                        <a:rPr lang="zh-CN" altLang="en-US" sz="1200" b="0" dirty="0">
                          <a:effectLst/>
                        </a:rPr>
                        <a:t>，为规模化复制奠定基石。</a:t>
                      </a: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59807" marR="59807" marT="37379" marB="37379" anchor="ctr"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 dirty="0">
                          <a:effectLst/>
                        </a:rPr>
                        <a:t>1. </a:t>
                      </a:r>
                      <a:r>
                        <a:rPr lang="zh-CN" altLang="en-US" sz="1200" b="1" dirty="0">
                          <a:effectLst/>
                        </a:rPr>
                        <a:t>生态破局</a:t>
                      </a:r>
                      <a:r>
                        <a:rPr lang="zh-CN" altLang="en-US" sz="1200" b="0" dirty="0">
                          <a:effectLst/>
                        </a:rPr>
                        <a:t>：与 </a:t>
                      </a:r>
                      <a:r>
                        <a:rPr lang="en-US" altLang="zh-CN" sz="1200" b="1" dirty="0">
                          <a:effectLst/>
                        </a:rPr>
                        <a:t>1</a:t>
                      </a:r>
                      <a:r>
                        <a:rPr lang="zh-CN" altLang="en-US" sz="1200" b="1" dirty="0">
                          <a:effectLst/>
                        </a:rPr>
                        <a:t>家</a:t>
                      </a:r>
                      <a:r>
                        <a:rPr lang="zh-CN" altLang="en-US" sz="1200" b="0" dirty="0">
                          <a:effectLst/>
                        </a:rPr>
                        <a:t> 省级交通投资集团或大型工程国企</a:t>
                      </a:r>
                      <a:r>
                        <a:rPr lang="zh-CN" altLang="en-US" sz="1200" b="1" dirty="0">
                          <a:effectLst/>
                        </a:rPr>
                        <a:t>建立联合运营机制</a:t>
                      </a:r>
                      <a:r>
                        <a:rPr lang="zh-CN" altLang="en-US" sz="1200" b="0" dirty="0">
                          <a:effectLst/>
                        </a:rPr>
                        <a:t>（混改</a:t>
                      </a:r>
                      <a:r>
                        <a:rPr lang="en-US" altLang="zh-CN" sz="1200" b="0" dirty="0">
                          <a:effectLst/>
                        </a:rPr>
                        <a:t>/</a:t>
                      </a:r>
                      <a:r>
                        <a:rPr lang="zh-CN" altLang="en-US" sz="1200" b="0" dirty="0">
                          <a:effectLst/>
                        </a:rPr>
                        <a:t>合资），锁定区域市场通道。</a:t>
                      </a:r>
                      <a:endParaRPr lang="en-US" altLang="zh-CN" sz="1200" b="0" dirty="0">
                        <a:effectLst/>
                      </a:endParaRPr>
                    </a:p>
                    <a:p>
                      <a:pPr marL="0" indent="0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0" dirty="0">
                          <a:effectLst/>
                        </a:rPr>
                        <a:t>2. </a:t>
                      </a:r>
                      <a:r>
                        <a:rPr lang="zh-CN" altLang="en-US" sz="1200" b="1" dirty="0">
                          <a:effectLst/>
                        </a:rPr>
                        <a:t>市场信用</a:t>
                      </a:r>
                      <a:r>
                        <a:rPr lang="zh-CN" altLang="en-US" sz="1200" b="0" dirty="0">
                          <a:effectLst/>
                        </a:rPr>
                        <a:t>：成功交付</a:t>
                      </a:r>
                      <a:r>
                        <a:rPr lang="zh-CN" altLang="en-US" sz="1200" b="1" dirty="0">
                          <a:effectLst/>
                        </a:rPr>
                        <a:t>花江峡谷大桥</a:t>
                      </a:r>
                      <a:r>
                        <a:rPr lang="zh-CN" altLang="en-US" sz="1200" b="0" dirty="0">
                          <a:effectLst/>
                        </a:rPr>
                        <a:t>标杆项目，获得业主方权威认可。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3.</a:t>
                      </a: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模式探索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：完成与 </a:t>
                      </a:r>
                      <a:r>
                        <a:rPr lang="en-US" altLang="zh-C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家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安责险的初步技术对接与产品方案沟通。</a:t>
                      </a: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59807" marR="62797" marT="37379" marB="37379" anchor="ctr"/>
                </a:tc>
                <a:extLst>
                  <a:ext uri="{0D108BD9-81ED-4DB2-BD59-A6C34878D82A}">
                    <a16:rowId xmlns:a16="http://schemas.microsoft.com/office/drawing/2014/main" val="1875864387"/>
                  </a:ext>
                </a:extLst>
              </a:tr>
              <a:tr h="113794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第二阶段</a:t>
                      </a:r>
                      <a:br>
                        <a:rPr lang="zh-CN" altLang="en-US" sz="1200" b="1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2026</a:t>
                      </a:r>
                      <a:br>
                        <a:rPr lang="en-US" altLang="zh-CN" sz="1200" b="1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【</a:t>
                      </a:r>
                      <a:r>
                        <a:rPr lang="zh-CN" altLang="en-US" sz="1200" b="1" dirty="0">
                          <a:effectLst/>
                        </a:rPr>
                        <a:t>模式验证与商业复制</a:t>
                      </a:r>
                      <a:r>
                        <a:rPr lang="en-US" altLang="zh-CN" sz="1200" b="1" dirty="0">
                          <a:effectLst/>
                        </a:rPr>
                        <a:t>】</a:t>
                      </a: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62797" marR="59807" marT="37379" marB="373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 dirty="0">
                          <a:effectLst/>
                        </a:rPr>
                        <a:t>· </a:t>
                      </a:r>
                      <a:r>
                        <a:rPr lang="zh-CN" altLang="en-US" sz="1200" b="1" dirty="0">
                          <a:effectLst/>
                        </a:rPr>
                        <a:t>投资于“增长与模式”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借助战略股东资源实现业务复制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，并核心攻克保险合作，完成高利润商业模式的闭环验证。</a:t>
                      </a: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59807" marR="59807" marT="37379" marB="373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金融闭环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：与 </a:t>
                      </a:r>
                      <a:r>
                        <a:rPr lang="en-US" altLang="zh-C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家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头部安责险预防运营公司</a:t>
                      </a: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正式签署数据服务与分润协议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，实现商业模式的关键突破。</a:t>
                      </a:r>
                      <a:br>
                        <a:rPr lang="zh-CN" altLang="en-US" sz="1000" dirty="0"/>
                      </a:br>
                      <a:r>
                        <a:rPr lang="en-US" altLang="zh-C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资源变现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：实现营收 </a:t>
                      </a:r>
                      <a:r>
                        <a:rPr lang="en-US" altLang="zh-C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万元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，其中</a:t>
                      </a: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战略股东生态内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业务收入占比 </a:t>
                      </a: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≥</a:t>
                      </a:r>
                      <a:r>
                        <a:rPr lang="en-US" altLang="zh-C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br>
                        <a:rPr lang="zh-CN" altLang="en-US" sz="1000" dirty="0"/>
                      </a:br>
                      <a:r>
                        <a:rPr lang="en-US" altLang="zh-C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网络扩张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：监测网络覆盖 </a:t>
                      </a:r>
                      <a:r>
                        <a:rPr lang="en-US" altLang="zh-CN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3-5</a:t>
                      </a:r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省份。</a:t>
                      </a:r>
                      <a:endParaRPr lang="zh-CN" altLang="en-US" sz="1000" b="0" dirty="0">
                        <a:effectLst/>
                        <a:latin typeface="quote-cjk-patch"/>
                      </a:endParaRPr>
                    </a:p>
                  </a:txBody>
                  <a:tcPr marL="59807" marR="62797" marT="37379" marB="37379" anchor="ctr"/>
                </a:tc>
                <a:extLst>
                  <a:ext uri="{0D108BD9-81ED-4DB2-BD59-A6C34878D82A}">
                    <a16:rowId xmlns:a16="http://schemas.microsoft.com/office/drawing/2014/main" val="215879780"/>
                  </a:ext>
                </a:extLst>
              </a:tr>
              <a:tr h="95706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第三阶段</a:t>
                      </a:r>
                      <a:br>
                        <a:rPr lang="zh-CN" altLang="en-US" sz="1200" b="1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2027</a:t>
                      </a:r>
                      <a:br>
                        <a:rPr lang="en-US" altLang="zh-CN" sz="1200" b="1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【</a:t>
                      </a:r>
                      <a:r>
                        <a:rPr lang="zh-CN" altLang="en-US" sz="1200" b="1" dirty="0">
                          <a:effectLst/>
                        </a:rPr>
                        <a:t>规模化扩张</a:t>
                      </a:r>
                      <a:r>
                        <a:rPr lang="en-US" altLang="zh-CN" sz="1200" b="1" dirty="0">
                          <a:effectLst/>
                        </a:rPr>
                        <a:t>】</a:t>
                      </a: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62797" marR="59807" marT="37379" marB="373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>
                          <a:effectLst/>
                        </a:rPr>
                        <a:t>· </a:t>
                      </a:r>
                      <a:r>
                        <a:rPr lang="zh-CN" altLang="en-US" sz="1200" b="1">
                          <a:effectLst/>
                        </a:rPr>
                        <a:t>投资于“利润”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zh-CN" altLang="en-US" sz="1200" b="0">
                          <a:effectLst/>
                        </a:rPr>
                        <a:t>实现规模化收入，使保险分润成为核心利润引擎，获得高估值溢价。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9807" marR="59807" marT="37379" marB="373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 dirty="0">
                          <a:effectLst/>
                        </a:rPr>
                        <a:t>1. </a:t>
                      </a:r>
                      <a:r>
                        <a:rPr lang="zh-CN" altLang="en-US" sz="1200" b="1" dirty="0">
                          <a:effectLst/>
                        </a:rPr>
                        <a:t>财务拐点</a:t>
                      </a:r>
                      <a:r>
                        <a:rPr lang="zh-CN" altLang="en-US" sz="1200" b="0" dirty="0">
                          <a:effectLst/>
                        </a:rPr>
                        <a:t>：实现</a:t>
                      </a:r>
                      <a:r>
                        <a:rPr lang="zh-CN" altLang="en-US" sz="1200" b="1" dirty="0">
                          <a:effectLst/>
                        </a:rPr>
                        <a:t>盈亏平衡</a:t>
                      </a:r>
                      <a:r>
                        <a:rPr lang="zh-CN" altLang="en-US" sz="1200" b="0" dirty="0">
                          <a:effectLst/>
                        </a:rPr>
                        <a:t>，</a:t>
                      </a:r>
                      <a:r>
                        <a:rPr lang="zh-CN" altLang="en-US" sz="1200" b="1" dirty="0">
                          <a:effectLst/>
                        </a:rPr>
                        <a:t>保险分润收入占比提升至约</a:t>
                      </a:r>
                      <a:r>
                        <a:rPr lang="en-US" altLang="zh-CN" sz="1200" b="1" dirty="0">
                          <a:effectLst/>
                        </a:rPr>
                        <a:t>50%</a:t>
                      </a:r>
                      <a:r>
                        <a:rPr lang="zh-CN" altLang="en-US" sz="1200" b="0" dirty="0">
                          <a:effectLst/>
                        </a:rPr>
                        <a:t>。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2. </a:t>
                      </a:r>
                      <a:r>
                        <a:rPr lang="zh-CN" altLang="en-US" sz="1200" b="1" dirty="0">
                          <a:effectLst/>
                        </a:rPr>
                        <a:t>市场领先</a:t>
                      </a:r>
                      <a:r>
                        <a:rPr lang="zh-CN" altLang="en-US" sz="1200" b="0" dirty="0">
                          <a:effectLst/>
                        </a:rPr>
                        <a:t>：在战略股东优势区域市占率 </a:t>
                      </a:r>
                      <a:r>
                        <a:rPr lang="zh-CN" altLang="en-US" sz="1200" b="1" dirty="0">
                          <a:effectLst/>
                        </a:rPr>
                        <a:t>≥</a:t>
                      </a:r>
                      <a:r>
                        <a:rPr lang="en-US" altLang="zh-CN" sz="1200" b="1" dirty="0">
                          <a:effectLst/>
                        </a:rPr>
                        <a:t>50%</a:t>
                      </a:r>
                      <a:r>
                        <a:rPr lang="zh-CN" altLang="en-US" sz="1200" b="0" dirty="0">
                          <a:effectLst/>
                        </a:rPr>
                        <a:t>，形成事实垄断。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3. </a:t>
                      </a:r>
                      <a:r>
                        <a:rPr lang="zh-CN" altLang="en-US" sz="1200" b="1" dirty="0">
                          <a:effectLst/>
                        </a:rPr>
                        <a:t>数据壁垒</a:t>
                      </a:r>
                      <a:r>
                        <a:rPr lang="zh-CN" altLang="en-US" sz="1200" b="0" dirty="0">
                          <a:effectLst/>
                        </a:rPr>
                        <a:t>：积累 </a:t>
                      </a:r>
                      <a:r>
                        <a:rPr lang="en-US" altLang="zh-CN" sz="1200" b="1" dirty="0">
                          <a:effectLst/>
                        </a:rPr>
                        <a:t>&gt;1TB</a:t>
                      </a:r>
                      <a:r>
                        <a:rPr lang="zh-CN" altLang="en-US" sz="1200" b="0" dirty="0">
                          <a:effectLst/>
                        </a:rPr>
                        <a:t> 的独家结构安全数据集。</a:t>
                      </a: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59807" marR="62797" marT="37379" marB="37379" anchor="ctr"/>
                </a:tc>
                <a:extLst>
                  <a:ext uri="{0D108BD9-81ED-4DB2-BD59-A6C34878D82A}">
                    <a16:rowId xmlns:a16="http://schemas.microsoft.com/office/drawing/2014/main" val="3660355194"/>
                  </a:ext>
                </a:extLst>
              </a:tr>
              <a:tr h="80015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第四阶段</a:t>
                      </a:r>
                      <a:br>
                        <a:rPr lang="zh-CN" altLang="en-US" sz="1200" b="1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2028</a:t>
                      </a:r>
                      <a:br>
                        <a:rPr lang="en-US" altLang="zh-CN" sz="1200" b="1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【</a:t>
                      </a:r>
                      <a:r>
                        <a:rPr lang="zh-CN" altLang="en-US" sz="1200" b="1" dirty="0">
                          <a:effectLst/>
                        </a:rPr>
                        <a:t>生态构建</a:t>
                      </a:r>
                      <a:r>
                        <a:rPr lang="en-US" altLang="zh-CN" sz="1200" b="1" dirty="0">
                          <a:effectLst/>
                        </a:rPr>
                        <a:t>】</a:t>
                      </a: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62797" marR="59807" marT="37379" marB="373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>
                          <a:effectLst/>
                        </a:rPr>
                        <a:t>· </a:t>
                      </a:r>
                      <a:r>
                        <a:rPr lang="zh-CN" altLang="en-US" sz="1200" b="1">
                          <a:effectLst/>
                        </a:rPr>
                        <a:t>投资于“未来”</a:t>
                      </a:r>
                      <a:br>
                        <a:rPr lang="zh-CN" altLang="en-US" sz="1200" b="0">
                          <a:effectLst/>
                        </a:rPr>
                      </a:br>
                      <a:r>
                        <a:rPr lang="zh-CN" altLang="en-US" sz="1200" b="0">
                          <a:effectLst/>
                        </a:rPr>
                        <a:t>从运营商升级为平台与标准制定者，探索资产级创新。</a:t>
                      </a:r>
                      <a:endParaRPr lang="zh-CN" altLang="en-US" sz="1200" b="0">
                        <a:effectLst/>
                        <a:latin typeface="quote-cjk-patch"/>
                      </a:endParaRPr>
                    </a:p>
                  </a:txBody>
                  <a:tcPr marL="59807" marR="59807" marT="37379" marB="373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200" b="1" dirty="0">
                          <a:effectLst/>
                        </a:rPr>
                        <a:t>1. </a:t>
                      </a:r>
                      <a:r>
                        <a:rPr lang="zh-CN" altLang="en-US" sz="1200" b="1" dirty="0">
                          <a:effectLst/>
                        </a:rPr>
                        <a:t>平台化</a:t>
                      </a:r>
                      <a:r>
                        <a:rPr lang="zh-CN" altLang="en-US" sz="1200" b="0" dirty="0">
                          <a:effectLst/>
                        </a:rPr>
                        <a:t>：引入 </a:t>
                      </a:r>
                      <a:r>
                        <a:rPr lang="zh-CN" altLang="en-US" sz="1200" b="1" dirty="0">
                          <a:effectLst/>
                        </a:rPr>
                        <a:t>≥</a:t>
                      </a:r>
                      <a:r>
                        <a:rPr lang="en-US" altLang="zh-CN" sz="1200" b="1" dirty="0">
                          <a:effectLst/>
                        </a:rPr>
                        <a:t>3</a:t>
                      </a:r>
                      <a:r>
                        <a:rPr lang="zh-CN" altLang="en-US" sz="1200" b="1" dirty="0">
                          <a:effectLst/>
                        </a:rPr>
                        <a:t>家</a:t>
                      </a:r>
                      <a:r>
                        <a:rPr lang="zh-CN" altLang="en-US" sz="1200" b="0" dirty="0">
                          <a:effectLst/>
                        </a:rPr>
                        <a:t> 第三方数据伙伴。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2. </a:t>
                      </a:r>
                      <a:r>
                        <a:rPr lang="zh-CN" altLang="en-US" sz="1200" b="1" dirty="0">
                          <a:effectLst/>
                        </a:rPr>
                        <a:t>资产化</a:t>
                      </a:r>
                      <a:r>
                        <a:rPr lang="zh-CN" altLang="en-US" sz="1200" b="0" dirty="0">
                          <a:effectLst/>
                        </a:rPr>
                        <a:t>：完成首单基于数据资产的 </a:t>
                      </a:r>
                      <a:r>
                        <a:rPr lang="zh-CN" altLang="en-US" sz="1200" b="1" dirty="0">
                          <a:effectLst/>
                        </a:rPr>
                        <a:t>证券化</a:t>
                      </a:r>
                      <a:r>
                        <a:rPr lang="zh-CN" altLang="en-US" sz="1200" b="0" dirty="0">
                          <a:effectLst/>
                        </a:rPr>
                        <a:t> 探索。</a:t>
                      </a:r>
                      <a:br>
                        <a:rPr lang="zh-CN" altLang="en-US" sz="1200" b="0" dirty="0">
                          <a:effectLst/>
                        </a:rPr>
                      </a:br>
                      <a:r>
                        <a:rPr lang="en-US" altLang="zh-CN" sz="1200" b="1" dirty="0">
                          <a:effectLst/>
                        </a:rPr>
                        <a:t>3. </a:t>
                      </a:r>
                      <a:r>
                        <a:rPr lang="zh-CN" altLang="en-US" sz="1200" b="1" dirty="0">
                          <a:effectLst/>
                        </a:rPr>
                        <a:t>国际化</a:t>
                      </a:r>
                      <a:r>
                        <a:rPr lang="zh-CN" altLang="en-US" sz="1200" b="0" dirty="0">
                          <a:effectLst/>
                        </a:rPr>
                        <a:t>：借助股东资源，探索 </a:t>
                      </a:r>
                      <a:r>
                        <a:rPr lang="zh-CN" altLang="en-US" sz="1200" b="1" dirty="0">
                          <a:effectLst/>
                        </a:rPr>
                        <a:t>“一带一路”</a:t>
                      </a:r>
                      <a:r>
                        <a:rPr lang="zh-CN" altLang="en-US" sz="1200" b="0" dirty="0">
                          <a:effectLst/>
                        </a:rPr>
                        <a:t> 跨境项目。</a:t>
                      </a:r>
                      <a:endParaRPr lang="zh-CN" altLang="en-US" sz="1200" b="0" dirty="0">
                        <a:effectLst/>
                        <a:latin typeface="quote-cjk-patch"/>
                      </a:endParaRPr>
                    </a:p>
                  </a:txBody>
                  <a:tcPr marL="59807" marR="62797" marT="37379" marB="37379" anchor="ctr"/>
                </a:tc>
                <a:extLst>
                  <a:ext uri="{0D108BD9-81ED-4DB2-BD59-A6C34878D82A}">
                    <a16:rowId xmlns:a16="http://schemas.microsoft.com/office/drawing/2014/main" val="3573596423"/>
                  </a:ext>
                </a:extLst>
              </a:tr>
            </a:tbl>
          </a:graphicData>
        </a:graphic>
      </p:graphicFrame>
      <p:sp>
        <p:nvSpPr>
          <p:cNvPr id="32" name="文本框 31">
            <a:extLst>
              <a:ext uri="{FF2B5EF4-FFF2-40B4-BE49-F238E27FC236}">
                <a16:creationId xmlns:a16="http://schemas.microsoft.com/office/drawing/2014/main" id="{C01C2081-6519-A8F6-C422-B4F7C6D81B75}"/>
              </a:ext>
            </a:extLst>
          </p:cNvPr>
          <p:cNvSpPr txBox="1"/>
          <p:nvPr/>
        </p:nvSpPr>
        <p:spPr>
          <a:xfrm>
            <a:off x="669925" y="1005970"/>
            <a:ext cx="1085056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核心策略</a:t>
            </a:r>
            <a:r>
              <a:rPr lang="zh-CN" altLang="en-US" sz="1600" dirty="0"/>
              <a:t>：</a:t>
            </a:r>
            <a:endParaRPr lang="en-US" altLang="zh-CN" sz="1600" dirty="0"/>
          </a:p>
          <a:p>
            <a:r>
              <a:rPr lang="zh-CN" altLang="en-US" sz="1600" dirty="0"/>
              <a:t>以标杆项目与政企合作破局，以数据订阅实现现金流，以保险分润构建高利润模式，分阶段实现资产价值最大化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4102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9DE8D-AE0F-12CC-2D7A-58AB8BEB9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>
            <a:extLst>
              <a:ext uri="{FF2B5EF4-FFF2-40B4-BE49-F238E27FC236}">
                <a16:creationId xmlns:a16="http://schemas.microsoft.com/office/drawing/2014/main" id="{44B3C652-D91F-5963-DE57-135EB13F0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zh-CN" altLang="en-US" dirty="0"/>
              <a:t>财务预测和商业逻辑（</a:t>
            </a:r>
            <a:r>
              <a:rPr lang="en-US" altLang="zh-CN" dirty="0"/>
              <a:t>2025-2028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98A0196-DBF1-D47F-5636-FF86F7344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605845"/>
              </p:ext>
            </p:extLst>
          </p:nvPr>
        </p:nvGraphicFramePr>
        <p:xfrm>
          <a:off x="669924" y="958750"/>
          <a:ext cx="10441877" cy="36673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0990">
                  <a:extLst>
                    <a:ext uri="{9D8B030D-6E8A-4147-A177-3AD203B41FA5}">
                      <a16:colId xmlns:a16="http://schemas.microsoft.com/office/drawing/2014/main" val="670557195"/>
                    </a:ext>
                  </a:extLst>
                </a:gridCol>
                <a:gridCol w="1498223">
                  <a:extLst>
                    <a:ext uri="{9D8B030D-6E8A-4147-A177-3AD203B41FA5}">
                      <a16:colId xmlns:a16="http://schemas.microsoft.com/office/drawing/2014/main" val="2741517823"/>
                    </a:ext>
                  </a:extLst>
                </a:gridCol>
                <a:gridCol w="1478450">
                  <a:extLst>
                    <a:ext uri="{9D8B030D-6E8A-4147-A177-3AD203B41FA5}">
                      <a16:colId xmlns:a16="http://schemas.microsoft.com/office/drawing/2014/main" val="3252712622"/>
                    </a:ext>
                  </a:extLst>
                </a:gridCol>
                <a:gridCol w="1436413">
                  <a:extLst>
                    <a:ext uri="{9D8B030D-6E8A-4147-A177-3AD203B41FA5}">
                      <a16:colId xmlns:a16="http://schemas.microsoft.com/office/drawing/2014/main" val="2193209223"/>
                    </a:ext>
                  </a:extLst>
                </a:gridCol>
                <a:gridCol w="1677608">
                  <a:extLst>
                    <a:ext uri="{9D8B030D-6E8A-4147-A177-3AD203B41FA5}">
                      <a16:colId xmlns:a16="http://schemas.microsoft.com/office/drawing/2014/main" val="1838045617"/>
                    </a:ext>
                  </a:extLst>
                </a:gridCol>
                <a:gridCol w="3100193">
                  <a:extLst>
                    <a:ext uri="{9D8B030D-6E8A-4147-A177-3AD203B41FA5}">
                      <a16:colId xmlns:a16="http://schemas.microsoft.com/office/drawing/2014/main" val="757644345"/>
                    </a:ext>
                  </a:extLst>
                </a:gridCol>
              </a:tblGrid>
              <a:tr h="357978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>
                          <a:effectLst/>
                        </a:rPr>
                        <a:t>关键指标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92708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>
                          <a:effectLst/>
                        </a:rPr>
                        <a:t>2025 (</a:t>
                      </a:r>
                      <a:r>
                        <a:rPr lang="zh-CN" altLang="en-US" sz="1400" b="1">
                          <a:effectLst/>
                        </a:rPr>
                        <a:t>奠基年</a:t>
                      </a:r>
                      <a:r>
                        <a:rPr lang="en-US" altLang="zh-CN" sz="1400" b="1">
                          <a:effectLst/>
                        </a:rPr>
                        <a:t>)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>
                          <a:effectLst/>
                        </a:rPr>
                        <a:t>2026 (</a:t>
                      </a:r>
                      <a:r>
                        <a:rPr lang="zh-CN" altLang="en-US" sz="1400" b="1">
                          <a:effectLst/>
                        </a:rPr>
                        <a:t>验证年</a:t>
                      </a:r>
                      <a:r>
                        <a:rPr lang="en-US" altLang="zh-CN" sz="1400" b="1">
                          <a:effectLst/>
                        </a:rPr>
                        <a:t>)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>
                          <a:effectLst/>
                        </a:rPr>
                        <a:t>2027 (</a:t>
                      </a:r>
                      <a:r>
                        <a:rPr lang="zh-CN" altLang="en-US" sz="1400" b="1">
                          <a:effectLst/>
                        </a:rPr>
                        <a:t>爆发年</a:t>
                      </a:r>
                      <a:r>
                        <a:rPr lang="en-US" altLang="zh-CN" sz="1400" b="1">
                          <a:effectLst/>
                        </a:rPr>
                        <a:t>)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>
                          <a:effectLst/>
                        </a:rPr>
                        <a:t>2028 (</a:t>
                      </a:r>
                      <a:r>
                        <a:rPr lang="zh-CN" altLang="en-US" sz="1400" b="1">
                          <a:effectLst/>
                        </a:rPr>
                        <a:t>生态年</a:t>
                      </a:r>
                      <a:r>
                        <a:rPr lang="en-US" altLang="zh-CN" sz="1400" b="1">
                          <a:effectLst/>
                        </a:rPr>
                        <a:t>)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核心商业逻辑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extLst>
                  <a:ext uri="{0D108BD9-81ED-4DB2-BD59-A6C34878D82A}">
                    <a16:rowId xmlns:a16="http://schemas.microsoft.com/office/drawing/2014/main" val="3321151325"/>
                  </a:ext>
                </a:extLst>
              </a:tr>
              <a:tr h="707654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营业收入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en-US" altLang="zh-CN" sz="1400" b="0" dirty="0">
                          <a:effectLst/>
                        </a:rPr>
                        <a:t>(</a:t>
                      </a:r>
                      <a:r>
                        <a:rPr lang="zh-CN" altLang="en-US" sz="1400" b="0" dirty="0">
                          <a:effectLst/>
                        </a:rPr>
                        <a:t>万元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endParaRPr lang="en-US" altLang="zh-CN" sz="1400" b="0" dirty="0">
                        <a:effectLst/>
                        <a:latin typeface="quote-cjk-patch"/>
                      </a:endParaRPr>
                    </a:p>
                  </a:txBody>
                  <a:tcPr marL="92708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0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1,000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5,000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12,500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>
                          <a:effectLst/>
                        </a:rPr>
                        <a:t>1. </a:t>
                      </a:r>
                      <a:r>
                        <a:rPr lang="zh-CN" altLang="en-US" sz="1400" b="1">
                          <a:effectLst/>
                        </a:rPr>
                        <a:t>模式演进</a:t>
                      </a:r>
                      <a:br>
                        <a:rPr lang="zh-CN" altLang="en-US" sz="1400" b="0">
                          <a:effectLst/>
                        </a:rPr>
                      </a:br>
                      <a:r>
                        <a:rPr lang="en-US" altLang="zh-CN" sz="1400" b="0">
                          <a:effectLst/>
                        </a:rPr>
                        <a:t>• </a:t>
                      </a:r>
                      <a:r>
                        <a:rPr lang="zh-CN" altLang="en-US" sz="1400" b="1">
                          <a:effectLst/>
                        </a:rPr>
                        <a:t>硬件部署</a:t>
                      </a:r>
                      <a:r>
                        <a:rPr lang="zh-CN" altLang="en-US" sz="1400" b="0">
                          <a:effectLst/>
                        </a:rPr>
                        <a:t>驱动初期规模</a:t>
                      </a:r>
                      <a:br>
                        <a:rPr lang="zh-CN" altLang="en-US" sz="1400" b="0">
                          <a:effectLst/>
                        </a:rPr>
                      </a:br>
                      <a:r>
                        <a:rPr lang="en-US" altLang="zh-CN" sz="1400" b="0">
                          <a:effectLst/>
                        </a:rPr>
                        <a:t>• </a:t>
                      </a:r>
                      <a:r>
                        <a:rPr lang="zh-CN" altLang="en-US" sz="1400" b="1">
                          <a:effectLst/>
                        </a:rPr>
                        <a:t>保险分润</a:t>
                      </a:r>
                      <a:r>
                        <a:rPr lang="zh-CN" altLang="en-US" sz="1400" b="0">
                          <a:effectLst/>
                        </a:rPr>
                        <a:t>驱动远期利润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88293" marR="92708" marT="55183" marB="55183" anchor="ctr"/>
                </a:tc>
                <a:extLst>
                  <a:ext uri="{0D108BD9-81ED-4DB2-BD59-A6C34878D82A}">
                    <a16:rowId xmlns:a16="http://schemas.microsoft.com/office/drawing/2014/main" val="1632339267"/>
                  </a:ext>
                </a:extLst>
              </a:tr>
              <a:tr h="70798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收入结构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92708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0">
                          <a:effectLst/>
                        </a:rPr>
                        <a:t>-</a:t>
                      </a:r>
                      <a:endParaRPr lang="en-US" altLang="zh-CN" sz="1400" b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</a:rPr>
                        <a:t>服务</a:t>
                      </a:r>
                      <a:r>
                        <a:rPr lang="en-US" altLang="zh-CN" sz="1400" b="0" dirty="0">
                          <a:effectLst/>
                        </a:rPr>
                        <a:t>: 70%</a:t>
                      </a:r>
                      <a:br>
                        <a:rPr lang="en-US" altLang="zh-CN" sz="1400" b="0" dirty="0">
                          <a:effectLst/>
                        </a:rPr>
                      </a:br>
                      <a:r>
                        <a:rPr lang="zh-CN" altLang="en-US" sz="1400" b="0" dirty="0">
                          <a:effectLst/>
                        </a:rPr>
                        <a:t>分润</a:t>
                      </a:r>
                      <a:r>
                        <a:rPr lang="en-US" altLang="zh-CN" sz="1400" b="0" dirty="0">
                          <a:effectLst/>
                        </a:rPr>
                        <a:t>: 30%</a:t>
                      </a:r>
                      <a:endParaRPr lang="en-US" altLang="zh-CN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</a:rPr>
                        <a:t>服务</a:t>
                      </a:r>
                      <a:r>
                        <a:rPr lang="en-US" altLang="zh-CN" sz="1400" b="0" dirty="0">
                          <a:effectLst/>
                        </a:rPr>
                        <a:t>: 50%</a:t>
                      </a:r>
                      <a:br>
                        <a:rPr lang="en-US" altLang="zh-CN" sz="1400" b="0" dirty="0">
                          <a:effectLst/>
                        </a:rPr>
                      </a:br>
                      <a:r>
                        <a:rPr lang="zh-CN" altLang="en-US" sz="1400" b="0" dirty="0">
                          <a:effectLst/>
                        </a:rPr>
                        <a:t>分润</a:t>
                      </a:r>
                      <a:r>
                        <a:rPr lang="en-US" altLang="zh-CN" sz="1400" b="0" dirty="0">
                          <a:effectLst/>
                        </a:rPr>
                        <a:t>: 50%</a:t>
                      </a:r>
                      <a:endParaRPr lang="en-US" altLang="zh-CN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0" dirty="0">
                          <a:effectLst/>
                        </a:rPr>
                        <a:t>服务</a:t>
                      </a:r>
                      <a:r>
                        <a:rPr lang="en-US" altLang="zh-CN" sz="1400" b="0" dirty="0">
                          <a:effectLst/>
                        </a:rPr>
                        <a:t>: 40%</a:t>
                      </a:r>
                      <a:br>
                        <a:rPr lang="en-US" altLang="zh-CN" sz="1400" b="0" dirty="0">
                          <a:effectLst/>
                        </a:rPr>
                      </a:br>
                      <a:r>
                        <a:rPr lang="zh-CN" altLang="en-US" sz="1400" b="1" dirty="0">
                          <a:effectLst/>
                        </a:rPr>
                        <a:t>分润</a:t>
                      </a:r>
                      <a:r>
                        <a:rPr lang="en-US" altLang="zh-CN" sz="1400" b="1" dirty="0">
                          <a:effectLst/>
                        </a:rPr>
                        <a:t>: 60%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>
                          <a:effectLst/>
                        </a:rPr>
                        <a:t>2. </a:t>
                      </a:r>
                      <a:r>
                        <a:rPr lang="zh-CN" altLang="en-US" sz="1400" b="1">
                          <a:effectLst/>
                        </a:rPr>
                        <a:t>价值跃迁</a:t>
                      </a:r>
                      <a:br>
                        <a:rPr lang="zh-CN" altLang="en-US" sz="1400" b="0">
                          <a:effectLst/>
                        </a:rPr>
                      </a:br>
                      <a:r>
                        <a:rPr lang="zh-CN" altLang="en-US" sz="1400" b="0">
                          <a:effectLst/>
                        </a:rPr>
                        <a:t>收入主体从“服务费”转向“风险定价收益”，商业模式壁垒形成。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88293" marR="92708" marT="55183" marB="55183" anchor="ctr"/>
                </a:tc>
                <a:extLst>
                  <a:ext uri="{0D108BD9-81ED-4DB2-BD59-A6C34878D82A}">
                    <a16:rowId xmlns:a16="http://schemas.microsoft.com/office/drawing/2014/main" val="445866020"/>
                  </a:ext>
                </a:extLst>
              </a:tr>
              <a:tr h="707983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毛利率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92708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0">
                          <a:effectLst/>
                        </a:rPr>
                        <a:t>-</a:t>
                      </a:r>
                      <a:endParaRPr lang="en-US" altLang="zh-CN" sz="1400" b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40%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70%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&gt;70%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3. </a:t>
                      </a:r>
                      <a:r>
                        <a:rPr lang="zh-CN" altLang="en-US" sz="1400" b="1" dirty="0">
                          <a:effectLst/>
                        </a:rPr>
                        <a:t>利润引擎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zh-CN" altLang="en-US" sz="1400" b="0" dirty="0">
                          <a:effectLst/>
                        </a:rPr>
                        <a:t>高利润的</a:t>
                      </a:r>
                      <a:r>
                        <a:rPr lang="zh-CN" altLang="en-US" sz="1400" b="1" dirty="0">
                          <a:effectLst/>
                        </a:rPr>
                        <a:t>保险分润</a:t>
                      </a:r>
                      <a:r>
                        <a:rPr lang="zh-CN" altLang="en-US" sz="1400" b="0" dirty="0">
                          <a:effectLst/>
                        </a:rPr>
                        <a:t>占比提升，结构性改善毛利率。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92708" marT="55183" marB="55183" anchor="ctr"/>
                </a:tc>
                <a:extLst>
                  <a:ext uri="{0D108BD9-81ED-4DB2-BD59-A6C34878D82A}">
                    <a16:rowId xmlns:a16="http://schemas.microsoft.com/office/drawing/2014/main" val="2435244067"/>
                  </a:ext>
                </a:extLst>
              </a:tr>
              <a:tr h="85016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 dirty="0">
                          <a:effectLst/>
                        </a:rPr>
                        <a:t>净利润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en-US" altLang="zh-CN" sz="1400" b="0" dirty="0">
                          <a:effectLst/>
                        </a:rPr>
                        <a:t>(</a:t>
                      </a:r>
                      <a:r>
                        <a:rPr lang="zh-CN" altLang="en-US" sz="1400" b="0" dirty="0">
                          <a:effectLst/>
                        </a:rPr>
                        <a:t>万元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endParaRPr lang="en-US" altLang="zh-CN" sz="1400" b="0" dirty="0">
                        <a:effectLst/>
                        <a:latin typeface="quote-cjk-patch"/>
                      </a:endParaRPr>
                    </a:p>
                  </a:txBody>
                  <a:tcPr marL="92708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>
                          <a:effectLst/>
                        </a:rPr>
                        <a:t>战略性投入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400" b="1">
                          <a:effectLst/>
                        </a:rPr>
                        <a:t>接近盈亏平衡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>
                          <a:effectLst/>
                        </a:rPr>
                        <a:t>&gt;1,000</a:t>
                      </a:r>
                      <a:endParaRPr lang="zh-CN" altLang="en-US" sz="1400" b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&gt;6,000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88293" marT="55183" marB="5518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4. </a:t>
                      </a:r>
                      <a:r>
                        <a:rPr lang="zh-CN" altLang="en-US" sz="1400" b="1" dirty="0">
                          <a:effectLst/>
                        </a:rPr>
                        <a:t>增长路径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zh-CN" altLang="en-US" sz="1400" b="0" dirty="0">
                          <a:effectLst/>
                        </a:rPr>
                        <a:t>前期投入夯实基础，规模效应与模式转变共同推动盈利爆发。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8293" marR="92708" marT="55183" marB="55183" anchor="ctr"/>
                </a:tc>
                <a:extLst>
                  <a:ext uri="{0D108BD9-81ED-4DB2-BD59-A6C34878D82A}">
                    <a16:rowId xmlns:a16="http://schemas.microsoft.com/office/drawing/2014/main" val="512310309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C2D4849-CC2B-1A37-5A85-8715DE2C94E0}"/>
              </a:ext>
            </a:extLst>
          </p:cNvPr>
          <p:cNvSpPr txBox="1"/>
          <p:nvPr/>
        </p:nvSpPr>
        <p:spPr>
          <a:xfrm>
            <a:off x="669924" y="4836559"/>
            <a:ext cx="1044187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价值主张：</a:t>
            </a:r>
            <a:endParaRPr lang="en-US" altLang="zh-CN" sz="1400" b="1" dirty="0">
              <a:solidFill>
                <a:srgbClr val="0F1115"/>
              </a:solidFill>
              <a:latin typeface="quote-cjk-patch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市场精准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：切入基础设施安全千亿蓝海，解决“安全不经济”的行业痛点。</a:t>
            </a:r>
            <a:endParaRPr lang="en-US" altLang="zh-CN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模式稀缺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：独特的“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DaaS+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保险分润”模式，构建了从数据到金融的价值闭环，具备网络效应与高壁垒。</a:t>
            </a:r>
            <a:endParaRPr lang="en-US" altLang="zh-CN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财务性感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：预测展现了一条清晰的</a:t>
            </a:r>
            <a:r>
              <a:rPr lang="en-US" altLang="zh-CN" sz="1400" b="1" i="0" dirty="0">
                <a:solidFill>
                  <a:srgbClr val="0F1115"/>
                </a:solidFill>
                <a:effectLst/>
                <a:latin typeface="quote-cjk-patch"/>
              </a:rPr>
              <a:t>J</a:t>
            </a: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型增长曲线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，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2027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年利润的爆发式增长，预示着公司将从一家技术服务商蜕变为一家高利润的风控平台。</a:t>
            </a:r>
            <a:endParaRPr lang="en-US" altLang="zh-CN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1400" b="1" i="0" dirty="0">
                <a:solidFill>
                  <a:srgbClr val="0F1115"/>
                </a:solidFill>
                <a:effectLst/>
                <a:latin typeface="quote-cjk-patch"/>
              </a:rPr>
              <a:t>退出明朗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：</a:t>
            </a:r>
            <a:r>
              <a:rPr lang="en-US" altLang="zh-CN" sz="1400" b="0" i="0" dirty="0">
                <a:solidFill>
                  <a:srgbClr val="0F1115"/>
                </a:solidFill>
                <a:effectLst/>
                <a:latin typeface="quote-cjk-patch"/>
              </a:rPr>
              <a:t>3</a:t>
            </a:r>
            <a:r>
              <a:rPr lang="zh-CN" altLang="en-US" sz="1400" b="0" i="0" dirty="0">
                <a:solidFill>
                  <a:srgbClr val="0F1115"/>
                </a:solidFill>
                <a:effectLst/>
                <a:latin typeface="quote-cjk-patch"/>
              </a:rPr>
              <a:t>年实现千万级利润，具备成为并购优质标的或独立上市的潜力。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4771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2264C-5C6C-A342-6096-32968E4E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>
            <a:extLst>
              <a:ext uri="{FF2B5EF4-FFF2-40B4-BE49-F238E27FC236}">
                <a16:creationId xmlns:a16="http://schemas.microsoft.com/office/drawing/2014/main" id="{E7FD9FCA-BF99-4D2D-4DE2-EF3D1FEC5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zh-CN" altLang="en-US" dirty="0"/>
              <a:t>战略融资需求：共建基础设施安全新生态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8F4E37-29DD-ED31-8F4E-75767BE27AF7}"/>
              </a:ext>
            </a:extLst>
          </p:cNvPr>
          <p:cNvSpPr txBox="1"/>
          <p:nvPr/>
        </p:nvSpPr>
        <p:spPr>
          <a:xfrm>
            <a:off x="669924" y="928385"/>
            <a:ext cx="10869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为完成技术与商业模式的终极验证，锁定产业核心生态，现寻求</a:t>
            </a:r>
            <a:r>
              <a:rPr lang="en-US" altLang="zh-CN" sz="2000" b="1" dirty="0">
                <a:solidFill>
                  <a:srgbClr val="C00000"/>
                </a:solidFill>
              </a:rPr>
              <a:t>500</a:t>
            </a:r>
            <a:r>
              <a:rPr lang="zh-CN" altLang="en-US" sz="2000" b="1" dirty="0">
                <a:solidFill>
                  <a:srgbClr val="C00000"/>
                </a:solidFill>
              </a:rPr>
              <a:t>万元人民币战略投资</a:t>
            </a:r>
            <a:r>
              <a:rPr lang="zh-CN" altLang="en-US" sz="2000" dirty="0"/>
              <a:t>，用于：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8B28671-01C2-DFF8-D3A9-12D922D19A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583485"/>
              </p:ext>
            </p:extLst>
          </p:nvPr>
        </p:nvGraphicFramePr>
        <p:xfrm>
          <a:off x="669924" y="1482625"/>
          <a:ext cx="10850563" cy="2080147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040933">
                  <a:extLst>
                    <a:ext uri="{9D8B030D-6E8A-4147-A177-3AD203B41FA5}">
                      <a16:colId xmlns:a16="http://schemas.microsoft.com/office/drawing/2014/main" val="4257048082"/>
                    </a:ext>
                  </a:extLst>
                </a:gridCol>
                <a:gridCol w="3179929">
                  <a:extLst>
                    <a:ext uri="{9D8B030D-6E8A-4147-A177-3AD203B41FA5}">
                      <a16:colId xmlns:a16="http://schemas.microsoft.com/office/drawing/2014/main" val="570527657"/>
                    </a:ext>
                  </a:extLst>
                </a:gridCol>
                <a:gridCol w="5629701">
                  <a:extLst>
                    <a:ext uri="{9D8B030D-6E8A-4147-A177-3AD203B41FA5}">
                      <a16:colId xmlns:a16="http://schemas.microsoft.com/office/drawing/2014/main" val="3816096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战略目标</a:t>
                      </a:r>
                      <a:endParaRPr lang="zh-CN" altLang="en-US" sz="1800" b="0">
                        <a:effectLst/>
                        <a:latin typeface="quote-cjk-patch"/>
                      </a:endParaRPr>
                    </a:p>
                  </a:txBody>
                  <a:tcPr marR="87086" marT="54429" marB="544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>
                          <a:effectLst/>
                        </a:rPr>
                        <a:t>资金分配</a:t>
                      </a:r>
                      <a:endParaRPr lang="zh-CN" altLang="en-US" sz="1800" b="0">
                        <a:effectLst/>
                        <a:latin typeface="quote-cjk-patch"/>
                      </a:endParaRPr>
                    </a:p>
                  </a:txBody>
                  <a:tcPr marL="87086" marR="87086" marT="54429" marB="544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zh-CN" altLang="en-US" sz="1800" b="0" dirty="0">
                          <a:effectLst/>
                        </a:rPr>
                        <a:t>关键交付成果</a:t>
                      </a:r>
                      <a:endParaRPr lang="zh-CN" altLang="en-US" sz="1800" b="0" dirty="0">
                        <a:effectLst/>
                        <a:latin typeface="quote-cjk-patch"/>
                      </a:endParaRPr>
                    </a:p>
                  </a:txBody>
                  <a:tcPr marL="87086" marR="87086" marT="54429" marB="54429" anchor="ctr"/>
                </a:tc>
                <a:extLst>
                  <a:ext uri="{0D108BD9-81ED-4DB2-BD59-A6C34878D82A}">
                    <a16:rowId xmlns:a16="http://schemas.microsoft.com/office/drawing/2014/main" val="1649453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1. </a:t>
                      </a:r>
                      <a:r>
                        <a:rPr lang="zh-CN" altLang="en-US" sz="1400" b="1" dirty="0">
                          <a:effectLst/>
                        </a:rPr>
                        <a:t>夯实技术闭环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en-US" altLang="zh-CN" sz="1400" b="0" dirty="0">
                          <a:effectLst/>
                        </a:rPr>
                        <a:t>(</a:t>
                      </a:r>
                      <a:r>
                        <a:rPr lang="zh-CN" altLang="en-US" sz="1400" b="0" dirty="0">
                          <a:effectLst/>
                        </a:rPr>
                        <a:t>产品力打造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R="87086" marT="54429" marB="544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200</a:t>
                      </a:r>
                      <a:r>
                        <a:rPr lang="zh-CN" altLang="en-US" sz="1400" b="1" dirty="0">
                          <a:effectLst/>
                        </a:rPr>
                        <a:t>万元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7086" marR="87086" marT="54429" marB="5442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0" dirty="0">
                          <a:effectLst/>
                        </a:rPr>
                        <a:t>• </a:t>
                      </a:r>
                      <a:r>
                        <a:rPr lang="zh-CN" altLang="en-US" sz="1400" b="0" dirty="0">
                          <a:effectLst/>
                        </a:rPr>
                        <a:t>完成</a:t>
                      </a:r>
                      <a:r>
                        <a:rPr lang="en-US" altLang="zh-CN" sz="1400" b="1" dirty="0">
                          <a:effectLst/>
                        </a:rPr>
                        <a:t>AI</a:t>
                      </a:r>
                      <a:r>
                        <a:rPr lang="zh-CN" altLang="en-US" sz="1400" b="1" dirty="0">
                          <a:effectLst/>
                        </a:rPr>
                        <a:t>风控诊断引擎</a:t>
                      </a:r>
                      <a:r>
                        <a:rPr lang="zh-CN" altLang="en-US" sz="1400" b="0" dirty="0">
                          <a:effectLst/>
                        </a:rPr>
                        <a:t>开发与部署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en-US" altLang="zh-CN" sz="1400" b="0" dirty="0">
                          <a:effectLst/>
                        </a:rPr>
                        <a:t>• </a:t>
                      </a:r>
                      <a:r>
                        <a:rPr lang="zh-CN" altLang="en-US" sz="1400" b="0" dirty="0">
                          <a:effectLst/>
                        </a:rPr>
                        <a:t>获取</a:t>
                      </a:r>
                      <a:r>
                        <a:rPr lang="zh-CN" altLang="en-US" sz="1400" b="1" dirty="0">
                          <a:effectLst/>
                        </a:rPr>
                        <a:t>花江峡谷大桥</a:t>
                      </a:r>
                      <a:r>
                        <a:rPr lang="zh-CN" altLang="en-US" sz="1400" b="0" dirty="0">
                          <a:effectLst/>
                        </a:rPr>
                        <a:t>全年运营数据，形成权威标杆案例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7086" marT="54429" marB="54429" anchor="ctr"/>
                </a:tc>
                <a:extLst>
                  <a:ext uri="{0D108BD9-81ED-4DB2-BD59-A6C34878D82A}">
                    <a16:rowId xmlns:a16="http://schemas.microsoft.com/office/drawing/2014/main" val="3170057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2. </a:t>
                      </a:r>
                      <a:r>
                        <a:rPr lang="zh-CN" altLang="en-US" sz="1400" b="1" dirty="0">
                          <a:effectLst/>
                        </a:rPr>
                        <a:t>锁定生态通道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en-US" altLang="zh-CN" sz="1400" b="0" dirty="0">
                          <a:effectLst/>
                        </a:rPr>
                        <a:t>(</a:t>
                      </a:r>
                      <a:r>
                        <a:rPr lang="zh-CN" altLang="en-US" sz="1400" b="0" dirty="0">
                          <a:effectLst/>
                        </a:rPr>
                        <a:t>渠道力构建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R="87086" marT="54429" marB="544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200</a:t>
                      </a:r>
                      <a:r>
                        <a:rPr lang="zh-CN" altLang="en-US" sz="1400" b="1" dirty="0">
                          <a:effectLst/>
                        </a:rPr>
                        <a:t>万元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7086" marR="87086" marT="54429" marB="5442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0" dirty="0">
                          <a:effectLst/>
                        </a:rPr>
                        <a:t>• </a:t>
                      </a:r>
                      <a:r>
                        <a:rPr lang="zh-CN" altLang="en-US" sz="1400" b="0" dirty="0">
                          <a:effectLst/>
                        </a:rPr>
                        <a:t>完成与 </a:t>
                      </a:r>
                      <a:r>
                        <a:rPr lang="en-US" altLang="zh-CN" sz="1400" b="1" dirty="0">
                          <a:effectLst/>
                        </a:rPr>
                        <a:t>1</a:t>
                      </a:r>
                      <a:r>
                        <a:rPr lang="zh-CN" altLang="en-US" sz="1400" b="1" dirty="0">
                          <a:effectLst/>
                        </a:rPr>
                        <a:t>家省级交投集团</a:t>
                      </a:r>
                      <a:r>
                        <a:rPr lang="zh-CN" altLang="en-US" sz="1400" b="0" dirty="0">
                          <a:effectLst/>
                        </a:rPr>
                        <a:t> 的</a:t>
                      </a:r>
                      <a:r>
                        <a:rPr lang="zh-CN" altLang="en-US" sz="1400" b="1" dirty="0">
                          <a:effectLst/>
                        </a:rPr>
                        <a:t>合资公司</a:t>
                      </a:r>
                      <a:r>
                        <a:rPr lang="zh-CN" altLang="en-US" sz="1400" b="0" dirty="0">
                          <a:effectLst/>
                        </a:rPr>
                        <a:t>或深度合作落地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en-US" altLang="zh-CN" sz="1400" b="0" dirty="0">
                          <a:effectLst/>
                        </a:rPr>
                        <a:t>• </a:t>
                      </a:r>
                      <a:r>
                        <a:rPr lang="zh-CN" altLang="en-US" sz="1400" b="0" dirty="0">
                          <a:effectLst/>
                        </a:rPr>
                        <a:t>建立市场联合推广机制，锁定区域业务入口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7086" marT="54429" marB="54429" anchor="ctr"/>
                </a:tc>
                <a:extLst>
                  <a:ext uri="{0D108BD9-81ED-4DB2-BD59-A6C34878D82A}">
                    <a16:rowId xmlns:a16="http://schemas.microsoft.com/office/drawing/2014/main" val="1033551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3. </a:t>
                      </a:r>
                      <a:r>
                        <a:rPr lang="zh-CN" altLang="en-US" sz="1400" b="1" dirty="0">
                          <a:effectLst/>
                        </a:rPr>
                        <a:t>破局保险金融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en-US" altLang="zh-CN" sz="1400" b="0" dirty="0">
                          <a:effectLst/>
                        </a:rPr>
                        <a:t>(</a:t>
                      </a:r>
                      <a:r>
                        <a:rPr lang="zh-CN" altLang="en-US" sz="1400" b="0" dirty="0">
                          <a:effectLst/>
                        </a:rPr>
                        <a:t>商业模式验证</a:t>
                      </a:r>
                      <a:r>
                        <a:rPr lang="en-US" altLang="zh-CN" sz="1400" b="0" dirty="0">
                          <a:effectLst/>
                        </a:rPr>
                        <a:t>)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R="87086" marT="54429" marB="544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1" dirty="0">
                          <a:effectLst/>
                        </a:rPr>
                        <a:t>100</a:t>
                      </a:r>
                      <a:r>
                        <a:rPr lang="zh-CN" altLang="en-US" sz="1400" b="1" dirty="0">
                          <a:effectLst/>
                        </a:rPr>
                        <a:t>万元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7086" marR="87086" marT="54429" marB="5442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400" b="0" dirty="0">
                          <a:effectLst/>
                        </a:rPr>
                        <a:t>• </a:t>
                      </a:r>
                      <a:r>
                        <a:rPr lang="zh-CN" altLang="en-US" sz="1400" b="0" dirty="0">
                          <a:effectLst/>
                        </a:rPr>
                        <a:t>完成与 </a:t>
                      </a:r>
                      <a:r>
                        <a:rPr lang="en-US" altLang="zh-CN" sz="1400" b="1" dirty="0">
                          <a:effectLst/>
                        </a:rPr>
                        <a:t>1-2</a:t>
                      </a:r>
                      <a:r>
                        <a:rPr lang="zh-CN" altLang="en-US" sz="1400" b="1" dirty="0">
                          <a:effectLst/>
                        </a:rPr>
                        <a:t>家险企</a:t>
                      </a:r>
                      <a:r>
                        <a:rPr lang="zh-CN" altLang="en-US" sz="1400" b="0" dirty="0">
                          <a:effectLst/>
                        </a:rPr>
                        <a:t> 的产品方案与技术对接</a:t>
                      </a:r>
                      <a:br>
                        <a:rPr lang="zh-CN" altLang="en-US" sz="1400" b="0" dirty="0">
                          <a:effectLst/>
                        </a:rPr>
                      </a:br>
                      <a:r>
                        <a:rPr lang="en-US" altLang="zh-CN" sz="1400" b="0" dirty="0">
                          <a:effectLst/>
                        </a:rPr>
                        <a:t>• </a:t>
                      </a:r>
                      <a:r>
                        <a:rPr lang="zh-CN" altLang="en-US" sz="1400" b="0" dirty="0">
                          <a:effectLst/>
                        </a:rPr>
                        <a:t>联合发布行业白皮书，奠定风控数据权威地位</a:t>
                      </a:r>
                      <a:endParaRPr lang="zh-CN" altLang="en-US" sz="1400" b="0" dirty="0">
                        <a:effectLst/>
                        <a:latin typeface="quote-cjk-patch"/>
                      </a:endParaRPr>
                    </a:p>
                  </a:txBody>
                  <a:tcPr marL="87086" marT="54429" marB="54429" anchor="ctr"/>
                </a:tc>
                <a:extLst>
                  <a:ext uri="{0D108BD9-81ED-4DB2-BD59-A6C34878D82A}">
                    <a16:rowId xmlns:a16="http://schemas.microsoft.com/office/drawing/2014/main" val="2494700263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F5FDD8E3-8196-8E1D-D60B-7169A0F76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934974"/>
              </p:ext>
            </p:extLst>
          </p:nvPr>
        </p:nvGraphicFramePr>
        <p:xfrm>
          <a:off x="679272" y="3764670"/>
          <a:ext cx="10850562" cy="2573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7279">
                  <a:extLst>
                    <a:ext uri="{9D8B030D-6E8A-4147-A177-3AD203B41FA5}">
                      <a16:colId xmlns:a16="http://schemas.microsoft.com/office/drawing/2014/main" val="415775566"/>
                    </a:ext>
                  </a:extLst>
                </a:gridCol>
                <a:gridCol w="6653283">
                  <a:extLst>
                    <a:ext uri="{9D8B030D-6E8A-4147-A177-3AD203B41FA5}">
                      <a16:colId xmlns:a16="http://schemas.microsoft.com/office/drawing/2014/main" val="650571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altLang="en-US" sz="18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我们需要的是战略合伙人</a:t>
                      </a:r>
                      <a:endParaRPr lang="zh-CN" altLang="en-US" sz="18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我们优先寻求以下领域具有产业资源的战略投资者：</a:t>
                      </a:r>
                    </a:p>
                    <a:p>
                      <a:pPr marL="285750" indent="-28575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基础设施投资运营方</a:t>
                      </a: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（省级交投、建工集团）</a:t>
                      </a:r>
                    </a:p>
                    <a:p>
                      <a:pPr marL="285750" indent="-285750" algn="l">
                        <a:spcBef>
                          <a:spcPts val="450"/>
                        </a:spcBef>
                        <a:spcAft>
                          <a:spcPts val="1200"/>
                        </a:spcAft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财产保险公司及再保险公司</a:t>
                      </a:r>
                      <a:endParaRPr lang="zh-CN" altLang="en-US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marL="285750" indent="-285750" algn="l">
                        <a:spcBef>
                          <a:spcPts val="450"/>
                        </a:spcBef>
                        <a:spcAft>
                          <a:spcPts val="1200"/>
                        </a:spcAft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智慧交通企业</a:t>
                      </a:r>
                      <a:endParaRPr lang="en-US" altLang="zh-CN" sz="1400" b="1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marL="285750" indent="-285750" algn="l" defTabSz="914400" rtl="0" eaLnBrk="1" latinLnBrk="0" hangingPunct="1">
                        <a:spcBef>
                          <a:spcPts val="450"/>
                        </a:spcBef>
                        <a:spcAft>
                          <a:spcPts val="1200"/>
                        </a:spcAft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1" i="0" kern="1200" dirty="0">
                          <a:solidFill>
                            <a:srgbClr val="0F1115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可信数据空间或数商企业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zh-CN" altLang="en-US" sz="1800" b="1" i="0" kern="1200" dirty="0">
                          <a:solidFill>
                            <a:srgbClr val="0F1115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战略合伙人将获得的核心价值</a:t>
                      </a:r>
                    </a:p>
                    <a:p>
                      <a:pPr marL="285750" indent="-28575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独家生态权益</a:t>
                      </a: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：优先获得在股东优势区域的</a:t>
                      </a: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联合运营权</a:t>
                      </a: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与</a:t>
                      </a: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数据资产收益权</a:t>
                      </a:r>
                      <a:endParaRPr lang="en-US" altLang="zh-CN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marL="285750" indent="-28575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产业协同价值</a:t>
                      </a: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：为保险股东提供</a:t>
                      </a: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独家风控数据</a:t>
                      </a: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，为工程股东实现</a:t>
                      </a: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资产保值增值</a:t>
                      </a:r>
                      <a:endParaRPr lang="en-US" altLang="zh-CN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marL="285750" indent="-28575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Font typeface="Wingdings" panose="05000000000000000000" pitchFamily="2" charset="2"/>
                        <a:buChar char="n"/>
                      </a:pP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资本回报路径</a:t>
                      </a: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：</a:t>
                      </a:r>
                    </a:p>
                    <a:p>
                      <a:pPr marL="548640" lvl="1" indent="-285750" algn="l">
                        <a:spcBef>
                          <a:spcPts val="30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本轮投后估值：</a:t>
                      </a:r>
                      <a:r>
                        <a:rPr lang="en-US" altLang="zh-CN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4,000</a:t>
                      </a: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万元人民币</a:t>
                      </a:r>
                      <a:endParaRPr lang="zh-CN" altLang="en-US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marL="548640" lvl="1" indent="-285750" algn="l">
                        <a:spcBef>
                          <a:spcPts val="45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资金使用周期：</a:t>
                      </a:r>
                      <a:r>
                        <a:rPr lang="en-US" altLang="zh-CN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12</a:t>
                      </a: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个月</a:t>
                      </a:r>
                      <a:endParaRPr lang="zh-CN" altLang="en-US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  <a:p>
                      <a:pPr marL="548640" lvl="1" indent="-285750" algn="l">
                        <a:spcBef>
                          <a:spcPts val="450"/>
                        </a:spcBef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2026</a:t>
                      </a:r>
                      <a:r>
                        <a:rPr lang="zh-CN" altLang="en-US" sz="1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年预期进行下一轮融资，估值锚定</a:t>
                      </a:r>
                      <a:r>
                        <a:rPr lang="zh-CN" altLang="en-US" sz="1400" b="1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已验证的保险分润模式</a:t>
                      </a:r>
                      <a:endParaRPr lang="zh-CN" altLang="en-US" sz="1400" b="0" i="0" dirty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366262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455017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swf"/>
  <p:tag name="COMMONDATA" val="eyJoZGlkIjoiYWVlMTEyMTQ2YzcwMjhlNzE3Yzg3NmM1MGI2NGE4Y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0.5|0.7|2.1|10.4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0.5|0.7|2.1|10.4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0.5|0.7|2.1|10.4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0.5|0.7|2.1|10.4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0.5|0.7|2.1|10.4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0.5|0.7|2.1|10.4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0.5|0.7|2.1|10.4|1.1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60B2D"/>
      </a:accent1>
      <a:accent2>
        <a:srgbClr val="9CD7F7"/>
      </a:accent2>
      <a:accent3>
        <a:srgbClr val="637181"/>
      </a:accent3>
      <a:accent4>
        <a:srgbClr val="949EA9"/>
      </a:accent4>
      <a:accent5>
        <a:srgbClr val="A5A5A5"/>
      </a:accent5>
      <a:accent6>
        <a:srgbClr val="C9C9C9"/>
      </a:accent6>
      <a:hlink>
        <a:srgbClr val="0F73EE"/>
      </a:hlink>
      <a:folHlink>
        <a:srgbClr val="BFBFBF"/>
      </a:folHlink>
    </a:clrScheme>
    <a:fontScheme name="font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60761D3-BBE5-4F55-8603-4288C16B8B13}">
  <we:reference id="wa200005566" version="3.0.0.2" store="zh-CN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214858-785C-42F7-BE66-6D0E79395FC8}">
  <ds:schemaRefs/>
</ds:datastoreItem>
</file>

<file path=customXml/itemProps2.xml><?xml version="1.0" encoding="utf-8"?>
<ds:datastoreItem xmlns:ds="http://schemas.openxmlformats.org/officeDocument/2006/customXml" ds:itemID="{7B6F2769-7194-4217-93D3-3AF3A4742282}">
  <ds:schemaRefs>
    <ds:schemaRef ds:uri="http://schemas.microsoft.com/office/2006/documentManagement/types"/>
    <ds:schemaRef ds:uri="http://purl.org/dc/terms/"/>
    <ds:schemaRef ds:uri="http://schemas.microsoft.com/sharepoint/v3/field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7D2A1B0-FF3E-4009-940D-AED0EB70AA2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50258</TotalTime>
  <Words>5101</Words>
  <Application>Microsoft Office PowerPoint</Application>
  <PresentationFormat>宽屏</PresentationFormat>
  <Paragraphs>696</Paragraphs>
  <Slides>19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quote-cjk-patch</vt:lpstr>
      <vt:lpstr>华光行草_CNKI</vt:lpstr>
      <vt:lpstr>华文细黑</vt:lpstr>
      <vt:lpstr>微软雅黑</vt:lpstr>
      <vt:lpstr>微软雅黑 Light</vt:lpstr>
      <vt:lpstr>楷体</vt:lpstr>
      <vt:lpstr>等线</vt:lpstr>
      <vt:lpstr>Arial</vt:lpstr>
      <vt:lpstr>Calibri</vt:lpstr>
      <vt:lpstr>Century Gothic</vt:lpstr>
      <vt:lpstr>Times New Roman</vt:lpstr>
      <vt:lpstr>Wingdings</vt:lpstr>
      <vt:lpstr>主题5</vt:lpstr>
      <vt:lpstr>think-cell Slide</vt:lpstr>
      <vt:lpstr>PowerPoint 演示文稿</vt:lpstr>
      <vt:lpstr>交大为达（北京）科技有限公司介绍</vt:lpstr>
      <vt:lpstr>联合创始人</vt:lpstr>
      <vt:lpstr>从光到智，基础设施安全风控的“光纤数据神经”</vt:lpstr>
      <vt:lpstr>基础设施安全的“经济困境”</vt:lpstr>
      <vt:lpstr>基础设施安全的“经济机遇”之一：重新定义安责险</vt:lpstr>
      <vt:lpstr>商业模式："硬件部署"到"数据运营"再到"金融赋能"的完整闭环</vt:lpstr>
      <vt:lpstr>基础设施安全的“经济机遇”之二：结构安全风险数据上车/升空</vt:lpstr>
      <vt:lpstr>光纤数据神经解决方案：越经济，越安全</vt:lpstr>
      <vt:lpstr>硬件设备</vt:lpstr>
      <vt:lpstr>业务场景</vt:lpstr>
      <vt:lpstr>数据产品</vt:lpstr>
      <vt:lpstr>商业模式："硬件部署"到"数据运营"再到"金融赋能"的完整闭环</vt:lpstr>
      <vt:lpstr>2024年标杆项目：世界第一高桥花江峡谷大桥智慧缆索</vt:lpstr>
      <vt:lpstr>结构安全风控平台原型</vt:lpstr>
      <vt:lpstr>定价和竞品比较</vt:lpstr>
      <vt:lpstr>四阶段实施计划</vt:lpstr>
      <vt:lpstr>财务预测和商业逻辑（2025-2028）</vt:lpstr>
      <vt:lpstr>战略融资需求：共建基础设施安全新生态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swf</dc:title>
  <dc:creator>Dell</dc:creator>
  <cp:lastModifiedBy>Xiaohong Xin</cp:lastModifiedBy>
  <cp:revision>8029</cp:revision>
  <cp:lastPrinted>2024-11-02T05:26:00Z</cp:lastPrinted>
  <dcterms:created xsi:type="dcterms:W3CDTF">2010-04-12T23:12:00Z</dcterms:created>
  <dcterms:modified xsi:type="dcterms:W3CDTF">2026-01-20T15:55:23Z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ICV">
    <vt:lpwstr>56EA2B26B863477C927E5945FA1A33DC_13</vt:lpwstr>
  </property>
  <property fmtid="{D5CDD505-2E9C-101B-9397-08002B2CF9AE}" pid="4" name="KSOProductBuildVer">
    <vt:lpwstr>2052-12.1.0.21171</vt:lpwstr>
  </property>
</Properties>
</file>